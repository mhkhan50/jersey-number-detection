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84">
  <p:sldMasterIdLst>
    <p:sldMasterId id="2147483876" r:id="rId1"/>
  </p:sldMasterIdLst>
  <p:notesMasterIdLst>
    <p:notesMasterId r:id="rId25"/>
  </p:notesMasterIdLst>
  <p:sldIdLst>
    <p:sldId id="324" r:id="rId2"/>
    <p:sldId id="325" r:id="rId3"/>
    <p:sldId id="326" r:id="rId4"/>
    <p:sldId id="330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40" r:id="rId23"/>
    <p:sldId id="329" r:id="rId24"/>
  </p:sldIdLst>
  <p:sldSz cx="11880850" cy="78660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65734A5-7B7C-4DA9-9AD3-27FE831D382F}">
          <p14:sldIdLst>
            <p14:sldId id="324"/>
            <p14:sldId id="325"/>
            <p14:sldId id="326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0"/>
            <p14:sldId id="329"/>
          </p14:sldIdLst>
        </p14:section>
        <p14:section name="Introduction" id="{496749B0-19D0-4FF1-8142-B442AA87C7AA}">
          <p14:sldIdLst/>
        </p14:section>
        <p14:section name="Experimental detail" id="{A1E66528-C60E-46EF-8658-BAEAB4EC536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HMAN, UBAID UR" initials="RUU" lastIdx="1" clrIdx="0">
    <p:extLst>
      <p:ext uri="{19B8F6BF-5375-455C-9EA6-DF929625EA0E}">
        <p15:presenceInfo xmlns:p15="http://schemas.microsoft.com/office/powerpoint/2012/main" userId="S-1-5-21-823518204-152049171-682003330-276959" providerId="AD"/>
      </p:ext>
    </p:extLst>
  </p:cmAuthor>
  <p:cmAuthor id="2" name="Khalid, Maryam" initials="" lastIdx="2" clrIdx="1">
    <p:extLst>
      <p:ext uri="{19B8F6BF-5375-455C-9EA6-DF929625EA0E}">
        <p15:presenceInfo xmlns:p15="http://schemas.microsoft.com/office/powerpoint/2012/main" userId="S::mkhali205@caledonian.ac.uk::4629e8a2-2038-4f2f-b5be-46f432c3fbe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6C0"/>
    <a:srgbClr val="2C12C0"/>
    <a:srgbClr val="1122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8" autoAdjust="0"/>
    <p:restoredTop sz="93985" autoAdjust="0"/>
  </p:normalViewPr>
  <p:slideViewPr>
    <p:cSldViewPr snapToGrid="0">
      <p:cViewPr varScale="1">
        <p:scale>
          <a:sx n="64" d="100"/>
          <a:sy n="64" d="100"/>
        </p:scale>
        <p:origin x="10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BF0B37-B269-417B-AD1D-B62F6A5370D1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98550" y="1143000"/>
            <a:ext cx="46609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3EE4B-C628-4FAF-AF23-4720D7481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99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9046" rtl="0" eaLnBrk="1" latinLnBrk="0" hangingPunct="1">
      <a:defRPr sz="1429" kern="1200">
        <a:solidFill>
          <a:schemeClr val="tx1"/>
        </a:solidFill>
        <a:latin typeface="+mn-lt"/>
        <a:ea typeface="+mn-ea"/>
        <a:cs typeface="+mn-cs"/>
      </a:defRPr>
    </a:lvl1pPr>
    <a:lvl2pPr marL="544523" algn="l" defTabSz="1089046" rtl="0" eaLnBrk="1" latinLnBrk="0" hangingPunct="1">
      <a:defRPr sz="1429" kern="1200">
        <a:solidFill>
          <a:schemeClr val="tx1"/>
        </a:solidFill>
        <a:latin typeface="+mn-lt"/>
        <a:ea typeface="+mn-ea"/>
        <a:cs typeface="+mn-cs"/>
      </a:defRPr>
    </a:lvl2pPr>
    <a:lvl3pPr marL="1089046" algn="l" defTabSz="1089046" rtl="0" eaLnBrk="1" latinLnBrk="0" hangingPunct="1">
      <a:defRPr sz="1429" kern="1200">
        <a:solidFill>
          <a:schemeClr val="tx1"/>
        </a:solidFill>
        <a:latin typeface="+mn-lt"/>
        <a:ea typeface="+mn-ea"/>
        <a:cs typeface="+mn-cs"/>
      </a:defRPr>
    </a:lvl3pPr>
    <a:lvl4pPr marL="1633569" algn="l" defTabSz="1089046" rtl="0" eaLnBrk="1" latinLnBrk="0" hangingPunct="1">
      <a:defRPr sz="1429" kern="1200">
        <a:solidFill>
          <a:schemeClr val="tx1"/>
        </a:solidFill>
        <a:latin typeface="+mn-lt"/>
        <a:ea typeface="+mn-ea"/>
        <a:cs typeface="+mn-cs"/>
      </a:defRPr>
    </a:lvl4pPr>
    <a:lvl5pPr marL="2178092" algn="l" defTabSz="1089046" rtl="0" eaLnBrk="1" latinLnBrk="0" hangingPunct="1">
      <a:defRPr sz="1429" kern="1200">
        <a:solidFill>
          <a:schemeClr val="tx1"/>
        </a:solidFill>
        <a:latin typeface="+mn-lt"/>
        <a:ea typeface="+mn-ea"/>
        <a:cs typeface="+mn-cs"/>
      </a:defRPr>
    </a:lvl5pPr>
    <a:lvl6pPr marL="2722614" algn="l" defTabSz="1089046" rtl="0" eaLnBrk="1" latinLnBrk="0" hangingPunct="1">
      <a:defRPr sz="1429" kern="1200">
        <a:solidFill>
          <a:schemeClr val="tx1"/>
        </a:solidFill>
        <a:latin typeface="+mn-lt"/>
        <a:ea typeface="+mn-ea"/>
        <a:cs typeface="+mn-cs"/>
      </a:defRPr>
    </a:lvl6pPr>
    <a:lvl7pPr marL="3267137" algn="l" defTabSz="1089046" rtl="0" eaLnBrk="1" latinLnBrk="0" hangingPunct="1">
      <a:defRPr sz="1429" kern="1200">
        <a:solidFill>
          <a:schemeClr val="tx1"/>
        </a:solidFill>
        <a:latin typeface="+mn-lt"/>
        <a:ea typeface="+mn-ea"/>
        <a:cs typeface="+mn-cs"/>
      </a:defRPr>
    </a:lvl7pPr>
    <a:lvl8pPr marL="3811659" algn="l" defTabSz="1089046" rtl="0" eaLnBrk="1" latinLnBrk="0" hangingPunct="1">
      <a:defRPr sz="1429" kern="1200">
        <a:solidFill>
          <a:schemeClr val="tx1"/>
        </a:solidFill>
        <a:latin typeface="+mn-lt"/>
        <a:ea typeface="+mn-ea"/>
        <a:cs typeface="+mn-cs"/>
      </a:defRPr>
    </a:lvl8pPr>
    <a:lvl9pPr marL="4356182" algn="l" defTabSz="1089046" rtl="0" eaLnBrk="1" latinLnBrk="0" hangingPunct="1">
      <a:defRPr sz="142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064" y="1287340"/>
            <a:ext cx="10098723" cy="2738555"/>
          </a:xfrm>
        </p:spPr>
        <p:txBody>
          <a:bodyPr anchor="b"/>
          <a:lstStyle>
            <a:lvl1pPr algn="ctr">
              <a:defRPr sz="688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106" y="4131504"/>
            <a:ext cx="8910638" cy="1899144"/>
          </a:xfrm>
        </p:spPr>
        <p:txBody>
          <a:bodyPr/>
          <a:lstStyle>
            <a:lvl1pPr marL="0" indent="0" algn="ctr">
              <a:buNone/>
              <a:defRPr sz="2753"/>
            </a:lvl1pPr>
            <a:lvl2pPr marL="524408" indent="0" algn="ctr">
              <a:buNone/>
              <a:defRPr sz="2294"/>
            </a:lvl2pPr>
            <a:lvl3pPr marL="1048817" indent="0" algn="ctr">
              <a:buNone/>
              <a:defRPr sz="2065"/>
            </a:lvl3pPr>
            <a:lvl4pPr marL="1573225" indent="0" algn="ctr">
              <a:buNone/>
              <a:defRPr sz="1835"/>
            </a:lvl4pPr>
            <a:lvl5pPr marL="2097634" indent="0" algn="ctr">
              <a:buNone/>
              <a:defRPr sz="1835"/>
            </a:lvl5pPr>
            <a:lvl6pPr marL="2622042" indent="0" algn="ctr">
              <a:buNone/>
              <a:defRPr sz="1835"/>
            </a:lvl6pPr>
            <a:lvl7pPr marL="3146450" indent="0" algn="ctr">
              <a:buNone/>
              <a:defRPr sz="1835"/>
            </a:lvl7pPr>
            <a:lvl8pPr marL="3670859" indent="0" algn="ctr">
              <a:buNone/>
              <a:defRPr sz="1835"/>
            </a:lvl8pPr>
            <a:lvl9pPr marL="4195267" indent="0" algn="ctr">
              <a:buNone/>
              <a:defRPr sz="1835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19BE7-B33B-4AEB-8EA0-189B2FA94F99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9D9F6-9DBA-4395-95C1-FF8010A33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99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19BE7-B33B-4AEB-8EA0-189B2FA94F99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9D9F6-9DBA-4395-95C1-FF8010A33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650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621" y="1961056"/>
            <a:ext cx="10247233" cy="3272063"/>
          </a:xfrm>
        </p:spPr>
        <p:txBody>
          <a:bodyPr anchor="b"/>
          <a:lstStyle>
            <a:lvl1pPr>
              <a:defRPr sz="688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621" y="5264073"/>
            <a:ext cx="10247233" cy="1720701"/>
          </a:xfrm>
        </p:spPr>
        <p:txBody>
          <a:bodyPr/>
          <a:lstStyle>
            <a:lvl1pPr marL="0" indent="0">
              <a:buNone/>
              <a:defRPr sz="2753">
                <a:solidFill>
                  <a:schemeClr val="tx1"/>
                </a:solidFill>
              </a:defRPr>
            </a:lvl1pPr>
            <a:lvl2pPr marL="524408" indent="0">
              <a:buNone/>
              <a:defRPr sz="2294">
                <a:solidFill>
                  <a:schemeClr val="tx1">
                    <a:tint val="75000"/>
                  </a:schemeClr>
                </a:solidFill>
              </a:defRPr>
            </a:lvl2pPr>
            <a:lvl3pPr marL="1048817" indent="0">
              <a:buNone/>
              <a:defRPr sz="2065">
                <a:solidFill>
                  <a:schemeClr val="tx1">
                    <a:tint val="75000"/>
                  </a:schemeClr>
                </a:solidFill>
              </a:defRPr>
            </a:lvl3pPr>
            <a:lvl4pPr marL="1573225" indent="0">
              <a:buNone/>
              <a:defRPr sz="1835">
                <a:solidFill>
                  <a:schemeClr val="tx1">
                    <a:tint val="75000"/>
                  </a:schemeClr>
                </a:solidFill>
              </a:defRPr>
            </a:lvl4pPr>
            <a:lvl5pPr marL="2097634" indent="0">
              <a:buNone/>
              <a:defRPr sz="1835">
                <a:solidFill>
                  <a:schemeClr val="tx1">
                    <a:tint val="75000"/>
                  </a:schemeClr>
                </a:solidFill>
              </a:defRPr>
            </a:lvl5pPr>
            <a:lvl6pPr marL="2622042" indent="0">
              <a:buNone/>
              <a:defRPr sz="1835">
                <a:solidFill>
                  <a:schemeClr val="tx1">
                    <a:tint val="75000"/>
                  </a:schemeClr>
                </a:solidFill>
              </a:defRPr>
            </a:lvl6pPr>
            <a:lvl7pPr marL="3146450" indent="0">
              <a:buNone/>
              <a:defRPr sz="1835">
                <a:solidFill>
                  <a:schemeClr val="tx1">
                    <a:tint val="75000"/>
                  </a:schemeClr>
                </a:solidFill>
              </a:defRPr>
            </a:lvl7pPr>
            <a:lvl8pPr marL="3670859" indent="0">
              <a:buNone/>
              <a:defRPr sz="1835">
                <a:solidFill>
                  <a:schemeClr val="tx1">
                    <a:tint val="75000"/>
                  </a:schemeClr>
                </a:solidFill>
              </a:defRPr>
            </a:lvl8pPr>
            <a:lvl9pPr marL="4195267" indent="0">
              <a:buNone/>
              <a:defRPr sz="18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19BE7-B33B-4AEB-8EA0-189B2FA94F99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9D9F6-9DBA-4395-95C1-FF8010A33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634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809" y="2093975"/>
            <a:ext cx="5049361" cy="49909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4680" y="2093975"/>
            <a:ext cx="5049361" cy="49909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19BE7-B33B-4AEB-8EA0-189B2FA94F99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9D9F6-9DBA-4395-95C1-FF8010A33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82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56" y="418797"/>
            <a:ext cx="10247233" cy="15204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57" y="1928279"/>
            <a:ext cx="5026156" cy="945019"/>
          </a:xfrm>
        </p:spPr>
        <p:txBody>
          <a:bodyPr anchor="b"/>
          <a:lstStyle>
            <a:lvl1pPr marL="0" indent="0">
              <a:buNone/>
              <a:defRPr sz="2753" b="1"/>
            </a:lvl1pPr>
            <a:lvl2pPr marL="524408" indent="0">
              <a:buNone/>
              <a:defRPr sz="2294" b="1"/>
            </a:lvl2pPr>
            <a:lvl3pPr marL="1048817" indent="0">
              <a:buNone/>
              <a:defRPr sz="2065" b="1"/>
            </a:lvl3pPr>
            <a:lvl4pPr marL="1573225" indent="0">
              <a:buNone/>
              <a:defRPr sz="1835" b="1"/>
            </a:lvl4pPr>
            <a:lvl5pPr marL="2097634" indent="0">
              <a:buNone/>
              <a:defRPr sz="1835" b="1"/>
            </a:lvl5pPr>
            <a:lvl6pPr marL="2622042" indent="0">
              <a:buNone/>
              <a:defRPr sz="1835" b="1"/>
            </a:lvl6pPr>
            <a:lvl7pPr marL="3146450" indent="0">
              <a:buNone/>
              <a:defRPr sz="1835" b="1"/>
            </a:lvl7pPr>
            <a:lvl8pPr marL="3670859" indent="0">
              <a:buNone/>
              <a:defRPr sz="1835" b="1"/>
            </a:lvl8pPr>
            <a:lvl9pPr marL="4195267" indent="0">
              <a:buNone/>
              <a:defRPr sz="1835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57" y="2873298"/>
            <a:ext cx="5026156" cy="422618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4681" y="1928279"/>
            <a:ext cx="5050909" cy="945019"/>
          </a:xfrm>
        </p:spPr>
        <p:txBody>
          <a:bodyPr anchor="b"/>
          <a:lstStyle>
            <a:lvl1pPr marL="0" indent="0">
              <a:buNone/>
              <a:defRPr sz="2753" b="1"/>
            </a:lvl1pPr>
            <a:lvl2pPr marL="524408" indent="0">
              <a:buNone/>
              <a:defRPr sz="2294" b="1"/>
            </a:lvl2pPr>
            <a:lvl3pPr marL="1048817" indent="0">
              <a:buNone/>
              <a:defRPr sz="2065" b="1"/>
            </a:lvl3pPr>
            <a:lvl4pPr marL="1573225" indent="0">
              <a:buNone/>
              <a:defRPr sz="1835" b="1"/>
            </a:lvl4pPr>
            <a:lvl5pPr marL="2097634" indent="0">
              <a:buNone/>
              <a:defRPr sz="1835" b="1"/>
            </a:lvl5pPr>
            <a:lvl6pPr marL="2622042" indent="0">
              <a:buNone/>
              <a:defRPr sz="1835" b="1"/>
            </a:lvl6pPr>
            <a:lvl7pPr marL="3146450" indent="0">
              <a:buNone/>
              <a:defRPr sz="1835" b="1"/>
            </a:lvl7pPr>
            <a:lvl8pPr marL="3670859" indent="0">
              <a:buNone/>
              <a:defRPr sz="1835" b="1"/>
            </a:lvl8pPr>
            <a:lvl9pPr marL="4195267" indent="0">
              <a:buNone/>
              <a:defRPr sz="1835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4681" y="2873298"/>
            <a:ext cx="5050909" cy="422618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19BE7-B33B-4AEB-8EA0-189B2FA94F99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9D9F6-9DBA-4395-95C1-FF8010A33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939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19BE7-B33B-4AEB-8EA0-189B2FA94F99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9D9F6-9DBA-4395-95C1-FF8010A33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14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19BE7-B33B-4AEB-8EA0-189B2FA94F99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9D9F6-9DBA-4395-95C1-FF8010A33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94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56" y="524404"/>
            <a:ext cx="3831883" cy="1835415"/>
          </a:xfrm>
        </p:spPr>
        <p:txBody>
          <a:bodyPr anchor="b"/>
          <a:lstStyle>
            <a:lvl1pPr>
              <a:defRPr sz="367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909" y="1132569"/>
            <a:ext cx="6014680" cy="5590003"/>
          </a:xfrm>
        </p:spPr>
        <p:txBody>
          <a:bodyPr/>
          <a:lstStyle>
            <a:lvl1pPr>
              <a:defRPr sz="3670"/>
            </a:lvl1pPr>
            <a:lvl2pPr>
              <a:defRPr sz="3212"/>
            </a:lvl2pPr>
            <a:lvl3pPr>
              <a:defRPr sz="2753"/>
            </a:lvl3pPr>
            <a:lvl4pPr>
              <a:defRPr sz="2294"/>
            </a:lvl4pPr>
            <a:lvl5pPr>
              <a:defRPr sz="2294"/>
            </a:lvl5pPr>
            <a:lvl6pPr>
              <a:defRPr sz="2294"/>
            </a:lvl6pPr>
            <a:lvl7pPr>
              <a:defRPr sz="2294"/>
            </a:lvl7pPr>
            <a:lvl8pPr>
              <a:defRPr sz="2294"/>
            </a:lvl8pPr>
            <a:lvl9pPr>
              <a:defRPr sz="2294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56" y="2359819"/>
            <a:ext cx="3831883" cy="4371856"/>
          </a:xfrm>
        </p:spPr>
        <p:txBody>
          <a:bodyPr/>
          <a:lstStyle>
            <a:lvl1pPr marL="0" indent="0">
              <a:buNone/>
              <a:defRPr sz="1835"/>
            </a:lvl1pPr>
            <a:lvl2pPr marL="524408" indent="0">
              <a:buNone/>
              <a:defRPr sz="1606"/>
            </a:lvl2pPr>
            <a:lvl3pPr marL="1048817" indent="0">
              <a:buNone/>
              <a:defRPr sz="1376"/>
            </a:lvl3pPr>
            <a:lvl4pPr marL="1573225" indent="0">
              <a:buNone/>
              <a:defRPr sz="1147"/>
            </a:lvl4pPr>
            <a:lvl5pPr marL="2097634" indent="0">
              <a:buNone/>
              <a:defRPr sz="1147"/>
            </a:lvl5pPr>
            <a:lvl6pPr marL="2622042" indent="0">
              <a:buNone/>
              <a:defRPr sz="1147"/>
            </a:lvl6pPr>
            <a:lvl7pPr marL="3146450" indent="0">
              <a:buNone/>
              <a:defRPr sz="1147"/>
            </a:lvl7pPr>
            <a:lvl8pPr marL="3670859" indent="0">
              <a:buNone/>
              <a:defRPr sz="1147"/>
            </a:lvl8pPr>
            <a:lvl9pPr marL="4195267" indent="0">
              <a:buNone/>
              <a:defRPr sz="114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19BE7-B33B-4AEB-8EA0-189B2FA94F99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9D9F6-9DBA-4395-95C1-FF8010A33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38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56" y="524404"/>
            <a:ext cx="3831883" cy="1835415"/>
          </a:xfrm>
        </p:spPr>
        <p:txBody>
          <a:bodyPr anchor="b"/>
          <a:lstStyle>
            <a:lvl1pPr>
              <a:defRPr sz="367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909" y="1132569"/>
            <a:ext cx="6014680" cy="5590003"/>
          </a:xfrm>
        </p:spPr>
        <p:txBody>
          <a:bodyPr anchor="t"/>
          <a:lstStyle>
            <a:lvl1pPr marL="0" indent="0">
              <a:buNone/>
              <a:defRPr sz="3670"/>
            </a:lvl1pPr>
            <a:lvl2pPr marL="524408" indent="0">
              <a:buNone/>
              <a:defRPr sz="3212"/>
            </a:lvl2pPr>
            <a:lvl3pPr marL="1048817" indent="0">
              <a:buNone/>
              <a:defRPr sz="2753"/>
            </a:lvl3pPr>
            <a:lvl4pPr marL="1573225" indent="0">
              <a:buNone/>
              <a:defRPr sz="2294"/>
            </a:lvl4pPr>
            <a:lvl5pPr marL="2097634" indent="0">
              <a:buNone/>
              <a:defRPr sz="2294"/>
            </a:lvl5pPr>
            <a:lvl6pPr marL="2622042" indent="0">
              <a:buNone/>
              <a:defRPr sz="2294"/>
            </a:lvl6pPr>
            <a:lvl7pPr marL="3146450" indent="0">
              <a:buNone/>
              <a:defRPr sz="2294"/>
            </a:lvl7pPr>
            <a:lvl8pPr marL="3670859" indent="0">
              <a:buNone/>
              <a:defRPr sz="2294"/>
            </a:lvl8pPr>
            <a:lvl9pPr marL="4195267" indent="0">
              <a:buNone/>
              <a:defRPr sz="2294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56" y="2359819"/>
            <a:ext cx="3831883" cy="4371856"/>
          </a:xfrm>
        </p:spPr>
        <p:txBody>
          <a:bodyPr/>
          <a:lstStyle>
            <a:lvl1pPr marL="0" indent="0">
              <a:buNone/>
              <a:defRPr sz="1835"/>
            </a:lvl1pPr>
            <a:lvl2pPr marL="524408" indent="0">
              <a:buNone/>
              <a:defRPr sz="1606"/>
            </a:lvl2pPr>
            <a:lvl3pPr marL="1048817" indent="0">
              <a:buNone/>
              <a:defRPr sz="1376"/>
            </a:lvl3pPr>
            <a:lvl4pPr marL="1573225" indent="0">
              <a:buNone/>
              <a:defRPr sz="1147"/>
            </a:lvl4pPr>
            <a:lvl5pPr marL="2097634" indent="0">
              <a:buNone/>
              <a:defRPr sz="1147"/>
            </a:lvl5pPr>
            <a:lvl6pPr marL="2622042" indent="0">
              <a:buNone/>
              <a:defRPr sz="1147"/>
            </a:lvl6pPr>
            <a:lvl7pPr marL="3146450" indent="0">
              <a:buNone/>
              <a:defRPr sz="1147"/>
            </a:lvl7pPr>
            <a:lvl8pPr marL="3670859" indent="0">
              <a:buNone/>
              <a:defRPr sz="1147"/>
            </a:lvl8pPr>
            <a:lvl9pPr marL="4195267" indent="0">
              <a:buNone/>
              <a:defRPr sz="114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19BE7-B33B-4AEB-8EA0-189B2FA94F99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9D9F6-9DBA-4395-95C1-FF8010A33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81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19BE7-B33B-4AEB-8EA0-189B2FA94F99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9D9F6-9DBA-4395-95C1-FF8010A33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742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2234" y="418795"/>
            <a:ext cx="2561808" cy="66661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809" y="418795"/>
            <a:ext cx="7536914" cy="66661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19BE7-B33B-4AEB-8EA0-189B2FA94F99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9D9F6-9DBA-4395-95C1-FF8010A33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77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809" y="418797"/>
            <a:ext cx="10247233" cy="15204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809" y="2093975"/>
            <a:ext cx="10247233" cy="4990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809" y="7290677"/>
            <a:ext cx="2673191" cy="4187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19BE7-B33B-4AEB-8EA0-189B2FA94F99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532" y="7290677"/>
            <a:ext cx="4009787" cy="4187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90850" y="7290677"/>
            <a:ext cx="2673191" cy="4187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9D9F6-9DBA-4395-95C1-FF8010A33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002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defTabSz="1048817" rtl="0" eaLnBrk="1" latinLnBrk="0" hangingPunct="1">
        <a:lnSpc>
          <a:spcPct val="90000"/>
        </a:lnSpc>
        <a:spcBef>
          <a:spcPct val="0"/>
        </a:spcBef>
        <a:buNone/>
        <a:defRPr sz="50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2204" indent="-262204" algn="l" defTabSz="1048817" rtl="0" eaLnBrk="1" latinLnBrk="0" hangingPunct="1">
        <a:lnSpc>
          <a:spcPct val="90000"/>
        </a:lnSpc>
        <a:spcBef>
          <a:spcPts val="1147"/>
        </a:spcBef>
        <a:buFont typeface="Arial" panose="020B0604020202020204" pitchFamily="34" charset="0"/>
        <a:buChar char="•"/>
        <a:defRPr sz="3212" kern="1200">
          <a:solidFill>
            <a:schemeClr val="tx1"/>
          </a:solidFill>
          <a:latin typeface="+mn-lt"/>
          <a:ea typeface="+mn-ea"/>
          <a:cs typeface="+mn-cs"/>
        </a:defRPr>
      </a:lvl1pPr>
      <a:lvl2pPr marL="786613" indent="-262204" algn="l" defTabSz="104881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753" kern="1200">
          <a:solidFill>
            <a:schemeClr val="tx1"/>
          </a:solidFill>
          <a:latin typeface="+mn-lt"/>
          <a:ea typeface="+mn-ea"/>
          <a:cs typeface="+mn-cs"/>
        </a:defRPr>
      </a:lvl2pPr>
      <a:lvl3pPr marL="1311021" indent="-262204" algn="l" defTabSz="104881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294" kern="1200">
          <a:solidFill>
            <a:schemeClr val="tx1"/>
          </a:solidFill>
          <a:latin typeface="+mn-lt"/>
          <a:ea typeface="+mn-ea"/>
          <a:cs typeface="+mn-cs"/>
        </a:defRPr>
      </a:lvl3pPr>
      <a:lvl4pPr marL="1835429" indent="-262204" algn="l" defTabSz="104881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5" kern="1200">
          <a:solidFill>
            <a:schemeClr val="tx1"/>
          </a:solidFill>
          <a:latin typeface="+mn-lt"/>
          <a:ea typeface="+mn-ea"/>
          <a:cs typeface="+mn-cs"/>
        </a:defRPr>
      </a:lvl4pPr>
      <a:lvl5pPr marL="2359838" indent="-262204" algn="l" defTabSz="104881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5" kern="1200">
          <a:solidFill>
            <a:schemeClr val="tx1"/>
          </a:solidFill>
          <a:latin typeface="+mn-lt"/>
          <a:ea typeface="+mn-ea"/>
          <a:cs typeface="+mn-cs"/>
        </a:defRPr>
      </a:lvl5pPr>
      <a:lvl6pPr marL="2884246" indent="-262204" algn="l" defTabSz="104881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5" kern="1200">
          <a:solidFill>
            <a:schemeClr val="tx1"/>
          </a:solidFill>
          <a:latin typeface="+mn-lt"/>
          <a:ea typeface="+mn-ea"/>
          <a:cs typeface="+mn-cs"/>
        </a:defRPr>
      </a:lvl6pPr>
      <a:lvl7pPr marL="3408655" indent="-262204" algn="l" defTabSz="104881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5" kern="1200">
          <a:solidFill>
            <a:schemeClr val="tx1"/>
          </a:solidFill>
          <a:latin typeface="+mn-lt"/>
          <a:ea typeface="+mn-ea"/>
          <a:cs typeface="+mn-cs"/>
        </a:defRPr>
      </a:lvl7pPr>
      <a:lvl8pPr marL="3933063" indent="-262204" algn="l" defTabSz="104881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5" kern="1200">
          <a:solidFill>
            <a:schemeClr val="tx1"/>
          </a:solidFill>
          <a:latin typeface="+mn-lt"/>
          <a:ea typeface="+mn-ea"/>
          <a:cs typeface="+mn-cs"/>
        </a:defRPr>
      </a:lvl8pPr>
      <a:lvl9pPr marL="4457471" indent="-262204" algn="l" defTabSz="104881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48817" rtl="0" eaLnBrk="1" latinLnBrk="0" hangingPunct="1">
        <a:defRPr sz="2065" kern="1200">
          <a:solidFill>
            <a:schemeClr val="tx1"/>
          </a:solidFill>
          <a:latin typeface="+mn-lt"/>
          <a:ea typeface="+mn-ea"/>
          <a:cs typeface="+mn-cs"/>
        </a:defRPr>
      </a:lvl1pPr>
      <a:lvl2pPr marL="524408" algn="l" defTabSz="1048817" rtl="0" eaLnBrk="1" latinLnBrk="0" hangingPunct="1">
        <a:defRPr sz="2065" kern="1200">
          <a:solidFill>
            <a:schemeClr val="tx1"/>
          </a:solidFill>
          <a:latin typeface="+mn-lt"/>
          <a:ea typeface="+mn-ea"/>
          <a:cs typeface="+mn-cs"/>
        </a:defRPr>
      </a:lvl2pPr>
      <a:lvl3pPr marL="1048817" algn="l" defTabSz="1048817" rtl="0" eaLnBrk="1" latinLnBrk="0" hangingPunct="1">
        <a:defRPr sz="2065" kern="1200">
          <a:solidFill>
            <a:schemeClr val="tx1"/>
          </a:solidFill>
          <a:latin typeface="+mn-lt"/>
          <a:ea typeface="+mn-ea"/>
          <a:cs typeface="+mn-cs"/>
        </a:defRPr>
      </a:lvl3pPr>
      <a:lvl4pPr marL="1573225" algn="l" defTabSz="1048817" rtl="0" eaLnBrk="1" latinLnBrk="0" hangingPunct="1">
        <a:defRPr sz="2065" kern="1200">
          <a:solidFill>
            <a:schemeClr val="tx1"/>
          </a:solidFill>
          <a:latin typeface="+mn-lt"/>
          <a:ea typeface="+mn-ea"/>
          <a:cs typeface="+mn-cs"/>
        </a:defRPr>
      </a:lvl4pPr>
      <a:lvl5pPr marL="2097634" algn="l" defTabSz="1048817" rtl="0" eaLnBrk="1" latinLnBrk="0" hangingPunct="1">
        <a:defRPr sz="2065" kern="1200">
          <a:solidFill>
            <a:schemeClr val="tx1"/>
          </a:solidFill>
          <a:latin typeface="+mn-lt"/>
          <a:ea typeface="+mn-ea"/>
          <a:cs typeface="+mn-cs"/>
        </a:defRPr>
      </a:lvl5pPr>
      <a:lvl6pPr marL="2622042" algn="l" defTabSz="1048817" rtl="0" eaLnBrk="1" latinLnBrk="0" hangingPunct="1">
        <a:defRPr sz="2065" kern="1200">
          <a:solidFill>
            <a:schemeClr val="tx1"/>
          </a:solidFill>
          <a:latin typeface="+mn-lt"/>
          <a:ea typeface="+mn-ea"/>
          <a:cs typeface="+mn-cs"/>
        </a:defRPr>
      </a:lvl6pPr>
      <a:lvl7pPr marL="3146450" algn="l" defTabSz="1048817" rtl="0" eaLnBrk="1" latinLnBrk="0" hangingPunct="1">
        <a:defRPr sz="2065" kern="1200">
          <a:solidFill>
            <a:schemeClr val="tx1"/>
          </a:solidFill>
          <a:latin typeface="+mn-lt"/>
          <a:ea typeface="+mn-ea"/>
          <a:cs typeface="+mn-cs"/>
        </a:defRPr>
      </a:lvl7pPr>
      <a:lvl8pPr marL="3670859" algn="l" defTabSz="1048817" rtl="0" eaLnBrk="1" latinLnBrk="0" hangingPunct="1">
        <a:defRPr sz="2065" kern="1200">
          <a:solidFill>
            <a:schemeClr val="tx1"/>
          </a:solidFill>
          <a:latin typeface="+mn-lt"/>
          <a:ea typeface="+mn-ea"/>
          <a:cs typeface="+mn-cs"/>
        </a:defRPr>
      </a:lvl8pPr>
      <a:lvl9pPr marL="4195267" algn="l" defTabSz="1048817" rtl="0" eaLnBrk="1" latinLnBrk="0" hangingPunct="1">
        <a:defRPr sz="20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EDEA-1936-89AE-C78A-704E927D0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347" y="6243746"/>
            <a:ext cx="11652961" cy="1468936"/>
          </a:xfrm>
        </p:spPr>
        <p:txBody>
          <a:bodyPr>
            <a:normAutofit/>
          </a:bodyPr>
          <a:lstStyle/>
          <a:p>
            <a:r>
              <a:rPr lang="en-PK" sz="888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4615-15AF-9F1C-C116-78CBA0DE6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49" y="2156241"/>
            <a:ext cx="816270" cy="4821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888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4B87A-3E69-2005-D13A-13FF5AC058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713"/>
            <a:ext cx="1823810" cy="10131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DF8FB-33DB-D73A-3AEF-F5477D30EA0D}"/>
              </a:ext>
            </a:extLst>
          </p:cNvPr>
          <p:cNvSpPr txBox="1"/>
          <p:nvPr/>
        </p:nvSpPr>
        <p:spPr>
          <a:xfrm>
            <a:off x="1056398" y="7543405"/>
            <a:ext cx="6799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School of Computing, Engineering, and Build Environment </a:t>
            </a:r>
            <a:endParaRPr lang="en-PK" sz="1600" dirty="0">
              <a:solidFill>
                <a:schemeClr val="accent1">
                  <a:lumMod val="75000"/>
                </a:schemeClr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5690B8-2295-4D7D-AA66-53EE2976FF63}"/>
              </a:ext>
            </a:extLst>
          </p:cNvPr>
          <p:cNvSpPr txBox="1"/>
          <p:nvPr/>
        </p:nvSpPr>
        <p:spPr>
          <a:xfrm>
            <a:off x="1485023" y="246358"/>
            <a:ext cx="8900660" cy="1896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Computing, Engineering, and Build Environment, Glasgow Caledonian University, Glasgow</a:t>
            </a:r>
          </a:p>
          <a:p>
            <a:pPr algn="ctr"/>
            <a:r>
              <a:rPr lang="en-US" sz="1994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994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94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994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19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7876CF-69BB-7375-8DFB-F1219367E16D}"/>
              </a:ext>
            </a:extLst>
          </p:cNvPr>
          <p:cNvSpPr txBox="1"/>
          <p:nvPr/>
        </p:nvSpPr>
        <p:spPr>
          <a:xfrm>
            <a:off x="4671594" y="950797"/>
            <a:ext cx="1789849" cy="1457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sz="4434" b="1" dirty="0"/>
          </a:p>
          <a:p>
            <a:r>
              <a:rPr lang="en-PK" sz="4434" b="1" dirty="0"/>
              <a:t>   Topic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2AEAC-89CE-994F-7C77-D7EB1F2C30EB}"/>
              </a:ext>
            </a:extLst>
          </p:cNvPr>
          <p:cNvSpPr txBox="1"/>
          <p:nvPr/>
        </p:nvSpPr>
        <p:spPr>
          <a:xfrm>
            <a:off x="-22488" y="1924617"/>
            <a:ext cx="12330602" cy="172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sz="287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ctr"/>
            <a:r>
              <a:rPr lang="en-PK" sz="2870" b="1" dirty="0">
                <a:latin typeface="Times New Roman" panose="02020603050405020304" pitchFamily="18" charset="0"/>
                <a:ea typeface="Calibri" panose="020F0502020204030204" pitchFamily="34" charset="0"/>
              </a:rPr>
              <a:t>Multiclass Image Classification</a:t>
            </a:r>
          </a:p>
          <a:p>
            <a:pPr algn="ctr"/>
            <a:r>
              <a:rPr lang="en-PK" sz="2870" b="1" dirty="0">
                <a:latin typeface="Times New Roman" panose="02020603050405020304" pitchFamily="18" charset="0"/>
                <a:ea typeface="Calibri" panose="020F0502020204030204" pitchFamily="34" charset="0"/>
              </a:rPr>
              <a:t> for Lung Diseases with Deep Neural Networks </a:t>
            </a:r>
            <a: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1994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3FEFA7-DE9D-70A2-5591-BE11109F6E10}"/>
              </a:ext>
            </a:extLst>
          </p:cNvPr>
          <p:cNvSpPr txBox="1"/>
          <p:nvPr/>
        </p:nvSpPr>
        <p:spPr>
          <a:xfrm>
            <a:off x="3582096" y="2400221"/>
            <a:ext cx="5381736" cy="3911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4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  <a:p>
            <a:endParaRPr lang="en-US" sz="354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4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Presented By </a:t>
            </a:r>
            <a:r>
              <a:rPr lang="en-US" sz="3545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54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5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Muzammal Hussain</a:t>
            </a:r>
          </a:p>
          <a:p>
            <a:r>
              <a:rPr lang="en-US" sz="3545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54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5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354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 </a:t>
            </a:r>
            <a:r>
              <a:rPr lang="en-US" sz="3545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54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5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Dr. Sajid Nazir </a:t>
            </a:r>
            <a:endParaRPr lang="en-PK" sz="3545" dirty="0"/>
          </a:p>
        </p:txBody>
      </p:sp>
    </p:spTree>
    <p:extLst>
      <p:ext uri="{BB962C8B-B14F-4D97-AF65-F5344CB8AC3E}">
        <p14:creationId xmlns:p14="http://schemas.microsoft.com/office/powerpoint/2010/main" val="682720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EDEA-1936-89AE-C78A-704E927D0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347" y="6243746"/>
            <a:ext cx="11652961" cy="1468936"/>
          </a:xfrm>
        </p:spPr>
        <p:txBody>
          <a:bodyPr>
            <a:normAutofit/>
          </a:bodyPr>
          <a:lstStyle/>
          <a:p>
            <a:r>
              <a:rPr lang="en-PK" sz="888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4615-15AF-9F1C-C116-78CBA0DE6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49" y="2156241"/>
            <a:ext cx="816270" cy="4821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888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4B87A-3E69-2005-D13A-13FF5AC058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3" y="6721368"/>
            <a:ext cx="1927312" cy="10706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DF8FB-33DB-D73A-3AEF-F5477D30EA0D}"/>
              </a:ext>
            </a:extLst>
          </p:cNvPr>
          <p:cNvSpPr txBox="1"/>
          <p:nvPr/>
        </p:nvSpPr>
        <p:spPr>
          <a:xfrm>
            <a:off x="1117958" y="7518536"/>
            <a:ext cx="6799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School of Computing, Engineering, and Build Environment </a:t>
            </a:r>
            <a:endParaRPr lang="en-PK" sz="1600" dirty="0">
              <a:solidFill>
                <a:schemeClr val="accent1">
                  <a:lumMod val="75000"/>
                </a:schemeClr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2AEAC-89CE-994F-7C77-D7EB1F2C30EB}"/>
              </a:ext>
            </a:extLst>
          </p:cNvPr>
          <p:cNvSpPr txBox="1"/>
          <p:nvPr/>
        </p:nvSpPr>
        <p:spPr>
          <a:xfrm>
            <a:off x="-219841" y="1888969"/>
            <a:ext cx="184731" cy="1318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sz="287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1994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810B08-4A0D-1767-5F6F-8B429F0E874E}"/>
              </a:ext>
            </a:extLst>
          </p:cNvPr>
          <p:cNvSpPr txBox="1"/>
          <p:nvPr/>
        </p:nvSpPr>
        <p:spPr>
          <a:xfrm>
            <a:off x="4976132" y="517463"/>
            <a:ext cx="75029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Agenda</a:t>
            </a:r>
            <a:r>
              <a:rPr lang="en-GB" sz="3200" dirty="0"/>
              <a:t>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B3939BD-C70F-763E-7318-FC281E016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90520"/>
              </p:ext>
            </p:extLst>
          </p:nvPr>
        </p:nvGraphicFramePr>
        <p:xfrm>
          <a:off x="2716376" y="1313680"/>
          <a:ext cx="6590910" cy="62048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95455">
                  <a:extLst>
                    <a:ext uri="{9D8B030D-6E8A-4147-A177-3AD203B41FA5}">
                      <a16:colId xmlns:a16="http://schemas.microsoft.com/office/drawing/2014/main" val="2102561044"/>
                    </a:ext>
                  </a:extLst>
                </a:gridCol>
                <a:gridCol w="3295455">
                  <a:extLst>
                    <a:ext uri="{9D8B030D-6E8A-4147-A177-3AD203B41FA5}">
                      <a16:colId xmlns:a16="http://schemas.microsoft.com/office/drawing/2014/main" val="2571644796"/>
                    </a:ext>
                  </a:extLst>
                </a:gridCol>
              </a:tblGrid>
              <a:tr h="6204856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GB" sz="2400" dirty="0"/>
                        <a:t>Introduction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GB" sz="2400" dirty="0"/>
                        <a:t>Background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GB" sz="2400" dirty="0"/>
                        <a:t>Problem statement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GB" sz="2400" dirty="0"/>
                        <a:t>Aims and objectives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GB" sz="2400" dirty="0"/>
                        <a:t>Literature Review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GB" sz="2400" dirty="0"/>
                        <a:t>Methodology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GB" sz="2400" dirty="0"/>
                        <a:t>Dataset </a:t>
                      </a:r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GB" sz="2400" dirty="0"/>
                        <a:t>Lung disease classes</a:t>
                      </a:r>
                    </a:p>
                    <a:p>
                      <a:endParaRPr lang="en-US" sz="24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GB" sz="2400" dirty="0"/>
                        <a:t>Model used 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GB" sz="2400" dirty="0"/>
                        <a:t>Process flow diagram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GB" sz="2400" dirty="0"/>
                        <a:t>ResNet Model Results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GB" sz="2400" dirty="0"/>
                        <a:t>MobileNet Model Results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GB" sz="2400" dirty="0"/>
                        <a:t>VGGNet Model Results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2400" dirty="0"/>
                        <a:t>Results comparison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GB" sz="2400" dirty="0"/>
                        <a:t>Conclusion </a:t>
                      </a:r>
                    </a:p>
                    <a:p>
                      <a:endParaRPr lang="en-US" sz="2400" dirty="0"/>
                    </a:p>
                  </a:txBody>
                  <a:tcPr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02422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008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EDEA-1936-89AE-C78A-704E927D04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245225"/>
            <a:ext cx="11650663" cy="1468438"/>
          </a:xfrm>
        </p:spPr>
        <p:txBody>
          <a:bodyPr>
            <a:normAutofit/>
          </a:bodyPr>
          <a:lstStyle/>
          <a:p>
            <a:r>
              <a:rPr lang="en-PK" sz="888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4615-15AF-9F1C-C116-78CBA0DE694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57413"/>
            <a:ext cx="815975" cy="4819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888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4B87A-3E69-2005-D13A-13FF5AC058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" y="6658347"/>
            <a:ext cx="2070100" cy="1149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DF8FB-33DB-D73A-3AEF-F5477D30EA0D}"/>
              </a:ext>
            </a:extLst>
          </p:cNvPr>
          <p:cNvSpPr txBox="1"/>
          <p:nvPr/>
        </p:nvSpPr>
        <p:spPr>
          <a:xfrm>
            <a:off x="1234448" y="7514057"/>
            <a:ext cx="6799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School of Computing, Engineering, and Build Environment </a:t>
            </a:r>
            <a:endParaRPr lang="en-PK" sz="1600" dirty="0">
              <a:solidFill>
                <a:schemeClr val="accent1">
                  <a:lumMod val="75000"/>
                </a:schemeClr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2AEAC-89CE-994F-7C77-D7EB1F2C30EB}"/>
              </a:ext>
            </a:extLst>
          </p:cNvPr>
          <p:cNvSpPr txBox="1"/>
          <p:nvPr/>
        </p:nvSpPr>
        <p:spPr>
          <a:xfrm>
            <a:off x="-219841" y="1888969"/>
            <a:ext cx="184731" cy="1318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sz="287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1994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F5BC62-83DB-FC3A-1772-3DFFA9E996F5}"/>
              </a:ext>
            </a:extLst>
          </p:cNvPr>
          <p:cNvSpPr txBox="1"/>
          <p:nvPr/>
        </p:nvSpPr>
        <p:spPr>
          <a:xfrm>
            <a:off x="3822433" y="1102556"/>
            <a:ext cx="60507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Introduction</a:t>
            </a:r>
            <a:endParaRPr lang="en-GB" sz="3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7D6950-AC96-9E98-E8BA-EE64DC9BBB3C}"/>
              </a:ext>
            </a:extLst>
          </p:cNvPr>
          <p:cNvSpPr txBox="1"/>
          <p:nvPr/>
        </p:nvSpPr>
        <p:spPr>
          <a:xfrm>
            <a:off x="851084" y="2162505"/>
            <a:ext cx="1030159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Lung diseases are a leading cause of death worldwide. Early diagnosis and treatment of lung diseases can improve patient outcomes and reduce mortality.</a:t>
            </a:r>
            <a:endParaRPr lang="en-US" sz="28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Lung </a:t>
            </a:r>
            <a:r>
              <a:rPr lang="en-US" sz="2800" dirty="0"/>
              <a:t>disease is related to a broad category of diseases that impair lung function and cause a variety of signs and symptoms.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lungs are essential organs for exchanging oxygen and carbon dioxide in the human body.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Lung diseases may vary from acute infections to chronic conditions, and they can have a significant impact on a person's ability to breathe.</a:t>
            </a:r>
          </a:p>
        </p:txBody>
      </p:sp>
    </p:spTree>
    <p:extLst>
      <p:ext uri="{BB962C8B-B14F-4D97-AF65-F5344CB8AC3E}">
        <p14:creationId xmlns:p14="http://schemas.microsoft.com/office/powerpoint/2010/main" val="3684177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EDEA-1936-89AE-C78A-704E927D04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245225"/>
            <a:ext cx="11650663" cy="1468438"/>
          </a:xfrm>
        </p:spPr>
        <p:txBody>
          <a:bodyPr>
            <a:normAutofit/>
          </a:bodyPr>
          <a:lstStyle/>
          <a:p>
            <a:r>
              <a:rPr lang="en-PK" sz="888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4615-15AF-9F1C-C116-78CBA0DE694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57413"/>
            <a:ext cx="815975" cy="4819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888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4B87A-3E69-2005-D13A-13FF5AC058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" y="6658347"/>
            <a:ext cx="2070100" cy="1149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DF8FB-33DB-D73A-3AEF-F5477D30EA0D}"/>
              </a:ext>
            </a:extLst>
          </p:cNvPr>
          <p:cNvSpPr txBox="1"/>
          <p:nvPr/>
        </p:nvSpPr>
        <p:spPr>
          <a:xfrm>
            <a:off x="1234448" y="7514057"/>
            <a:ext cx="6799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School of Computing, Engineering, and Build Environment </a:t>
            </a:r>
            <a:endParaRPr lang="en-PK" sz="1600" dirty="0">
              <a:solidFill>
                <a:schemeClr val="accent1">
                  <a:lumMod val="75000"/>
                </a:schemeClr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2AEAC-89CE-994F-7C77-D7EB1F2C30EB}"/>
              </a:ext>
            </a:extLst>
          </p:cNvPr>
          <p:cNvSpPr txBox="1"/>
          <p:nvPr/>
        </p:nvSpPr>
        <p:spPr>
          <a:xfrm>
            <a:off x="-219841" y="1888969"/>
            <a:ext cx="184731" cy="1318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sz="287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1994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EAEF01-ABDF-3FC9-F5B4-3FB05220D3DE}"/>
              </a:ext>
            </a:extLst>
          </p:cNvPr>
          <p:cNvSpPr txBox="1"/>
          <p:nvPr/>
        </p:nvSpPr>
        <p:spPr>
          <a:xfrm>
            <a:off x="4196952" y="886897"/>
            <a:ext cx="60507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Background </a:t>
            </a:r>
            <a:endParaRPr lang="en-GB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A756D9-A08D-0444-B10C-508F8B33800E}"/>
              </a:ext>
            </a:extLst>
          </p:cNvPr>
          <p:cNvSpPr txBox="1"/>
          <p:nvPr/>
        </p:nvSpPr>
        <p:spPr>
          <a:xfrm>
            <a:off x="1463047" y="1505903"/>
            <a:ext cx="839532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The World Health Organization reports that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800" dirty="0"/>
              <a:t>Pneumonia is an acute respiratory disease that develops rapidly and impairs lung function.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800" dirty="0"/>
              <a:t>Viruses or bacteria trigger lung disease.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800" dirty="0"/>
              <a:t>Viruses or bacteria may cause lung infections and manifest as tuberculosis, pneumonia, or other conditions.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800" dirty="0"/>
              <a:t>This disease is more likely to affect children than adults.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800" dirty="0"/>
              <a:t>In 2017, 808,000 children under age 5 died from pneumonia.</a:t>
            </a:r>
          </a:p>
        </p:txBody>
      </p:sp>
    </p:spTree>
    <p:extLst>
      <p:ext uri="{BB962C8B-B14F-4D97-AF65-F5344CB8AC3E}">
        <p14:creationId xmlns:p14="http://schemas.microsoft.com/office/powerpoint/2010/main" val="4017958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EDEA-1936-89AE-C78A-704E927D04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245225"/>
            <a:ext cx="11650663" cy="1468438"/>
          </a:xfrm>
        </p:spPr>
        <p:txBody>
          <a:bodyPr>
            <a:normAutofit/>
          </a:bodyPr>
          <a:lstStyle/>
          <a:p>
            <a:r>
              <a:rPr lang="en-PK" sz="888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4615-15AF-9F1C-C116-78CBA0DE694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57413"/>
            <a:ext cx="815975" cy="4819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888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4B87A-3E69-2005-D13A-13FF5AC058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" y="6658347"/>
            <a:ext cx="2070100" cy="1149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DF8FB-33DB-D73A-3AEF-F5477D30EA0D}"/>
              </a:ext>
            </a:extLst>
          </p:cNvPr>
          <p:cNvSpPr txBox="1"/>
          <p:nvPr/>
        </p:nvSpPr>
        <p:spPr>
          <a:xfrm>
            <a:off x="1234448" y="7514057"/>
            <a:ext cx="6799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School of Computing, Engineering, and Build Environment </a:t>
            </a:r>
            <a:endParaRPr lang="en-PK" sz="1600" dirty="0">
              <a:solidFill>
                <a:schemeClr val="accent1">
                  <a:lumMod val="75000"/>
                </a:schemeClr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2AEAC-89CE-994F-7C77-D7EB1F2C30EB}"/>
              </a:ext>
            </a:extLst>
          </p:cNvPr>
          <p:cNvSpPr txBox="1"/>
          <p:nvPr/>
        </p:nvSpPr>
        <p:spPr>
          <a:xfrm>
            <a:off x="-219841" y="1888969"/>
            <a:ext cx="184731" cy="1318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sz="287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1994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23487E-6AAE-ADA4-E51D-F0C0378410B7}"/>
              </a:ext>
            </a:extLst>
          </p:cNvPr>
          <p:cNvSpPr txBox="1"/>
          <p:nvPr/>
        </p:nvSpPr>
        <p:spPr>
          <a:xfrm>
            <a:off x="3282553" y="301109"/>
            <a:ext cx="60507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Problem statement </a:t>
            </a:r>
            <a:endParaRPr lang="en-GB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0E4A2E-4C48-018C-2B4E-421271F882F9}"/>
              </a:ext>
            </a:extLst>
          </p:cNvPr>
          <p:cNvSpPr txBox="1"/>
          <p:nvPr/>
        </p:nvSpPr>
        <p:spPr>
          <a:xfrm>
            <a:off x="1050925" y="1188807"/>
            <a:ext cx="916185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world is still dealing with the consequences of the COVID-19 epidemic, and lung infections are still prevalent. Lung infections can be viral or bacterial, resulting in tuberculosis, pneumonia, and other diseases.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Existing techniques work on small datasets and maximum classify only six diseases of the lungs.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Timely and accurate diagnosis of lung diseases is crucial to effective treatment.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Deep neural networks (DNN) have shown state-of-the-art performance in image classification. Through transfer learning, the learning of the models can be applied to another domain achieving good results.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This project will utilize transfer learning with state-of-the-art DNN models for lung disease classification on chest X-ray images.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00895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EDEA-1936-89AE-C78A-704E927D04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245225"/>
            <a:ext cx="11650663" cy="1468438"/>
          </a:xfrm>
        </p:spPr>
        <p:txBody>
          <a:bodyPr>
            <a:normAutofit/>
          </a:bodyPr>
          <a:lstStyle/>
          <a:p>
            <a:r>
              <a:rPr lang="en-PK" sz="888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4615-15AF-9F1C-C116-78CBA0DE694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57413"/>
            <a:ext cx="815975" cy="4819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888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4B87A-3E69-2005-D13A-13FF5AC058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" y="6658347"/>
            <a:ext cx="2070100" cy="1149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DF8FB-33DB-D73A-3AEF-F5477D30EA0D}"/>
              </a:ext>
            </a:extLst>
          </p:cNvPr>
          <p:cNvSpPr txBox="1"/>
          <p:nvPr/>
        </p:nvSpPr>
        <p:spPr>
          <a:xfrm>
            <a:off x="1234448" y="7514057"/>
            <a:ext cx="6799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School of Computing, Engineering, and Build Environment </a:t>
            </a:r>
            <a:endParaRPr lang="en-PK" sz="1600" dirty="0">
              <a:solidFill>
                <a:schemeClr val="accent1">
                  <a:lumMod val="75000"/>
                </a:schemeClr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2AEAC-89CE-994F-7C77-D7EB1F2C30EB}"/>
              </a:ext>
            </a:extLst>
          </p:cNvPr>
          <p:cNvSpPr txBox="1"/>
          <p:nvPr/>
        </p:nvSpPr>
        <p:spPr>
          <a:xfrm>
            <a:off x="-219841" y="1888969"/>
            <a:ext cx="184731" cy="1318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sz="287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1994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7C35CB-D91B-C5B3-17CE-D847976CD1AB}"/>
              </a:ext>
            </a:extLst>
          </p:cNvPr>
          <p:cNvSpPr txBox="1"/>
          <p:nvPr/>
        </p:nvSpPr>
        <p:spPr>
          <a:xfrm>
            <a:off x="4143375" y="295275"/>
            <a:ext cx="61329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Aims and Objectives </a:t>
            </a:r>
            <a:endParaRPr lang="en-GB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32177D-2D22-F341-A09C-55145DF25DEB}"/>
              </a:ext>
            </a:extLst>
          </p:cNvPr>
          <p:cNvSpPr txBox="1"/>
          <p:nvPr/>
        </p:nvSpPr>
        <p:spPr>
          <a:xfrm>
            <a:off x="1405898" y="1228648"/>
            <a:ext cx="939545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Enhancing early detection and intervention for lung diseases, ultimately leading to better healthcare outcomes and improved patient care.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Aims to classify the maximum class of lung disease.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Providing a reliable diagnostic tool for healthcare professionals to aid in accurate and efficient diagnosis of lung diseases.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Reducing the risk of misdiagnosis and unnecessary procedures by improving the accuracy of lung disease diagnosis.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Supporting the development of personalized treatment plans for patients based on their specific lung disease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974372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EDEA-1936-89AE-C78A-704E927D04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245225"/>
            <a:ext cx="11650663" cy="1468438"/>
          </a:xfrm>
        </p:spPr>
        <p:txBody>
          <a:bodyPr>
            <a:normAutofit/>
          </a:bodyPr>
          <a:lstStyle/>
          <a:p>
            <a:r>
              <a:rPr lang="en-PK" sz="888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4615-15AF-9F1C-C116-78CBA0DE694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57413"/>
            <a:ext cx="815975" cy="4819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888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4B87A-3E69-2005-D13A-13FF5AC058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" y="6658347"/>
            <a:ext cx="2070100" cy="1149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DF8FB-33DB-D73A-3AEF-F5477D30EA0D}"/>
              </a:ext>
            </a:extLst>
          </p:cNvPr>
          <p:cNvSpPr txBox="1"/>
          <p:nvPr/>
        </p:nvSpPr>
        <p:spPr>
          <a:xfrm>
            <a:off x="1234448" y="7514057"/>
            <a:ext cx="6799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School of Computing, Engineering, and Build Environment </a:t>
            </a:r>
            <a:endParaRPr lang="en-PK" sz="1600" dirty="0">
              <a:solidFill>
                <a:schemeClr val="accent1">
                  <a:lumMod val="75000"/>
                </a:schemeClr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2AEAC-89CE-994F-7C77-D7EB1F2C30EB}"/>
              </a:ext>
            </a:extLst>
          </p:cNvPr>
          <p:cNvSpPr txBox="1"/>
          <p:nvPr/>
        </p:nvSpPr>
        <p:spPr>
          <a:xfrm>
            <a:off x="-219841" y="1888969"/>
            <a:ext cx="184731" cy="1318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sz="287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1994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8FA099-35C6-2FBC-E994-04BE70DDF580}"/>
              </a:ext>
            </a:extLst>
          </p:cNvPr>
          <p:cNvSpPr txBox="1"/>
          <p:nvPr/>
        </p:nvSpPr>
        <p:spPr>
          <a:xfrm>
            <a:off x="4054078" y="315397"/>
            <a:ext cx="60507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Literature Review </a:t>
            </a:r>
            <a:endParaRPr lang="en-GB" sz="3200" dirty="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D29BD07B-F66F-625F-20E1-4FF7EE173E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8679535"/>
              </p:ext>
            </p:extLst>
          </p:nvPr>
        </p:nvGraphicFramePr>
        <p:xfrm>
          <a:off x="586580" y="1292025"/>
          <a:ext cx="10707690" cy="43147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4022">
                  <a:extLst>
                    <a:ext uri="{9D8B030D-6E8A-4147-A177-3AD203B41FA5}">
                      <a16:colId xmlns:a16="http://schemas.microsoft.com/office/drawing/2014/main" val="104980446"/>
                    </a:ext>
                  </a:extLst>
                </a:gridCol>
                <a:gridCol w="1972492">
                  <a:extLst>
                    <a:ext uri="{9D8B030D-6E8A-4147-A177-3AD203B41FA5}">
                      <a16:colId xmlns:a16="http://schemas.microsoft.com/office/drawing/2014/main" val="3606539087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2737959127"/>
                    </a:ext>
                  </a:extLst>
                </a:gridCol>
                <a:gridCol w="770708">
                  <a:extLst>
                    <a:ext uri="{9D8B030D-6E8A-4147-A177-3AD203B41FA5}">
                      <a16:colId xmlns:a16="http://schemas.microsoft.com/office/drawing/2014/main" val="1123594459"/>
                    </a:ext>
                  </a:extLst>
                </a:gridCol>
                <a:gridCol w="1358537">
                  <a:extLst>
                    <a:ext uri="{9D8B030D-6E8A-4147-A177-3AD203B41FA5}">
                      <a16:colId xmlns:a16="http://schemas.microsoft.com/office/drawing/2014/main" val="2872012050"/>
                    </a:ext>
                  </a:extLst>
                </a:gridCol>
                <a:gridCol w="927463">
                  <a:extLst>
                    <a:ext uri="{9D8B030D-6E8A-4147-A177-3AD203B41FA5}">
                      <a16:colId xmlns:a16="http://schemas.microsoft.com/office/drawing/2014/main" val="362922094"/>
                    </a:ext>
                  </a:extLst>
                </a:gridCol>
                <a:gridCol w="902606">
                  <a:extLst>
                    <a:ext uri="{9D8B030D-6E8A-4147-A177-3AD203B41FA5}">
                      <a16:colId xmlns:a16="http://schemas.microsoft.com/office/drawing/2014/main" val="678535530"/>
                    </a:ext>
                  </a:extLst>
                </a:gridCol>
                <a:gridCol w="2171519">
                  <a:extLst>
                    <a:ext uri="{9D8B030D-6E8A-4147-A177-3AD203B41FA5}">
                      <a16:colId xmlns:a16="http://schemas.microsoft.com/office/drawing/2014/main" val="61474266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</a:rPr>
                        <a:t>Paper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</a:rPr>
                        <a:t>Focused of Study 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</a:rPr>
                        <a:t>Classes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</a:rPr>
                        <a:t>Total images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</a:rPr>
                        <a:t>Dataset Availability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</a:rPr>
                        <a:t>Model 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</a:rPr>
                        <a:t>Accuracy 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</a:rPr>
                        <a:t>Limitation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7911040"/>
                  </a:ext>
                </a:extLst>
              </a:tr>
              <a:tr h="104012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</a:rPr>
                        <a:t>(Nageshbabu Dasari, 2023)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Interstitial Lung Diseases using Multi-scale CNN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Five classes of ILD disorders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315 HRCT images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Yes 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D NN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90.67%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They use an unbalanced dataset containing only 315 images and classify only five classes of ILD disorders.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8053285"/>
                  </a:ext>
                </a:extLst>
              </a:tr>
              <a:tr h="128873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</a:rPr>
                        <a:t>(Balaji Annamalai, 2023).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Auction-based optimization algorithm with CNN for pulmonary disease prediction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</a:rPr>
                        <a:t>Classify 4 lung disease  classes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</a:rPr>
                        <a:t>112,118 X-ray images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</a:rPr>
                        <a:t>Yes 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</a:rPr>
                        <a:t>ABOA-CNN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</a:rPr>
                        <a:t>96.3%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</a:rPr>
                        <a:t>They  classify only four classes of lung disease.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2067586"/>
                  </a:ext>
                </a:extLst>
              </a:tr>
              <a:tr h="106541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(Goram Mufarah M. Alshmrani a, 2023)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Fully-Connected Network with three blocks of Convolutional Neural Networks 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</a:rPr>
                        <a:t>Classify 6 lung disease  classes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80,000 CXR image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Yes 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</a:rPr>
                        <a:t>VGG19 + CNN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96.48%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</a:rPr>
                        <a:t>They  classify only six classes of lung disease.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7079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7931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EDEA-1936-89AE-C78A-704E927D04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245225"/>
            <a:ext cx="11650663" cy="1468438"/>
          </a:xfrm>
        </p:spPr>
        <p:txBody>
          <a:bodyPr>
            <a:normAutofit/>
          </a:bodyPr>
          <a:lstStyle/>
          <a:p>
            <a:r>
              <a:rPr lang="en-PK" sz="888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4615-15AF-9F1C-C116-78CBA0DE694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57413"/>
            <a:ext cx="815975" cy="4819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888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4B87A-3E69-2005-D13A-13FF5AC058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" y="6658347"/>
            <a:ext cx="2070100" cy="1149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DF8FB-33DB-D73A-3AEF-F5477D30EA0D}"/>
              </a:ext>
            </a:extLst>
          </p:cNvPr>
          <p:cNvSpPr txBox="1"/>
          <p:nvPr/>
        </p:nvSpPr>
        <p:spPr>
          <a:xfrm>
            <a:off x="1234448" y="7514057"/>
            <a:ext cx="6799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School of Computing, Engineering, and Build Environment </a:t>
            </a:r>
            <a:endParaRPr lang="en-PK" sz="1600" dirty="0">
              <a:solidFill>
                <a:schemeClr val="accent1">
                  <a:lumMod val="75000"/>
                </a:schemeClr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2AEAC-89CE-994F-7C77-D7EB1F2C30EB}"/>
              </a:ext>
            </a:extLst>
          </p:cNvPr>
          <p:cNvSpPr txBox="1"/>
          <p:nvPr/>
        </p:nvSpPr>
        <p:spPr>
          <a:xfrm>
            <a:off x="-219841" y="1888969"/>
            <a:ext cx="184731" cy="1318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sz="287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1994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F49455-AEA7-9E4E-8D77-6827DF0F52D9}"/>
              </a:ext>
            </a:extLst>
          </p:cNvPr>
          <p:cNvSpPr txBox="1"/>
          <p:nvPr/>
        </p:nvSpPr>
        <p:spPr>
          <a:xfrm>
            <a:off x="3325415" y="152400"/>
            <a:ext cx="60507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Literature Review (cont.…) </a:t>
            </a:r>
            <a:endParaRPr lang="en-GB" sz="3200" dirty="0"/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E868ED73-3F79-18D1-DE55-28C0D17DFF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6004704"/>
              </p:ext>
            </p:extLst>
          </p:nvPr>
        </p:nvGraphicFramePr>
        <p:xfrm>
          <a:off x="530224" y="889001"/>
          <a:ext cx="10820402" cy="40973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11433">
                  <a:extLst>
                    <a:ext uri="{9D8B030D-6E8A-4147-A177-3AD203B41FA5}">
                      <a16:colId xmlns:a16="http://schemas.microsoft.com/office/drawing/2014/main" val="1903490437"/>
                    </a:ext>
                  </a:extLst>
                </a:gridCol>
                <a:gridCol w="1980410">
                  <a:extLst>
                    <a:ext uri="{9D8B030D-6E8A-4147-A177-3AD203B41FA5}">
                      <a16:colId xmlns:a16="http://schemas.microsoft.com/office/drawing/2014/main" val="3720816923"/>
                    </a:ext>
                  </a:extLst>
                </a:gridCol>
                <a:gridCol w="1293223">
                  <a:extLst>
                    <a:ext uri="{9D8B030D-6E8A-4147-A177-3AD203B41FA5}">
                      <a16:colId xmlns:a16="http://schemas.microsoft.com/office/drawing/2014/main" val="85498582"/>
                    </a:ext>
                  </a:extLst>
                </a:gridCol>
                <a:gridCol w="1384663">
                  <a:extLst>
                    <a:ext uri="{9D8B030D-6E8A-4147-A177-3AD203B41FA5}">
                      <a16:colId xmlns:a16="http://schemas.microsoft.com/office/drawing/2014/main" val="1096541992"/>
                    </a:ext>
                  </a:extLst>
                </a:gridCol>
                <a:gridCol w="535577">
                  <a:extLst>
                    <a:ext uri="{9D8B030D-6E8A-4147-A177-3AD203B41FA5}">
                      <a16:colId xmlns:a16="http://schemas.microsoft.com/office/drawing/2014/main" val="318890208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706590542"/>
                    </a:ext>
                  </a:extLst>
                </a:gridCol>
                <a:gridCol w="757646">
                  <a:extLst>
                    <a:ext uri="{9D8B030D-6E8A-4147-A177-3AD203B41FA5}">
                      <a16:colId xmlns:a16="http://schemas.microsoft.com/office/drawing/2014/main" val="2305371186"/>
                    </a:ext>
                  </a:extLst>
                </a:gridCol>
                <a:gridCol w="2055222">
                  <a:extLst>
                    <a:ext uri="{9D8B030D-6E8A-4147-A177-3AD203B41FA5}">
                      <a16:colId xmlns:a16="http://schemas.microsoft.com/office/drawing/2014/main" val="1054032891"/>
                    </a:ext>
                  </a:extLst>
                </a:gridCol>
              </a:tblGrid>
              <a:tr h="127889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(Yunfeng Chen, 2022)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Generative Adversarial Networks (GAN)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Normal,  Mild COVID-19 ,Severe COVID-19 disease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6200 CT medical images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Yes 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 MI-GAN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93.85%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They  classify only three classes of lung disease on small dataset.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2644120"/>
                  </a:ext>
                </a:extLst>
              </a:tr>
              <a:tr h="11893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(Muhammad Arnaldo, 2022)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Multiclass Segmentation of Pulmonary Diseases using CNN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Classify 4 Pulmonary disease  classes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1303 images dataset  from MosMedData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Yes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Mask-RCNN architecture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93.75%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They  classify only four classes of Pulmonary disease on small dataset.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6107744"/>
                  </a:ext>
                </a:extLst>
              </a:tr>
              <a:tr h="16290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(Rashid, 2021)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Multi-class picture Classification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Classify 4 lung disease  classes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14,220 pictures of chest X-rays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Yes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VGG16, MobbileNetV2, ResNet50, and </a:t>
                      </a:r>
                      <a:r>
                        <a:rPr lang="en-GB" sz="1400" dirty="0" err="1">
                          <a:effectLst/>
                        </a:rPr>
                        <a:t>Xception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92.67%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They  classify only four classes of lung disease 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8945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4072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EDEA-1936-89AE-C78A-704E927D04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245225"/>
            <a:ext cx="11650663" cy="1468438"/>
          </a:xfrm>
        </p:spPr>
        <p:txBody>
          <a:bodyPr>
            <a:normAutofit/>
          </a:bodyPr>
          <a:lstStyle/>
          <a:p>
            <a:r>
              <a:rPr lang="en-PK" sz="888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4615-15AF-9F1C-C116-78CBA0DE694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57413"/>
            <a:ext cx="815975" cy="4819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888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4B87A-3E69-2005-D13A-13FF5AC058D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" y="6658347"/>
            <a:ext cx="2070100" cy="1149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DF8FB-33DB-D73A-3AEF-F5477D30EA0D}"/>
              </a:ext>
            </a:extLst>
          </p:cNvPr>
          <p:cNvSpPr txBox="1"/>
          <p:nvPr/>
        </p:nvSpPr>
        <p:spPr>
          <a:xfrm>
            <a:off x="1234448" y="7514057"/>
            <a:ext cx="6799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School of Computing, Engineering, and Build Environment </a:t>
            </a:r>
            <a:endParaRPr lang="en-PK" sz="1600" dirty="0">
              <a:solidFill>
                <a:schemeClr val="accent1">
                  <a:lumMod val="75000"/>
                </a:schemeClr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2AEAC-89CE-994F-7C77-D7EB1F2C30EB}"/>
              </a:ext>
            </a:extLst>
          </p:cNvPr>
          <p:cNvSpPr txBox="1"/>
          <p:nvPr/>
        </p:nvSpPr>
        <p:spPr>
          <a:xfrm>
            <a:off x="-219841" y="1888969"/>
            <a:ext cx="184731" cy="1318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sz="287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1994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6B1ED4-CE18-4F13-36E2-1317FB19B5B5}"/>
              </a:ext>
            </a:extLst>
          </p:cNvPr>
          <p:cNvSpPr txBox="1"/>
          <p:nvPr/>
        </p:nvSpPr>
        <p:spPr>
          <a:xfrm>
            <a:off x="4182665" y="152400"/>
            <a:ext cx="60507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Methodology </a:t>
            </a:r>
            <a:endParaRPr lang="en-GB" sz="3200" dirty="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D9C8D55-737B-F6A2-0129-65B0F2C0A4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16435"/>
              </p:ext>
            </p:extLst>
          </p:nvPr>
        </p:nvGraphicFramePr>
        <p:xfrm>
          <a:off x="1050925" y="2366638"/>
          <a:ext cx="8921931" cy="4074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Visio" r:id="rId4" imgW="7839100" imgH="3372026" progId="Visio.Drawing.15">
                  <p:embed/>
                </p:oleObj>
              </mc:Choice>
              <mc:Fallback>
                <p:oleObj name="Visio" r:id="rId4" imgW="7839100" imgH="3372026" progId="Visio.Drawing.15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925" y="2366638"/>
                        <a:ext cx="8921931" cy="40740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1722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EDEA-1936-89AE-C78A-704E927D04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245225"/>
            <a:ext cx="11650663" cy="1468438"/>
          </a:xfrm>
        </p:spPr>
        <p:txBody>
          <a:bodyPr>
            <a:normAutofit/>
          </a:bodyPr>
          <a:lstStyle/>
          <a:p>
            <a:r>
              <a:rPr lang="en-PK" sz="888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4615-15AF-9F1C-C116-78CBA0DE694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57413"/>
            <a:ext cx="815975" cy="4819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888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4B87A-3E69-2005-D13A-13FF5AC058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" y="6658347"/>
            <a:ext cx="2070100" cy="1149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DF8FB-33DB-D73A-3AEF-F5477D30EA0D}"/>
              </a:ext>
            </a:extLst>
          </p:cNvPr>
          <p:cNvSpPr txBox="1"/>
          <p:nvPr/>
        </p:nvSpPr>
        <p:spPr>
          <a:xfrm>
            <a:off x="1234448" y="7514057"/>
            <a:ext cx="6799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School of Computing, Engineering, and Build Environment </a:t>
            </a:r>
            <a:endParaRPr lang="en-PK" sz="1600" dirty="0">
              <a:solidFill>
                <a:schemeClr val="accent1">
                  <a:lumMod val="75000"/>
                </a:schemeClr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2AEAC-89CE-994F-7C77-D7EB1F2C30EB}"/>
              </a:ext>
            </a:extLst>
          </p:cNvPr>
          <p:cNvSpPr txBox="1"/>
          <p:nvPr/>
        </p:nvSpPr>
        <p:spPr>
          <a:xfrm>
            <a:off x="-219841" y="1888969"/>
            <a:ext cx="184731" cy="1318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sz="287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1994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033C8-39DB-F8A4-0451-730CC3E854CC}"/>
              </a:ext>
            </a:extLst>
          </p:cNvPr>
          <p:cNvSpPr txBox="1"/>
          <p:nvPr/>
        </p:nvSpPr>
        <p:spPr>
          <a:xfrm>
            <a:off x="4634061" y="407787"/>
            <a:ext cx="60507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Dataset </a:t>
            </a:r>
            <a:endParaRPr lang="en-GB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28EFAC-0BAB-4B64-64EA-4CCFB37F10F0}"/>
              </a:ext>
            </a:extLst>
          </p:cNvPr>
          <p:cNvSpPr txBox="1"/>
          <p:nvPr/>
        </p:nvSpPr>
        <p:spPr>
          <a:xfrm>
            <a:off x="2314574" y="1294468"/>
            <a:ext cx="102584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dataset was downloaded from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</a:rPr>
              <a:t>kaggle.com</a:t>
            </a:r>
            <a:r>
              <a:rPr lang="en-US" sz="2400" dirty="0"/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Number of chest X-ray images are 112,120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Chest X-ray images was collected from 30,805 distinct patients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Dataset contains 14 classes of lung disease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0DF5FB-8250-4085-E185-5505947EE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675" y="3429000"/>
            <a:ext cx="7772400" cy="360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32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EDEA-1936-89AE-C78A-704E927D04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245225"/>
            <a:ext cx="11650663" cy="1468438"/>
          </a:xfrm>
        </p:spPr>
        <p:txBody>
          <a:bodyPr>
            <a:normAutofit/>
          </a:bodyPr>
          <a:lstStyle/>
          <a:p>
            <a:r>
              <a:rPr lang="en-PK" sz="888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4615-15AF-9F1C-C116-78CBA0DE694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57413"/>
            <a:ext cx="815975" cy="4819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888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4B87A-3E69-2005-D13A-13FF5AC058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" y="6658347"/>
            <a:ext cx="2070100" cy="1149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DF8FB-33DB-D73A-3AEF-F5477D30EA0D}"/>
              </a:ext>
            </a:extLst>
          </p:cNvPr>
          <p:cNvSpPr txBox="1"/>
          <p:nvPr/>
        </p:nvSpPr>
        <p:spPr>
          <a:xfrm>
            <a:off x="1234448" y="7514057"/>
            <a:ext cx="6799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School of Computing, Engineering, and Build Environment </a:t>
            </a:r>
            <a:endParaRPr lang="en-PK" sz="1600" dirty="0">
              <a:solidFill>
                <a:schemeClr val="accent1">
                  <a:lumMod val="75000"/>
                </a:schemeClr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2AEAC-89CE-994F-7C77-D7EB1F2C30EB}"/>
              </a:ext>
            </a:extLst>
          </p:cNvPr>
          <p:cNvSpPr txBox="1"/>
          <p:nvPr/>
        </p:nvSpPr>
        <p:spPr>
          <a:xfrm>
            <a:off x="-219841" y="1888969"/>
            <a:ext cx="184731" cy="1318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sz="287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1994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2191D9-2037-A189-3BCE-E9BF60EC2F13}"/>
              </a:ext>
            </a:extLst>
          </p:cNvPr>
          <p:cNvSpPr txBox="1"/>
          <p:nvPr/>
        </p:nvSpPr>
        <p:spPr>
          <a:xfrm>
            <a:off x="3868340" y="529709"/>
            <a:ext cx="60507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Lung disease classes</a:t>
            </a:r>
            <a:endParaRPr lang="en-GB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E7B545-CE63-82AA-2E25-5DC079BC7A45}"/>
              </a:ext>
            </a:extLst>
          </p:cNvPr>
          <p:cNvSpPr txBox="1"/>
          <p:nvPr/>
        </p:nvSpPr>
        <p:spPr>
          <a:xfrm>
            <a:off x="1463048" y="2338330"/>
            <a:ext cx="6050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/>
              <a:t>Name of lung disease 14 classes </a:t>
            </a:r>
          </a:p>
        </p:txBody>
      </p:sp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4612DCFA-CAFE-F307-AD2B-6F857EB2DB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9860837"/>
              </p:ext>
            </p:extLst>
          </p:nvPr>
        </p:nvGraphicFramePr>
        <p:xfrm>
          <a:off x="902996" y="3022466"/>
          <a:ext cx="4485415" cy="34969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94287">
                  <a:extLst>
                    <a:ext uri="{9D8B030D-6E8A-4147-A177-3AD203B41FA5}">
                      <a16:colId xmlns:a16="http://schemas.microsoft.com/office/drawing/2014/main" val="1029584723"/>
                    </a:ext>
                  </a:extLst>
                </a:gridCol>
                <a:gridCol w="2391128">
                  <a:extLst>
                    <a:ext uri="{9D8B030D-6E8A-4147-A177-3AD203B41FA5}">
                      <a16:colId xmlns:a16="http://schemas.microsoft.com/office/drawing/2014/main" val="3302352185"/>
                    </a:ext>
                  </a:extLst>
                </a:gridCol>
              </a:tblGrid>
              <a:tr h="486185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dirty="0"/>
                        <a:t>Atelectasis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Pneumothorax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7759670"/>
                  </a:ext>
                </a:extLst>
              </a:tr>
              <a:tr h="486185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Cardiomegaly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dirty="0"/>
                        <a:t>Consolidation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570703"/>
                  </a:ext>
                </a:extLst>
              </a:tr>
              <a:tr h="486185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Effusion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dirty="0"/>
                        <a:t>Edema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221290"/>
                  </a:ext>
                </a:extLst>
              </a:tr>
              <a:tr h="486185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Infiltration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dirty="0"/>
                        <a:t>Emphysema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850126"/>
                  </a:ext>
                </a:extLst>
              </a:tr>
              <a:tr h="486185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Mass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dirty="0"/>
                        <a:t>Fibrosis 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660670"/>
                  </a:ext>
                </a:extLst>
              </a:tr>
              <a:tr h="57982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Nodule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dirty="0"/>
                        <a:t>Pleural thickening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031726"/>
                  </a:ext>
                </a:extLst>
              </a:tr>
              <a:tr h="486185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Pneumonia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Hernia 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600366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D2A3926A-D542-2F63-7506-805CF32A2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437" y="2856876"/>
            <a:ext cx="4893217" cy="437644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0D6AD09-7D5D-982E-E7F1-02EBD8E48501}"/>
              </a:ext>
            </a:extLst>
          </p:cNvPr>
          <p:cNvSpPr txBox="1"/>
          <p:nvPr/>
        </p:nvSpPr>
        <p:spPr>
          <a:xfrm>
            <a:off x="6597252" y="2260413"/>
            <a:ext cx="6050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Name of lung disease with different colors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9624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EDEA-1936-89AE-C78A-704E927D04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245225"/>
            <a:ext cx="11650663" cy="1468438"/>
          </a:xfrm>
        </p:spPr>
        <p:txBody>
          <a:bodyPr>
            <a:normAutofit/>
          </a:bodyPr>
          <a:lstStyle/>
          <a:p>
            <a:r>
              <a:rPr lang="en-PK" sz="888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4615-15AF-9F1C-C116-78CBA0DE694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57413"/>
            <a:ext cx="815975" cy="4819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888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4B87A-3E69-2005-D13A-13FF5AC058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" y="6658347"/>
            <a:ext cx="2070100" cy="1149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DF8FB-33DB-D73A-3AEF-F5477D30EA0D}"/>
              </a:ext>
            </a:extLst>
          </p:cNvPr>
          <p:cNvSpPr txBox="1"/>
          <p:nvPr/>
        </p:nvSpPr>
        <p:spPr>
          <a:xfrm>
            <a:off x="1234448" y="7514057"/>
            <a:ext cx="6799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School of Computing, Engineering, and Build Environment </a:t>
            </a:r>
            <a:endParaRPr lang="en-PK" sz="1600" dirty="0">
              <a:solidFill>
                <a:schemeClr val="accent1">
                  <a:lumMod val="75000"/>
                </a:schemeClr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2AEAC-89CE-994F-7C77-D7EB1F2C30EB}"/>
              </a:ext>
            </a:extLst>
          </p:cNvPr>
          <p:cNvSpPr txBox="1"/>
          <p:nvPr/>
        </p:nvSpPr>
        <p:spPr>
          <a:xfrm>
            <a:off x="-219841" y="1888969"/>
            <a:ext cx="184731" cy="1318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sz="287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1994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76E119-1BFA-5766-CB13-6249A12C45F0}"/>
              </a:ext>
            </a:extLst>
          </p:cNvPr>
          <p:cNvSpPr txBox="1"/>
          <p:nvPr/>
        </p:nvSpPr>
        <p:spPr>
          <a:xfrm>
            <a:off x="4788354" y="664420"/>
            <a:ext cx="6049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Model used </a:t>
            </a:r>
            <a:endParaRPr lang="en-GB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1E0987-E1E9-0E9C-9AD5-6447C4237484}"/>
              </a:ext>
            </a:extLst>
          </p:cNvPr>
          <p:cNvSpPr txBox="1"/>
          <p:nvPr/>
        </p:nvSpPr>
        <p:spPr>
          <a:xfrm>
            <a:off x="1028700" y="2906487"/>
            <a:ext cx="889907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Models we used for lung disease classification are: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ResNet model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MobileNet model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VGGNet model</a:t>
            </a:r>
          </a:p>
        </p:txBody>
      </p:sp>
    </p:spTree>
    <p:extLst>
      <p:ext uri="{BB962C8B-B14F-4D97-AF65-F5344CB8AC3E}">
        <p14:creationId xmlns:p14="http://schemas.microsoft.com/office/powerpoint/2010/main" val="2818124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EDEA-1936-89AE-C78A-704E927D04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245225"/>
            <a:ext cx="11650663" cy="1468438"/>
          </a:xfrm>
        </p:spPr>
        <p:txBody>
          <a:bodyPr>
            <a:normAutofit/>
          </a:bodyPr>
          <a:lstStyle/>
          <a:p>
            <a:r>
              <a:rPr lang="en-PK" sz="888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4615-15AF-9F1C-C116-78CBA0DE694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57413"/>
            <a:ext cx="815975" cy="4819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888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4B87A-3E69-2005-D13A-13FF5AC058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" y="6658347"/>
            <a:ext cx="2070100" cy="1149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DF8FB-33DB-D73A-3AEF-F5477D30EA0D}"/>
              </a:ext>
            </a:extLst>
          </p:cNvPr>
          <p:cNvSpPr txBox="1"/>
          <p:nvPr/>
        </p:nvSpPr>
        <p:spPr>
          <a:xfrm>
            <a:off x="1234448" y="7514057"/>
            <a:ext cx="6799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School of Computing, Engineering, and Build Environment </a:t>
            </a:r>
            <a:endParaRPr lang="en-PK" sz="1600" dirty="0">
              <a:solidFill>
                <a:schemeClr val="accent1">
                  <a:lumMod val="75000"/>
                </a:schemeClr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2AEAC-89CE-994F-7C77-D7EB1F2C30EB}"/>
              </a:ext>
            </a:extLst>
          </p:cNvPr>
          <p:cNvSpPr txBox="1"/>
          <p:nvPr/>
        </p:nvSpPr>
        <p:spPr>
          <a:xfrm>
            <a:off x="-219841" y="1888969"/>
            <a:ext cx="184731" cy="1318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sz="287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1994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F96826-06F8-DEDE-56DC-E65FF5545659}"/>
              </a:ext>
            </a:extLst>
          </p:cNvPr>
          <p:cNvSpPr txBox="1"/>
          <p:nvPr/>
        </p:nvSpPr>
        <p:spPr>
          <a:xfrm>
            <a:off x="3988255" y="152400"/>
            <a:ext cx="6049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Process flow diagram</a:t>
            </a:r>
            <a:endParaRPr lang="en-GB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A41C33-D437-A564-8395-E6ACD598E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29" y="1730829"/>
            <a:ext cx="11097944" cy="453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375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EDEA-1936-89AE-C78A-704E927D04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245225"/>
            <a:ext cx="11650663" cy="1468438"/>
          </a:xfrm>
        </p:spPr>
        <p:txBody>
          <a:bodyPr>
            <a:normAutofit/>
          </a:bodyPr>
          <a:lstStyle/>
          <a:p>
            <a:r>
              <a:rPr lang="en-PK" sz="888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4615-15AF-9F1C-C116-78CBA0DE694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57413"/>
            <a:ext cx="815975" cy="4819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888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4B87A-3E69-2005-D13A-13FF5AC058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" y="6658347"/>
            <a:ext cx="2070100" cy="1149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DF8FB-33DB-D73A-3AEF-F5477D30EA0D}"/>
              </a:ext>
            </a:extLst>
          </p:cNvPr>
          <p:cNvSpPr txBox="1"/>
          <p:nvPr/>
        </p:nvSpPr>
        <p:spPr>
          <a:xfrm>
            <a:off x="1234448" y="7514057"/>
            <a:ext cx="6799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School of Computing, Engineering, and Build Environment </a:t>
            </a:r>
            <a:endParaRPr lang="en-PK" sz="1600" dirty="0">
              <a:solidFill>
                <a:schemeClr val="accent1">
                  <a:lumMod val="75000"/>
                </a:schemeClr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2AEAC-89CE-994F-7C77-D7EB1F2C30EB}"/>
              </a:ext>
            </a:extLst>
          </p:cNvPr>
          <p:cNvSpPr txBox="1"/>
          <p:nvPr/>
        </p:nvSpPr>
        <p:spPr>
          <a:xfrm>
            <a:off x="-219841" y="1888969"/>
            <a:ext cx="184731" cy="1318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sz="287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1994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4E3260-76ED-D45F-3CE3-3615154278F8}"/>
              </a:ext>
            </a:extLst>
          </p:cNvPr>
          <p:cNvSpPr txBox="1"/>
          <p:nvPr/>
        </p:nvSpPr>
        <p:spPr>
          <a:xfrm>
            <a:off x="4184197" y="305192"/>
            <a:ext cx="6049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ResNet Model results</a:t>
            </a:r>
            <a:endParaRPr lang="en-GB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082287-28DF-E7E3-D82B-2F8DB892ADC8}"/>
              </a:ext>
            </a:extLst>
          </p:cNvPr>
          <p:cNvSpPr txBox="1"/>
          <p:nvPr/>
        </p:nvSpPr>
        <p:spPr>
          <a:xfrm>
            <a:off x="815975" y="1003251"/>
            <a:ext cx="102221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Accuracy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ResNet model training accuracy is 95.4%, and validation accuracy is 64.1% on chest X-ray images for lung disease classification.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11" name="Picture 10" descr="C:\Users\tahir\Downloads\download (7).png">
            <a:extLst>
              <a:ext uri="{FF2B5EF4-FFF2-40B4-BE49-F238E27FC236}">
                <a16:creationId xmlns:a16="http://schemas.microsoft.com/office/drawing/2014/main" id="{16645078-058F-756D-937A-C90FF03F2C8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77" y="1926392"/>
            <a:ext cx="5977123" cy="4690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C:\Users\tahir\Downloads\download (9).png">
            <a:extLst>
              <a:ext uri="{FF2B5EF4-FFF2-40B4-BE49-F238E27FC236}">
                <a16:creationId xmlns:a16="http://schemas.microsoft.com/office/drawing/2014/main" id="{4333C420-B2ED-8F8B-E2CB-1294E033438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535" y="1856266"/>
            <a:ext cx="5513573" cy="46901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906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EDEA-1936-89AE-C78A-704E927D04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245225"/>
            <a:ext cx="11650663" cy="1468438"/>
          </a:xfrm>
        </p:spPr>
        <p:txBody>
          <a:bodyPr>
            <a:normAutofit/>
          </a:bodyPr>
          <a:lstStyle/>
          <a:p>
            <a:r>
              <a:rPr lang="en-PK" sz="888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4615-15AF-9F1C-C116-78CBA0DE694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57413"/>
            <a:ext cx="815975" cy="4819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888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4B87A-3E69-2005-D13A-13FF5AC058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" y="6658347"/>
            <a:ext cx="2070100" cy="1149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DF8FB-33DB-D73A-3AEF-F5477D30EA0D}"/>
              </a:ext>
            </a:extLst>
          </p:cNvPr>
          <p:cNvSpPr txBox="1"/>
          <p:nvPr/>
        </p:nvSpPr>
        <p:spPr>
          <a:xfrm>
            <a:off x="1234448" y="7514057"/>
            <a:ext cx="6799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School of Computing, Engineering, and Build Environment </a:t>
            </a:r>
            <a:endParaRPr lang="en-PK" sz="1600" dirty="0">
              <a:solidFill>
                <a:schemeClr val="accent1">
                  <a:lumMod val="75000"/>
                </a:schemeClr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2AEAC-89CE-994F-7C77-D7EB1F2C30EB}"/>
              </a:ext>
            </a:extLst>
          </p:cNvPr>
          <p:cNvSpPr txBox="1"/>
          <p:nvPr/>
        </p:nvSpPr>
        <p:spPr>
          <a:xfrm>
            <a:off x="-219841" y="1888969"/>
            <a:ext cx="184731" cy="1318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sz="287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1994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30756A-3341-C856-0FD2-3495F20961AB}"/>
              </a:ext>
            </a:extLst>
          </p:cNvPr>
          <p:cNvSpPr txBox="1"/>
          <p:nvPr/>
        </p:nvSpPr>
        <p:spPr>
          <a:xfrm>
            <a:off x="3208452" y="44882"/>
            <a:ext cx="6049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ResNet Model results(</a:t>
            </a:r>
            <a:r>
              <a:rPr lang="en-GB" sz="3200" b="1" dirty="0" err="1"/>
              <a:t>cont</a:t>
            </a:r>
            <a:r>
              <a:rPr lang="en-GB" sz="3200" b="1" dirty="0"/>
              <a:t>…)</a:t>
            </a:r>
            <a:endParaRPr lang="en-GB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3DB1AC-E598-BCFF-E291-7C26BC758A18}"/>
              </a:ext>
            </a:extLst>
          </p:cNvPr>
          <p:cNvSpPr txBox="1"/>
          <p:nvPr/>
        </p:nvSpPr>
        <p:spPr>
          <a:xfrm>
            <a:off x="815975" y="713896"/>
            <a:ext cx="108346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Loss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ResNet model training loss	 is 0.124%, and validation loss is 1.193% on chest X-ray images for lung disease classification.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494733-FA38-0320-ADB4-4F37E6069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88" y="2496184"/>
            <a:ext cx="4939046" cy="37490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73CC4D-FA9C-E6A4-4845-449443733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319" y="2467284"/>
            <a:ext cx="4637778" cy="374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915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EDEA-1936-89AE-C78A-704E927D04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245225"/>
            <a:ext cx="11650663" cy="1468438"/>
          </a:xfrm>
        </p:spPr>
        <p:txBody>
          <a:bodyPr>
            <a:normAutofit/>
          </a:bodyPr>
          <a:lstStyle/>
          <a:p>
            <a:r>
              <a:rPr lang="en-PK" sz="888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4615-15AF-9F1C-C116-78CBA0DE694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57413"/>
            <a:ext cx="815975" cy="4819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888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4B87A-3E69-2005-D13A-13FF5AC058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" y="6658347"/>
            <a:ext cx="2070100" cy="1149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DF8FB-33DB-D73A-3AEF-F5477D30EA0D}"/>
              </a:ext>
            </a:extLst>
          </p:cNvPr>
          <p:cNvSpPr txBox="1"/>
          <p:nvPr/>
        </p:nvSpPr>
        <p:spPr>
          <a:xfrm>
            <a:off x="1234448" y="7514057"/>
            <a:ext cx="6799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School of Computing, Engineering, and Build Environment </a:t>
            </a:r>
            <a:endParaRPr lang="en-PK" sz="1600" dirty="0">
              <a:solidFill>
                <a:schemeClr val="accent1">
                  <a:lumMod val="75000"/>
                </a:schemeClr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2AEAC-89CE-994F-7C77-D7EB1F2C30EB}"/>
              </a:ext>
            </a:extLst>
          </p:cNvPr>
          <p:cNvSpPr txBox="1"/>
          <p:nvPr/>
        </p:nvSpPr>
        <p:spPr>
          <a:xfrm>
            <a:off x="-219841" y="1888969"/>
            <a:ext cx="184731" cy="1318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sz="287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1994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02E935-1217-47B5-7938-766A7633395B}"/>
              </a:ext>
            </a:extLst>
          </p:cNvPr>
          <p:cNvSpPr txBox="1"/>
          <p:nvPr/>
        </p:nvSpPr>
        <p:spPr>
          <a:xfrm>
            <a:off x="3514725" y="152400"/>
            <a:ext cx="6049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MobileNet Model Results</a:t>
            </a:r>
            <a:endParaRPr lang="en-GB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A81B18-8752-F30F-3F43-A9B79F7887D1}"/>
              </a:ext>
            </a:extLst>
          </p:cNvPr>
          <p:cNvSpPr txBox="1"/>
          <p:nvPr/>
        </p:nvSpPr>
        <p:spPr>
          <a:xfrm>
            <a:off x="607520" y="933239"/>
            <a:ext cx="1066580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Accuracy 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MobileNet model training accuracy is 52.90%, and validation accuracy is 58.14% on chest X-ray images for lung disease classification.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endParaRPr lang="en-US" sz="2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F13469A-6284-82C5-A062-D5860B8F3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605" y="2006007"/>
            <a:ext cx="9089651" cy="524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410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EDEA-1936-89AE-C78A-704E927D04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245225"/>
            <a:ext cx="11650663" cy="1468438"/>
          </a:xfrm>
        </p:spPr>
        <p:txBody>
          <a:bodyPr>
            <a:normAutofit/>
          </a:bodyPr>
          <a:lstStyle/>
          <a:p>
            <a:r>
              <a:rPr lang="en-PK" sz="888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4615-15AF-9F1C-C116-78CBA0DE694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57413"/>
            <a:ext cx="815975" cy="4819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888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4B87A-3E69-2005-D13A-13FF5AC058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" y="6658347"/>
            <a:ext cx="2070100" cy="1149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DF8FB-33DB-D73A-3AEF-F5477D30EA0D}"/>
              </a:ext>
            </a:extLst>
          </p:cNvPr>
          <p:cNvSpPr txBox="1"/>
          <p:nvPr/>
        </p:nvSpPr>
        <p:spPr>
          <a:xfrm>
            <a:off x="1234448" y="7514057"/>
            <a:ext cx="6799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School of Computing, Engineering, and Build Environment </a:t>
            </a:r>
            <a:endParaRPr lang="en-PK" sz="1600" dirty="0">
              <a:solidFill>
                <a:schemeClr val="accent1">
                  <a:lumMod val="75000"/>
                </a:schemeClr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2AEAC-89CE-994F-7C77-D7EB1F2C30EB}"/>
              </a:ext>
            </a:extLst>
          </p:cNvPr>
          <p:cNvSpPr txBox="1"/>
          <p:nvPr/>
        </p:nvSpPr>
        <p:spPr>
          <a:xfrm>
            <a:off x="-219841" y="1888969"/>
            <a:ext cx="184731" cy="1318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sz="287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1994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7FF227-981B-C476-346A-D8066CF85AF6}"/>
              </a:ext>
            </a:extLst>
          </p:cNvPr>
          <p:cNvSpPr txBox="1"/>
          <p:nvPr/>
        </p:nvSpPr>
        <p:spPr>
          <a:xfrm>
            <a:off x="897791" y="833862"/>
            <a:ext cx="974861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Loss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000" dirty="0"/>
              <a:t>MobileNet model training loss is 2.16%, and validation loss is 2.26% on chest X-ray images for lung disease classification.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FDF59-A317-214F-2776-7661DEC453C5}"/>
              </a:ext>
            </a:extLst>
          </p:cNvPr>
          <p:cNvSpPr txBox="1"/>
          <p:nvPr/>
        </p:nvSpPr>
        <p:spPr>
          <a:xfrm>
            <a:off x="2800464" y="249087"/>
            <a:ext cx="6049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MobileNet Model Results(</a:t>
            </a:r>
            <a:r>
              <a:rPr lang="en-GB" sz="3200" b="1" dirty="0" err="1"/>
              <a:t>cont</a:t>
            </a:r>
            <a:r>
              <a:rPr lang="en-GB" sz="3200" b="1" dirty="0"/>
              <a:t>…)</a:t>
            </a:r>
            <a:endParaRPr lang="en-GB" sz="32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6083D63-45CC-73EB-17A7-7A9066E0B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037" y="1957246"/>
            <a:ext cx="9209488" cy="524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0391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EDEA-1936-89AE-C78A-704E927D04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245225"/>
            <a:ext cx="11650663" cy="1468438"/>
          </a:xfrm>
        </p:spPr>
        <p:txBody>
          <a:bodyPr>
            <a:normAutofit/>
          </a:bodyPr>
          <a:lstStyle/>
          <a:p>
            <a:r>
              <a:rPr lang="en-PK" sz="888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4615-15AF-9F1C-C116-78CBA0DE694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57413"/>
            <a:ext cx="815975" cy="4819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888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4B87A-3E69-2005-D13A-13FF5AC058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" y="6658347"/>
            <a:ext cx="2070100" cy="1149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DF8FB-33DB-D73A-3AEF-F5477D30EA0D}"/>
              </a:ext>
            </a:extLst>
          </p:cNvPr>
          <p:cNvSpPr txBox="1"/>
          <p:nvPr/>
        </p:nvSpPr>
        <p:spPr>
          <a:xfrm>
            <a:off x="1234448" y="7514057"/>
            <a:ext cx="6799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School of Computing, Engineering, and Build Environment </a:t>
            </a:r>
            <a:endParaRPr lang="en-PK" sz="1600" dirty="0">
              <a:solidFill>
                <a:schemeClr val="accent1">
                  <a:lumMod val="75000"/>
                </a:schemeClr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2AEAC-89CE-994F-7C77-D7EB1F2C30EB}"/>
              </a:ext>
            </a:extLst>
          </p:cNvPr>
          <p:cNvSpPr txBox="1"/>
          <p:nvPr/>
        </p:nvSpPr>
        <p:spPr>
          <a:xfrm>
            <a:off x="-219841" y="1888969"/>
            <a:ext cx="184731" cy="1318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sz="287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1994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19C1D1-BA28-4499-A77A-AA6AA79C265B}"/>
              </a:ext>
            </a:extLst>
          </p:cNvPr>
          <p:cNvSpPr txBox="1"/>
          <p:nvPr/>
        </p:nvSpPr>
        <p:spPr>
          <a:xfrm>
            <a:off x="3955597" y="152400"/>
            <a:ext cx="6049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VGGNet Model Results</a:t>
            </a:r>
            <a:endParaRPr lang="en-GB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6BB765-0E50-FE66-61C3-190995DB499D}"/>
              </a:ext>
            </a:extLst>
          </p:cNvPr>
          <p:cNvSpPr txBox="1"/>
          <p:nvPr/>
        </p:nvSpPr>
        <p:spPr>
          <a:xfrm>
            <a:off x="421368" y="737175"/>
            <a:ext cx="11038114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/>
              <a:t>Accuracy</a:t>
            </a:r>
          </a:p>
          <a:p>
            <a:pPr marL="0" indent="0" algn="just">
              <a:buNone/>
            </a:pPr>
            <a:r>
              <a:rPr lang="en-US" sz="2000" dirty="0"/>
              <a:t>VGGNet model training accuracy is 52.82%, and </a:t>
            </a:r>
            <a:r>
              <a:rPr lang="en-US" sz="2000" dirty="0" err="1"/>
              <a:t>valdation</a:t>
            </a:r>
            <a:r>
              <a:rPr lang="en-US" sz="2000" dirty="0"/>
              <a:t> accuracy is 58.11% on chest X-ray images for lung disease classification.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AA3970-F1FF-3A2A-0B0B-A39ADE22AD8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351314" y="1888970"/>
            <a:ext cx="7772400" cy="472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640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EDEA-1936-89AE-C78A-704E927D04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245225"/>
            <a:ext cx="11650663" cy="1468438"/>
          </a:xfrm>
        </p:spPr>
        <p:txBody>
          <a:bodyPr>
            <a:normAutofit/>
          </a:bodyPr>
          <a:lstStyle/>
          <a:p>
            <a:r>
              <a:rPr lang="en-PK" sz="888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4615-15AF-9F1C-C116-78CBA0DE694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57413"/>
            <a:ext cx="815975" cy="4819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888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4B87A-3E69-2005-D13A-13FF5AC058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" y="6658347"/>
            <a:ext cx="2070100" cy="1149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DF8FB-33DB-D73A-3AEF-F5477D30EA0D}"/>
              </a:ext>
            </a:extLst>
          </p:cNvPr>
          <p:cNvSpPr txBox="1"/>
          <p:nvPr/>
        </p:nvSpPr>
        <p:spPr>
          <a:xfrm>
            <a:off x="1234448" y="7514057"/>
            <a:ext cx="6799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School of Computing, Engineering, and Build Environment </a:t>
            </a:r>
            <a:endParaRPr lang="en-PK" sz="1600" dirty="0">
              <a:solidFill>
                <a:schemeClr val="accent1">
                  <a:lumMod val="75000"/>
                </a:schemeClr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2AEAC-89CE-994F-7C77-D7EB1F2C30EB}"/>
              </a:ext>
            </a:extLst>
          </p:cNvPr>
          <p:cNvSpPr txBox="1"/>
          <p:nvPr/>
        </p:nvSpPr>
        <p:spPr>
          <a:xfrm>
            <a:off x="-219841" y="1888969"/>
            <a:ext cx="184731" cy="1318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sz="287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1994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D8E3F0-EC5D-7385-4B13-F38ACE6454BD}"/>
              </a:ext>
            </a:extLst>
          </p:cNvPr>
          <p:cNvSpPr txBox="1"/>
          <p:nvPr/>
        </p:nvSpPr>
        <p:spPr>
          <a:xfrm>
            <a:off x="3204482" y="272534"/>
            <a:ext cx="6049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VGGNet Model Results(</a:t>
            </a:r>
            <a:r>
              <a:rPr lang="en-GB" sz="3200" b="1" dirty="0" err="1"/>
              <a:t>cont</a:t>
            </a:r>
            <a:r>
              <a:rPr lang="en-GB" sz="3200" b="1" dirty="0"/>
              <a:t>…)</a:t>
            </a:r>
            <a:endParaRPr lang="en-GB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019041-FB82-E154-927D-D3F0A0346D2A}"/>
              </a:ext>
            </a:extLst>
          </p:cNvPr>
          <p:cNvSpPr txBox="1"/>
          <p:nvPr/>
        </p:nvSpPr>
        <p:spPr>
          <a:xfrm>
            <a:off x="360022" y="941201"/>
            <a:ext cx="11160806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/>
              <a:t>Loss</a:t>
            </a:r>
          </a:p>
          <a:p>
            <a:pPr marL="0" indent="0" algn="just">
              <a:buNone/>
            </a:pPr>
            <a:r>
              <a:rPr lang="en-US" sz="2000" dirty="0"/>
              <a:t>VGGNet model training loss is 2.25%, and validation loss is 2.23% on chest X-ray images for lung disease classification.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C828B4-2DA8-3B36-5BB2-7280C7FA6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157413"/>
            <a:ext cx="7707086" cy="467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117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EDEA-1936-89AE-C78A-704E927D04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245225"/>
            <a:ext cx="11650663" cy="1468438"/>
          </a:xfrm>
        </p:spPr>
        <p:txBody>
          <a:bodyPr>
            <a:normAutofit/>
          </a:bodyPr>
          <a:lstStyle/>
          <a:p>
            <a:r>
              <a:rPr lang="en-PK" sz="888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4615-15AF-9F1C-C116-78CBA0DE694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57413"/>
            <a:ext cx="815975" cy="4819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888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4B87A-3E69-2005-D13A-13FF5AC058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" y="6658347"/>
            <a:ext cx="2070100" cy="1149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DF8FB-33DB-D73A-3AEF-F5477D30EA0D}"/>
              </a:ext>
            </a:extLst>
          </p:cNvPr>
          <p:cNvSpPr txBox="1"/>
          <p:nvPr/>
        </p:nvSpPr>
        <p:spPr>
          <a:xfrm>
            <a:off x="1234448" y="7514057"/>
            <a:ext cx="6799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School of Computing, Engineering, and Build Environment </a:t>
            </a:r>
            <a:endParaRPr lang="en-PK" sz="1600" dirty="0">
              <a:solidFill>
                <a:schemeClr val="accent1">
                  <a:lumMod val="75000"/>
                </a:schemeClr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2AEAC-89CE-994F-7C77-D7EB1F2C30EB}"/>
              </a:ext>
            </a:extLst>
          </p:cNvPr>
          <p:cNvSpPr txBox="1"/>
          <p:nvPr/>
        </p:nvSpPr>
        <p:spPr>
          <a:xfrm>
            <a:off x="-219841" y="1888969"/>
            <a:ext cx="184731" cy="1318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sz="287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1994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07EDD-C04C-ADA2-3A64-CF98B1840C6E}"/>
              </a:ext>
            </a:extLst>
          </p:cNvPr>
          <p:cNvSpPr txBox="1"/>
          <p:nvPr/>
        </p:nvSpPr>
        <p:spPr>
          <a:xfrm>
            <a:off x="3939269" y="305192"/>
            <a:ext cx="6049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Results comparison</a:t>
            </a:r>
            <a:endParaRPr lang="en-GB" sz="3200" dirty="0"/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75F27CF4-4D0F-C7A3-1FE3-0EE7538CE2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6573304"/>
              </p:ext>
            </p:extLst>
          </p:nvPr>
        </p:nvGraphicFramePr>
        <p:xfrm>
          <a:off x="673667" y="1303088"/>
          <a:ext cx="10533515" cy="5050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804">
                  <a:extLst>
                    <a:ext uri="{9D8B030D-6E8A-4147-A177-3AD203B41FA5}">
                      <a16:colId xmlns:a16="http://schemas.microsoft.com/office/drawing/2014/main" val="3153299539"/>
                    </a:ext>
                  </a:extLst>
                </a:gridCol>
                <a:gridCol w="1931602">
                  <a:extLst>
                    <a:ext uri="{9D8B030D-6E8A-4147-A177-3AD203B41FA5}">
                      <a16:colId xmlns:a16="http://schemas.microsoft.com/office/drawing/2014/main" val="698692361"/>
                    </a:ext>
                  </a:extLst>
                </a:gridCol>
                <a:gridCol w="2106703">
                  <a:extLst>
                    <a:ext uri="{9D8B030D-6E8A-4147-A177-3AD203B41FA5}">
                      <a16:colId xmlns:a16="http://schemas.microsoft.com/office/drawing/2014/main" val="3442651612"/>
                    </a:ext>
                  </a:extLst>
                </a:gridCol>
                <a:gridCol w="2106703">
                  <a:extLst>
                    <a:ext uri="{9D8B030D-6E8A-4147-A177-3AD203B41FA5}">
                      <a16:colId xmlns:a16="http://schemas.microsoft.com/office/drawing/2014/main" val="963541856"/>
                    </a:ext>
                  </a:extLst>
                </a:gridCol>
                <a:gridCol w="2106703">
                  <a:extLst>
                    <a:ext uri="{9D8B030D-6E8A-4147-A177-3AD203B41FA5}">
                      <a16:colId xmlns:a16="http://schemas.microsoft.com/office/drawing/2014/main" val="1257701066"/>
                    </a:ext>
                  </a:extLst>
                </a:gridCol>
              </a:tblGrid>
              <a:tr h="168203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/>
                        <a:t>Model</a:t>
                      </a:r>
                      <a:r>
                        <a:rPr lang="en-US" sz="2400" baseline="0" dirty="0"/>
                        <a:t> name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/>
                        <a:t>Training accuracy</a:t>
                      </a:r>
                      <a:r>
                        <a:rPr lang="en-US" sz="2400" baseline="0" dirty="0"/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/>
                        <a:t>Validation accuracy</a:t>
                      </a:r>
                      <a:r>
                        <a:rPr lang="en-US" sz="2400" baseline="0" dirty="0"/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/>
                        <a:t>Training loss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/>
                        <a:t>Validation loss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953350"/>
                  </a:ext>
                </a:extLst>
              </a:tr>
              <a:tr h="86682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 err="1"/>
                        <a:t>ResNet</a:t>
                      </a:r>
                      <a:r>
                        <a:rPr lang="en-US" sz="2400" dirty="0"/>
                        <a:t>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/>
                        <a:t>95.4%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0.124</a:t>
                      </a:r>
                      <a:r>
                        <a:rPr lang="en-US" sz="2400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/>
                        <a:t>1.93%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858702"/>
                  </a:ext>
                </a:extLst>
              </a:tr>
              <a:tr h="163445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 err="1"/>
                        <a:t>Mobile</a:t>
                      </a:r>
                      <a:r>
                        <a:rPr lang="en-US" sz="2400" baseline="0" dirty="0" err="1"/>
                        <a:t>Net</a:t>
                      </a:r>
                      <a:r>
                        <a:rPr lang="en-US" sz="2400" baseline="0" dirty="0"/>
                        <a:t> Model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52.90%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58.14%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2.16</a:t>
                      </a:r>
                      <a:r>
                        <a:rPr lang="en-US" sz="2400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2.26</a:t>
                      </a:r>
                      <a:r>
                        <a:rPr lang="en-US" sz="2400" dirty="0"/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796886"/>
                  </a:ext>
                </a:extLst>
              </a:tr>
              <a:tr h="86682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VGGNet</a:t>
                      </a:r>
                      <a:r>
                        <a:rPr lang="en-US" sz="2400" baseline="0" dirty="0"/>
                        <a:t> Model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52.82%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58.11%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2.25</a:t>
                      </a:r>
                      <a:r>
                        <a:rPr lang="en-US" sz="2400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2.23</a:t>
                      </a:r>
                      <a:r>
                        <a:rPr lang="en-US" sz="2400" dirty="0"/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4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764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EDEA-1936-89AE-C78A-704E927D04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245225"/>
            <a:ext cx="11650663" cy="1468438"/>
          </a:xfrm>
        </p:spPr>
        <p:txBody>
          <a:bodyPr>
            <a:normAutofit/>
          </a:bodyPr>
          <a:lstStyle/>
          <a:p>
            <a:r>
              <a:rPr lang="en-PK" sz="888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4615-15AF-9F1C-C116-78CBA0DE694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57413"/>
            <a:ext cx="815975" cy="4819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888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4B87A-3E69-2005-D13A-13FF5AC058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" y="6658347"/>
            <a:ext cx="2070100" cy="1149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DF8FB-33DB-D73A-3AEF-F5477D30EA0D}"/>
              </a:ext>
            </a:extLst>
          </p:cNvPr>
          <p:cNvSpPr txBox="1"/>
          <p:nvPr/>
        </p:nvSpPr>
        <p:spPr>
          <a:xfrm>
            <a:off x="1234448" y="7514057"/>
            <a:ext cx="6799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School of Computing, Engineering, and Build Environment </a:t>
            </a:r>
            <a:endParaRPr lang="en-PK" sz="1600" dirty="0">
              <a:solidFill>
                <a:schemeClr val="accent1">
                  <a:lumMod val="75000"/>
                </a:schemeClr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2AEAC-89CE-994F-7C77-D7EB1F2C30EB}"/>
              </a:ext>
            </a:extLst>
          </p:cNvPr>
          <p:cNvSpPr txBox="1"/>
          <p:nvPr/>
        </p:nvSpPr>
        <p:spPr>
          <a:xfrm>
            <a:off x="-219841" y="1888969"/>
            <a:ext cx="184731" cy="1318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sz="287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1994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F72F3-C118-42BB-D969-DCF622ABEFB4}"/>
              </a:ext>
            </a:extLst>
          </p:cNvPr>
          <p:cNvSpPr txBox="1"/>
          <p:nvPr/>
        </p:nvSpPr>
        <p:spPr>
          <a:xfrm>
            <a:off x="4837340" y="152400"/>
            <a:ext cx="6049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Conclusion </a:t>
            </a:r>
            <a:endParaRPr lang="en-GB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D4392B-BFEF-29A6-7048-778805155E56}"/>
              </a:ext>
            </a:extLst>
          </p:cNvPr>
          <p:cNvSpPr txBox="1"/>
          <p:nvPr/>
        </p:nvSpPr>
        <p:spPr>
          <a:xfrm>
            <a:off x="851085" y="1705686"/>
            <a:ext cx="1048094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Our objective was to develop accurate diagnostic tools for lung disease classification using deep learning models.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We trained various models on our dataset to extract intricate features and patterns from complex chest X-ray data.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ResNet model Demonstrated exceptional performance on the chest X-ray dataset, showcasing its effectiveness in identifying lung diseases.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MobileNet and VGGNet Models achieved lower accuracy rates compared to ResNet.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Our findings represent significant progress in developing accurate and efficient diagnostic tools for lung disease classification.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ResNet model's high accuracy demonstrates its potential for improving patient outcomes and healthcare practices.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25264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EDEA-1936-89AE-C78A-704E927D04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245225"/>
            <a:ext cx="11650663" cy="1468438"/>
          </a:xfrm>
        </p:spPr>
        <p:txBody>
          <a:bodyPr>
            <a:normAutofit/>
          </a:bodyPr>
          <a:lstStyle/>
          <a:p>
            <a:r>
              <a:rPr lang="en-PK" sz="888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4615-15AF-9F1C-C116-78CBA0DE694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57413"/>
            <a:ext cx="815975" cy="4819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888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4B87A-3E69-2005-D13A-13FF5AC058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" y="6658347"/>
            <a:ext cx="2070100" cy="1149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DF8FB-33DB-D73A-3AEF-F5477D30EA0D}"/>
              </a:ext>
            </a:extLst>
          </p:cNvPr>
          <p:cNvSpPr txBox="1"/>
          <p:nvPr/>
        </p:nvSpPr>
        <p:spPr>
          <a:xfrm>
            <a:off x="1234448" y="7514057"/>
            <a:ext cx="6799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School of Computing, Engineering, and Build Environment </a:t>
            </a:r>
            <a:endParaRPr lang="en-PK" sz="1600" dirty="0">
              <a:solidFill>
                <a:schemeClr val="accent1">
                  <a:lumMod val="75000"/>
                </a:schemeClr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2AEAC-89CE-994F-7C77-D7EB1F2C30EB}"/>
              </a:ext>
            </a:extLst>
          </p:cNvPr>
          <p:cNvSpPr txBox="1"/>
          <p:nvPr/>
        </p:nvSpPr>
        <p:spPr>
          <a:xfrm>
            <a:off x="-219841" y="1888969"/>
            <a:ext cx="184731" cy="1318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sz="287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19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E63480-6D11-8ACE-51BD-E16369C4E045}"/>
              </a:ext>
            </a:extLst>
          </p:cNvPr>
          <p:cNvSpPr txBox="1"/>
          <p:nvPr/>
        </p:nvSpPr>
        <p:spPr>
          <a:xfrm>
            <a:off x="4634061" y="305192"/>
            <a:ext cx="6049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Future work </a:t>
            </a:r>
            <a:endParaRPr lang="en-GB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D4392B-BFEF-29A6-7048-778805155E56}"/>
              </a:ext>
            </a:extLst>
          </p:cNvPr>
          <p:cNvSpPr txBox="1"/>
          <p:nvPr/>
        </p:nvSpPr>
        <p:spPr>
          <a:xfrm>
            <a:off x="815975" y="1827446"/>
            <a:ext cx="104866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Develop </a:t>
            </a:r>
            <a:r>
              <a:rPr lang="en-US" sz="2400" dirty="0"/>
              <a:t>a Software Application: in the future, we will create a </a:t>
            </a:r>
            <a:r>
              <a:rPr lang="en-US" sz="2400" dirty="0" smtClean="0"/>
              <a:t>user-friendly and reliable software </a:t>
            </a:r>
            <a:r>
              <a:rPr lang="en-US" sz="2400" dirty="0"/>
              <a:t>application that utilizes trained models for automatically diagnosing lung diseases using chest X-ray and CT scan images</a:t>
            </a:r>
            <a:r>
              <a:rPr lang="en-US" sz="2400" dirty="0" smtClean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The application will efficiently </a:t>
            </a:r>
            <a:r>
              <a:rPr lang="en-US" sz="2400" dirty="0"/>
              <a:t>process large volumes of data and complex algorithms. This will help to Quick and accurate classification leads to improved patient outcomes and efficient healthcare procedures.</a:t>
            </a:r>
            <a:endParaRPr lang="en-US" sz="24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687374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EDEA-1936-89AE-C78A-704E927D0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347" y="6243746"/>
            <a:ext cx="11652961" cy="1468936"/>
          </a:xfrm>
        </p:spPr>
        <p:txBody>
          <a:bodyPr>
            <a:normAutofit/>
          </a:bodyPr>
          <a:lstStyle/>
          <a:p>
            <a:r>
              <a:rPr lang="en-PK" sz="888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4615-15AF-9F1C-C116-78CBA0DE6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49" y="2156241"/>
            <a:ext cx="816270" cy="4821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K" sz="888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4B87A-3E69-2005-D13A-13FF5AC058D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9" y="6629400"/>
            <a:ext cx="2195038" cy="12193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DF8FB-33DB-D73A-3AEF-F5477D30EA0D}"/>
              </a:ext>
            </a:extLst>
          </p:cNvPr>
          <p:cNvSpPr txBox="1"/>
          <p:nvPr/>
        </p:nvSpPr>
        <p:spPr>
          <a:xfrm>
            <a:off x="1361086" y="7564596"/>
            <a:ext cx="67992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School of Computing, Engineering, and Build Environment </a:t>
            </a:r>
            <a:endParaRPr lang="en-PK" sz="1600" dirty="0">
              <a:solidFill>
                <a:schemeClr val="accent1">
                  <a:lumMod val="75000"/>
                </a:schemeClr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2AEAC-89CE-994F-7C77-D7EB1F2C30EB}"/>
              </a:ext>
            </a:extLst>
          </p:cNvPr>
          <p:cNvSpPr txBox="1"/>
          <p:nvPr/>
        </p:nvSpPr>
        <p:spPr>
          <a:xfrm>
            <a:off x="-219841" y="1888969"/>
            <a:ext cx="184731" cy="1318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sz="287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102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1994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11990A-9A0D-98EC-B33D-04583F47A93F}"/>
              </a:ext>
            </a:extLst>
          </p:cNvPr>
          <p:cNvSpPr txBox="1"/>
          <p:nvPr/>
        </p:nvSpPr>
        <p:spPr>
          <a:xfrm>
            <a:off x="2632124" y="2672861"/>
            <a:ext cx="7798798" cy="172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639" b="1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Thank You </a:t>
            </a:r>
            <a:endParaRPr lang="en-PK" sz="10639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8" name="Content Placeholder 6" descr="Help">
            <a:extLst>
              <a:ext uri="{FF2B5EF4-FFF2-40B4-BE49-F238E27FC236}">
                <a16:creationId xmlns:a16="http://schemas.microsoft.com/office/drawing/2014/main" id="{8476ACC6-8BC8-DCBB-37A0-9671B747831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125587" y="4626265"/>
            <a:ext cx="1013301" cy="1013301"/>
          </a:xfrm>
          <a:prstGeom prst="rect">
            <a:avLst/>
          </a:prstGeom>
          <a:effectLst>
            <a:glow rad="1897480">
              <a:schemeClr val="accent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57520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12086</TotalTime>
  <Words>1239</Words>
  <Application>Microsoft Office PowerPoint</Application>
  <PresentationFormat>Custom</PresentationFormat>
  <Paragraphs>310</Paragraphs>
  <Slides>23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Calibri Light</vt:lpstr>
      <vt:lpstr>Mongolian Baiti</vt:lpstr>
      <vt:lpstr>Times New Roman</vt:lpstr>
      <vt:lpstr>Wingdings</vt:lpstr>
      <vt:lpstr>Office Theme</vt:lpstr>
      <vt:lpstr>Visio</vt:lpstr>
      <vt:lpstr>.</vt:lpstr>
      <vt:lpstr>.</vt:lpstr>
      <vt:lpstr>.</vt:lpstr>
      <vt:lpstr>.</vt:lpstr>
      <vt:lpstr>.</vt:lpstr>
      <vt:lpstr>.</vt:lpstr>
      <vt:lpstr>.</vt:lpstr>
      <vt:lpstr>.</vt:lpstr>
      <vt:lpstr>.</vt:lpstr>
      <vt:lpstr>.</vt:lpstr>
      <vt:lpstr>.</vt:lpstr>
      <vt:lpstr>.</vt:lpstr>
      <vt:lpstr>.</vt:lpstr>
      <vt:lpstr>.</vt:lpstr>
      <vt:lpstr>.</vt:lpstr>
      <vt:lpstr>.</vt:lpstr>
      <vt:lpstr>.</vt:lpstr>
      <vt:lpstr>.</vt:lpstr>
      <vt:lpstr>.</vt:lpstr>
      <vt:lpstr>.</vt:lpstr>
      <vt:lpstr>.</vt:lpstr>
      <vt:lpstr>.</vt:lpstr>
      <vt:lpstr>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NATIONAL TEXTILES UNIVERSITY, FAISALABAD   DEPARTMENT OF COMPUTER SCIENCES Synopsis for M.S(C.S)  Name of the student  Furqan Ahmad Registration Number 2020-ntu-mscs-4004</dc:title>
  <dc:creator>2020-NTU-MSCS-4004</dc:creator>
  <cp:lastModifiedBy>tahir</cp:lastModifiedBy>
  <cp:revision>157</cp:revision>
  <cp:lastPrinted>2022-02-15T14:22:56Z</cp:lastPrinted>
  <dcterms:created xsi:type="dcterms:W3CDTF">2021-09-23T06:02:51Z</dcterms:created>
  <dcterms:modified xsi:type="dcterms:W3CDTF">2023-05-22T09:53:37Z</dcterms:modified>
</cp:coreProperties>
</file>