
<file path=[Content_Types].xml><?xml version="1.0" encoding="utf-8"?>
<Types xmlns="http://schemas.openxmlformats.org/package/2006/content-types">
  <Default Extension="jpeg" ContentType="image/jpeg"/>
  <Default Extension="wmf" ContentType="image/x-w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912" r:id="rId1"/>
  </p:sldMasterIdLst>
  <p:notesMasterIdLst>
    <p:notesMasterId r:id="rId15"/>
  </p:notesMasterIdLst>
  <p:sldIdLst>
    <p:sldId id="256" r:id="rId2"/>
    <p:sldId id="268" r:id="rId3"/>
    <p:sldId id="257" r:id="rId4"/>
    <p:sldId id="260" r:id="rId5"/>
    <p:sldId id="258" r:id="rId6"/>
    <p:sldId id="259" r:id="rId7"/>
    <p:sldId id="261" r:id="rId8"/>
    <p:sldId id="262" r:id="rId9"/>
    <p:sldId id="263" r:id="rId10"/>
    <p:sldId id="264" r:id="rId11"/>
    <p:sldId id="265" r:id="rId12"/>
    <p:sldId id="266" r:id="rId13"/>
    <p:sldId id="267" r:id="rId14"/>
  </p:sldIdLst>
  <p:sldSz cx="9144000" cy="6858000" type="screen4x3"/>
  <p:notesSz cx="6858000" cy="9144000"/>
  <p:defaultTextStyle>
    <a:defPPr>
      <a:defRPr lang="en-US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85" d="100"/>
          <a:sy n="85" d="100"/>
        </p:scale>
        <p:origin x="1506" y="11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93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3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150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sp>
      <p:sp>
        <p:nvSpPr>
          <p:cNvPr id="3994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343400"/>
            <a:ext cx="5486400" cy="41148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 smtClean="0"/>
              <a:t>Click to edit Master text styles</a:t>
            </a:r>
          </a:p>
          <a:p>
            <a:pPr lvl="1"/>
            <a:r>
              <a:rPr lang="en-US" noProof="0" smtClean="0"/>
              <a:t>Second level</a:t>
            </a:r>
          </a:p>
          <a:p>
            <a:pPr lvl="2"/>
            <a:r>
              <a:rPr lang="en-US" noProof="0" smtClean="0"/>
              <a:t>Third level</a:t>
            </a:r>
          </a:p>
          <a:p>
            <a:pPr lvl="3"/>
            <a:r>
              <a:rPr lang="en-US" noProof="0" smtClean="0"/>
              <a:t>Fourth level</a:t>
            </a:r>
          </a:p>
          <a:p>
            <a:pPr lvl="4"/>
            <a:r>
              <a:rPr lang="en-US" noProof="0" smtClean="0"/>
              <a:t>Fifth level</a:t>
            </a:r>
          </a:p>
        </p:txBody>
      </p:sp>
      <p:sp>
        <p:nvSpPr>
          <p:cNvPr id="3994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eaLnBrk="1" hangingPunct="1">
              <a:defRPr sz="1200">
                <a:latin typeface="Arial" charset="0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3994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685213"/>
            <a:ext cx="29718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 eaLnBrk="1" hangingPunct="1">
              <a:defRPr sz="1200">
                <a:latin typeface="Arial" panose="020B0604020202020204" pitchFamily="34" charset="0"/>
              </a:defRPr>
            </a:lvl1pPr>
          </a:lstStyle>
          <a:p>
            <a:fld id="{E4B61D32-99BE-4387-AD09-63F26B2AED53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-8466" y="-8468"/>
            <a:ext cx="9171316" cy="6874935"/>
            <a:chOff x="-8466" y="-8468"/>
            <a:chExt cx="9171316" cy="6874935"/>
          </a:xfrm>
        </p:grpSpPr>
        <p:cxnSp>
          <p:nvCxnSpPr>
            <p:cNvPr id="28" name="Straight Connector 2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9" name="Straight Connector 2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30" name="Freeform 2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Freeform 3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2" name="Freeform 3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3" name="Freeform 3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4" name="Freeform 3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5" name="Freeform 3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6" name="Freeform 3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17"/>
            <p:cNvSpPr/>
            <p:nvPr/>
          </p:nvSpPr>
          <p:spPr>
            <a:xfrm>
              <a:off x="-8466" y="-8468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30595" y="2404534"/>
            <a:ext cx="5826719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30595" y="4050834"/>
            <a:ext cx="5826719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F41E210-6D6A-4CEF-A0D8-4A9503B8D87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758149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9B3D48E-BDB2-4F48-A725-10AD15B9E18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34232501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2700868"/>
            <a:ext cx="6347715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277FBF3-4B43-445C-9D2E-6F6F0451824E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454000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600" y="2160589"/>
            <a:ext cx="3088109" cy="3880772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3869204" y="2160590"/>
            <a:ext cx="3088110" cy="388077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AAEB569-A965-4536-9AE7-C4BF393510CC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0731917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99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66640" y="2160983"/>
            <a:ext cx="309067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3866640" y="2737246"/>
            <a:ext cx="3090672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0CDFAC2-14E7-4D15-98AD-0DAA974CE71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6148458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4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EFA730A-D68D-4085-8931-DF87295302A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0547862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579D414-088D-4FDF-A91D-1FE222549D3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7256114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1498604"/>
            <a:ext cx="2790182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1275" y="514925"/>
            <a:ext cx="3386037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2777069"/>
            <a:ext cx="2790182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71D99CC-60E3-4B37-B3D9-BD2F6D89CFEA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99918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9" y="4800600"/>
            <a:ext cx="6347714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09599" y="609600"/>
            <a:ext cx="6347714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99" y="5367338"/>
            <a:ext cx="6347714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4D0044F-8103-40C6-A721-ED93FC2E15DB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148133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609600"/>
            <a:ext cx="6347714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4470400"/>
            <a:ext cx="6347714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69F3-81F8-4A05-AF0C-879FE673291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3592535"/>
      </p:ext>
    </p:extLst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101074" y="3632200"/>
            <a:ext cx="541980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470400"/>
            <a:ext cx="6347715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69F3-81F8-4A05-AF0C-879FE673291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978641265"/>
      </p:ext>
    </p:extLst>
  </p:cSld>
  <p:clrMapOvr>
    <a:masterClrMapping/>
  </p:clrMapOvr>
  <p:hf sldNum="0" hdr="0" dt="0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98" y="1931988"/>
            <a:ext cx="6347715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69F3-81F8-4A05-AF0C-879FE673291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72887236"/>
      </p:ext>
    </p:extLst>
  </p:cSld>
  <p:clrMapOvr>
    <a:masterClrMapping/>
  </p:clrMapOvr>
  <p:hf sldNum="0" hdr="0" dt="0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4885" y="609600"/>
            <a:ext cx="6072182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69F3-81F8-4A05-AF0C-879FE6732912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24" name="TextBox 23"/>
          <p:cNvSpPr txBox="1"/>
          <p:nvPr/>
        </p:nvSpPr>
        <p:spPr>
          <a:xfrm>
            <a:off x="482711" y="790378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6747699" y="2886556"/>
            <a:ext cx="457319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2685108601"/>
      </p:ext>
    </p:extLst>
  </p:cSld>
  <p:clrMapOvr>
    <a:masterClrMapping/>
  </p:clrMapOvr>
  <p:hf sldNum="0" hdr="0" dt="0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15848" y="609600"/>
            <a:ext cx="6341465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09597" y="4013200"/>
            <a:ext cx="6347716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8" y="4527448"/>
            <a:ext cx="6347715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B3069F3-81F8-4A05-AF0C-879FE673291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03725313"/>
      </p:ext>
    </p:extLst>
  </p:cSld>
  <p:clrMapOvr>
    <a:masterClrMapping/>
  </p:clrMapOvr>
  <p:hf sldNum="0" hdr="0" dt="0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A41B2E3-D952-49D9-B990-30823ACD4615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1721544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5977312" y="609600"/>
            <a:ext cx="978812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99" y="609600"/>
            <a:ext cx="5195026" cy="5251451"/>
          </a:xfrm>
        </p:spPr>
        <p:txBody>
          <a:bodyPr vert="eaVert"/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A024A-7252-49ED-AD9F-C37DB8E04CBD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95384122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" name="Group 16"/>
          <p:cNvGrpSpPr/>
          <p:nvPr/>
        </p:nvGrpSpPr>
        <p:grpSpPr>
          <a:xfrm>
            <a:off x="-8467" y="-8468"/>
            <a:ext cx="9171317" cy="6874935"/>
            <a:chOff x="-8467" y="-8468"/>
            <a:chExt cx="9171317" cy="6874935"/>
          </a:xfrm>
        </p:grpSpPr>
        <p:sp>
          <p:nvSpPr>
            <p:cNvPr id="7" name="Freeform 6"/>
            <p:cNvSpPr/>
            <p:nvPr/>
          </p:nvSpPr>
          <p:spPr>
            <a:xfrm>
              <a:off x="-8467" y="4013200"/>
              <a:ext cx="457200" cy="2853267"/>
            </a:xfrm>
            <a:custGeom>
              <a:avLst/>
              <a:gdLst/>
              <a:ahLst/>
              <a:cxnLst/>
              <a:rect l="l" t="t" r="r" b="b"/>
              <a:pathLst>
                <a:path w="457200" h="2853267">
                  <a:moveTo>
                    <a:pt x="0" y="0"/>
                  </a:moveTo>
                  <a:lnTo>
                    <a:pt x="457200" y="2853267"/>
                  </a:lnTo>
                  <a:lnTo>
                    <a:pt x="0" y="2844800"/>
                  </a:lnTo>
                  <a:cubicBezTo>
                    <a:pt x="2822" y="1905000"/>
                    <a:pt x="5645" y="965200"/>
                    <a:pt x="0" y="0"/>
                  </a:cubicBez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8" name="Straight Connector 7"/>
            <p:cNvCxnSpPr/>
            <p:nvPr/>
          </p:nvCxnSpPr>
          <p:spPr>
            <a:xfrm flipV="1">
              <a:off x="5130830" y="4175605"/>
              <a:ext cx="4022475" cy="2682396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9" name="Straight Connector 8"/>
            <p:cNvCxnSpPr/>
            <p:nvPr/>
          </p:nvCxnSpPr>
          <p:spPr>
            <a:xfrm>
              <a:off x="7042707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10" name="Freeform 9"/>
            <p:cNvSpPr/>
            <p:nvPr/>
          </p:nvSpPr>
          <p:spPr>
            <a:xfrm>
              <a:off x="6891896" y="1"/>
              <a:ext cx="2269442" cy="6866466"/>
            </a:xfrm>
            <a:custGeom>
              <a:avLst/>
              <a:gdLst/>
              <a:ahLst/>
              <a:cxnLst/>
              <a:rect l="l" t="t" r="r" b="b"/>
              <a:pathLst>
                <a:path w="2269442" h="6866466">
                  <a:moveTo>
                    <a:pt x="2023534" y="0"/>
                  </a:moveTo>
                  <a:lnTo>
                    <a:pt x="0" y="6858000"/>
                  </a:lnTo>
                  <a:lnTo>
                    <a:pt x="2269067" y="6866466"/>
                  </a:lnTo>
                  <a:cubicBezTo>
                    <a:pt x="2271889" y="4580466"/>
                    <a:pt x="2257778" y="2294466"/>
                    <a:pt x="2260600" y="8466"/>
                  </a:cubicBezTo>
                  <a:lnTo>
                    <a:pt x="2023534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10"/>
            <p:cNvSpPr/>
            <p:nvPr/>
          </p:nvSpPr>
          <p:spPr>
            <a:xfrm>
              <a:off x="7205158" y="-8467"/>
              <a:ext cx="1948147" cy="6866467"/>
            </a:xfrm>
            <a:custGeom>
              <a:avLst/>
              <a:gdLst/>
              <a:ahLst/>
              <a:cxnLst/>
              <a:rect l="l" t="t" r="r" b="b"/>
              <a:pathLst>
                <a:path w="1948147" h="6866467">
                  <a:moveTo>
                    <a:pt x="0" y="0"/>
                  </a:moveTo>
                  <a:lnTo>
                    <a:pt x="1202267" y="6866467"/>
                  </a:lnTo>
                  <a:lnTo>
                    <a:pt x="1947333" y="6866467"/>
                  </a:lnTo>
                  <a:cubicBezTo>
                    <a:pt x="1944511" y="4577645"/>
                    <a:pt x="1950155" y="2288822"/>
                    <a:pt x="1947333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2" name="Freeform 11"/>
            <p:cNvSpPr/>
            <p:nvPr/>
          </p:nvSpPr>
          <p:spPr>
            <a:xfrm>
              <a:off x="6637896" y="3920066"/>
              <a:ext cx="2513565" cy="2937933"/>
            </a:xfrm>
            <a:custGeom>
              <a:avLst/>
              <a:gdLst/>
              <a:ahLst/>
              <a:cxnLst/>
              <a:rect l="l" t="t" r="r" b="b"/>
              <a:pathLst>
                <a:path w="3259667" h="3810000">
                  <a:moveTo>
                    <a:pt x="0" y="3810000"/>
                  </a:moveTo>
                  <a:lnTo>
                    <a:pt x="3251200" y="0"/>
                  </a:lnTo>
                  <a:cubicBezTo>
                    <a:pt x="3254022" y="1270000"/>
                    <a:pt x="3256845" y="2540000"/>
                    <a:pt x="3259667" y="3810000"/>
                  </a:cubicBezTo>
                  <a:lnTo>
                    <a:pt x="0" y="3810000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12"/>
            <p:cNvSpPr/>
            <p:nvPr/>
          </p:nvSpPr>
          <p:spPr>
            <a:xfrm>
              <a:off x="7010429" y="-8467"/>
              <a:ext cx="2142876" cy="6866467"/>
            </a:xfrm>
            <a:custGeom>
              <a:avLst/>
              <a:gdLst/>
              <a:ahLst/>
              <a:cxnLst/>
              <a:rect l="l" t="t" r="r" b="b"/>
              <a:pathLst>
                <a:path w="2853267" h="6866467">
                  <a:moveTo>
                    <a:pt x="0" y="0"/>
                  </a:moveTo>
                  <a:lnTo>
                    <a:pt x="2472267" y="6866467"/>
                  </a:lnTo>
                  <a:lnTo>
                    <a:pt x="2853267" y="6858000"/>
                  </a:lnTo>
                  <a:lnTo>
                    <a:pt x="2853267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13"/>
            <p:cNvSpPr/>
            <p:nvPr/>
          </p:nvSpPr>
          <p:spPr>
            <a:xfrm>
              <a:off x="8295776" y="-8467"/>
              <a:ext cx="857530" cy="6866467"/>
            </a:xfrm>
            <a:custGeom>
              <a:avLst/>
              <a:gdLst/>
              <a:ahLst/>
              <a:cxnLst/>
              <a:rect l="l" t="t" r="r" b="b"/>
              <a:pathLst>
                <a:path w="1286933" h="6866467">
                  <a:moveTo>
                    <a:pt x="1016000" y="0"/>
                  </a:moveTo>
                  <a:lnTo>
                    <a:pt x="0" y="6866467"/>
                  </a:lnTo>
                  <a:lnTo>
                    <a:pt x="1286933" y="6866467"/>
                  </a:lnTo>
                  <a:cubicBezTo>
                    <a:pt x="1284111" y="4577645"/>
                    <a:pt x="1281288" y="2288822"/>
                    <a:pt x="1278466" y="0"/>
                  </a:cubicBezTo>
                  <a:lnTo>
                    <a:pt x="1016000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Freeform 14"/>
            <p:cNvSpPr/>
            <p:nvPr/>
          </p:nvSpPr>
          <p:spPr>
            <a:xfrm>
              <a:off x="8094165" y="-8468"/>
              <a:ext cx="1066770" cy="6866467"/>
            </a:xfrm>
            <a:custGeom>
              <a:avLst/>
              <a:gdLst/>
              <a:ahLst/>
              <a:cxnLst/>
              <a:rect l="l" t="t" r="r" b="b"/>
              <a:pathLst>
                <a:path w="1270244" h="6866467">
                  <a:moveTo>
                    <a:pt x="0" y="0"/>
                  </a:moveTo>
                  <a:lnTo>
                    <a:pt x="1117600" y="6866467"/>
                  </a:lnTo>
                  <a:lnTo>
                    <a:pt x="1270000" y="6866467"/>
                  </a:lnTo>
                  <a:cubicBezTo>
                    <a:pt x="1272822" y="4574822"/>
                    <a:pt x="1250245" y="2291645"/>
                    <a:pt x="1253067" y="0"/>
                  </a:cubicBez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Freeform 15"/>
            <p:cNvSpPr/>
            <p:nvPr/>
          </p:nvSpPr>
          <p:spPr>
            <a:xfrm>
              <a:off x="8068764" y="4893733"/>
              <a:ext cx="1094086" cy="1964267"/>
            </a:xfrm>
            <a:custGeom>
              <a:avLst/>
              <a:gdLst/>
              <a:ahLst/>
              <a:cxnLst/>
              <a:rect l="l" t="t" r="r" b="b"/>
              <a:pathLst>
                <a:path w="1820333" h="3268133">
                  <a:moveTo>
                    <a:pt x="0" y="3268133"/>
                  </a:moveTo>
                  <a:lnTo>
                    <a:pt x="1811866" y="0"/>
                  </a:lnTo>
                  <a:cubicBezTo>
                    <a:pt x="1814688" y="1086555"/>
                    <a:pt x="1817511" y="2173111"/>
                    <a:pt x="1820333" y="3259666"/>
                  </a:cubicBezTo>
                  <a:lnTo>
                    <a:pt x="0" y="3268133"/>
                  </a:lnTo>
                  <a:close/>
                </a:path>
              </a:pathLst>
            </a:cu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99" y="609600"/>
            <a:ext cx="6347713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99" y="2160590"/>
            <a:ext cx="6347714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5405258" y="6041363"/>
            <a:ext cx="68413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09599" y="6041363"/>
            <a:ext cx="46229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444676" y="6041363"/>
            <a:ext cx="51263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B3069F3-81F8-4A05-AF0C-879FE6732912}" type="slidenum">
              <a:rPr lang="en-US" altLang="en-US" smtClean="0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134646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913" r:id="rId1"/>
    <p:sldLayoutId id="2147483914" r:id="rId2"/>
    <p:sldLayoutId id="2147483915" r:id="rId3"/>
    <p:sldLayoutId id="2147483916" r:id="rId4"/>
    <p:sldLayoutId id="2147483917" r:id="rId5"/>
    <p:sldLayoutId id="2147483918" r:id="rId6"/>
    <p:sldLayoutId id="2147483919" r:id="rId7"/>
    <p:sldLayoutId id="2147483920" r:id="rId8"/>
    <p:sldLayoutId id="2147483921" r:id="rId9"/>
    <p:sldLayoutId id="2147483922" r:id="rId10"/>
    <p:sldLayoutId id="2147483923" r:id="rId11"/>
    <p:sldLayoutId id="2147483924" r:id="rId12"/>
    <p:sldLayoutId id="2147483925" r:id="rId13"/>
    <p:sldLayoutId id="2147483926" r:id="rId14"/>
    <p:sldLayoutId id="2147483927" r:id="rId15"/>
    <p:sldLayoutId id="2147483928" r:id="rId16"/>
  </p:sldLayoutIdLst>
  <p:hf sldNum="0" hdr="0" dt="0"/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wmf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Rectangle 2"/>
          <p:cNvSpPr>
            <a:spLocks noGrp="1" noChangeArrowheads="1"/>
          </p:cNvSpPr>
          <p:nvPr>
            <p:ph type="ctrTitle"/>
          </p:nvPr>
        </p:nvSpPr>
        <p:spPr>
          <a:xfrm>
            <a:off x="642938" y="2661486"/>
            <a:ext cx="7772400" cy="1829761"/>
          </a:xfrm>
        </p:spPr>
        <p:txBody>
          <a:bodyPr/>
          <a:lstStyle/>
          <a:p>
            <a:pPr algn="ctr" eaLnBrk="1" fontAlgn="auto" hangingPunct="1">
              <a:spcAft>
                <a:spcPts val="0"/>
              </a:spcAft>
              <a:defRPr/>
            </a:pPr>
            <a:r>
              <a:rPr lang="en-GB" u="sng" dirty="0" smtClean="0">
                <a:solidFill>
                  <a:schemeClr val="tx1"/>
                </a:solidFill>
              </a:rPr>
              <a:t>Physical Examination</a:t>
            </a:r>
            <a:endParaRPr lang="en-US" u="sng" dirty="0" smtClean="0">
              <a:solidFill>
                <a:schemeClr val="tx1"/>
              </a:solidFill>
            </a:endParaRPr>
          </a:p>
        </p:txBody>
      </p:sp>
      <p:sp>
        <p:nvSpPr>
          <p:cNvPr id="5" name="Rectangle 27"/>
          <p:cNvSpPr>
            <a:spLocks noGrp="1" noChangeArrowheads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endParaRPr lang="en-US" dirty="0"/>
          </a:p>
        </p:txBody>
      </p:sp>
      <p:pic>
        <p:nvPicPr>
          <p:cNvPr id="9221" name="Picture 8" descr="Male looking through a fundoscope " title="Eye Exam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42938" y="214313"/>
            <a:ext cx="2428875" cy="242887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222" name="Picture 10" descr="A stethoscope " title="Auscultation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357938" y="285750"/>
            <a:ext cx="2398712" cy="207168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 smtClean="0">
                <a:solidFill>
                  <a:schemeClr val="tx1"/>
                </a:solidFill>
              </a:rPr>
              <a:t>Objectives</a:t>
            </a:r>
            <a:endParaRPr lang="en-GB" dirty="0">
              <a:solidFill>
                <a:schemeClr val="tx1"/>
              </a:solidFill>
            </a:endParaRPr>
          </a:p>
        </p:txBody>
      </p:sp>
      <p:sp>
        <p:nvSpPr>
          <p:cNvPr id="2" name="Content Placeholder 1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GB" dirty="0" smtClean="0"/>
          </a:p>
          <a:p>
            <a:r>
              <a:rPr lang="en-GB" dirty="0" smtClean="0"/>
              <a:t>Overview of a physical examination</a:t>
            </a:r>
          </a:p>
          <a:p>
            <a:endParaRPr lang="en-GB" dirty="0"/>
          </a:p>
          <a:p>
            <a:r>
              <a:rPr lang="en-GB" dirty="0" smtClean="0"/>
              <a:t>Basis for big system assessments including lymph node assessment</a:t>
            </a:r>
          </a:p>
          <a:p>
            <a:endParaRPr lang="en-GB" dirty="0"/>
          </a:p>
          <a:p>
            <a:r>
              <a:rPr lang="en-GB" dirty="0" smtClean="0"/>
              <a:t>Practice  </a:t>
            </a:r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>
              <a:defRPr/>
            </a:pPr>
            <a:r>
              <a:rPr lang="en-US" smtClean="0"/>
              <a:t>Copyright Clinical Assessment Module</a:t>
            </a: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606586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US" dirty="0" smtClean="0">
                <a:solidFill>
                  <a:schemeClr val="tx1"/>
                </a:solidFill>
              </a:rPr>
              <a:t>Initial Approac</a:t>
            </a:r>
            <a:r>
              <a:rPr lang="en-US" dirty="0">
                <a:solidFill>
                  <a:schemeClr val="tx1"/>
                </a:solidFill>
              </a:rPr>
              <a:t>h</a:t>
            </a:r>
            <a:endParaRPr lang="en-GB" dirty="0" smtClean="0">
              <a:solidFill>
                <a:schemeClr val="tx1"/>
              </a:solidFill>
            </a:endParaRPr>
          </a:p>
        </p:txBody>
      </p:sp>
      <p:sp>
        <p:nvSpPr>
          <p:cNvPr id="10242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dirty="0" smtClean="0"/>
              <a:t>Approach patient with confidence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 smtClean="0"/>
              <a:t>Introduce yourself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 smtClean="0"/>
              <a:t>Explain you are a student and may take extra time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 smtClean="0"/>
              <a:t>Gain verbal consent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 smtClean="0"/>
              <a:t>Ensure good lighting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 smtClean="0"/>
              <a:t>Ensure the patient is comfortable and safe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 smtClean="0"/>
              <a:t>BE SYSTEMATIC! </a:t>
            </a:r>
          </a:p>
          <a:p>
            <a:pPr eaLnBrk="1" hangingPunct="1">
              <a:lnSpc>
                <a:spcPct val="90000"/>
              </a:lnSpc>
            </a:pPr>
            <a:r>
              <a:rPr lang="en-GB" altLang="en-US" dirty="0" smtClean="0"/>
              <a:t>Always examine from the right hand side</a:t>
            </a:r>
            <a:endParaRPr lang="en-US" altLang="en-US" dirty="0" smtClean="0"/>
          </a:p>
        </p:txBody>
      </p:sp>
      <p:sp>
        <p:nvSpPr>
          <p:cNvPr id="10243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u="sng" dirty="0" smtClean="0">
                <a:solidFill>
                  <a:schemeClr val="tx1"/>
                </a:solidFill>
              </a:rPr>
              <a:t>2 types of Examination</a:t>
            </a:r>
            <a:endParaRPr lang="en-US" u="sng" dirty="0" smtClean="0">
              <a:solidFill>
                <a:schemeClr val="tx1"/>
              </a:solidFill>
            </a:endParaRPr>
          </a:p>
        </p:txBody>
      </p:sp>
      <p:sp>
        <p:nvSpPr>
          <p:cNvPr id="11266" name="Rectangle 3"/>
          <p:cNvSpPr>
            <a:spLocks noGrp="1" noChangeArrowheads="1"/>
          </p:cNvSpPr>
          <p:nvPr>
            <p:ph idx="1"/>
          </p:nvPr>
        </p:nvSpPr>
        <p:spPr>
          <a:xfrm>
            <a:off x="121443" y="1556792"/>
            <a:ext cx="8901113" cy="4525962"/>
          </a:xfrm>
        </p:spPr>
        <p:txBody>
          <a:bodyPr/>
          <a:lstStyle/>
          <a:p>
            <a:pPr eaLnBrk="1" hangingPunct="1"/>
            <a:r>
              <a:rPr lang="en-GB" altLang="en-US" dirty="0" smtClean="0"/>
              <a:t>Full Exam- student nurse practitioners/Medical students </a:t>
            </a:r>
          </a:p>
          <a:p>
            <a:pPr eaLnBrk="1" hangingPunct="1"/>
            <a:endParaRPr lang="en-GB" altLang="en-US" dirty="0" smtClean="0"/>
          </a:p>
          <a:p>
            <a:pPr eaLnBrk="1" hangingPunct="1"/>
            <a:r>
              <a:rPr lang="en-GB" altLang="en-US" dirty="0" smtClean="0"/>
              <a:t>Focused Exam – Brief</a:t>
            </a:r>
          </a:p>
          <a:p>
            <a:pPr eaLnBrk="1" hangingPunct="1"/>
            <a:endParaRPr lang="en-GB" altLang="en-US" dirty="0" smtClean="0"/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GB" altLang="en-US" dirty="0" smtClean="0"/>
              <a:t>Experienced practitioners in Physical examination </a:t>
            </a:r>
          </a:p>
          <a:p>
            <a:pPr eaLnBrk="1" hangingPunct="1">
              <a:buFont typeface="Wingdings" panose="05000000000000000000" pitchFamily="2" charset="2"/>
              <a:buChar char="§"/>
            </a:pPr>
            <a:r>
              <a:rPr lang="en-GB" altLang="en-US" dirty="0" smtClean="0"/>
              <a:t>Emergency </a:t>
            </a:r>
            <a:endParaRPr lang="en-US" altLang="en-US" dirty="0" smtClean="0"/>
          </a:p>
        </p:txBody>
      </p:sp>
      <p:sp>
        <p:nvSpPr>
          <p:cNvPr id="11267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u="sng" dirty="0" smtClean="0">
                <a:solidFill>
                  <a:schemeClr val="tx1"/>
                </a:solidFill>
              </a:rPr>
              <a:t>4 Main Techniques</a:t>
            </a:r>
            <a:endParaRPr lang="en-US" u="sng" dirty="0" smtClean="0">
              <a:solidFill>
                <a:schemeClr val="tx1"/>
              </a:solidFill>
            </a:endParaRPr>
          </a:p>
        </p:txBody>
      </p:sp>
      <p:sp>
        <p:nvSpPr>
          <p:cNvPr id="12290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r>
              <a:rPr lang="en-GB" altLang="en-US" smtClean="0"/>
              <a:t>Inspection - Look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smtClean="0"/>
          </a:p>
          <a:p>
            <a:pPr eaLnBrk="1" hangingPunct="1"/>
            <a:r>
              <a:rPr lang="en-GB" altLang="en-US" smtClean="0"/>
              <a:t>Palpation - Feel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smtClean="0"/>
          </a:p>
          <a:p>
            <a:pPr eaLnBrk="1" hangingPunct="1"/>
            <a:r>
              <a:rPr lang="en-GB" altLang="en-US" smtClean="0"/>
              <a:t>Percussion - Tap</a:t>
            </a:r>
          </a:p>
          <a:p>
            <a:pPr eaLnBrk="1" hangingPunct="1">
              <a:buFont typeface="Wingdings" panose="05000000000000000000" pitchFamily="2" charset="2"/>
              <a:buNone/>
            </a:pPr>
            <a:endParaRPr lang="en-GB" altLang="en-US" smtClean="0"/>
          </a:p>
          <a:p>
            <a:pPr eaLnBrk="1" hangingPunct="1"/>
            <a:r>
              <a:rPr lang="en-GB" altLang="en-US" smtClean="0"/>
              <a:t>Auscultation - Listen</a:t>
            </a:r>
            <a:endParaRPr lang="en-US" altLang="en-US" smtClean="0"/>
          </a:p>
        </p:txBody>
      </p:sp>
      <p:sp>
        <p:nvSpPr>
          <p:cNvPr id="12291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u="sng" dirty="0" smtClean="0">
                <a:solidFill>
                  <a:schemeClr val="tx1"/>
                </a:solidFill>
              </a:rPr>
              <a:t>2 others</a:t>
            </a:r>
            <a:endParaRPr lang="en-US" u="sng" dirty="0" smtClean="0">
              <a:solidFill>
                <a:schemeClr val="tx1"/>
              </a:solidFill>
            </a:endParaRPr>
          </a:p>
        </p:txBody>
      </p:sp>
      <p:sp>
        <p:nvSpPr>
          <p:cNvPr id="1331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/>
            <a:endParaRPr lang="en-GB" altLang="en-US" smtClean="0"/>
          </a:p>
          <a:p>
            <a:pPr eaLnBrk="1" hangingPunct="1"/>
            <a:r>
              <a:rPr lang="en-GB" altLang="en-US" smtClean="0"/>
              <a:t>Special manoeuvres – position, technique </a:t>
            </a:r>
          </a:p>
          <a:p>
            <a:pPr eaLnBrk="1" hangingPunct="1"/>
            <a:endParaRPr lang="en-GB" altLang="en-US" smtClean="0"/>
          </a:p>
          <a:p>
            <a:pPr eaLnBrk="1" hangingPunct="1"/>
            <a:r>
              <a:rPr lang="en-GB" altLang="en-US" smtClean="0"/>
              <a:t>Range of Motion – normal/abnormal</a:t>
            </a:r>
          </a:p>
          <a:p>
            <a:pPr eaLnBrk="1" hangingPunct="1"/>
            <a:endParaRPr lang="en-GB" altLang="en-US" smtClean="0"/>
          </a:p>
          <a:p>
            <a:pPr eaLnBrk="1" hangingPunct="1">
              <a:buFont typeface="Wingdings 3" panose="05040102010807070707" pitchFamily="18" charset="2"/>
              <a:buNone/>
            </a:pPr>
            <a:endParaRPr lang="en-US" altLang="en-US" smtClean="0"/>
          </a:p>
        </p:txBody>
      </p:sp>
      <p:sp>
        <p:nvSpPr>
          <p:cNvPr id="13315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6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u="sng" dirty="0" smtClean="0">
                <a:solidFill>
                  <a:schemeClr val="tx1"/>
                </a:solidFill>
              </a:rPr>
              <a:t>Inspection</a:t>
            </a:r>
            <a:r>
              <a:rPr lang="en-GB" u="sng" dirty="0" smtClean="0"/>
              <a:t>  </a:t>
            </a:r>
            <a:endParaRPr lang="en-US" u="sng" dirty="0" smtClean="0"/>
          </a:p>
        </p:txBody>
      </p:sp>
      <p:sp>
        <p:nvSpPr>
          <p:cNvPr id="14338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/>
              <a:t>Begins as soon as you meet the patient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General appearance –age, sex, race, body build, alert , orientated, anxious, in pain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Distressed cardiac or respiratory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Deformities – compare sides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Obvious distinguishing characteristics</a:t>
            </a:r>
          </a:p>
          <a:p>
            <a:pPr eaLnBrk="1" hangingPunct="1">
              <a:defRPr/>
            </a:pPr>
            <a:endParaRPr lang="en-US" dirty="0" smtClean="0"/>
          </a:p>
        </p:txBody>
      </p:sp>
      <p:pic>
        <p:nvPicPr>
          <p:cNvPr id="14341" name="Picture 6" descr="A caartoon character using a magnifying glass " title="Looking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29000" y="214313"/>
            <a:ext cx="1428750" cy="128428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6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u="sng" dirty="0" smtClean="0">
                <a:solidFill>
                  <a:schemeClr val="tx1"/>
                </a:solidFill>
              </a:rPr>
              <a:t>Inspection cont </a:t>
            </a:r>
            <a:r>
              <a:rPr lang="en-GB" dirty="0" smtClean="0">
                <a:solidFill>
                  <a:schemeClr val="tx1"/>
                </a:solidFill>
              </a:rPr>
              <a:t>  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5362" name="Rectangle 3"/>
          <p:cNvSpPr>
            <a:spLocks noGrp="1" noChangeArrowheads="1"/>
          </p:cNvSpPr>
          <p:nvPr>
            <p:ph idx="1"/>
          </p:nvPr>
        </p:nvSpPr>
        <p:spPr>
          <a:xfrm>
            <a:off x="457200" y="1600200"/>
            <a:ext cx="8229600" cy="3197225"/>
          </a:xfrm>
        </p:spPr>
        <p:txBody>
          <a:bodyPr/>
          <a:lstStyle/>
          <a:p>
            <a:pPr eaLnBrk="1" hangingPunct="1">
              <a:lnSpc>
                <a:spcPct val="90000"/>
              </a:lnSpc>
            </a:pPr>
            <a:r>
              <a:rPr lang="en-GB" altLang="en-US" smtClean="0"/>
              <a:t>Ensure good light</a:t>
            </a:r>
          </a:p>
          <a:p>
            <a:pPr eaLnBrk="1" hangingPunct="1">
              <a:lnSpc>
                <a:spcPct val="90000"/>
              </a:lnSpc>
            </a:pPr>
            <a:endParaRPr lang="en-GB" altLang="en-US" smtClean="0"/>
          </a:p>
          <a:p>
            <a:pPr eaLnBrk="1" hangingPunct="1">
              <a:lnSpc>
                <a:spcPct val="90000"/>
              </a:lnSpc>
            </a:pPr>
            <a:r>
              <a:rPr lang="en-GB" altLang="en-US" smtClean="0"/>
              <a:t>Ensure proper exposure of area to be examined</a:t>
            </a:r>
          </a:p>
          <a:p>
            <a:pPr eaLnBrk="1" hangingPunct="1">
              <a:lnSpc>
                <a:spcPct val="90000"/>
              </a:lnSpc>
            </a:pPr>
            <a:endParaRPr lang="en-GB" altLang="en-US" smtClean="0"/>
          </a:p>
          <a:p>
            <a:pPr eaLnBrk="1" hangingPunct="1">
              <a:lnSpc>
                <a:spcPct val="90000"/>
              </a:lnSpc>
            </a:pPr>
            <a:r>
              <a:rPr lang="en-GB" altLang="en-US" smtClean="0"/>
              <a:t>May need instruments to enhance view</a:t>
            </a:r>
          </a:p>
          <a:p>
            <a:pPr eaLnBrk="1" hangingPunct="1">
              <a:lnSpc>
                <a:spcPct val="90000"/>
              </a:lnSpc>
            </a:pPr>
            <a:endParaRPr lang="en-GB" altLang="en-US" smtClean="0"/>
          </a:p>
          <a:p>
            <a:pPr eaLnBrk="1" hangingPunct="1">
              <a:lnSpc>
                <a:spcPct val="90000"/>
              </a:lnSpc>
            </a:pPr>
            <a:endParaRPr lang="en-GB" altLang="en-US" smtClean="0"/>
          </a:p>
          <a:p>
            <a:pPr eaLnBrk="1" hangingPunct="1">
              <a:lnSpc>
                <a:spcPct val="90000"/>
              </a:lnSpc>
            </a:pPr>
            <a:endParaRPr lang="en-US" altLang="en-US" smtClean="0"/>
          </a:p>
        </p:txBody>
      </p:sp>
      <p:sp>
        <p:nvSpPr>
          <p:cNvPr id="15363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7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u="sng" dirty="0" smtClean="0">
                <a:solidFill>
                  <a:schemeClr val="tx1"/>
                </a:solidFill>
              </a:rPr>
              <a:t>Palpation</a:t>
            </a:r>
            <a:endParaRPr lang="en-US" u="sng" dirty="0" smtClean="0">
              <a:solidFill>
                <a:schemeClr val="tx1"/>
              </a:solidFill>
            </a:endParaRPr>
          </a:p>
        </p:txBody>
      </p:sp>
      <p:sp>
        <p:nvSpPr>
          <p:cNvPr id="16386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/>
              <a:t>Use of different areas of the hand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Light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Deep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May be used to confirm something you have noticed on inspection</a:t>
            </a:r>
          </a:p>
          <a:p>
            <a:pPr eaLnBrk="1" hangingPunct="1">
              <a:defRPr/>
            </a:pPr>
            <a:endParaRPr lang="en-US" dirty="0" smtClean="0"/>
          </a:p>
        </p:txBody>
      </p:sp>
      <p:sp>
        <p:nvSpPr>
          <p:cNvPr id="16387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7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u="sng" dirty="0" smtClean="0">
                <a:solidFill>
                  <a:schemeClr val="tx1"/>
                </a:solidFill>
              </a:rPr>
              <a:t>Feel for:</a:t>
            </a:r>
            <a:endParaRPr lang="en-US" u="sng" dirty="0" smtClean="0">
              <a:solidFill>
                <a:schemeClr val="tx1"/>
              </a:solidFill>
            </a:endParaRPr>
          </a:p>
        </p:txBody>
      </p:sp>
      <p:sp>
        <p:nvSpPr>
          <p:cNvPr id="17410" name="Rectangle 3"/>
          <p:cNvSpPr>
            <a:spLocks noGrp="1" noChangeArrowheads="1"/>
          </p:cNvSpPr>
          <p:nvPr>
            <p:ph idx="1"/>
          </p:nvPr>
        </p:nvSpPr>
        <p:spPr>
          <a:xfrm>
            <a:off x="428625" y="1571625"/>
            <a:ext cx="8229600" cy="4525963"/>
          </a:xfrm>
        </p:spPr>
        <p:txBody>
          <a:bodyPr/>
          <a:lstStyle/>
          <a:p>
            <a:pPr eaLnBrk="1" hangingPunct="1"/>
            <a:r>
              <a:rPr lang="en-GB" altLang="en-US" smtClean="0"/>
              <a:t>Temperature</a:t>
            </a:r>
          </a:p>
          <a:p>
            <a:pPr eaLnBrk="1" hangingPunct="1"/>
            <a:r>
              <a:rPr lang="en-GB" altLang="en-US" smtClean="0"/>
              <a:t>Texture</a:t>
            </a:r>
          </a:p>
          <a:p>
            <a:pPr eaLnBrk="1" hangingPunct="1"/>
            <a:r>
              <a:rPr lang="en-GB" altLang="en-US" smtClean="0"/>
              <a:t>Size</a:t>
            </a:r>
          </a:p>
          <a:p>
            <a:pPr eaLnBrk="1" hangingPunct="1"/>
            <a:r>
              <a:rPr lang="en-GB" altLang="en-US" smtClean="0"/>
              <a:t>Shape</a:t>
            </a:r>
          </a:p>
          <a:p>
            <a:pPr eaLnBrk="1" hangingPunct="1"/>
            <a:r>
              <a:rPr lang="en-GB" altLang="en-US" smtClean="0"/>
              <a:t>Firmness – soft, hard, spongy (fluid filled)</a:t>
            </a:r>
          </a:p>
          <a:p>
            <a:pPr eaLnBrk="1" hangingPunct="1"/>
            <a:r>
              <a:rPr lang="en-GB" altLang="en-US" smtClean="0"/>
              <a:t>Organ span</a:t>
            </a:r>
            <a:endParaRPr lang="en-US" altLang="en-US" smtClean="0"/>
          </a:p>
        </p:txBody>
      </p:sp>
      <p:sp>
        <p:nvSpPr>
          <p:cNvPr id="17411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8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u="sng" dirty="0" smtClean="0">
                <a:solidFill>
                  <a:schemeClr val="tx1"/>
                </a:solidFill>
              </a:rPr>
              <a:t>Percussion</a:t>
            </a:r>
            <a:r>
              <a:rPr lang="en-GB" dirty="0" smtClean="0">
                <a:solidFill>
                  <a:schemeClr val="tx1"/>
                </a:solidFill>
              </a:rPr>
              <a:t> </a:t>
            </a:r>
            <a:endParaRPr lang="en-US" dirty="0" smtClean="0">
              <a:solidFill>
                <a:schemeClr val="tx1"/>
              </a:solidFill>
            </a:endParaRPr>
          </a:p>
        </p:txBody>
      </p:sp>
      <p:sp>
        <p:nvSpPr>
          <p:cNvPr id="18434" name="Rectangle 3"/>
          <p:cNvSpPr>
            <a:spLocks noGrp="1" noChangeArrowheads="1"/>
          </p:cNvSpPr>
          <p:nvPr>
            <p:ph idx="1"/>
          </p:nvPr>
        </p:nvSpPr>
        <p:spPr/>
        <p:txBody>
          <a:bodyPr/>
          <a:lstStyle/>
          <a:p>
            <a:pPr eaLnBrk="1" hangingPunct="1">
              <a:defRPr/>
            </a:pPr>
            <a:r>
              <a:rPr lang="en-GB" dirty="0" smtClean="0"/>
              <a:t>Used to illicit sounds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Identify location of organs or mass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Identify air/fluid/solid filled areas</a:t>
            </a:r>
          </a:p>
          <a:p>
            <a:pPr marL="109537" indent="0" eaLnBrk="1" hangingPunct="1">
              <a:buFont typeface="Wingdings 3" panose="05040102010807070707" pitchFamily="18" charset="2"/>
              <a:buNone/>
              <a:defRPr/>
            </a:pPr>
            <a:endParaRPr lang="en-GB" dirty="0" smtClean="0"/>
          </a:p>
          <a:p>
            <a:pPr eaLnBrk="1" hangingPunct="1">
              <a:defRPr/>
            </a:pPr>
            <a:r>
              <a:rPr lang="en-GB" dirty="0" smtClean="0"/>
              <a:t>Needs practice! – technique and sound identification</a:t>
            </a:r>
            <a:endParaRPr lang="en-US" dirty="0" smtClean="0"/>
          </a:p>
        </p:txBody>
      </p:sp>
      <p:sp>
        <p:nvSpPr>
          <p:cNvPr id="18435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mtClean="0"/>
          </a:p>
        </p:txBody>
      </p:sp>
      <p:pic>
        <p:nvPicPr>
          <p:cNvPr id="18437" name="Picture 4" descr="images percussion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796136" y="420895"/>
            <a:ext cx="2248457" cy="177509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gradFill rotWithShape="1">
          <a:gsLst>
            <a:gs pos="0">
              <a:srgbClr val="8488C4"/>
            </a:gs>
            <a:gs pos="53000">
              <a:srgbClr val="D4DEFF"/>
            </a:gs>
            <a:gs pos="83000">
              <a:srgbClr val="D4DEFF"/>
            </a:gs>
            <a:gs pos="100000">
              <a:srgbClr val="96AB94"/>
            </a:gs>
          </a:gsLst>
          <a:lin ang="540000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027" name="Rectangle 163"/>
          <p:cNvSpPr>
            <a:spLocks noGrp="1" noChangeArrowheads="1"/>
          </p:cNvSpPr>
          <p:nvPr>
            <p:ph type="title"/>
          </p:nvPr>
        </p:nvSpPr>
        <p:spPr>
          <a:xfrm>
            <a:off x="609599" y="476672"/>
            <a:ext cx="6347714" cy="1320800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u="sng" dirty="0" smtClean="0">
                <a:solidFill>
                  <a:schemeClr val="tx1"/>
                </a:solidFill>
              </a:rPr>
              <a:t>Percussion notes</a:t>
            </a:r>
            <a:endParaRPr lang="en-US" u="sng" dirty="0" smtClean="0">
              <a:solidFill>
                <a:schemeClr val="tx1"/>
              </a:solidFill>
            </a:endParaRPr>
          </a:p>
        </p:txBody>
      </p:sp>
      <p:sp>
        <p:nvSpPr>
          <p:cNvPr id="19458" name="Footer Placeholder 2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mtClean="0"/>
          </a:p>
        </p:txBody>
      </p:sp>
      <p:graphicFrame>
        <p:nvGraphicFramePr>
          <p:cNvPr id="37026" name="Group 16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96034537"/>
              </p:ext>
            </p:extLst>
          </p:nvPr>
        </p:nvGraphicFramePr>
        <p:xfrm>
          <a:off x="250825" y="1341438"/>
          <a:ext cx="8064500" cy="5113337"/>
        </p:xfrm>
        <a:graphic>
          <a:graphicData uri="http://schemas.openxmlformats.org/drawingml/2006/table">
            <a:tbl>
              <a:tblPr firstRow="1"/>
              <a:tblGrid>
                <a:gridCol w="1473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63036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01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239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63683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Sound 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intensity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pitch     </a:t>
                      </a:r>
                      <a:endParaRPr kumimoji="0" lang="en-US" sz="1800" b="1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duration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1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Example of location</a:t>
                      </a:r>
                      <a:endParaRPr kumimoji="0" lang="en-US" sz="1800" b="1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955674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Flatness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soft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high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 short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Thigh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5032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Dullness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Medium 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medium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medium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Liver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65563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Resonance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loud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low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long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Normal lung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881062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Hyper-resonance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Very loud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Lower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Longer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No example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712788"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Tympany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loud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high</a:t>
                      </a:r>
                      <a:endParaRPr kumimoji="0" lang="en-US" sz="1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endParaRPr kumimoji="0" lang="en-GB" sz="2800" b="0" i="0" u="none" strike="noStrike" cap="none" normalizeH="0" baseline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GB" sz="1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Gastric air bubble or puffed out cheek</a:t>
                      </a:r>
                      <a:endParaRPr kumimoji="0" lang="en-US" sz="18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>
                          <a:outerShdw blurRad="38100" dist="38100" dir="2700000" algn="tl">
                            <a:srgbClr val="000000"/>
                          </a:outerShdw>
                        </a:effectLst>
                        <a:latin typeface="Tahoma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901699">
                <a:tc gridSpan="5"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hlink"/>
                        </a:buClr>
                        <a:buSzPct val="80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>
                            <a:outerShdw blurRad="38100" dist="38100" dir="2700000" algn="tl">
                              <a:srgbClr val="000000"/>
                            </a:outerShdw>
                          </a:effectLst>
                          <a:latin typeface="Tahoma" charset="0"/>
                        </a:rPr>
                        <a:t>Bickley and Szilagyi 2009</a:t>
                      </a:r>
                    </a:p>
                  </a:txBody>
                  <a:tcPr horzOverflow="overflow">
                    <a:lnL cap="flat">
                      <a:noFill/>
                    </a:lnL>
                    <a:lnR cap="flat">
                      <a:noFill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ap="flat">
                      <a:noFill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GB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14" name="Rectangle 2"/>
          <p:cNvSpPr>
            <a:spLocks noGrp="1" noChangeArrowheads="1"/>
          </p:cNvSpPr>
          <p:nvPr>
            <p:ph type="title"/>
          </p:nvPr>
        </p:nvSpPr>
        <p:spPr>
          <a:xfrm>
            <a:off x="395288" y="260350"/>
            <a:ext cx="8229600" cy="1139825"/>
          </a:xfrm>
        </p:spPr>
        <p:txBody>
          <a:bodyPr/>
          <a:lstStyle/>
          <a:p>
            <a:pPr eaLnBrk="1" fontAlgn="auto" hangingPunct="1">
              <a:spcAft>
                <a:spcPts val="0"/>
              </a:spcAft>
              <a:defRPr/>
            </a:pPr>
            <a:r>
              <a:rPr lang="en-GB" u="sng" dirty="0" smtClean="0">
                <a:solidFill>
                  <a:schemeClr val="tx1"/>
                </a:solidFill>
              </a:rPr>
              <a:t>Auscultation</a:t>
            </a:r>
            <a:endParaRPr lang="en-US" u="sng" dirty="0" smtClean="0">
              <a:solidFill>
                <a:schemeClr val="tx1"/>
              </a:solidFill>
            </a:endParaRPr>
          </a:p>
        </p:txBody>
      </p:sp>
      <p:sp>
        <p:nvSpPr>
          <p:cNvPr id="20482" name="Rectangle 3"/>
          <p:cNvSpPr>
            <a:spLocks noGrp="1" noChangeArrowheads="1"/>
          </p:cNvSpPr>
          <p:nvPr>
            <p:ph idx="1"/>
          </p:nvPr>
        </p:nvSpPr>
        <p:spPr/>
        <p:txBody>
          <a:bodyPr>
            <a:normAutofit fontScale="47500" lnSpcReduction="20000"/>
          </a:bodyPr>
          <a:lstStyle/>
          <a:p>
            <a:pPr eaLnBrk="1" hangingPunct="1">
              <a:lnSpc>
                <a:spcPct val="90000"/>
              </a:lnSpc>
              <a:defRPr/>
            </a:pPr>
            <a:r>
              <a:rPr lang="en-GB" sz="2800" dirty="0" smtClean="0"/>
              <a:t>TAKES TIME AND PRACTICE! </a:t>
            </a:r>
          </a:p>
          <a:p>
            <a:pPr marL="109537" indent="0"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endParaRPr lang="en-GB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 smtClean="0"/>
              <a:t>Not as difficult as you think</a:t>
            </a:r>
          </a:p>
          <a:p>
            <a:pPr marL="109537" indent="0"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endParaRPr lang="en-GB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 smtClean="0"/>
              <a:t>Main points are : Normal/Abnormal</a:t>
            </a:r>
          </a:p>
          <a:p>
            <a:pPr marL="109537" indent="0"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endParaRPr lang="en-GB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 smtClean="0"/>
              <a:t>How important are the abnormal?</a:t>
            </a:r>
          </a:p>
          <a:p>
            <a:pPr marL="109537" indent="0"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endParaRPr lang="en-GB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 smtClean="0"/>
              <a:t>Use stethoscope properly</a:t>
            </a:r>
          </a:p>
          <a:p>
            <a:pPr marL="109537" indent="0" eaLnBrk="1" hangingPunct="1">
              <a:lnSpc>
                <a:spcPct val="90000"/>
              </a:lnSpc>
              <a:buFont typeface="Wingdings 3" panose="05040102010807070707" pitchFamily="18" charset="2"/>
              <a:buNone/>
              <a:defRPr/>
            </a:pPr>
            <a:endParaRPr lang="en-GB" sz="2800" dirty="0" smtClean="0"/>
          </a:p>
          <a:p>
            <a:pPr eaLnBrk="1" hangingPunct="1">
              <a:lnSpc>
                <a:spcPct val="90000"/>
              </a:lnSpc>
              <a:defRPr/>
            </a:pPr>
            <a:r>
              <a:rPr lang="en-GB" sz="2800" dirty="0" smtClean="0"/>
              <a:t>          Remember high pitched = diaphragm</a:t>
            </a:r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sz="2800" dirty="0" smtClean="0"/>
              <a:t>                           Low pitched= bell</a:t>
            </a:r>
          </a:p>
          <a:p>
            <a:pPr eaLnBrk="1" hangingPunct="1">
              <a:lnSpc>
                <a:spcPct val="90000"/>
              </a:lnSpc>
              <a:defRPr/>
            </a:pPr>
            <a:endParaRPr lang="en-GB" sz="2800" dirty="0" smtClean="0"/>
          </a:p>
          <a:p>
            <a:pPr eaLnBrk="1" hangingPunct="1">
              <a:lnSpc>
                <a:spcPct val="90000"/>
              </a:lnSpc>
              <a:buFont typeface="Wingdings" pitchFamily="2" charset="2"/>
              <a:buNone/>
              <a:defRPr/>
            </a:pPr>
            <a:r>
              <a:rPr lang="en-GB" sz="2800" dirty="0" smtClean="0"/>
              <a:t>                          </a:t>
            </a:r>
          </a:p>
          <a:p>
            <a:pPr eaLnBrk="1" hangingPunct="1">
              <a:lnSpc>
                <a:spcPct val="90000"/>
              </a:lnSpc>
              <a:defRPr/>
            </a:pPr>
            <a:endParaRPr lang="en-US" sz="2800" dirty="0" smtClean="0"/>
          </a:p>
        </p:txBody>
      </p:sp>
      <p:sp>
        <p:nvSpPr>
          <p:cNvPr id="20483" name="Footer Placeholder 3"/>
          <p:cNvSpPr>
            <a:spLocks noGrp="1"/>
          </p:cNvSpPr>
          <p:nvPr>
            <p:ph type="ftr" sz="quarter" idx="11"/>
          </p:nvPr>
        </p:nvSpPr>
        <p:spPr bwMode="auto"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square" lIns="91440" tIns="45720" rIns="91440" bIns="45720" numCol="1" anchorCtr="0" compatLnSpc="1">
            <a:prstTxWarp prst="textNoShape">
              <a:avLst/>
            </a:prstTxWarp>
          </a:bodyPr>
          <a:lstStyle>
            <a:lvl1pPr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1pPr>
            <a:lvl2pPr marL="742950" indent="-28575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2pPr>
            <a:lvl3pPr marL="11430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3pPr>
            <a:lvl4pPr marL="16002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4pPr>
            <a:lvl5pPr marL="2057400" indent="-228600"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Tahoma" panose="020B0604030504040204" pitchFamily="34" charset="0"/>
              </a:defRPr>
            </a:lvl9pPr>
          </a:lstStyle>
          <a:p>
            <a:endParaRPr lang="en-US" altLang="en-US" smtClean="0"/>
          </a:p>
        </p:txBody>
      </p:sp>
      <p:pic>
        <p:nvPicPr>
          <p:cNvPr id="20485" name="Picture 6" descr="Feamle about to use a stheoscope " title="Auscultation 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32572" y="823385"/>
            <a:ext cx="1867644" cy="2801466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225</TotalTime>
  <Words>319</Words>
  <Application>Microsoft Office PowerPoint</Application>
  <PresentationFormat>On-screen Show (4:3)</PresentationFormat>
  <Paragraphs>129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9" baseType="lpstr">
      <vt:lpstr>Arial</vt:lpstr>
      <vt:lpstr>Tahoma</vt:lpstr>
      <vt:lpstr>Trebuchet MS</vt:lpstr>
      <vt:lpstr>Wingdings</vt:lpstr>
      <vt:lpstr>Wingdings 3</vt:lpstr>
      <vt:lpstr>Facet</vt:lpstr>
      <vt:lpstr>Physical Examination</vt:lpstr>
      <vt:lpstr>Objectives</vt:lpstr>
      <vt:lpstr>Initial Approach</vt:lpstr>
      <vt:lpstr>2 types of Examination</vt:lpstr>
      <vt:lpstr>4 Main Techniques</vt:lpstr>
      <vt:lpstr>2 others</vt:lpstr>
      <vt:lpstr>Inspection  </vt:lpstr>
      <vt:lpstr>Inspection cont   </vt:lpstr>
      <vt:lpstr>Palpation</vt:lpstr>
      <vt:lpstr>Feel for:</vt:lpstr>
      <vt:lpstr>Percussion </vt:lpstr>
      <vt:lpstr>Percussion notes</vt:lpstr>
      <vt:lpstr>Auscultation</vt:lpstr>
    </vt:vector>
  </TitlesOfParts>
  <Company>GGPCT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Physical Examination</dc:title>
  <dc:creator>Information Department</dc:creator>
  <cp:lastModifiedBy>Cameron, Keith</cp:lastModifiedBy>
  <cp:revision>32</cp:revision>
  <dcterms:created xsi:type="dcterms:W3CDTF">2006-04-10T19:00:13Z</dcterms:created>
  <dcterms:modified xsi:type="dcterms:W3CDTF">2020-05-19T15:05:22Z</dcterms:modified>
</cp:coreProperties>
</file>