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3" r:id="rId4"/>
    <p:sldId id="257" r:id="rId5"/>
    <p:sldId id="258" r:id="rId6"/>
    <p:sldId id="264" r:id="rId7"/>
    <p:sldId id="261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76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95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15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86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97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53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84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6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1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74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4145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74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3637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419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2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12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22DA4-883F-4313-A8BD-837A2F11584E}" type="datetimeFigureOut">
              <a:rPr lang="en-GB" smtClean="0"/>
              <a:t>25/01/2021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61C589-F8C5-4987-B0BC-BEC61238B6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34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259" y="1135810"/>
            <a:ext cx="9144000" cy="2885966"/>
          </a:xfrm>
        </p:spPr>
        <p:txBody>
          <a:bodyPr>
            <a:normAutofit/>
          </a:bodyPr>
          <a:lstStyle/>
          <a:p>
            <a:r>
              <a:rPr lang="en-GB" dirty="0" smtClean="0"/>
              <a:t>Advanced Assessment and Management of Illness and Injury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9096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GB" sz="3200" dirty="0" smtClean="0"/>
              <a:t>MMB126657</a:t>
            </a:r>
            <a:endParaRPr lang="en-GB" sz="3200" dirty="0"/>
          </a:p>
          <a:p>
            <a:pPr algn="l"/>
            <a:r>
              <a:rPr lang="en-GB" sz="3200" dirty="0" smtClean="0"/>
              <a:t>Module Lead – Keith Cameron </a:t>
            </a:r>
          </a:p>
          <a:p>
            <a:pPr algn="l"/>
            <a:r>
              <a:rPr lang="en-GB" sz="1700" dirty="0" smtClean="0"/>
              <a:t>keith.cameron@gcu.ac.uk</a:t>
            </a: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104672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Aim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1614"/>
            <a:ext cx="10515600" cy="278395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Introduction to the AAMII module</a:t>
            </a:r>
          </a:p>
          <a:p>
            <a:endParaRPr lang="en-GB" sz="2800" dirty="0" smtClean="0"/>
          </a:p>
          <a:p>
            <a:r>
              <a:rPr lang="en-GB" sz="2800" dirty="0" smtClean="0"/>
              <a:t>Give an overview of the module structure</a:t>
            </a:r>
          </a:p>
          <a:p>
            <a:endParaRPr lang="en-GB" sz="2800" dirty="0" smtClean="0"/>
          </a:p>
          <a:p>
            <a:r>
              <a:rPr lang="en-GB" sz="2800" dirty="0" smtClean="0"/>
              <a:t>Examine the assessment methods utilised in this module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0698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Expectations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2283"/>
            <a:ext cx="8596668" cy="458908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What are your expectations of this Module?</a:t>
            </a:r>
          </a:p>
          <a:p>
            <a:r>
              <a:rPr lang="en-GB" dirty="0" smtClean="0"/>
              <a:t>What are your expectations of the Programme?</a:t>
            </a:r>
          </a:p>
          <a:p>
            <a:endParaRPr lang="en-GB" dirty="0"/>
          </a:p>
          <a:p>
            <a:r>
              <a:rPr lang="en-GB" dirty="0" smtClean="0"/>
              <a:t>Safe environment to learn</a:t>
            </a:r>
          </a:p>
          <a:p>
            <a:pPr lvl="1"/>
            <a:r>
              <a:rPr lang="en-GB" dirty="0" smtClean="0"/>
              <a:t>Confidentiality – We will discuss your experiences </a:t>
            </a:r>
          </a:p>
          <a:p>
            <a:pPr lvl="1"/>
            <a:r>
              <a:rPr lang="en-GB" dirty="0" smtClean="0"/>
              <a:t>Supportive atmosphere – you are here to learn, support each others development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Our expectations of you </a:t>
            </a:r>
          </a:p>
          <a:p>
            <a:pPr lvl="1"/>
            <a:r>
              <a:rPr lang="en-GB" dirty="0" smtClean="0"/>
              <a:t>Attendance </a:t>
            </a:r>
          </a:p>
          <a:p>
            <a:pPr lvl="1"/>
            <a:r>
              <a:rPr lang="en-GB" dirty="0" smtClean="0"/>
              <a:t>Commitment to study</a:t>
            </a:r>
          </a:p>
          <a:p>
            <a:pPr lvl="1"/>
            <a:r>
              <a:rPr lang="en-GB" dirty="0" smtClean="0"/>
              <a:t>Participation in the seminars and tutorials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79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AAMII Module 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77500" lnSpcReduction="20000"/>
          </a:bodyPr>
          <a:lstStyle/>
          <a:p>
            <a:endParaRPr lang="en-GB" dirty="0" smtClean="0"/>
          </a:p>
          <a:p>
            <a:endParaRPr lang="en-GB" dirty="0"/>
          </a:p>
          <a:p>
            <a:r>
              <a:rPr lang="en-GB" sz="3600" dirty="0" smtClean="0"/>
              <a:t>This </a:t>
            </a:r>
            <a:r>
              <a:rPr lang="en-GB" sz="3600" dirty="0"/>
              <a:t>module aims to enable practitioners to develop the requisite knowledge and advanced clinical and leadership skills to assess, diagnose, manage and where necessary, appropriately refer on patients</a:t>
            </a:r>
            <a:r>
              <a:rPr lang="en-GB" sz="3600" dirty="0" smtClean="0"/>
              <a:t>.</a:t>
            </a:r>
          </a:p>
          <a:p>
            <a:endParaRPr lang="en-GB" sz="3600" dirty="0"/>
          </a:p>
          <a:p>
            <a:r>
              <a:rPr lang="en-GB" sz="3600" dirty="0" smtClean="0"/>
              <a:t>All details of the timetable and assessments and teaching material can be found on GCU Learn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08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AAMII Module 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6918"/>
            <a:ext cx="8596668" cy="4803882"/>
          </a:xfrm>
        </p:spPr>
        <p:txBody>
          <a:bodyPr>
            <a:normAutofit lnSpcReduction="10000"/>
          </a:bodyPr>
          <a:lstStyle/>
          <a:p>
            <a:endParaRPr lang="en-GB" dirty="0" smtClean="0"/>
          </a:p>
          <a:p>
            <a:r>
              <a:rPr lang="en-GB" sz="2800" dirty="0" smtClean="0"/>
              <a:t>AAMII provides you with the opportunity to develop knowledge and understanding of the theories, principles and concepts of professional development. </a:t>
            </a:r>
          </a:p>
          <a:p>
            <a:pPr marL="0" indent="0">
              <a:buNone/>
            </a:pPr>
            <a:endParaRPr lang="en-GB" sz="2800" dirty="0" smtClean="0"/>
          </a:p>
          <a:p>
            <a:r>
              <a:rPr lang="en-GB" sz="2800" dirty="0" smtClean="0"/>
              <a:t>You </a:t>
            </a:r>
            <a:r>
              <a:rPr lang="en-GB" sz="2800" dirty="0"/>
              <a:t>are encouraged to analyse and evaluate professional development in multidisciplinary contexts and in relation to others such as peers, service users, carers, colleagues and service providers.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137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Formative Assessment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By </a:t>
            </a:r>
            <a:r>
              <a:rPr lang="en-GB" dirty="0" smtClean="0">
                <a:solidFill>
                  <a:srgbClr val="FF0000"/>
                </a:solidFill>
              </a:rPr>
              <a:t>Monday 1</a:t>
            </a:r>
            <a:r>
              <a:rPr lang="en-GB" baseline="30000" dirty="0" smtClean="0">
                <a:solidFill>
                  <a:srgbClr val="FF0000"/>
                </a:solidFill>
              </a:rPr>
              <a:t>st</a:t>
            </a:r>
            <a:r>
              <a:rPr lang="en-GB" dirty="0" smtClean="0">
                <a:solidFill>
                  <a:srgbClr val="FF0000"/>
                </a:solidFill>
              </a:rPr>
              <a:t> March </a:t>
            </a:r>
            <a:r>
              <a:rPr lang="en-GB" dirty="0" smtClean="0"/>
              <a:t>a </a:t>
            </a:r>
            <a:r>
              <a:rPr lang="en-GB" dirty="0" smtClean="0"/>
              <a:t>formative assignment is due.</a:t>
            </a:r>
          </a:p>
          <a:p>
            <a:pPr lvl="1"/>
            <a:r>
              <a:rPr lang="en-GB" dirty="0" smtClean="0"/>
              <a:t>Submitted via Turnitin</a:t>
            </a:r>
          </a:p>
          <a:p>
            <a:endParaRPr lang="en-GB" dirty="0"/>
          </a:p>
          <a:p>
            <a:r>
              <a:rPr lang="en-GB" dirty="0" smtClean="0"/>
              <a:t>500 word piece of work which may incorporator the treatment section of your summative assignment</a:t>
            </a:r>
          </a:p>
          <a:p>
            <a:endParaRPr lang="en-GB" dirty="0"/>
          </a:p>
          <a:p>
            <a:r>
              <a:rPr lang="en-GB" dirty="0" smtClean="0"/>
              <a:t>Feedback will be provided within 3 weeks 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5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Summative Assessments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0806"/>
            <a:ext cx="8596668" cy="4409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 smtClean="0"/>
              <a:t>Clinical Viva Examination of 30 minutes’ duration</a:t>
            </a:r>
            <a:r>
              <a:rPr lang="en-GB" sz="2000" dirty="0" smtClean="0"/>
              <a:t>. </a:t>
            </a:r>
          </a:p>
          <a:p>
            <a:pPr marL="0" indent="0">
              <a:buNone/>
            </a:pPr>
            <a:r>
              <a:rPr lang="en-US" sz="2000" smtClean="0">
                <a:solidFill>
                  <a:srgbClr val="FF0000"/>
                </a:solidFill>
              </a:rPr>
              <a:t>W/C 26</a:t>
            </a:r>
            <a:r>
              <a:rPr lang="en-US" sz="2000" baseline="30000" smtClean="0">
                <a:solidFill>
                  <a:srgbClr val="FF0000"/>
                </a:solidFill>
              </a:rPr>
              <a:t>th</a:t>
            </a:r>
            <a:r>
              <a:rPr lang="en-US" sz="2000" smtClean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April 2021</a:t>
            </a:r>
            <a:endParaRPr lang="en-GB" sz="2000" dirty="0" smtClean="0">
              <a:solidFill>
                <a:srgbClr val="FF0000"/>
              </a:solidFill>
            </a:endParaRPr>
          </a:p>
          <a:p>
            <a:r>
              <a:rPr lang="en-GB" sz="2000" dirty="0" smtClean="0"/>
              <a:t>This examination is designed to allow students to demonstrate their ability to perform an appropriate assessment of an identified patient in a safe manner in simulated conditions.</a:t>
            </a:r>
          </a:p>
          <a:p>
            <a:pPr marL="0" indent="0">
              <a:buNone/>
            </a:pPr>
            <a:r>
              <a:rPr lang="en-GB" sz="2000" dirty="0" smtClean="0"/>
              <a:t> </a:t>
            </a:r>
          </a:p>
          <a:p>
            <a:r>
              <a:rPr lang="en-GB" sz="2000" dirty="0" smtClean="0"/>
              <a:t>The students will demonstrate critical thinking and decision making in relation to the interpretation, management and the legal/ethical factors involved in a case study selected by the examiner from a selection provided to all students.</a:t>
            </a:r>
          </a:p>
          <a:p>
            <a:pPr marL="0" indent="0">
              <a:buNone/>
            </a:pPr>
            <a:r>
              <a:rPr lang="en-GB" sz="2000" b="1" dirty="0" smtClean="0"/>
              <a:t> (50% weighting)</a:t>
            </a:r>
            <a:endParaRPr lang="en-GB" sz="2000" dirty="0" smtClean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2030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/>
              <a:t>Summative Assessments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3019"/>
            <a:ext cx="8596668" cy="5248406"/>
          </a:xfrm>
        </p:spPr>
        <p:txBody>
          <a:bodyPr>
            <a:normAutofit/>
          </a:bodyPr>
          <a:lstStyle/>
          <a:p>
            <a:r>
              <a:rPr lang="en-GB" sz="2000" dirty="0"/>
              <a:t>There are two pieces of summative assessment for the Advanced Assessment and Management of Illness and Injury </a:t>
            </a:r>
            <a:r>
              <a:rPr lang="en-GB" sz="2000" dirty="0" smtClean="0"/>
              <a:t>module based around case studies that will be available from the start of the module.</a:t>
            </a:r>
            <a:endParaRPr lang="en-GB" sz="2000" dirty="0"/>
          </a:p>
          <a:p>
            <a:r>
              <a:rPr lang="en-GB" sz="2000" b="1" dirty="0"/>
              <a:t>Coursework of 2000 words in an essay based on </a:t>
            </a:r>
            <a:r>
              <a:rPr lang="en-GB" sz="2000" b="1" dirty="0" smtClean="0"/>
              <a:t>a specific case study.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F</a:t>
            </a:r>
            <a:r>
              <a:rPr lang="en-US" sz="2000" b="1" smtClean="0">
                <a:solidFill>
                  <a:srgbClr val="FF0000"/>
                </a:solidFill>
              </a:rPr>
              <a:t>riday </a:t>
            </a:r>
            <a:r>
              <a:rPr lang="en-US" sz="2000" b="1" dirty="0" smtClean="0">
                <a:solidFill>
                  <a:srgbClr val="FF0000"/>
                </a:solidFill>
              </a:rPr>
              <a:t>1</a:t>
            </a:r>
            <a:r>
              <a:rPr lang="en-US" sz="2000" b="1" baseline="30000" dirty="0" smtClean="0">
                <a:solidFill>
                  <a:srgbClr val="FF0000"/>
                </a:solidFill>
              </a:rPr>
              <a:t>st</a:t>
            </a:r>
            <a:r>
              <a:rPr lang="en-US" sz="2000" b="1" dirty="0" smtClean="0">
                <a:solidFill>
                  <a:srgbClr val="FF0000"/>
                </a:solidFill>
              </a:rPr>
              <a:t> May 2020</a:t>
            </a:r>
            <a:endParaRPr lang="en-GB" sz="2000" b="1" dirty="0" smtClean="0">
              <a:solidFill>
                <a:srgbClr val="FF0000"/>
              </a:solidFill>
            </a:endParaRPr>
          </a:p>
          <a:p>
            <a:r>
              <a:rPr lang="en-GB" sz="2000" dirty="0" smtClean="0"/>
              <a:t>This </a:t>
            </a:r>
            <a:r>
              <a:rPr lang="en-GB" sz="2000" dirty="0"/>
              <a:t>coursework will allow students to evaluate the anatomical and pathophysiological knowledge used to underpin safe and effective assessment and diagnosis, </a:t>
            </a:r>
            <a:endParaRPr lang="en-GB" sz="2000" dirty="0" smtClean="0"/>
          </a:p>
          <a:p>
            <a:r>
              <a:rPr lang="en-GB" sz="2000" dirty="0"/>
              <a:t>S</a:t>
            </a:r>
            <a:r>
              <a:rPr lang="en-GB" sz="2000" dirty="0" smtClean="0"/>
              <a:t>ynthesise </a:t>
            </a:r>
            <a:r>
              <a:rPr lang="en-GB" sz="2000" dirty="0"/>
              <a:t>and </a:t>
            </a:r>
            <a:r>
              <a:rPr lang="en-GB" sz="2000" dirty="0" smtClean="0"/>
              <a:t>critically evaluate the </a:t>
            </a:r>
            <a:r>
              <a:rPr lang="en-GB" sz="2000" dirty="0"/>
              <a:t>evidence to support the management of the selected case study, including any appropriate onward referral or safety netting.</a:t>
            </a:r>
          </a:p>
          <a:p>
            <a:pPr marL="0" indent="0">
              <a:buNone/>
            </a:pPr>
            <a:r>
              <a:rPr lang="en-GB" sz="2000" b="1" dirty="0"/>
              <a:t> 	(50% </a:t>
            </a:r>
            <a:r>
              <a:rPr lang="en-GB" sz="2000" b="1" dirty="0" smtClean="0"/>
              <a:t>Weighting</a:t>
            </a:r>
            <a:r>
              <a:rPr lang="en-GB" b="1" dirty="0" smtClean="0"/>
              <a:t>)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09674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ny questions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811" y="1304365"/>
            <a:ext cx="6614835" cy="438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6187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427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Advanced Assessment and Management of Illness and Injury</vt:lpstr>
      <vt:lpstr>Aim </vt:lpstr>
      <vt:lpstr>Expectations </vt:lpstr>
      <vt:lpstr>AAMII Module </vt:lpstr>
      <vt:lpstr>AAMII Module </vt:lpstr>
      <vt:lpstr>Formative Assessment </vt:lpstr>
      <vt:lpstr>Summative Assessments</vt:lpstr>
      <vt:lpstr>Summative Assessments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Assessment and Management of Illness and Injury</dc:title>
  <dc:creator>Cameron, Keith</dc:creator>
  <cp:lastModifiedBy>Cameron, Keith</cp:lastModifiedBy>
  <cp:revision>16</cp:revision>
  <dcterms:created xsi:type="dcterms:W3CDTF">2018-09-11T14:05:38Z</dcterms:created>
  <dcterms:modified xsi:type="dcterms:W3CDTF">2021-01-25T15:47:03Z</dcterms:modified>
</cp:coreProperties>
</file>