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80" r:id="rId4"/>
    <p:sldId id="276" r:id="rId5"/>
    <p:sldId id="307" r:id="rId6"/>
    <p:sldId id="274" r:id="rId7"/>
    <p:sldId id="278" r:id="rId8"/>
    <p:sldId id="310" r:id="rId9"/>
    <p:sldId id="279" r:id="rId10"/>
    <p:sldId id="260" r:id="rId11"/>
    <p:sldId id="284" r:id="rId12"/>
    <p:sldId id="309" r:id="rId13"/>
    <p:sldId id="286" r:id="rId14"/>
    <p:sldId id="294" r:id="rId15"/>
    <p:sldId id="291" r:id="rId16"/>
    <p:sldId id="295" r:id="rId17"/>
    <p:sldId id="296" r:id="rId18"/>
    <p:sldId id="288" r:id="rId19"/>
    <p:sldId id="289" r:id="rId20"/>
    <p:sldId id="287" r:id="rId21"/>
    <p:sldId id="311" r:id="rId22"/>
    <p:sldId id="305" r:id="rId23"/>
    <p:sldId id="303" r:id="rId24"/>
    <p:sldId id="304" r:id="rId25"/>
    <p:sldId id="306" r:id="rId26"/>
    <p:sldId id="300" r:id="rId27"/>
    <p:sldId id="302" r:id="rId28"/>
    <p:sldId id="301" r:id="rId29"/>
    <p:sldId id="308" r:id="rId30"/>
    <p:sldId id="29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92A1B18C-DEE5-364E-8A00-996DEF8ADD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D4B29C0-3007-1349-AF14-40B06EF6F702}" type="datetimeFigureOut">
              <a:rPr lang="en-US" smtClean="0"/>
              <a:pPr/>
              <a:t>12/17/2018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aape.org.uk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.uk/?gws_rd=ss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Century Gothic"/>
                <a:cs typeface="Century Gothic"/>
              </a:rPr>
              <a:t>Advanced Level Practice 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4 pillars </a:t>
            </a:r>
          </a:p>
          <a:p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Clinical – Education- Research- Management/Leadership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Session Aim </a:t>
            </a:r>
            <a:endParaRPr lang="en-GB" dirty="0">
              <a:solidFill>
                <a:srgbClr val="000000"/>
              </a:solidFill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176" y="1600200"/>
            <a:ext cx="8229600" cy="4942129"/>
          </a:xfrm>
        </p:spPr>
        <p:txBody>
          <a:bodyPr>
            <a:normAutofit fontScale="70000" lnSpcReduction="20000"/>
          </a:bodyPr>
          <a:lstStyle/>
          <a:p>
            <a:r>
              <a:rPr lang="en-US" sz="4000" dirty="0" smtClean="0">
                <a:solidFill>
                  <a:srgbClr val="000000"/>
                </a:solidFill>
                <a:latin typeface="Century Gothic"/>
                <a:cs typeface="Century Gothic"/>
              </a:rPr>
              <a:t>Overview of Advanced Level Practice</a:t>
            </a:r>
          </a:p>
          <a:p>
            <a:endParaRPr lang="en-US" sz="4000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US" sz="4000" dirty="0" smtClean="0">
                <a:solidFill>
                  <a:srgbClr val="000000"/>
                </a:solidFill>
                <a:latin typeface="Century Gothic"/>
                <a:cs typeface="Century Gothic"/>
              </a:rPr>
              <a:t>Specifically, </a:t>
            </a:r>
          </a:p>
          <a:p>
            <a:endParaRPr lang="en-US" sz="4000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Century Gothic"/>
                <a:cs typeface="Century Gothic"/>
              </a:rPr>
              <a:t>Emergence of the professional role and professional dimensions</a:t>
            </a:r>
          </a:p>
          <a:p>
            <a:endParaRPr lang="en-US" sz="4000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Century Gothic"/>
                <a:cs typeface="Century Gothic"/>
              </a:rPr>
              <a:t>Concept Advanced Level Practice Domains &amp; Attributes……expectations </a:t>
            </a:r>
          </a:p>
          <a:p>
            <a:endParaRPr lang="en-US" sz="4000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sz="3600" dirty="0" smtClean="0">
                <a:solidFill>
                  <a:srgbClr val="000000"/>
                </a:solidFill>
                <a:latin typeface="Century Gothic"/>
                <a:cs typeface="Century Gothic"/>
              </a:rPr>
              <a:t>Consider foreground regarding current debate, challenges and role implications </a:t>
            </a:r>
          </a:p>
          <a:p>
            <a:endParaRPr lang="en-US" sz="4000" dirty="0" smtClean="0">
              <a:solidFill>
                <a:srgbClr val="3B4453"/>
              </a:solidFill>
              <a:latin typeface="Century Gothic"/>
              <a:cs typeface="Century Gothic"/>
            </a:endParaRP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Contextual Background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10640"/>
            <a:ext cx="8229600" cy="501597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Advancing Level Practice (ALP) not a new phenomenon – traditionally aimed at Clinical pillar </a:t>
            </a:r>
          </a:p>
          <a:p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Professional evolution is not well documented, remains diffuse term….. inconsistently applied </a:t>
            </a:r>
          </a:p>
          <a:p>
            <a:pPr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Internationally recognised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USA, Australia </a:t>
            </a:r>
          </a:p>
          <a:p>
            <a:pPr lvl="1"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UK Emerged due to local demands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1980-90s…extended roles mainly in primary care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Increased service demands - acute admissions – work time directive to reduce Drs in training working hours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Contextual Drivers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026" y="1417638"/>
            <a:ext cx="8638256" cy="5213300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Change in population demographics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Aging population</a:t>
            </a:r>
          </a:p>
          <a:p>
            <a:pPr lvl="1"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LTC, Multiple Morbidity, Public Health imperatives</a:t>
            </a:r>
          </a:p>
          <a:p>
            <a:pPr lvl="1"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Health care needs, service development..?</a:t>
            </a:r>
          </a:p>
          <a:p>
            <a:pPr lvl="1"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Public expectations……?</a:t>
            </a:r>
          </a:p>
          <a:p>
            <a:pPr lvl="1">
              <a:buFont typeface="Arial"/>
              <a:buChar char="•"/>
            </a:pPr>
            <a:endParaRPr lang="en-GB" dirty="0" smtClean="0">
              <a:latin typeface="Century Gothic"/>
              <a:cs typeface="Century Gothic"/>
            </a:endParaRPr>
          </a:p>
          <a:p>
            <a:endParaRPr lang="en-GB" dirty="0" smtClean="0">
              <a:latin typeface="Century Gothic"/>
              <a:cs typeface="Century Gothic"/>
            </a:endParaRPr>
          </a:p>
          <a:p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Contextual Drivers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94320" cy="4794447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ALP key socio economic driver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GB" b="1" dirty="0" smtClean="0">
                <a:latin typeface="Century Gothic"/>
                <a:cs typeface="Century Gothic"/>
              </a:rPr>
              <a:t>What has become evident is….</a:t>
            </a:r>
          </a:p>
          <a:p>
            <a:pPr>
              <a:buNone/>
            </a:pPr>
            <a:endParaRPr lang="en-GB" b="1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Extended, Expanded, Developed roles become part of the infrastructure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ALP is not a job description or regulated title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Regarded as a ‘level of practice’ – now accepted as MSc level academic qualification with specialist at </a:t>
            </a:r>
            <a:r>
              <a:rPr lang="en-GB" dirty="0" err="1" smtClean="0">
                <a:latin typeface="Century Gothic"/>
                <a:cs typeface="Century Gothic"/>
              </a:rPr>
              <a:t>PGCert</a:t>
            </a:r>
            <a:r>
              <a:rPr lang="en-GB" dirty="0" smtClean="0">
                <a:latin typeface="Century Gothic"/>
                <a:cs typeface="Century Gothic"/>
              </a:rPr>
              <a:t>/Diploma </a:t>
            </a:r>
            <a:endParaRPr lang="en-GB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Contextual Drivers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Responsiveness…. changing face of healthcare in terms of challenges and vision</a:t>
            </a:r>
          </a:p>
          <a:p>
            <a:pPr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Beneficial to prioritising patients and care delivery in context of adopted roles</a:t>
            </a:r>
          </a:p>
          <a:p>
            <a:endParaRPr lang="en-GB" dirty="0" smtClean="0"/>
          </a:p>
          <a:p>
            <a:r>
              <a:rPr lang="en-GB" dirty="0" smtClean="0">
                <a:latin typeface="Century Gothic"/>
                <a:cs typeface="Century Gothic"/>
              </a:rPr>
              <a:t>Political agenda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Better Health better Care (SG 2007)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Shifting the balance of care  (SG 2009)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Quality Strategy (SG 2010)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Public Bodies (Joint  Working) Act (2014)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Review OOH Primary Care – Unscheduled Care (2015)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Transforming Roles Advanced Nurse Practitioners (2016)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Paramedic changes to roles  (SAS, 2020 Vision)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Many English Health Education England policies due out in next year setting the direction for advanced practice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Need at the moment is focussed on clinical pillar of  advanced practice in most UK countries </a:t>
            </a:r>
          </a:p>
          <a:p>
            <a:pPr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External and Internal Drivers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226"/>
            <a:ext cx="8229600" cy="5227957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GP shortage, European Working Time Directive, changing roles of practitioners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Shifting working patterns – particularly in nursing: junior doctors EWTD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In parallel, professions extending role demarcations; </a:t>
            </a:r>
            <a:endParaRPr lang="en-GB" dirty="0" smtClean="0">
              <a:latin typeface="Century Gothic"/>
              <a:cs typeface="Century Gothic"/>
            </a:endParaRPr>
          </a:p>
          <a:p>
            <a:pPr lvl="1"/>
            <a:r>
              <a:rPr lang="en-GB" dirty="0" smtClean="0">
                <a:latin typeface="Century Gothic"/>
                <a:cs typeface="Century Gothic"/>
              </a:rPr>
              <a:t>skill </a:t>
            </a:r>
            <a:r>
              <a:rPr lang="en-GB" dirty="0" smtClean="0">
                <a:latin typeface="Century Gothic"/>
                <a:cs typeface="Century Gothic"/>
              </a:rPr>
              <a:t>mix 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Professional tribalism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Mixed responses – </a:t>
            </a:r>
            <a:r>
              <a:rPr lang="en-GB" dirty="0" smtClean="0">
                <a:latin typeface="Century Gothic"/>
                <a:cs typeface="Century Gothic"/>
              </a:rPr>
              <a:t>medical/nursing/paramedic</a:t>
            </a:r>
            <a:endParaRPr lang="en-GB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Association of Advance Practice Educators UK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>
              <a:hlinkClick r:id="rId2"/>
            </a:endParaRPr>
          </a:p>
          <a:p>
            <a:endParaRPr lang="en-GB" dirty="0">
              <a:hlinkClick r:id="rId2"/>
            </a:endParaRPr>
          </a:p>
          <a:p>
            <a:endParaRPr lang="en-GB" dirty="0" smtClean="0">
              <a:hlinkClick r:id="rId2"/>
            </a:endParaRPr>
          </a:p>
          <a:p>
            <a:pPr marL="114300" indent="0">
              <a:buNone/>
            </a:pPr>
            <a:endParaRPr lang="en-GB" dirty="0" smtClean="0">
              <a:hlinkClick r:id="rId2"/>
            </a:endParaRPr>
          </a:p>
          <a:p>
            <a:r>
              <a:rPr lang="en-GB" dirty="0" smtClean="0">
                <a:hlinkClick r:id="rId2"/>
              </a:rPr>
              <a:t>http</a:t>
            </a:r>
            <a:r>
              <a:rPr lang="en-GB" dirty="0">
                <a:hlinkClick r:id="rId2"/>
              </a:rPr>
              <a:t>://aape.org.uk</a:t>
            </a:r>
            <a:r>
              <a:rPr lang="en-GB" dirty="0" smtClean="0">
                <a:hlinkClick r:id="rId2"/>
              </a:rPr>
              <a:t>/</a:t>
            </a:r>
            <a:r>
              <a:rPr lang="en-GB" dirty="0" smtClean="0"/>
              <a:t> </a:t>
            </a:r>
          </a:p>
          <a:p>
            <a:r>
              <a:rPr lang="en-GB" dirty="0" smtClean="0"/>
              <a:t>Follow on twitter @</a:t>
            </a:r>
            <a:r>
              <a:rPr lang="en-GB" dirty="0" err="1" smtClean="0"/>
              <a:t>aapeuk</a:t>
            </a:r>
            <a:r>
              <a:rPr lang="en-GB" dirty="0" smtClean="0"/>
              <a:t>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4843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Current Debates within ALP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1394"/>
            <a:ext cx="7894320" cy="3984769"/>
          </a:xfrm>
        </p:spPr>
        <p:txBody>
          <a:bodyPr>
            <a:normAutofit fontScale="85000" lnSpcReduction="10000"/>
          </a:bodyPr>
          <a:lstStyle/>
          <a:p>
            <a:r>
              <a:rPr lang="en-GB" sz="4000" dirty="0" smtClean="0">
                <a:latin typeface="Century Gothic"/>
                <a:cs typeface="Century Gothic"/>
              </a:rPr>
              <a:t>Changing organisation face and structure of healthcare delivery</a:t>
            </a:r>
          </a:p>
          <a:p>
            <a:pPr>
              <a:buNone/>
            </a:pPr>
            <a:endParaRPr lang="en-GB" sz="4000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GB" sz="4000" dirty="0" smtClean="0">
                <a:latin typeface="Century Gothic"/>
                <a:cs typeface="Century Gothic"/>
              </a:rPr>
              <a:t>	</a:t>
            </a:r>
            <a:endParaRPr lang="en-GB" sz="4000" dirty="0" smtClean="0">
              <a:solidFill>
                <a:srgbClr val="660066"/>
              </a:solidFill>
              <a:latin typeface="Century Gothic"/>
              <a:cs typeface="Century Gothic"/>
            </a:endParaRPr>
          </a:p>
          <a:p>
            <a:r>
              <a:rPr lang="en-GB" sz="4000" dirty="0" smtClean="0">
                <a:latin typeface="Century Gothic"/>
                <a:cs typeface="Century Gothic"/>
              </a:rPr>
              <a:t>Professional regulation and governance of ALP</a:t>
            </a:r>
          </a:p>
          <a:p>
            <a:pPr>
              <a:buNone/>
            </a:pPr>
            <a:r>
              <a:rPr lang="en-GB" dirty="0" smtClean="0">
                <a:latin typeface="Century Gothic"/>
                <a:cs typeface="Century Gothic"/>
              </a:rPr>
              <a:t>	</a:t>
            </a:r>
          </a:p>
          <a:p>
            <a:pPr>
              <a:buNone/>
            </a:pPr>
            <a:r>
              <a:rPr lang="en-GB" dirty="0" smtClean="0">
                <a:latin typeface="Century Gothic"/>
                <a:cs typeface="Century Gothic"/>
              </a:rPr>
              <a:t>	</a:t>
            </a:r>
            <a:endParaRPr lang="en-GB" dirty="0" smtClean="0">
              <a:solidFill>
                <a:srgbClr val="660066"/>
              </a:solidFill>
              <a:latin typeface="Century Gothic"/>
              <a:cs typeface="Century Gothic"/>
            </a:endParaRP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endParaRPr lang="en-GB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556" dirty="0" smtClean="0">
                <a:solidFill>
                  <a:srgbClr val="000000"/>
                </a:solidFill>
                <a:latin typeface="Century Gothic"/>
                <a:cs typeface="Century Gothic"/>
              </a:rPr>
              <a:t>Describing Advanced Practice </a:t>
            </a:r>
            <a:r>
              <a:rPr lang="en-GB" dirty="0" smtClean="0">
                <a:latin typeface="Century Gothic"/>
                <a:cs typeface="Century Gothic"/>
              </a:rPr>
              <a:t>	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Within some professions ….confusion and ambiguity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Often defined as ‘practice’ which is beyond basic level </a:t>
            </a:r>
            <a:r>
              <a:rPr lang="en-GB" sz="2000" dirty="0" smtClean="0">
                <a:latin typeface="Century Gothic"/>
                <a:cs typeface="Century Gothic"/>
              </a:rPr>
              <a:t>(Dowling et al. 2013)</a:t>
            </a:r>
          </a:p>
          <a:p>
            <a:pPr lvl="1">
              <a:buNone/>
            </a:pPr>
            <a:endParaRPr lang="en-GB" sz="2000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Meaning…..inference of Level of Practice 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entury Gothic"/>
                <a:cs typeface="Century Gothic"/>
              </a:rPr>
              <a:t>The Nursing Example 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802880" cy="4720605"/>
          </a:xfrm>
        </p:spPr>
        <p:txBody>
          <a:bodyPr>
            <a:normAutofit/>
          </a:bodyPr>
          <a:lstStyle/>
          <a:p>
            <a:r>
              <a:rPr lang="en-GB" b="1" dirty="0" smtClean="0">
                <a:latin typeface="Century Gothic"/>
                <a:cs typeface="Century Gothic"/>
              </a:rPr>
              <a:t>UKCC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defined and set the standard for </a:t>
            </a:r>
            <a:r>
              <a:rPr lang="en-GB" b="1" dirty="0" smtClean="0">
                <a:latin typeface="Century Gothic"/>
                <a:cs typeface="Century Gothic"/>
              </a:rPr>
              <a:t>Specialist Practice </a:t>
            </a:r>
            <a:r>
              <a:rPr lang="en-GB" dirty="0" smtClean="0">
                <a:latin typeface="Century Gothic"/>
                <a:cs typeface="Century Gothic"/>
              </a:rPr>
              <a:t>1998, 2001 </a:t>
            </a:r>
            <a:r>
              <a:rPr lang="en-GB" i="1" dirty="0" smtClean="0">
                <a:latin typeface="Century Gothic"/>
                <a:cs typeface="Century Gothic"/>
              </a:rPr>
              <a:t>‘high level judgment, discernment and decision making</a:t>
            </a:r>
            <a:r>
              <a:rPr lang="en-GB" dirty="0" smtClean="0">
                <a:latin typeface="Century Gothic"/>
                <a:cs typeface="Century Gothic"/>
              </a:rPr>
              <a:t>’</a:t>
            </a:r>
          </a:p>
          <a:p>
            <a:pPr lvl="1">
              <a:buFont typeface="Arial"/>
              <a:buChar char="•"/>
            </a:pPr>
            <a:endParaRPr lang="en-GB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 </a:t>
            </a:r>
            <a:r>
              <a:rPr lang="en-GB" b="1" dirty="0" smtClean="0">
                <a:latin typeface="Century Gothic"/>
                <a:cs typeface="Century Gothic"/>
              </a:rPr>
              <a:t>Advanced Practice </a:t>
            </a:r>
            <a:r>
              <a:rPr lang="en-GB" dirty="0" smtClean="0">
                <a:latin typeface="Century Gothic"/>
                <a:cs typeface="Century Gothic"/>
              </a:rPr>
              <a:t>- undetermined, a caveat to develop opportunity of ‘advancing’ their practice 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b="1" dirty="0" smtClean="0">
                <a:latin typeface="Century Gothic"/>
                <a:cs typeface="Century Gothic"/>
              </a:rPr>
              <a:t>NMC (2005) </a:t>
            </a:r>
            <a:r>
              <a:rPr lang="en-GB" dirty="0" smtClean="0">
                <a:latin typeface="Century Gothic"/>
                <a:cs typeface="Century Gothic"/>
              </a:rPr>
              <a:t>defined Advanced Practice – specific skill in diagnosis 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Proposed a sub part of the register to regulate</a:t>
            </a:r>
            <a:endParaRPr lang="en-GB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Paramedic Example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Advanced Paramedic ‘</a:t>
            </a:r>
            <a:r>
              <a:rPr lang="en-GB" dirty="0" smtClean="0"/>
              <a:t>AP’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	</a:t>
            </a:r>
            <a:r>
              <a:rPr lang="en-GB" sz="2600" dirty="0" smtClean="0"/>
              <a:t>- Role in See-Rx-Manage-discharge/refer</a:t>
            </a:r>
          </a:p>
          <a:p>
            <a:pPr marL="0" indent="0">
              <a:buNone/>
            </a:pPr>
            <a:r>
              <a:rPr lang="en-GB" sz="2600" dirty="0"/>
              <a:t>	</a:t>
            </a:r>
            <a:r>
              <a:rPr lang="en-GB" sz="2600" dirty="0" smtClean="0"/>
              <a:t>- Expectation to be practicing all 4 pillars of </a:t>
            </a:r>
            <a:r>
              <a:rPr lang="en-GB" sz="2600" dirty="0" smtClean="0"/>
              <a:t>	advanced practice </a:t>
            </a:r>
            <a:endParaRPr lang="en-GB" sz="2600" dirty="0" smtClean="0"/>
          </a:p>
          <a:p>
            <a:pPr marL="0" indent="0">
              <a:buNone/>
            </a:pPr>
            <a:r>
              <a:rPr lang="en-GB" sz="2600" dirty="0"/>
              <a:t>	</a:t>
            </a:r>
            <a:r>
              <a:rPr lang="en-GB" sz="2600" dirty="0" smtClean="0"/>
              <a:t>- leadership and development of the role </a:t>
            </a:r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dirty="0" smtClean="0"/>
              <a:t>Specialist Paramedic</a:t>
            </a:r>
          </a:p>
          <a:p>
            <a:pPr marL="0" lvl="1" indent="0">
              <a:buNone/>
            </a:pPr>
            <a:r>
              <a:rPr lang="en-GB" dirty="0"/>
              <a:t>	</a:t>
            </a:r>
            <a:r>
              <a:rPr lang="en-GB" dirty="0" smtClean="0"/>
              <a:t>- </a:t>
            </a:r>
            <a:r>
              <a:rPr lang="en-GB" sz="2400" dirty="0" smtClean="0"/>
              <a:t>Role </a:t>
            </a:r>
            <a:r>
              <a:rPr lang="en-GB" sz="2400" dirty="0"/>
              <a:t>in See-Rx-Manage-discharge/refer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Professional stance……….. HPC?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594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Wider Professional Issues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764"/>
            <a:ext cx="8229600" cy="5301797"/>
          </a:xfrm>
        </p:spPr>
        <p:txBody>
          <a:bodyPr>
            <a:normAutofit/>
          </a:bodyPr>
          <a:lstStyle/>
          <a:p>
            <a:r>
              <a:rPr lang="en-GB" sz="2800" dirty="0" smtClean="0">
                <a:solidFill>
                  <a:srgbClr val="000000"/>
                </a:solidFill>
                <a:latin typeface="Century Gothic"/>
                <a:cs typeface="Century Gothic"/>
              </a:rPr>
              <a:t>Proposal rejected based on report by the Council  for Healthcare Regulatory Excellence 2010</a:t>
            </a:r>
          </a:p>
          <a:p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Advanced practice = career development</a:t>
            </a:r>
          </a:p>
          <a:p>
            <a:pPr lvl="1">
              <a:buFont typeface="Arial"/>
              <a:buChar char="•"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Activities do not lie out with the scope of initial registration</a:t>
            </a:r>
          </a:p>
          <a:p>
            <a:pPr lvl="1">
              <a:buFont typeface="Arial"/>
              <a:buChar char="•"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Risk managed within current professional </a:t>
            </a: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code e.g. NMC/HCPC</a:t>
            </a:r>
          </a:p>
          <a:p>
            <a:pPr lvl="1"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Need for nationally agreed standards to support local governance arrangements </a:t>
            </a:r>
          </a:p>
          <a:p>
            <a:pPr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endParaRPr lang="en-GB" dirty="0">
              <a:solidFill>
                <a:srgbClr val="000000"/>
              </a:solidFill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Professional Governance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Implications ….to date</a:t>
            </a:r>
          </a:p>
          <a:p>
            <a:pPr lvl="1">
              <a:buFont typeface="Arial"/>
              <a:buChar char="•"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No agreed core competencies </a:t>
            </a:r>
          </a:p>
          <a:p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No prescribed standardised national educational pathway, under development/modification</a:t>
            </a:r>
          </a:p>
          <a:p>
            <a:pPr lvl="1"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Governance of AP and its development occurring at a local level…..variation (within different healthcare trusts and different geographical areas)</a:t>
            </a:r>
          </a:p>
          <a:p>
            <a:pPr>
              <a:buNone/>
            </a:pPr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? Driven by the knowledge that regulation would be costly </a:t>
            </a:r>
          </a:p>
          <a:p>
            <a:endParaRPr lang="en-GB" dirty="0" smtClean="0">
              <a:solidFill>
                <a:srgbClr val="000000"/>
              </a:solidFill>
              <a:latin typeface="Century Gothic"/>
              <a:cs typeface="Century Gothic"/>
            </a:endParaRPr>
          </a:p>
          <a:p>
            <a:r>
              <a:rPr lang="en-GB" dirty="0" smtClean="0">
                <a:solidFill>
                  <a:srgbClr val="000000"/>
                </a:solidFill>
                <a:latin typeface="Century Gothic"/>
                <a:cs typeface="Century Gothic"/>
              </a:rPr>
              <a:t>Proliferation of titles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Profusion of Titles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Advanced Nurse Practitioner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Advanced Practitioner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Emergency Nurse Practitioner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Advanced Practice Nurse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Nurse Consultant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Advanced Midwife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Advanced Practice Practitioner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Advanced Paramedic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Specialist Paramedic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Paramedic Practitioner 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Senior Paramedic</a:t>
            </a:r>
          </a:p>
          <a:p>
            <a:pPr marL="0" indent="0">
              <a:buNone/>
            </a:pPr>
            <a:r>
              <a:rPr lang="en-GB" dirty="0" smtClean="0">
                <a:latin typeface="Century Gothic"/>
                <a:cs typeface="Century Gothic"/>
              </a:rPr>
              <a:t>…………………….all unregulated</a:t>
            </a:r>
            <a:endParaRPr lang="en-GB" dirty="0">
              <a:latin typeface="Century Gothic"/>
              <a:cs typeface="Century Gothic"/>
            </a:endParaRPr>
          </a:p>
          <a:p>
            <a:pPr marL="0" indent="0">
              <a:buNone/>
            </a:pPr>
            <a:endParaRPr lang="en-GB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Professional Governance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Council for Healthcare Regulatory Excellence (CHRE) …APs present no greater risk than newly qualified registrants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Questions raised regarding ‘competency’ to operate at this level of practice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Evidence suggest ‘low risk’ with positive patient experiences and outcomes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entury Gothic"/>
                <a:cs typeface="Century Gothic"/>
              </a:rPr>
              <a:t>Disquiet 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ANP actively seeking Professional regulation 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Argue that the aim is not to govern risk, acknowledge level of practice ….some similarly to other nursing disciplines i.e. SCPHN (Specialist community public health nursing)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Register to recognise contribution based on competencies and level of care provided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Local Governance….Scotland 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Health Devolved - Nursing perspective – NMC</a:t>
            </a:r>
          </a:p>
          <a:p>
            <a:pPr lvl="8"/>
            <a:r>
              <a:rPr lang="en-GB" dirty="0" smtClean="0">
                <a:latin typeface="Century Gothic"/>
                <a:cs typeface="Century Gothic"/>
              </a:rPr>
              <a:t>             </a:t>
            </a:r>
            <a:r>
              <a:rPr lang="en-GB" sz="2200" dirty="0" smtClean="0">
                <a:latin typeface="Century Gothic"/>
                <a:cs typeface="Century Gothic"/>
              </a:rPr>
              <a:t>Scottish Ambulance Service </a:t>
            </a:r>
          </a:p>
          <a:p>
            <a:r>
              <a:rPr lang="en-GB" dirty="0" smtClean="0">
                <a:latin typeface="Century Gothic"/>
                <a:cs typeface="Century Gothic"/>
              </a:rPr>
              <a:t>Locals guidelines for NHS Boards  </a:t>
            </a: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‘</a:t>
            </a:r>
            <a:r>
              <a:rPr lang="en-GB" dirty="0" smtClean="0">
                <a:latin typeface="Century Gothic"/>
                <a:cs typeface="Century Gothic"/>
              </a:rPr>
              <a:t>Recommendations’ (2010)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Qualification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Accreditation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Role governance </a:t>
            </a:r>
          </a:p>
          <a:p>
            <a:pPr lvl="1"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Advanced Practice Toolkit</a:t>
            </a:r>
            <a:endParaRPr lang="en-GB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Expertise and Qualifications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06545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Century Gothic"/>
                <a:cs typeface="Century Gothic"/>
              </a:rPr>
              <a:t>Extensive clinical expertise </a:t>
            </a:r>
          </a:p>
          <a:p>
            <a:endParaRPr lang="en-US" dirty="0" smtClean="0">
              <a:latin typeface="Century Gothic"/>
              <a:cs typeface="Century Gothic"/>
            </a:endParaRPr>
          </a:p>
          <a:p>
            <a:r>
              <a:rPr lang="en-US" dirty="0" smtClean="0">
                <a:latin typeface="Century Gothic"/>
                <a:cs typeface="Century Gothic"/>
              </a:rPr>
              <a:t>Wider operational awareness 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r>
              <a:rPr lang="en-US" dirty="0" smtClean="0">
                <a:latin typeface="Century Gothic"/>
                <a:cs typeface="Century Gothic"/>
              </a:rPr>
              <a:t>Career-long learning and development </a:t>
            </a:r>
            <a:r>
              <a:rPr lang="en-US" u="sng" dirty="0" smtClean="0">
                <a:latin typeface="Century Gothic"/>
                <a:cs typeface="Century Gothic"/>
              </a:rPr>
              <a:t>and</a:t>
            </a:r>
            <a:r>
              <a:rPr lang="en-US" dirty="0" smtClean="0">
                <a:latin typeface="Century Gothic"/>
                <a:cs typeface="Century Gothic"/>
              </a:rPr>
              <a:t> 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r>
              <a:rPr lang="en-US" dirty="0" smtClean="0">
                <a:latin typeface="Century Gothic"/>
                <a:cs typeface="Century Gothic"/>
              </a:rPr>
              <a:t>Formal education provision 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Debated ‘masters’ level learning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Linked to SCQF Level 11 autonomy, accountability and working with others </a:t>
            </a:r>
          </a:p>
          <a:p>
            <a:pPr lvl="1"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r>
              <a:rPr lang="en-US" dirty="0" smtClean="0">
                <a:latin typeface="Century Gothic"/>
                <a:cs typeface="Century Gothic"/>
              </a:rPr>
              <a:t>M level study…..raise perceptions, challenging knowledge debate, integrating theory with practice already gained</a:t>
            </a:r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Advanced Level Practice - themes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Work and Position statements 4 UK countries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err="1" smtClean="0">
                <a:latin typeface="Century Gothic"/>
                <a:cs typeface="Century Gothic"/>
              </a:rPr>
              <a:t>DoH</a:t>
            </a:r>
            <a:r>
              <a:rPr lang="en-GB" dirty="0" smtClean="0">
                <a:latin typeface="Century Gothic"/>
                <a:cs typeface="Century Gothic"/>
              </a:rPr>
              <a:t> set out Nationally Agreed Elements - grouped in themed areas of </a:t>
            </a:r>
            <a:r>
              <a:rPr lang="en-GB" dirty="0" smtClean="0">
                <a:latin typeface="Century Gothic"/>
                <a:cs typeface="Century Gothic"/>
              </a:rPr>
              <a:t>practice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Clinical practice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Leadership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Research </a:t>
            </a:r>
          </a:p>
          <a:p>
            <a:pPr lvl="1">
              <a:buFont typeface="Arial"/>
              <a:buChar char="•"/>
            </a:pPr>
            <a:r>
              <a:rPr lang="en-GB" dirty="0" smtClean="0">
                <a:latin typeface="Century Gothic"/>
                <a:cs typeface="Century Gothic"/>
              </a:rPr>
              <a:t>Education 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All demonstrable within the AP role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4 Pillars </a:t>
            </a:r>
            <a:endParaRPr lang="en-GB" dirty="0"/>
          </a:p>
        </p:txBody>
      </p:sp>
      <p:pic>
        <p:nvPicPr>
          <p:cNvPr id="1026" name="Picture 2" descr="Image result for 4 pillars of advanced practic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27" y="1617362"/>
            <a:ext cx="47244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950" y="4165112"/>
            <a:ext cx="4833045" cy="241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23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2516"/>
          </a:xfrm>
        </p:spPr>
        <p:txBody>
          <a:bodyPr>
            <a:normAutofit/>
          </a:bodyPr>
          <a:lstStyle/>
          <a:p>
            <a:r>
              <a:rPr lang="en-US" b="1" dirty="0" smtClean="0"/>
              <a:t>Advanced Clinical Practice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37154"/>
            <a:ext cx="7940041" cy="549378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i="1" dirty="0" smtClean="0"/>
              <a:t>	• </a:t>
            </a:r>
            <a:r>
              <a:rPr lang="en-US" dirty="0" smtClean="0">
                <a:latin typeface="Century Gothic"/>
                <a:cs typeface="Century Gothic"/>
              </a:rPr>
              <a:t>Decision making/clinical judgment and problem solving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Critical thinking and analytical skills incorporating critical reflection 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	• Managing complexity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Assessment, diagnosis referral, discharge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Developing higher levels of autonomy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Assessing and managing risk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Prescribing (where required)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Developing confidence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Higher level communication skills</a:t>
            </a: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/>
            </a:r>
            <a:br>
              <a:rPr lang="en-US" dirty="0" smtClean="0">
                <a:latin typeface="Century Gothic"/>
                <a:cs typeface="Century Gothic"/>
              </a:rPr>
            </a:br>
            <a:r>
              <a:rPr lang="en-US" dirty="0" smtClean="0">
                <a:latin typeface="Century Gothic"/>
                <a:cs typeface="Century Gothic"/>
              </a:rPr>
              <a:t>• Patient Focus/Public Involvement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66691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 smtClean="0">
                <a:latin typeface="Century Gothic"/>
                <a:cs typeface="Century Gothic"/>
              </a:rPr>
              <a:t>Clinical /Professional Leadership </a:t>
            </a:r>
            <a:endParaRPr lang="en-GB" sz="2800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59" y="1166691"/>
            <a:ext cx="8907741" cy="5434711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Identifying need for change, developing rationale, leading innovation and managing change, service development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Clinical Governance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Equality &amp; Diversity 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Ethical decision-making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Developing case for change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Negotiation and influencing skills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• Promoting and influencing others to incorporate values </a:t>
            </a: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based care into practice</a:t>
            </a:r>
          </a:p>
          <a:p>
            <a:pPr>
              <a:buNone/>
            </a:pPr>
            <a:endParaRPr lang="en-US" sz="4211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4211" dirty="0" smtClean="0">
                <a:latin typeface="Century Gothic"/>
                <a:cs typeface="Century Gothic"/>
              </a:rPr>
              <a:t> • Networking - Team Development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9139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Century Gothic"/>
                <a:cs typeface="Century Gothic"/>
              </a:rPr>
              <a:t>Facilitating Learning </a:t>
            </a:r>
            <a:r>
              <a:rPr lang="en-US" dirty="0" smtClean="0"/>
              <a:t/>
            </a:r>
            <a:br>
              <a:rPr lang="en-US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660" y="1033777"/>
            <a:ext cx="8229600" cy="5611930"/>
          </a:xfrm>
        </p:spPr>
        <p:txBody>
          <a:bodyPr>
            <a:normAutofit fontScale="70000" lnSpcReduction="20000"/>
          </a:bodyPr>
          <a:lstStyle/>
          <a:p>
            <a:r>
              <a:rPr lang="en-US" sz="3429" dirty="0" smtClean="0">
                <a:latin typeface="Century Gothic"/>
                <a:cs typeface="Century Gothic"/>
              </a:rPr>
              <a:t>Principles of teaching and learning</a:t>
            </a:r>
          </a:p>
          <a:p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Supporting others to develop knowledge and skills</a:t>
            </a:r>
          </a:p>
          <a:p>
            <a:pPr>
              <a:buNone/>
            </a:pPr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Promotion of learning/creation of learning environment</a:t>
            </a:r>
          </a:p>
          <a:p>
            <a:pPr>
              <a:buNone/>
            </a:pPr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Service User/</a:t>
            </a:r>
            <a:r>
              <a:rPr lang="en-US" sz="3429" dirty="0" err="1" smtClean="0">
                <a:latin typeface="Century Gothic"/>
                <a:cs typeface="Century Gothic"/>
              </a:rPr>
              <a:t>Carer</a:t>
            </a:r>
            <a:r>
              <a:rPr lang="en-US" sz="3429" dirty="0" smtClean="0">
                <a:latin typeface="Century Gothic"/>
                <a:cs typeface="Century Gothic"/>
              </a:rPr>
              <a:t> teaching and information giving</a:t>
            </a:r>
          </a:p>
          <a:p>
            <a:pPr>
              <a:buNone/>
            </a:pPr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Developing service user/ </a:t>
            </a:r>
            <a:r>
              <a:rPr lang="en-US" sz="3429" dirty="0" err="1" smtClean="0">
                <a:latin typeface="Century Gothic"/>
                <a:cs typeface="Century Gothic"/>
              </a:rPr>
              <a:t>carer</a:t>
            </a:r>
            <a:r>
              <a:rPr lang="en-US" sz="3429" dirty="0" smtClean="0">
                <a:latin typeface="Century Gothic"/>
                <a:cs typeface="Century Gothic"/>
              </a:rPr>
              <a:t> education materials</a:t>
            </a:r>
          </a:p>
          <a:p>
            <a:pPr>
              <a:buNone/>
            </a:pPr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Mentorship and Coaching</a:t>
            </a:r>
          </a:p>
          <a:p>
            <a:pPr>
              <a:buNone/>
            </a:pPr>
            <a:endParaRPr lang="en-US" sz="3429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sz="3429" dirty="0" smtClean="0">
                <a:latin typeface="Century Gothic"/>
                <a:cs typeface="Century Gothic"/>
              </a:rPr>
              <a:t>• Building Capability and Capacity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Research and Development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501597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• Ability to access research/use information systems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• Critical appraisal/evaluation skills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• Involvement in research/audit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• Ability to implement research findings into practice- including use of and development of policies/protocols and guidelines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>
              <a:buNone/>
            </a:pPr>
            <a:r>
              <a:rPr lang="en-US" dirty="0" smtClean="0">
                <a:latin typeface="Century Gothic"/>
                <a:cs typeface="Century Gothic"/>
              </a:rPr>
              <a:t>• Conference presentations / Publications 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10" y="274638"/>
            <a:ext cx="790419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556" b="1" dirty="0" smtClean="0">
                <a:latin typeface="Century Gothic"/>
                <a:cs typeface="Century Gothic"/>
              </a:rPr>
              <a:t>Underpinning Principles of Advanced Practice                        </a:t>
            </a:r>
            <a:r>
              <a:rPr lang="en-US" sz="1778" b="1" dirty="0" smtClean="0">
                <a:latin typeface="Century Gothic"/>
                <a:cs typeface="Century Gothic"/>
              </a:rPr>
              <a:t>Adapted from NES (2007) </a:t>
            </a:r>
            <a:r>
              <a:rPr lang="en-US" dirty="0" smtClean="0"/>
              <a:t/>
            </a:r>
            <a:br>
              <a:rPr lang="en-US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 smtClean="0">
              <a:latin typeface="Century Gothic"/>
              <a:cs typeface="Century Gothic"/>
            </a:endParaRPr>
          </a:p>
          <a:p>
            <a:r>
              <a:rPr lang="en-US" b="1" dirty="0" smtClean="0">
                <a:latin typeface="Century Gothic"/>
                <a:cs typeface="Century Gothic"/>
              </a:rPr>
              <a:t>Autonomous </a:t>
            </a:r>
            <a:r>
              <a:rPr lang="en-US" b="1" dirty="0" smtClean="0">
                <a:latin typeface="Century Gothic"/>
                <a:cs typeface="Century Gothic"/>
              </a:rPr>
              <a:t>practice </a:t>
            </a: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the freedom to exercise judgment about actions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in turn accepting responsibility and being held to account for them</a:t>
            </a:r>
          </a:p>
          <a:p>
            <a:pPr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r>
              <a:rPr lang="en-US" b="1" dirty="0" smtClean="0">
                <a:latin typeface="Century Gothic"/>
                <a:cs typeface="Century Gothic"/>
              </a:rPr>
              <a:t>Critical Thinking 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explore and analyze evidence, cases and situations in clinical practice, 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enabling a high level of judgment and decision making</a:t>
            </a:r>
          </a:p>
          <a:p>
            <a:pPr>
              <a:buNone/>
            </a:pPr>
            <a:endParaRPr lang="en-US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 smtClean="0">
                <a:latin typeface="Century Gothic"/>
                <a:cs typeface="Century Gothic"/>
              </a:rPr>
              <a:t>Underpinning </a:t>
            </a:r>
            <a:r>
              <a:rPr lang="en-US" sz="2800" b="1" u="sng" dirty="0" smtClean="0">
                <a:latin typeface="Century Gothic"/>
                <a:cs typeface="Century Gothic"/>
              </a:rPr>
              <a:t>Principles</a:t>
            </a:r>
            <a:r>
              <a:rPr lang="en-US" sz="2800" b="1" dirty="0" smtClean="0">
                <a:latin typeface="Century Gothic"/>
                <a:cs typeface="Century Gothic"/>
              </a:rPr>
              <a:t> of Advanced Practice                          </a:t>
            </a:r>
            <a:r>
              <a:rPr lang="en-US" sz="1400" b="1" dirty="0" smtClean="0">
                <a:latin typeface="Century Gothic"/>
                <a:cs typeface="Century Gothic"/>
              </a:rPr>
              <a:t>Adapted from NES (2007) </a:t>
            </a:r>
            <a:endParaRPr lang="en-GB" sz="2800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7993381" cy="4525963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Century Gothic"/>
                <a:cs typeface="Century Gothic"/>
              </a:rPr>
              <a:t>High Levels of Decision Making &amp; Problem Solving</a:t>
            </a:r>
          </a:p>
          <a:p>
            <a:pPr>
              <a:buNone/>
            </a:pPr>
            <a:endParaRPr lang="en-US" i="1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Demonstrate expertise in complex decision making in relation to their current role</a:t>
            </a:r>
          </a:p>
          <a:p>
            <a:pPr lvl="1">
              <a:buFont typeface="Arial"/>
              <a:buChar char="•"/>
            </a:pP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Includes determining what to include in the decision making process, and making a decision based on judgment and critical thinking/problem solving</a:t>
            </a:r>
          </a:p>
          <a:p>
            <a:pPr lvl="1">
              <a:buFont typeface="Arial"/>
              <a:buChar char="•"/>
            </a:pP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In turn affects the ability to practice autonomously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 smtClean="0">
                <a:latin typeface="Century Gothic"/>
                <a:cs typeface="Century Gothic"/>
              </a:rPr>
              <a:t>Underpinning Principles of Advanced Practice                        </a:t>
            </a:r>
            <a:r>
              <a:rPr lang="en-US" sz="1400" b="1" dirty="0" smtClean="0">
                <a:latin typeface="Century Gothic"/>
                <a:cs typeface="Century Gothic"/>
              </a:rPr>
              <a:t>Adapted from NES (2007) 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Century Gothic"/>
                <a:cs typeface="Century Gothic"/>
              </a:rPr>
              <a:t>Values Based Care </a:t>
            </a: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At this level of practice ….a high level of awareness of their own values and beliefs</a:t>
            </a:r>
          </a:p>
          <a:p>
            <a:pPr lvl="1">
              <a:buFont typeface="Arial"/>
              <a:buChar char="•"/>
            </a:pP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Care is negotiated with patient/</a:t>
            </a:r>
            <a:r>
              <a:rPr lang="en-US" dirty="0" err="1" smtClean="0">
                <a:latin typeface="Century Gothic"/>
                <a:cs typeface="Century Gothic"/>
              </a:rPr>
              <a:t>carers</a:t>
            </a:r>
            <a:r>
              <a:rPr lang="en-US" dirty="0" smtClean="0">
                <a:latin typeface="Century Gothic"/>
                <a:cs typeface="Century Gothic"/>
              </a:rPr>
              <a:t> as an equal partner… ‘Working in a positive and constructive way with difference and diversity’’</a:t>
            </a:r>
          </a:p>
          <a:p>
            <a:pPr lvl="1"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 Putting the values, views and understanding of individual service users and careers at the centre stage</a:t>
            </a:r>
            <a:endParaRPr lang="en-US" i="1" dirty="0" smtClean="0">
              <a:latin typeface="Century Gothic"/>
              <a:cs typeface="Century Gothic"/>
            </a:endParaRPr>
          </a:p>
          <a:p>
            <a:pPr lvl="1">
              <a:buNone/>
            </a:pPr>
            <a:endParaRPr lang="en-US" dirty="0" smtClean="0">
              <a:latin typeface="Century Gothic"/>
              <a:cs typeface="Century Gothic"/>
            </a:endParaRPr>
          </a:p>
          <a:p>
            <a:r>
              <a:rPr lang="en-US" b="1" dirty="0" smtClean="0">
                <a:latin typeface="Century Gothic"/>
                <a:cs typeface="Century Gothic"/>
              </a:rPr>
              <a:t>Improving Practice </a:t>
            </a:r>
            <a:endParaRPr lang="en-US" dirty="0" smtClean="0">
              <a:latin typeface="Century Gothic"/>
              <a:cs typeface="Century Gothic"/>
            </a:endParaRPr>
          </a:p>
          <a:p>
            <a:pPr lvl="1">
              <a:buFont typeface="Arial"/>
              <a:buChar char="•"/>
            </a:pPr>
            <a:r>
              <a:rPr lang="en-US" dirty="0" smtClean="0">
                <a:latin typeface="Century Gothic"/>
                <a:cs typeface="Century Gothic"/>
              </a:rPr>
              <a:t>deliver practice which is evidence based within service, whilst acting as a positive role model that enables change regardless of their “job title”. 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entury Gothic"/>
                <a:cs typeface="Century Gothic"/>
              </a:rPr>
              <a:t>Expectations </a:t>
            </a:r>
            <a:endParaRPr lang="en-GB" dirty="0">
              <a:latin typeface="Century Gothic"/>
              <a:cs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86434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Century Gothic"/>
                <a:cs typeface="Century Gothic"/>
              </a:rPr>
              <a:t>Evolvement </a:t>
            </a:r>
            <a:r>
              <a:rPr lang="en-GB" dirty="0" smtClean="0">
                <a:latin typeface="Century Gothic"/>
                <a:cs typeface="Century Gothic"/>
              </a:rPr>
              <a:t>from </a:t>
            </a:r>
            <a:r>
              <a:rPr lang="en-GB" dirty="0" smtClean="0">
                <a:latin typeface="Century Gothic"/>
                <a:cs typeface="Century Gothic"/>
              </a:rPr>
              <a:t>1</a:t>
            </a:r>
            <a:r>
              <a:rPr lang="en-GB" baseline="30000" dirty="0" smtClean="0">
                <a:latin typeface="Century Gothic"/>
                <a:cs typeface="Century Gothic"/>
              </a:rPr>
              <a:t>st</a:t>
            </a:r>
            <a:r>
              <a:rPr lang="en-GB" dirty="0" smtClean="0">
                <a:latin typeface="Century Gothic"/>
                <a:cs typeface="Century Gothic"/>
              </a:rPr>
              <a:t> level nurse to Advanced level practitioner, from Paramedic to Specialist/Advanced Paramedic 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High expectations – achievable, highly competent educated workforce</a:t>
            </a:r>
          </a:p>
          <a:p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Proven substantive contribution across the sphere of Healthcare delivery and development</a:t>
            </a:r>
          </a:p>
          <a:p>
            <a:pPr>
              <a:buNone/>
            </a:pPr>
            <a:endParaRPr lang="en-GB" dirty="0" smtClean="0">
              <a:latin typeface="Century Gothic"/>
              <a:cs typeface="Century Gothic"/>
            </a:endParaRPr>
          </a:p>
          <a:p>
            <a:r>
              <a:rPr lang="en-GB" dirty="0" smtClean="0">
                <a:latin typeface="Century Gothic"/>
                <a:cs typeface="Century Gothic"/>
              </a:rPr>
              <a:t>Challenges ALP – future vision level develops</a:t>
            </a:r>
          </a:p>
          <a:p>
            <a:pPr>
              <a:buNone/>
            </a:pPr>
            <a:r>
              <a:rPr lang="en-GB" dirty="0" smtClean="0">
                <a:latin typeface="Century Gothic"/>
                <a:cs typeface="Century Gothic"/>
              </a:rPr>
              <a:t>    debate governance and regulation 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600" dirty="0" smtClean="0">
                <a:latin typeface="Century Gothic"/>
                <a:cs typeface="Century Gothic"/>
              </a:rPr>
              <a:t>Advanced </a:t>
            </a:r>
            <a:r>
              <a:rPr lang="en-US" sz="3600" dirty="0" smtClean="0">
                <a:latin typeface="Century Gothic"/>
                <a:cs typeface="Century Gothic"/>
              </a:rPr>
              <a:t>Nursing Practice Roles: Guidance for NHS Boards </a:t>
            </a:r>
          </a:p>
          <a:p>
            <a:r>
              <a:rPr lang="en-US" sz="3600" dirty="0" smtClean="0">
                <a:latin typeface="Century Gothic"/>
                <a:cs typeface="Century Gothic"/>
              </a:rPr>
              <a:t>Advanced Level Practice: Position Statement (2012)</a:t>
            </a:r>
          </a:p>
          <a:p>
            <a:r>
              <a:rPr lang="en-GB" sz="3600" dirty="0">
                <a:latin typeface="Century Gothic"/>
                <a:cs typeface="Century Gothic"/>
              </a:rPr>
              <a:t>NES Advanced practice tool kit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Century Gothic"/>
                <a:cs typeface="Century Gothic"/>
                <a:hlinkClick r:id="rId2"/>
              </a:rPr>
              <a:t>https://www.google.co.uk/?gws_rd=ssl#q=NES+Advanced+practice+tool+kit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Century Gothic"/>
              <a:cs typeface="Century Gothic"/>
            </a:endParaRPr>
          </a:p>
          <a:p>
            <a:r>
              <a:rPr lang="en-US" sz="3600" dirty="0" smtClean="0">
                <a:latin typeface="Century Gothic"/>
                <a:cs typeface="Century Gothic"/>
              </a:rPr>
              <a:t>Scottish </a:t>
            </a:r>
            <a:r>
              <a:rPr lang="en-US" sz="3600" dirty="0" smtClean="0">
                <a:latin typeface="Century Gothic"/>
                <a:cs typeface="Century Gothic"/>
              </a:rPr>
              <a:t>Government. Better Health Better Care (2007)</a:t>
            </a:r>
          </a:p>
          <a:p>
            <a:r>
              <a:rPr lang="en-US" sz="3600" dirty="0" smtClean="0">
                <a:latin typeface="Century Gothic"/>
                <a:cs typeface="Century Gothic"/>
              </a:rPr>
              <a:t>Shifting the balance of care (2009)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3713</TotalTime>
  <Words>1290</Words>
  <Application>Microsoft Office PowerPoint</Application>
  <PresentationFormat>On-screen Show (4:3)</PresentationFormat>
  <Paragraphs>285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Century Gothic</vt:lpstr>
      <vt:lpstr>Adjacency</vt:lpstr>
      <vt:lpstr>Advanced Level Practice </vt:lpstr>
      <vt:lpstr>Session Aim </vt:lpstr>
      <vt:lpstr>Contextual Background</vt:lpstr>
      <vt:lpstr>Contextual Drivers</vt:lpstr>
      <vt:lpstr>Contextual Drivers</vt:lpstr>
      <vt:lpstr>Contextual Drivers</vt:lpstr>
      <vt:lpstr>External and Internal Drivers </vt:lpstr>
      <vt:lpstr>Association of Advance Practice Educators UK </vt:lpstr>
      <vt:lpstr>Current Debates within ALP</vt:lpstr>
      <vt:lpstr>Describing Advanced Practice  </vt:lpstr>
      <vt:lpstr>The Nursing Example </vt:lpstr>
      <vt:lpstr>Paramedic Example </vt:lpstr>
      <vt:lpstr>Wider Professional Issues</vt:lpstr>
      <vt:lpstr>Professional Governance</vt:lpstr>
      <vt:lpstr>Profusion of Titles</vt:lpstr>
      <vt:lpstr>Professional Governance</vt:lpstr>
      <vt:lpstr>Disquiet </vt:lpstr>
      <vt:lpstr>Local Governance….Scotland </vt:lpstr>
      <vt:lpstr>Expertise and Qualifications</vt:lpstr>
      <vt:lpstr>Advanced Level Practice - themes</vt:lpstr>
      <vt:lpstr>4 Pillars </vt:lpstr>
      <vt:lpstr>Advanced Clinical Practice </vt:lpstr>
      <vt:lpstr>Clinical /Professional Leadership </vt:lpstr>
      <vt:lpstr>Facilitating Learning  </vt:lpstr>
      <vt:lpstr>Research and Development </vt:lpstr>
      <vt:lpstr> Underpinning Principles of Advanced Practice                        Adapted from NES (2007)  </vt:lpstr>
      <vt:lpstr>Underpinning Principles of Advanced Practice                          Adapted from NES (2007) </vt:lpstr>
      <vt:lpstr>Underpinning Principles of Advanced Practice                        Adapted from NES (2007) </vt:lpstr>
      <vt:lpstr>Expectations </vt:lpstr>
      <vt:lpstr>References </vt:lpstr>
    </vt:vector>
  </TitlesOfParts>
  <Company>Steamin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Level Practice</dc:title>
  <dc:creator>David Welsh</dc:creator>
  <cp:lastModifiedBy>Cameron, Keith</cp:lastModifiedBy>
  <cp:revision>55</cp:revision>
  <dcterms:created xsi:type="dcterms:W3CDTF">2015-09-27T08:14:25Z</dcterms:created>
  <dcterms:modified xsi:type="dcterms:W3CDTF">2018-12-17T15:43:15Z</dcterms:modified>
</cp:coreProperties>
</file>