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9"/>
  </p:notesMasterIdLst>
  <p:sldIdLst>
    <p:sldId id="256" r:id="rId2"/>
    <p:sldId id="257" r:id="rId3"/>
    <p:sldId id="448" r:id="rId4"/>
    <p:sldId id="449" r:id="rId5"/>
    <p:sldId id="450" r:id="rId6"/>
    <p:sldId id="452" r:id="rId7"/>
    <p:sldId id="453" r:id="rId8"/>
    <p:sldId id="454" r:id="rId9"/>
    <p:sldId id="455" r:id="rId10"/>
    <p:sldId id="456" r:id="rId11"/>
    <p:sldId id="457" r:id="rId12"/>
    <p:sldId id="458" r:id="rId13"/>
    <p:sldId id="459" r:id="rId14"/>
    <p:sldId id="460" r:id="rId15"/>
    <p:sldId id="480" r:id="rId16"/>
    <p:sldId id="462" r:id="rId17"/>
    <p:sldId id="470" r:id="rId18"/>
    <p:sldId id="471" r:id="rId19"/>
    <p:sldId id="472" r:id="rId20"/>
    <p:sldId id="473" r:id="rId21"/>
    <p:sldId id="474" r:id="rId22"/>
    <p:sldId id="475" r:id="rId23"/>
    <p:sldId id="476" r:id="rId24"/>
    <p:sldId id="477" r:id="rId25"/>
    <p:sldId id="478" r:id="rId26"/>
    <p:sldId id="479" r:id="rId27"/>
    <p:sldId id="307" r:id="rId28"/>
  </p:sldIdLst>
  <p:sldSz cx="9144000" cy="6858000" type="screen4x3"/>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23FFB2-092B-4D46-8E32-1926228DC722}" type="doc">
      <dgm:prSet loTypeId="urn:microsoft.com/office/officeart/2005/8/layout/cycle6" loCatId="cycle" qsTypeId="urn:microsoft.com/office/officeart/2005/8/quickstyle/simple5" qsCatId="simple" csTypeId="urn:microsoft.com/office/officeart/2005/8/colors/colorful3" csCatId="colorful" phldr="1"/>
      <dgm:spPr/>
      <dgm:t>
        <a:bodyPr/>
        <a:lstStyle/>
        <a:p>
          <a:endParaRPr lang="en-GB"/>
        </a:p>
      </dgm:t>
    </dgm:pt>
    <dgm:pt modelId="{96884882-E889-4D92-985F-52A56EA10915}">
      <dgm:prSet phldrT="[Text]"/>
      <dgm:spPr/>
      <dgm:t>
        <a:bodyPr/>
        <a:lstStyle/>
        <a:p>
          <a:r>
            <a:rPr lang="en-GB" dirty="0" smtClean="0">
              <a:solidFill>
                <a:schemeClr val="tx1"/>
              </a:solidFill>
            </a:rPr>
            <a:t>Initial Assessment</a:t>
          </a:r>
          <a:endParaRPr lang="en-GB" dirty="0">
            <a:solidFill>
              <a:schemeClr val="tx1"/>
            </a:solidFill>
          </a:endParaRPr>
        </a:p>
      </dgm:t>
    </dgm:pt>
    <dgm:pt modelId="{DB3EA41D-B78A-4DA2-9DF0-E2D913E80C27}" type="parTrans" cxnId="{CACEB5A7-C427-41AE-AC2E-5F249E491985}">
      <dgm:prSet/>
      <dgm:spPr/>
      <dgm:t>
        <a:bodyPr/>
        <a:lstStyle/>
        <a:p>
          <a:endParaRPr lang="en-GB"/>
        </a:p>
      </dgm:t>
    </dgm:pt>
    <dgm:pt modelId="{CCFFEC23-5BE0-489C-85CF-9869EE6028FA}" type="sibTrans" cxnId="{CACEB5A7-C427-41AE-AC2E-5F249E491985}">
      <dgm:prSet/>
      <dgm:spPr/>
      <dgm:t>
        <a:bodyPr/>
        <a:lstStyle/>
        <a:p>
          <a:endParaRPr lang="en-GB"/>
        </a:p>
      </dgm:t>
    </dgm:pt>
    <dgm:pt modelId="{8016A95B-3FE0-4007-A4E9-E506D5490473}">
      <dgm:prSet phldrT="[Text]"/>
      <dgm:spPr/>
      <dgm:t>
        <a:bodyPr/>
        <a:lstStyle/>
        <a:p>
          <a:r>
            <a:rPr lang="en-GB" dirty="0" smtClean="0">
              <a:solidFill>
                <a:schemeClr val="tx1"/>
              </a:solidFill>
            </a:rPr>
            <a:t>Problem</a:t>
          </a:r>
          <a:endParaRPr lang="en-GB" dirty="0">
            <a:solidFill>
              <a:schemeClr val="tx1"/>
            </a:solidFill>
          </a:endParaRPr>
        </a:p>
      </dgm:t>
    </dgm:pt>
    <dgm:pt modelId="{7E9D9B5A-A298-497E-81F8-10DCB5803B6A}" type="parTrans" cxnId="{A100C4F4-6E4E-4FE7-868D-720240745D8A}">
      <dgm:prSet/>
      <dgm:spPr/>
      <dgm:t>
        <a:bodyPr/>
        <a:lstStyle/>
        <a:p>
          <a:endParaRPr lang="en-GB"/>
        </a:p>
      </dgm:t>
    </dgm:pt>
    <dgm:pt modelId="{2D3AF71A-0D0B-4C24-B83A-8222DC2ACE40}" type="sibTrans" cxnId="{A100C4F4-6E4E-4FE7-868D-720240745D8A}">
      <dgm:prSet/>
      <dgm:spPr/>
      <dgm:t>
        <a:bodyPr/>
        <a:lstStyle/>
        <a:p>
          <a:endParaRPr lang="en-GB"/>
        </a:p>
      </dgm:t>
    </dgm:pt>
    <dgm:pt modelId="{B9038883-0A6E-4CC4-9E04-FC6626C2E3ED}">
      <dgm:prSet phldrT="[Text]"/>
      <dgm:spPr/>
      <dgm:t>
        <a:bodyPr/>
        <a:lstStyle/>
        <a:p>
          <a:r>
            <a:rPr lang="en-GB" dirty="0" smtClean="0">
              <a:solidFill>
                <a:schemeClr val="tx1"/>
              </a:solidFill>
            </a:rPr>
            <a:t>Methodology</a:t>
          </a:r>
          <a:endParaRPr lang="en-GB" dirty="0">
            <a:solidFill>
              <a:schemeClr val="tx1"/>
            </a:solidFill>
          </a:endParaRPr>
        </a:p>
      </dgm:t>
    </dgm:pt>
    <dgm:pt modelId="{942B6F63-32E1-44C7-8F17-B8C37C9C1F66}" type="parTrans" cxnId="{19D4D438-8D3F-4BDE-98A3-D15AE64FE79C}">
      <dgm:prSet/>
      <dgm:spPr/>
      <dgm:t>
        <a:bodyPr/>
        <a:lstStyle/>
        <a:p>
          <a:endParaRPr lang="en-GB"/>
        </a:p>
      </dgm:t>
    </dgm:pt>
    <dgm:pt modelId="{6AD7FA3E-38C1-400A-8B79-225508C0B799}" type="sibTrans" cxnId="{19D4D438-8D3F-4BDE-98A3-D15AE64FE79C}">
      <dgm:prSet/>
      <dgm:spPr/>
      <dgm:t>
        <a:bodyPr/>
        <a:lstStyle/>
        <a:p>
          <a:endParaRPr lang="en-GB"/>
        </a:p>
      </dgm:t>
    </dgm:pt>
    <dgm:pt modelId="{83407C8E-99BE-461F-964D-476BC0A363A0}">
      <dgm:prSet phldrT="[Text]"/>
      <dgm:spPr/>
      <dgm:t>
        <a:bodyPr/>
        <a:lstStyle/>
        <a:p>
          <a:r>
            <a:rPr lang="en-GB" dirty="0" smtClean="0">
              <a:solidFill>
                <a:schemeClr val="tx1"/>
              </a:solidFill>
            </a:rPr>
            <a:t>Participants</a:t>
          </a:r>
          <a:endParaRPr lang="en-GB" dirty="0">
            <a:solidFill>
              <a:schemeClr val="tx1"/>
            </a:solidFill>
          </a:endParaRPr>
        </a:p>
      </dgm:t>
    </dgm:pt>
    <dgm:pt modelId="{23C5B1EB-D786-4CFD-8B79-703AC040A270}" type="parTrans" cxnId="{6B1D2DF6-7AE7-4AA7-8640-BCCE810C4F2B}">
      <dgm:prSet/>
      <dgm:spPr/>
      <dgm:t>
        <a:bodyPr/>
        <a:lstStyle/>
        <a:p>
          <a:endParaRPr lang="en-GB"/>
        </a:p>
      </dgm:t>
    </dgm:pt>
    <dgm:pt modelId="{1A0C5375-7101-44A0-835A-6AE992ECF4F7}" type="sibTrans" cxnId="{6B1D2DF6-7AE7-4AA7-8640-BCCE810C4F2B}">
      <dgm:prSet/>
      <dgm:spPr/>
      <dgm:t>
        <a:bodyPr/>
        <a:lstStyle/>
        <a:p>
          <a:endParaRPr lang="en-GB"/>
        </a:p>
      </dgm:t>
    </dgm:pt>
    <dgm:pt modelId="{1228EA89-BD30-4E4C-AC26-AFE357600627}">
      <dgm:prSet phldrT="[Text]"/>
      <dgm:spPr/>
      <dgm:t>
        <a:bodyPr/>
        <a:lstStyle/>
        <a:p>
          <a:r>
            <a:rPr lang="en-GB" dirty="0" smtClean="0">
              <a:solidFill>
                <a:schemeClr val="tx1"/>
              </a:solidFill>
            </a:rPr>
            <a:t>Conclusions</a:t>
          </a:r>
          <a:endParaRPr lang="en-GB" dirty="0">
            <a:solidFill>
              <a:schemeClr val="tx1"/>
            </a:solidFill>
          </a:endParaRPr>
        </a:p>
      </dgm:t>
    </dgm:pt>
    <dgm:pt modelId="{F8E9247A-3C95-4FC8-A228-52D895694A5C}" type="parTrans" cxnId="{A3D21658-6FF5-49D0-AAA9-C683EA51FA26}">
      <dgm:prSet/>
      <dgm:spPr/>
      <dgm:t>
        <a:bodyPr/>
        <a:lstStyle/>
        <a:p>
          <a:endParaRPr lang="en-GB"/>
        </a:p>
      </dgm:t>
    </dgm:pt>
    <dgm:pt modelId="{1EB20EFE-2DD3-417E-9747-0691E6D1A2F8}" type="sibTrans" cxnId="{A3D21658-6FF5-49D0-AAA9-C683EA51FA26}">
      <dgm:prSet/>
      <dgm:spPr/>
      <dgm:t>
        <a:bodyPr/>
        <a:lstStyle/>
        <a:p>
          <a:endParaRPr lang="en-GB"/>
        </a:p>
      </dgm:t>
    </dgm:pt>
    <dgm:pt modelId="{8373A68A-EFC8-440D-8A6C-6F0ED6CD10B3}">
      <dgm:prSet/>
      <dgm:spPr/>
      <dgm:t>
        <a:bodyPr/>
        <a:lstStyle/>
        <a:p>
          <a:r>
            <a:rPr lang="en-GB" dirty="0" smtClean="0">
              <a:solidFill>
                <a:schemeClr val="tx1"/>
              </a:solidFill>
            </a:rPr>
            <a:t>Data Analysis/Results</a:t>
          </a:r>
          <a:endParaRPr lang="en-GB" dirty="0">
            <a:solidFill>
              <a:schemeClr val="tx1"/>
            </a:solidFill>
          </a:endParaRPr>
        </a:p>
      </dgm:t>
    </dgm:pt>
    <dgm:pt modelId="{A3E86D38-E57D-4CA6-A705-60D01F27BF51}" type="parTrans" cxnId="{E88841FE-294F-46E6-AAAC-892630F8EFEE}">
      <dgm:prSet/>
      <dgm:spPr/>
      <dgm:t>
        <a:bodyPr/>
        <a:lstStyle/>
        <a:p>
          <a:endParaRPr lang="en-GB"/>
        </a:p>
      </dgm:t>
    </dgm:pt>
    <dgm:pt modelId="{AE9EC23E-EC2A-4B3B-B091-765F8FA10C8F}" type="sibTrans" cxnId="{E88841FE-294F-46E6-AAAC-892630F8EFEE}">
      <dgm:prSet/>
      <dgm:spPr/>
      <dgm:t>
        <a:bodyPr/>
        <a:lstStyle/>
        <a:p>
          <a:endParaRPr lang="en-GB"/>
        </a:p>
      </dgm:t>
    </dgm:pt>
    <dgm:pt modelId="{7D4B6A4C-1337-465C-86FE-8E0FA40A897A}" type="pres">
      <dgm:prSet presAssocID="{BE23FFB2-092B-4D46-8E32-1926228DC722}" presName="cycle" presStyleCnt="0">
        <dgm:presLayoutVars>
          <dgm:dir/>
          <dgm:resizeHandles val="exact"/>
        </dgm:presLayoutVars>
      </dgm:prSet>
      <dgm:spPr/>
      <dgm:t>
        <a:bodyPr/>
        <a:lstStyle/>
        <a:p>
          <a:endParaRPr lang="en-GB"/>
        </a:p>
      </dgm:t>
    </dgm:pt>
    <dgm:pt modelId="{0534B744-3DBB-4F87-A555-CB543B83F176}" type="pres">
      <dgm:prSet presAssocID="{96884882-E889-4D92-985F-52A56EA10915}" presName="node" presStyleLbl="node1" presStyleIdx="0" presStyleCnt="6">
        <dgm:presLayoutVars>
          <dgm:bulletEnabled val="1"/>
        </dgm:presLayoutVars>
      </dgm:prSet>
      <dgm:spPr/>
      <dgm:t>
        <a:bodyPr/>
        <a:lstStyle/>
        <a:p>
          <a:endParaRPr lang="en-GB"/>
        </a:p>
      </dgm:t>
    </dgm:pt>
    <dgm:pt modelId="{7F2D7833-F1B4-4C41-B351-6E8CA5A2EB52}" type="pres">
      <dgm:prSet presAssocID="{96884882-E889-4D92-985F-52A56EA10915}" presName="spNode" presStyleCnt="0"/>
      <dgm:spPr/>
    </dgm:pt>
    <dgm:pt modelId="{046C8DA8-E073-4F34-ADD5-A40589415ABD}" type="pres">
      <dgm:prSet presAssocID="{CCFFEC23-5BE0-489C-85CF-9869EE6028FA}" presName="sibTrans" presStyleLbl="sibTrans1D1" presStyleIdx="0" presStyleCnt="6"/>
      <dgm:spPr/>
      <dgm:t>
        <a:bodyPr/>
        <a:lstStyle/>
        <a:p>
          <a:endParaRPr lang="en-GB"/>
        </a:p>
      </dgm:t>
    </dgm:pt>
    <dgm:pt modelId="{5EAEB79B-AE31-4F3E-8FEF-D9DC0EA1B101}" type="pres">
      <dgm:prSet presAssocID="{8016A95B-3FE0-4007-A4E9-E506D5490473}" presName="node" presStyleLbl="node1" presStyleIdx="1" presStyleCnt="6">
        <dgm:presLayoutVars>
          <dgm:bulletEnabled val="1"/>
        </dgm:presLayoutVars>
      </dgm:prSet>
      <dgm:spPr/>
      <dgm:t>
        <a:bodyPr/>
        <a:lstStyle/>
        <a:p>
          <a:endParaRPr lang="en-GB"/>
        </a:p>
      </dgm:t>
    </dgm:pt>
    <dgm:pt modelId="{2E4BBEC0-CE86-4449-B1A3-975687962E1D}" type="pres">
      <dgm:prSet presAssocID="{8016A95B-3FE0-4007-A4E9-E506D5490473}" presName="spNode" presStyleCnt="0"/>
      <dgm:spPr/>
    </dgm:pt>
    <dgm:pt modelId="{04F83280-97A6-4A5A-A2F9-FA07A8973E7E}" type="pres">
      <dgm:prSet presAssocID="{2D3AF71A-0D0B-4C24-B83A-8222DC2ACE40}" presName="sibTrans" presStyleLbl="sibTrans1D1" presStyleIdx="1" presStyleCnt="6"/>
      <dgm:spPr/>
      <dgm:t>
        <a:bodyPr/>
        <a:lstStyle/>
        <a:p>
          <a:endParaRPr lang="en-GB"/>
        </a:p>
      </dgm:t>
    </dgm:pt>
    <dgm:pt modelId="{2E6D44F7-7B85-48C3-8077-E9AF65EA2128}" type="pres">
      <dgm:prSet presAssocID="{B9038883-0A6E-4CC4-9E04-FC6626C2E3ED}" presName="node" presStyleLbl="node1" presStyleIdx="2" presStyleCnt="6">
        <dgm:presLayoutVars>
          <dgm:bulletEnabled val="1"/>
        </dgm:presLayoutVars>
      </dgm:prSet>
      <dgm:spPr/>
      <dgm:t>
        <a:bodyPr/>
        <a:lstStyle/>
        <a:p>
          <a:endParaRPr lang="en-GB"/>
        </a:p>
      </dgm:t>
    </dgm:pt>
    <dgm:pt modelId="{9FA7BAA1-2C31-42A4-847C-29038793E7DD}" type="pres">
      <dgm:prSet presAssocID="{B9038883-0A6E-4CC4-9E04-FC6626C2E3ED}" presName="spNode" presStyleCnt="0"/>
      <dgm:spPr/>
    </dgm:pt>
    <dgm:pt modelId="{D4B7756C-29F1-45C1-8E70-190149736076}" type="pres">
      <dgm:prSet presAssocID="{6AD7FA3E-38C1-400A-8B79-225508C0B799}" presName="sibTrans" presStyleLbl="sibTrans1D1" presStyleIdx="2" presStyleCnt="6"/>
      <dgm:spPr/>
      <dgm:t>
        <a:bodyPr/>
        <a:lstStyle/>
        <a:p>
          <a:endParaRPr lang="en-GB"/>
        </a:p>
      </dgm:t>
    </dgm:pt>
    <dgm:pt modelId="{B76CC645-ACC6-4FB0-BB9A-DF67608DC2D8}" type="pres">
      <dgm:prSet presAssocID="{83407C8E-99BE-461F-964D-476BC0A363A0}" presName="node" presStyleLbl="node1" presStyleIdx="3" presStyleCnt="6">
        <dgm:presLayoutVars>
          <dgm:bulletEnabled val="1"/>
        </dgm:presLayoutVars>
      </dgm:prSet>
      <dgm:spPr/>
      <dgm:t>
        <a:bodyPr/>
        <a:lstStyle/>
        <a:p>
          <a:endParaRPr lang="en-GB"/>
        </a:p>
      </dgm:t>
    </dgm:pt>
    <dgm:pt modelId="{F35F65D0-8A48-4110-A536-FAD07B285F43}" type="pres">
      <dgm:prSet presAssocID="{83407C8E-99BE-461F-964D-476BC0A363A0}" presName="spNode" presStyleCnt="0"/>
      <dgm:spPr/>
    </dgm:pt>
    <dgm:pt modelId="{2D30F536-E649-4D46-85DD-27A1CDC806F2}" type="pres">
      <dgm:prSet presAssocID="{1A0C5375-7101-44A0-835A-6AE992ECF4F7}" presName="sibTrans" presStyleLbl="sibTrans1D1" presStyleIdx="3" presStyleCnt="6"/>
      <dgm:spPr/>
      <dgm:t>
        <a:bodyPr/>
        <a:lstStyle/>
        <a:p>
          <a:endParaRPr lang="en-GB"/>
        </a:p>
      </dgm:t>
    </dgm:pt>
    <dgm:pt modelId="{9DA12DDF-02DE-4C8C-9626-240EEE33D402}" type="pres">
      <dgm:prSet presAssocID="{8373A68A-EFC8-440D-8A6C-6F0ED6CD10B3}" presName="node" presStyleLbl="node1" presStyleIdx="4" presStyleCnt="6">
        <dgm:presLayoutVars>
          <dgm:bulletEnabled val="1"/>
        </dgm:presLayoutVars>
      </dgm:prSet>
      <dgm:spPr/>
      <dgm:t>
        <a:bodyPr/>
        <a:lstStyle/>
        <a:p>
          <a:endParaRPr lang="en-GB"/>
        </a:p>
      </dgm:t>
    </dgm:pt>
    <dgm:pt modelId="{FB241A56-11DE-4262-9186-7C5073609AE1}" type="pres">
      <dgm:prSet presAssocID="{8373A68A-EFC8-440D-8A6C-6F0ED6CD10B3}" presName="spNode" presStyleCnt="0"/>
      <dgm:spPr/>
    </dgm:pt>
    <dgm:pt modelId="{589E860F-9468-4BF2-9485-FBB7BB796932}" type="pres">
      <dgm:prSet presAssocID="{AE9EC23E-EC2A-4B3B-B091-765F8FA10C8F}" presName="sibTrans" presStyleLbl="sibTrans1D1" presStyleIdx="4" presStyleCnt="6"/>
      <dgm:spPr/>
      <dgm:t>
        <a:bodyPr/>
        <a:lstStyle/>
        <a:p>
          <a:endParaRPr lang="en-GB"/>
        </a:p>
      </dgm:t>
    </dgm:pt>
    <dgm:pt modelId="{F0247796-2E1E-4752-94EC-954322ED58F3}" type="pres">
      <dgm:prSet presAssocID="{1228EA89-BD30-4E4C-AC26-AFE357600627}" presName="node" presStyleLbl="node1" presStyleIdx="5" presStyleCnt="6">
        <dgm:presLayoutVars>
          <dgm:bulletEnabled val="1"/>
        </dgm:presLayoutVars>
      </dgm:prSet>
      <dgm:spPr/>
      <dgm:t>
        <a:bodyPr/>
        <a:lstStyle/>
        <a:p>
          <a:endParaRPr lang="en-GB"/>
        </a:p>
      </dgm:t>
    </dgm:pt>
    <dgm:pt modelId="{A9B06360-C828-422C-A3C8-DD4846DEE83D}" type="pres">
      <dgm:prSet presAssocID="{1228EA89-BD30-4E4C-AC26-AFE357600627}" presName="spNode" presStyleCnt="0"/>
      <dgm:spPr/>
    </dgm:pt>
    <dgm:pt modelId="{75C6868E-3263-4CC9-9167-1892760F84CF}" type="pres">
      <dgm:prSet presAssocID="{1EB20EFE-2DD3-417E-9747-0691E6D1A2F8}" presName="sibTrans" presStyleLbl="sibTrans1D1" presStyleIdx="5" presStyleCnt="6"/>
      <dgm:spPr/>
      <dgm:t>
        <a:bodyPr/>
        <a:lstStyle/>
        <a:p>
          <a:endParaRPr lang="en-GB"/>
        </a:p>
      </dgm:t>
    </dgm:pt>
  </dgm:ptLst>
  <dgm:cxnLst>
    <dgm:cxn modelId="{81B3148E-2B98-4B21-B83F-694E24CAF210}" type="presOf" srcId="{6AD7FA3E-38C1-400A-8B79-225508C0B799}" destId="{D4B7756C-29F1-45C1-8E70-190149736076}" srcOrd="0" destOrd="0" presId="urn:microsoft.com/office/officeart/2005/8/layout/cycle6"/>
    <dgm:cxn modelId="{CACEB5A7-C427-41AE-AC2E-5F249E491985}" srcId="{BE23FFB2-092B-4D46-8E32-1926228DC722}" destId="{96884882-E889-4D92-985F-52A56EA10915}" srcOrd="0" destOrd="0" parTransId="{DB3EA41D-B78A-4DA2-9DF0-E2D913E80C27}" sibTransId="{CCFFEC23-5BE0-489C-85CF-9869EE6028FA}"/>
    <dgm:cxn modelId="{A3D21658-6FF5-49D0-AAA9-C683EA51FA26}" srcId="{BE23FFB2-092B-4D46-8E32-1926228DC722}" destId="{1228EA89-BD30-4E4C-AC26-AFE357600627}" srcOrd="5" destOrd="0" parTransId="{F8E9247A-3C95-4FC8-A228-52D895694A5C}" sibTransId="{1EB20EFE-2DD3-417E-9747-0691E6D1A2F8}"/>
    <dgm:cxn modelId="{45E78E09-3A4D-4AFF-AE42-8B0F5EA9C582}" type="presOf" srcId="{2D3AF71A-0D0B-4C24-B83A-8222DC2ACE40}" destId="{04F83280-97A6-4A5A-A2F9-FA07A8973E7E}" srcOrd="0" destOrd="0" presId="urn:microsoft.com/office/officeart/2005/8/layout/cycle6"/>
    <dgm:cxn modelId="{1A2D9A86-D70B-4199-8290-1F2EC17CE373}" type="presOf" srcId="{1228EA89-BD30-4E4C-AC26-AFE357600627}" destId="{F0247796-2E1E-4752-94EC-954322ED58F3}" srcOrd="0" destOrd="0" presId="urn:microsoft.com/office/officeart/2005/8/layout/cycle6"/>
    <dgm:cxn modelId="{841A2CED-989D-4DD3-8CDC-3E5A2311057B}" type="presOf" srcId="{B9038883-0A6E-4CC4-9E04-FC6626C2E3ED}" destId="{2E6D44F7-7B85-48C3-8077-E9AF65EA2128}" srcOrd="0" destOrd="0" presId="urn:microsoft.com/office/officeart/2005/8/layout/cycle6"/>
    <dgm:cxn modelId="{EE97BE92-D346-4D32-9FB6-4046D98E7B96}" type="presOf" srcId="{96884882-E889-4D92-985F-52A56EA10915}" destId="{0534B744-3DBB-4F87-A555-CB543B83F176}" srcOrd="0" destOrd="0" presId="urn:microsoft.com/office/officeart/2005/8/layout/cycle6"/>
    <dgm:cxn modelId="{E88841FE-294F-46E6-AAAC-892630F8EFEE}" srcId="{BE23FFB2-092B-4D46-8E32-1926228DC722}" destId="{8373A68A-EFC8-440D-8A6C-6F0ED6CD10B3}" srcOrd="4" destOrd="0" parTransId="{A3E86D38-E57D-4CA6-A705-60D01F27BF51}" sibTransId="{AE9EC23E-EC2A-4B3B-B091-765F8FA10C8F}"/>
    <dgm:cxn modelId="{A619992F-0693-4AC7-BC5E-31937B5E0638}" type="presOf" srcId="{83407C8E-99BE-461F-964D-476BC0A363A0}" destId="{B76CC645-ACC6-4FB0-BB9A-DF67608DC2D8}" srcOrd="0" destOrd="0" presId="urn:microsoft.com/office/officeart/2005/8/layout/cycle6"/>
    <dgm:cxn modelId="{6B1D2DF6-7AE7-4AA7-8640-BCCE810C4F2B}" srcId="{BE23FFB2-092B-4D46-8E32-1926228DC722}" destId="{83407C8E-99BE-461F-964D-476BC0A363A0}" srcOrd="3" destOrd="0" parTransId="{23C5B1EB-D786-4CFD-8B79-703AC040A270}" sibTransId="{1A0C5375-7101-44A0-835A-6AE992ECF4F7}"/>
    <dgm:cxn modelId="{19D4D438-8D3F-4BDE-98A3-D15AE64FE79C}" srcId="{BE23FFB2-092B-4D46-8E32-1926228DC722}" destId="{B9038883-0A6E-4CC4-9E04-FC6626C2E3ED}" srcOrd="2" destOrd="0" parTransId="{942B6F63-32E1-44C7-8F17-B8C37C9C1F66}" sibTransId="{6AD7FA3E-38C1-400A-8B79-225508C0B799}"/>
    <dgm:cxn modelId="{4C344786-1208-40E5-B0DD-4D0A32266E6F}" type="presOf" srcId="{8373A68A-EFC8-440D-8A6C-6F0ED6CD10B3}" destId="{9DA12DDF-02DE-4C8C-9626-240EEE33D402}" srcOrd="0" destOrd="0" presId="urn:microsoft.com/office/officeart/2005/8/layout/cycle6"/>
    <dgm:cxn modelId="{667F037A-BFD7-4C1E-8891-0C3D2D0B59D2}" type="presOf" srcId="{1A0C5375-7101-44A0-835A-6AE992ECF4F7}" destId="{2D30F536-E649-4D46-85DD-27A1CDC806F2}" srcOrd="0" destOrd="0" presId="urn:microsoft.com/office/officeart/2005/8/layout/cycle6"/>
    <dgm:cxn modelId="{D9A38805-F57E-43B1-B5BC-6A3BE94E7B50}" type="presOf" srcId="{BE23FFB2-092B-4D46-8E32-1926228DC722}" destId="{7D4B6A4C-1337-465C-86FE-8E0FA40A897A}" srcOrd="0" destOrd="0" presId="urn:microsoft.com/office/officeart/2005/8/layout/cycle6"/>
    <dgm:cxn modelId="{A100C4F4-6E4E-4FE7-868D-720240745D8A}" srcId="{BE23FFB2-092B-4D46-8E32-1926228DC722}" destId="{8016A95B-3FE0-4007-A4E9-E506D5490473}" srcOrd="1" destOrd="0" parTransId="{7E9D9B5A-A298-497E-81F8-10DCB5803B6A}" sibTransId="{2D3AF71A-0D0B-4C24-B83A-8222DC2ACE40}"/>
    <dgm:cxn modelId="{7E41412E-85DE-45A7-B090-5A65D6831C69}" type="presOf" srcId="{CCFFEC23-5BE0-489C-85CF-9869EE6028FA}" destId="{046C8DA8-E073-4F34-ADD5-A40589415ABD}" srcOrd="0" destOrd="0" presId="urn:microsoft.com/office/officeart/2005/8/layout/cycle6"/>
    <dgm:cxn modelId="{7D7D10D8-FCE8-4909-9120-0D0340FF2119}" type="presOf" srcId="{8016A95B-3FE0-4007-A4E9-E506D5490473}" destId="{5EAEB79B-AE31-4F3E-8FEF-D9DC0EA1B101}" srcOrd="0" destOrd="0" presId="urn:microsoft.com/office/officeart/2005/8/layout/cycle6"/>
    <dgm:cxn modelId="{A9087173-D75A-403E-A49F-16DD75CF9178}" type="presOf" srcId="{AE9EC23E-EC2A-4B3B-B091-765F8FA10C8F}" destId="{589E860F-9468-4BF2-9485-FBB7BB796932}" srcOrd="0" destOrd="0" presId="urn:microsoft.com/office/officeart/2005/8/layout/cycle6"/>
    <dgm:cxn modelId="{76705A40-0A26-4145-AAFE-F7C2EE6B4EBE}" type="presOf" srcId="{1EB20EFE-2DD3-417E-9747-0691E6D1A2F8}" destId="{75C6868E-3263-4CC9-9167-1892760F84CF}" srcOrd="0" destOrd="0" presId="urn:microsoft.com/office/officeart/2005/8/layout/cycle6"/>
    <dgm:cxn modelId="{57618D00-44EC-4F61-BA96-EF70A3CF180E}" type="presParOf" srcId="{7D4B6A4C-1337-465C-86FE-8E0FA40A897A}" destId="{0534B744-3DBB-4F87-A555-CB543B83F176}" srcOrd="0" destOrd="0" presId="urn:microsoft.com/office/officeart/2005/8/layout/cycle6"/>
    <dgm:cxn modelId="{D38E7CE0-0261-4F98-8F2E-ACAB6A5EC33B}" type="presParOf" srcId="{7D4B6A4C-1337-465C-86FE-8E0FA40A897A}" destId="{7F2D7833-F1B4-4C41-B351-6E8CA5A2EB52}" srcOrd="1" destOrd="0" presId="urn:microsoft.com/office/officeart/2005/8/layout/cycle6"/>
    <dgm:cxn modelId="{6823F49B-22A9-4E40-B6D9-332F379208AC}" type="presParOf" srcId="{7D4B6A4C-1337-465C-86FE-8E0FA40A897A}" destId="{046C8DA8-E073-4F34-ADD5-A40589415ABD}" srcOrd="2" destOrd="0" presId="urn:microsoft.com/office/officeart/2005/8/layout/cycle6"/>
    <dgm:cxn modelId="{67CA7088-F31D-42A4-AD6E-76761D9F38FB}" type="presParOf" srcId="{7D4B6A4C-1337-465C-86FE-8E0FA40A897A}" destId="{5EAEB79B-AE31-4F3E-8FEF-D9DC0EA1B101}" srcOrd="3" destOrd="0" presId="urn:microsoft.com/office/officeart/2005/8/layout/cycle6"/>
    <dgm:cxn modelId="{D283297B-F3BF-4A38-AFBA-09C3A92DAD92}" type="presParOf" srcId="{7D4B6A4C-1337-465C-86FE-8E0FA40A897A}" destId="{2E4BBEC0-CE86-4449-B1A3-975687962E1D}" srcOrd="4" destOrd="0" presId="urn:microsoft.com/office/officeart/2005/8/layout/cycle6"/>
    <dgm:cxn modelId="{B391D3BB-1F34-402C-A4C0-C00EAF1CA69E}" type="presParOf" srcId="{7D4B6A4C-1337-465C-86FE-8E0FA40A897A}" destId="{04F83280-97A6-4A5A-A2F9-FA07A8973E7E}" srcOrd="5" destOrd="0" presId="urn:microsoft.com/office/officeart/2005/8/layout/cycle6"/>
    <dgm:cxn modelId="{721BC2F9-EBB7-44C8-B624-DAD22FC846C4}" type="presParOf" srcId="{7D4B6A4C-1337-465C-86FE-8E0FA40A897A}" destId="{2E6D44F7-7B85-48C3-8077-E9AF65EA2128}" srcOrd="6" destOrd="0" presId="urn:microsoft.com/office/officeart/2005/8/layout/cycle6"/>
    <dgm:cxn modelId="{67A3D9B0-0736-4E64-90A7-C3BD04F4E20A}" type="presParOf" srcId="{7D4B6A4C-1337-465C-86FE-8E0FA40A897A}" destId="{9FA7BAA1-2C31-42A4-847C-29038793E7DD}" srcOrd="7" destOrd="0" presId="urn:microsoft.com/office/officeart/2005/8/layout/cycle6"/>
    <dgm:cxn modelId="{6E1DA0E7-9450-4E87-9285-47518DA9EB95}" type="presParOf" srcId="{7D4B6A4C-1337-465C-86FE-8E0FA40A897A}" destId="{D4B7756C-29F1-45C1-8E70-190149736076}" srcOrd="8" destOrd="0" presId="urn:microsoft.com/office/officeart/2005/8/layout/cycle6"/>
    <dgm:cxn modelId="{17BD6265-2398-442D-9387-37EC49BACC55}" type="presParOf" srcId="{7D4B6A4C-1337-465C-86FE-8E0FA40A897A}" destId="{B76CC645-ACC6-4FB0-BB9A-DF67608DC2D8}" srcOrd="9" destOrd="0" presId="urn:microsoft.com/office/officeart/2005/8/layout/cycle6"/>
    <dgm:cxn modelId="{55EC6F86-D146-4A9A-9D9F-D66E97951C96}" type="presParOf" srcId="{7D4B6A4C-1337-465C-86FE-8E0FA40A897A}" destId="{F35F65D0-8A48-4110-A536-FAD07B285F43}" srcOrd="10" destOrd="0" presId="urn:microsoft.com/office/officeart/2005/8/layout/cycle6"/>
    <dgm:cxn modelId="{9D4C889B-4C9B-43DC-B531-928C2584BAF8}" type="presParOf" srcId="{7D4B6A4C-1337-465C-86FE-8E0FA40A897A}" destId="{2D30F536-E649-4D46-85DD-27A1CDC806F2}" srcOrd="11" destOrd="0" presId="urn:microsoft.com/office/officeart/2005/8/layout/cycle6"/>
    <dgm:cxn modelId="{241F1115-FE5F-410D-A44F-E9596EA79DA6}" type="presParOf" srcId="{7D4B6A4C-1337-465C-86FE-8E0FA40A897A}" destId="{9DA12DDF-02DE-4C8C-9626-240EEE33D402}" srcOrd="12" destOrd="0" presId="urn:microsoft.com/office/officeart/2005/8/layout/cycle6"/>
    <dgm:cxn modelId="{88206607-4FC4-4628-8F3C-4B43E225257A}" type="presParOf" srcId="{7D4B6A4C-1337-465C-86FE-8E0FA40A897A}" destId="{FB241A56-11DE-4262-9186-7C5073609AE1}" srcOrd="13" destOrd="0" presId="urn:microsoft.com/office/officeart/2005/8/layout/cycle6"/>
    <dgm:cxn modelId="{A68A4F5C-AB78-4656-882B-3D9EC4FABD2D}" type="presParOf" srcId="{7D4B6A4C-1337-465C-86FE-8E0FA40A897A}" destId="{589E860F-9468-4BF2-9485-FBB7BB796932}" srcOrd="14" destOrd="0" presId="urn:microsoft.com/office/officeart/2005/8/layout/cycle6"/>
    <dgm:cxn modelId="{7787441A-91DF-4C4E-AFD5-534FEF31B13F}" type="presParOf" srcId="{7D4B6A4C-1337-465C-86FE-8E0FA40A897A}" destId="{F0247796-2E1E-4752-94EC-954322ED58F3}" srcOrd="15" destOrd="0" presId="urn:microsoft.com/office/officeart/2005/8/layout/cycle6"/>
    <dgm:cxn modelId="{B17FDE10-8C48-49F1-8FF8-66E8541D5997}" type="presParOf" srcId="{7D4B6A4C-1337-465C-86FE-8E0FA40A897A}" destId="{A9B06360-C828-422C-A3C8-DD4846DEE83D}" srcOrd="16" destOrd="0" presId="urn:microsoft.com/office/officeart/2005/8/layout/cycle6"/>
    <dgm:cxn modelId="{296AF2A9-7C6C-4A97-BD06-B9B7CB9CBDA5}" type="presParOf" srcId="{7D4B6A4C-1337-465C-86FE-8E0FA40A897A}" destId="{75C6868E-3263-4CC9-9167-1892760F84CF}" srcOrd="1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53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645" y="0"/>
            <a:ext cx="2944283" cy="495300"/>
          </a:xfrm>
          <a:prstGeom prst="rect">
            <a:avLst/>
          </a:prstGeom>
        </p:spPr>
        <p:txBody>
          <a:bodyPr vert="horz" lIns="91440" tIns="45720" rIns="91440" bIns="45720" rtlCol="0"/>
          <a:lstStyle>
            <a:lvl1pPr algn="r">
              <a:defRPr sz="1200"/>
            </a:lvl1pPr>
          </a:lstStyle>
          <a:p>
            <a:fld id="{418DA6CF-7107-47D2-9369-C4BE035A18CD}" type="datetimeFigureOut">
              <a:rPr lang="en-GB" smtClean="0"/>
              <a:t>26/10/2018</a:t>
            </a:fld>
            <a:endParaRPr lang="en-GB"/>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05350"/>
            <a:ext cx="5435600" cy="44577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08981"/>
            <a:ext cx="2944283" cy="4953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645" y="9408981"/>
            <a:ext cx="2944283" cy="495300"/>
          </a:xfrm>
          <a:prstGeom prst="rect">
            <a:avLst/>
          </a:prstGeom>
        </p:spPr>
        <p:txBody>
          <a:bodyPr vert="horz" lIns="91440" tIns="45720" rIns="91440" bIns="45720" rtlCol="0" anchor="b"/>
          <a:lstStyle>
            <a:lvl1pPr algn="r">
              <a:defRPr sz="1200"/>
            </a:lvl1pPr>
          </a:lstStyle>
          <a:p>
            <a:fld id="{647B1565-61AF-46AA-9B0D-197B4AD37A1B}" type="slidenum">
              <a:rPr lang="en-GB" smtClean="0"/>
              <a:t>‹#›</a:t>
            </a:fld>
            <a:endParaRPr lang="en-GB"/>
          </a:p>
        </p:txBody>
      </p:sp>
    </p:spTree>
    <p:extLst>
      <p:ext uri="{BB962C8B-B14F-4D97-AF65-F5344CB8AC3E}">
        <p14:creationId xmlns:p14="http://schemas.microsoft.com/office/powerpoint/2010/main" val="1172019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0CB5BF-4838-4F59-8468-2C0DC6D2D9B6}" type="slidenum">
              <a:rPr lang="en-GB" smtClean="0"/>
              <a:t>5</a:t>
            </a:fld>
            <a:endParaRPr lang="en-GB"/>
          </a:p>
        </p:txBody>
      </p:sp>
    </p:spTree>
    <p:extLst>
      <p:ext uri="{BB962C8B-B14F-4D97-AF65-F5344CB8AC3E}">
        <p14:creationId xmlns:p14="http://schemas.microsoft.com/office/powerpoint/2010/main" val="648117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9092" indent="-288112">
              <a:defRPr sz="2400">
                <a:solidFill>
                  <a:schemeClr val="tx1"/>
                </a:solidFill>
                <a:latin typeface="Times" charset="0"/>
              </a:defRPr>
            </a:lvl2pPr>
            <a:lvl3pPr marL="1152450" indent="-230490">
              <a:defRPr sz="2400">
                <a:solidFill>
                  <a:schemeClr val="tx1"/>
                </a:solidFill>
                <a:latin typeface="Times" charset="0"/>
              </a:defRPr>
            </a:lvl3pPr>
            <a:lvl4pPr marL="1613430" indent="-230490">
              <a:defRPr sz="2400">
                <a:solidFill>
                  <a:schemeClr val="tx1"/>
                </a:solidFill>
                <a:latin typeface="Times" charset="0"/>
              </a:defRPr>
            </a:lvl4pPr>
            <a:lvl5pPr marL="2074410" indent="-230490">
              <a:defRPr sz="2400">
                <a:solidFill>
                  <a:schemeClr val="tx1"/>
                </a:solidFill>
                <a:latin typeface="Times" charset="0"/>
              </a:defRPr>
            </a:lvl5pPr>
            <a:lvl6pPr marL="2535390" indent="-230490" eaLnBrk="0" fontAlgn="base" hangingPunct="0">
              <a:spcBef>
                <a:spcPct val="0"/>
              </a:spcBef>
              <a:spcAft>
                <a:spcPct val="0"/>
              </a:spcAft>
              <a:defRPr sz="2400">
                <a:solidFill>
                  <a:schemeClr val="tx1"/>
                </a:solidFill>
                <a:latin typeface="Times" charset="0"/>
              </a:defRPr>
            </a:lvl6pPr>
            <a:lvl7pPr marL="2996370" indent="-230490" eaLnBrk="0" fontAlgn="base" hangingPunct="0">
              <a:spcBef>
                <a:spcPct val="0"/>
              </a:spcBef>
              <a:spcAft>
                <a:spcPct val="0"/>
              </a:spcAft>
              <a:defRPr sz="2400">
                <a:solidFill>
                  <a:schemeClr val="tx1"/>
                </a:solidFill>
                <a:latin typeface="Times" charset="0"/>
              </a:defRPr>
            </a:lvl7pPr>
            <a:lvl8pPr marL="3457350" indent="-230490" eaLnBrk="0" fontAlgn="base" hangingPunct="0">
              <a:spcBef>
                <a:spcPct val="0"/>
              </a:spcBef>
              <a:spcAft>
                <a:spcPct val="0"/>
              </a:spcAft>
              <a:defRPr sz="2400">
                <a:solidFill>
                  <a:schemeClr val="tx1"/>
                </a:solidFill>
                <a:latin typeface="Times" charset="0"/>
              </a:defRPr>
            </a:lvl8pPr>
            <a:lvl9pPr marL="3918330" indent="-230490" eaLnBrk="0" fontAlgn="base" hangingPunct="0">
              <a:spcBef>
                <a:spcPct val="0"/>
              </a:spcBef>
              <a:spcAft>
                <a:spcPct val="0"/>
              </a:spcAft>
              <a:defRPr sz="2400">
                <a:solidFill>
                  <a:schemeClr val="tx1"/>
                </a:solidFill>
                <a:latin typeface="Times" charset="0"/>
              </a:defRPr>
            </a:lvl9pPr>
          </a:lstStyle>
          <a:p>
            <a:fld id="{67B6D855-00FF-43FA-8FBA-6E6227798D9B}" type="slidenum">
              <a:rPr lang="en-GB" altLang="en-US" sz="1200"/>
              <a:pPr/>
              <a:t>11</a:t>
            </a:fld>
            <a:endParaRPr lang="en-GB" altLang="en-US" sz="1200"/>
          </a:p>
        </p:txBody>
      </p:sp>
    </p:spTree>
    <p:extLst>
      <p:ext uri="{BB962C8B-B14F-4D97-AF65-F5344CB8AC3E}">
        <p14:creationId xmlns:p14="http://schemas.microsoft.com/office/powerpoint/2010/main" val="1622963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spcAft>
                <a:spcPct val="20000"/>
              </a:spcAft>
            </a:pPr>
            <a:endParaRPr lang="en-GB" altLang="en-US" smtClean="0"/>
          </a:p>
        </p:txBody>
      </p:sp>
    </p:spTree>
    <p:extLst>
      <p:ext uri="{BB962C8B-B14F-4D97-AF65-F5344CB8AC3E}">
        <p14:creationId xmlns:p14="http://schemas.microsoft.com/office/powerpoint/2010/main" val="262622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9092" indent="-288112">
              <a:defRPr sz="2400">
                <a:solidFill>
                  <a:schemeClr val="tx1"/>
                </a:solidFill>
                <a:latin typeface="Times" charset="0"/>
              </a:defRPr>
            </a:lvl2pPr>
            <a:lvl3pPr marL="1152450" indent="-230490">
              <a:defRPr sz="2400">
                <a:solidFill>
                  <a:schemeClr val="tx1"/>
                </a:solidFill>
                <a:latin typeface="Times" charset="0"/>
              </a:defRPr>
            </a:lvl3pPr>
            <a:lvl4pPr marL="1613430" indent="-230490">
              <a:defRPr sz="2400">
                <a:solidFill>
                  <a:schemeClr val="tx1"/>
                </a:solidFill>
                <a:latin typeface="Times" charset="0"/>
              </a:defRPr>
            </a:lvl4pPr>
            <a:lvl5pPr marL="2074410" indent="-230490">
              <a:defRPr sz="2400">
                <a:solidFill>
                  <a:schemeClr val="tx1"/>
                </a:solidFill>
                <a:latin typeface="Times" charset="0"/>
              </a:defRPr>
            </a:lvl5pPr>
            <a:lvl6pPr marL="2535390" indent="-230490" eaLnBrk="0" fontAlgn="base" hangingPunct="0">
              <a:spcBef>
                <a:spcPct val="0"/>
              </a:spcBef>
              <a:spcAft>
                <a:spcPct val="0"/>
              </a:spcAft>
              <a:defRPr sz="2400">
                <a:solidFill>
                  <a:schemeClr val="tx1"/>
                </a:solidFill>
                <a:latin typeface="Times" charset="0"/>
              </a:defRPr>
            </a:lvl6pPr>
            <a:lvl7pPr marL="2996370" indent="-230490" eaLnBrk="0" fontAlgn="base" hangingPunct="0">
              <a:spcBef>
                <a:spcPct val="0"/>
              </a:spcBef>
              <a:spcAft>
                <a:spcPct val="0"/>
              </a:spcAft>
              <a:defRPr sz="2400">
                <a:solidFill>
                  <a:schemeClr val="tx1"/>
                </a:solidFill>
                <a:latin typeface="Times" charset="0"/>
              </a:defRPr>
            </a:lvl7pPr>
            <a:lvl8pPr marL="3457350" indent="-230490" eaLnBrk="0" fontAlgn="base" hangingPunct="0">
              <a:spcBef>
                <a:spcPct val="0"/>
              </a:spcBef>
              <a:spcAft>
                <a:spcPct val="0"/>
              </a:spcAft>
              <a:defRPr sz="2400">
                <a:solidFill>
                  <a:schemeClr val="tx1"/>
                </a:solidFill>
                <a:latin typeface="Times" charset="0"/>
              </a:defRPr>
            </a:lvl8pPr>
            <a:lvl9pPr marL="3918330" indent="-230490" eaLnBrk="0" fontAlgn="base" hangingPunct="0">
              <a:spcBef>
                <a:spcPct val="0"/>
              </a:spcBef>
              <a:spcAft>
                <a:spcPct val="0"/>
              </a:spcAft>
              <a:defRPr sz="2400">
                <a:solidFill>
                  <a:schemeClr val="tx1"/>
                </a:solidFill>
                <a:latin typeface="Times" charset="0"/>
              </a:defRPr>
            </a:lvl9pPr>
          </a:lstStyle>
          <a:p>
            <a:fld id="{67B6D855-00FF-43FA-8FBA-6E6227798D9B}" type="slidenum">
              <a:rPr lang="en-GB" altLang="en-US" sz="1200"/>
              <a:pPr/>
              <a:t>13</a:t>
            </a:fld>
            <a:endParaRPr lang="en-GB" altLang="en-US" sz="1200"/>
          </a:p>
        </p:txBody>
      </p:sp>
    </p:spTree>
    <p:extLst>
      <p:ext uri="{BB962C8B-B14F-4D97-AF65-F5344CB8AC3E}">
        <p14:creationId xmlns:p14="http://schemas.microsoft.com/office/powerpoint/2010/main" val="892901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dirty="0" smtClean="0"/>
          </a:p>
        </p:txBody>
      </p:sp>
      <p:sp>
        <p:nvSpPr>
          <p:cNvPr id="4" name="Slide Number Placeholder 3"/>
          <p:cNvSpPr>
            <a:spLocks noGrp="1"/>
          </p:cNvSpPr>
          <p:nvPr>
            <p:ph type="sldNum" sz="quarter" idx="5"/>
          </p:nvPr>
        </p:nvSpPr>
        <p:spPr/>
        <p:txBody>
          <a:bodyPr/>
          <a:lstStyle/>
          <a:p>
            <a:pPr>
              <a:defRPr/>
            </a:pPr>
            <a:fld id="{AF25EE57-553D-4C8C-8941-5BE29F02AF0E}" type="slidenum">
              <a:rPr lang="en-GB" smtClean="0"/>
              <a:pPr>
                <a:defRPr/>
              </a:pPr>
              <a:t>15</a:t>
            </a:fld>
            <a:endParaRPr lang="en-GB"/>
          </a:p>
        </p:txBody>
      </p:sp>
    </p:spTree>
    <p:extLst>
      <p:ext uri="{BB962C8B-B14F-4D97-AF65-F5344CB8AC3E}">
        <p14:creationId xmlns:p14="http://schemas.microsoft.com/office/powerpoint/2010/main" val="23669825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28" name="Date Placeholder 27"/>
          <p:cNvSpPr>
            <a:spLocks noGrp="1"/>
          </p:cNvSpPr>
          <p:nvPr>
            <p:ph type="dt" sz="half" idx="10"/>
          </p:nvPr>
        </p:nvSpPr>
        <p:spPr>
          <a:xfrm>
            <a:off x="6705600" y="4206240"/>
            <a:ext cx="960120" cy="457200"/>
          </a:xfrm>
        </p:spPr>
        <p:txBody>
          <a:bodyPr/>
          <a:lstStyle/>
          <a:p>
            <a:fld id="{B5730397-00AA-4B08-9BB2-18DFF2212D93}" type="datetimeFigureOut">
              <a:rPr lang="en-GB" smtClean="0"/>
              <a:t>26/10/2018</a:t>
            </a:fld>
            <a:endParaRPr lang="en-GB"/>
          </a:p>
        </p:txBody>
      </p:sp>
      <p:sp>
        <p:nvSpPr>
          <p:cNvPr id="17" name="Footer Placeholder 16"/>
          <p:cNvSpPr>
            <a:spLocks noGrp="1"/>
          </p:cNvSpPr>
          <p:nvPr>
            <p:ph type="ftr" sz="quarter" idx="11"/>
          </p:nvPr>
        </p:nvSpPr>
        <p:spPr>
          <a:xfrm>
            <a:off x="5410200" y="4205288"/>
            <a:ext cx="1295400" cy="457200"/>
          </a:xfrm>
        </p:spPr>
        <p:txBody>
          <a:bodyPr/>
          <a:lstStyle/>
          <a:p>
            <a:endParaRPr lang="en-GB"/>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3AD490CA-5B5D-4516-97F7-B6BAE6EA95AB}" type="slidenum">
              <a:rPr lang="en-GB" smtClean="0"/>
              <a:t>‹#›</a:t>
            </a:fld>
            <a:endParaRPr lang="en-GB"/>
          </a:p>
        </p:txBody>
      </p:sp>
      <p:pic>
        <p:nvPicPr>
          <p:cNvPr id="18" name="Picture 2" descr="http://www.gcu.ac.uk/library/SMIRK/images/gcu_200.gif">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79512" y="5445224"/>
            <a:ext cx="1440160" cy="891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26/10/2018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pic>
        <p:nvPicPr>
          <p:cNvPr id="8" name="Picture 2" descr="http://www.gcu.ac.uk/library/SMIRK/images/gcu_200.gif">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1520" y="5589240"/>
            <a:ext cx="1440160" cy="891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5730397-00AA-4B08-9BB2-18DFF2212D93}" type="datetimeFigureOut">
              <a:rPr lang="en-GB" smtClean="0"/>
              <a:t>26/10/2018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5730397-00AA-4B08-9BB2-18DFF2212D93}" type="datetimeFigureOut">
              <a:rPr lang="en-GB" smtClean="0"/>
              <a:t>26/10/2018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B5730397-00AA-4B08-9BB2-18DFF2212D93}" type="datetimeFigureOut">
              <a:rPr lang="en-GB" smtClean="0"/>
              <a:t>26/10/2018</a:t>
            </a:fld>
            <a:endParaRPr lang="en-GB"/>
          </a:p>
        </p:txBody>
      </p:sp>
      <p:sp>
        <p:nvSpPr>
          <p:cNvPr id="27" name="Slide Number Placeholder 26"/>
          <p:cNvSpPr>
            <a:spLocks noGrp="1"/>
          </p:cNvSpPr>
          <p:nvPr>
            <p:ph type="sldNum" sz="quarter" idx="11"/>
          </p:nvPr>
        </p:nvSpPr>
        <p:spPr/>
        <p:txBody>
          <a:bodyPr rtlCol="0"/>
          <a:lstStyle/>
          <a:p>
            <a:fld id="{3AD490CA-5B5D-4516-97F7-B6BAE6EA95AB}" type="slidenum">
              <a:rPr lang="en-GB" smtClean="0"/>
              <a:t>‹#›</a:t>
            </a:fld>
            <a:endParaRPr lang="en-GB"/>
          </a:p>
        </p:txBody>
      </p:sp>
      <p:sp>
        <p:nvSpPr>
          <p:cNvPr id="28" name="Footer Placeholder 27"/>
          <p:cNvSpPr>
            <a:spLocks noGrp="1"/>
          </p:cNvSpPr>
          <p:nvPr>
            <p:ph type="ftr" sz="quarter" idx="12"/>
          </p:nvPr>
        </p:nvSpPr>
        <p:spPr/>
        <p:txBody>
          <a:bodyPr rtlCol="0"/>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B5730397-00AA-4B08-9BB2-18DFF2212D93}" type="datetimeFigureOut">
              <a:rPr lang="en-GB" smtClean="0"/>
              <a:t>26/10/2018</a:t>
            </a:fld>
            <a:endParaRPr lang="en-GB"/>
          </a:p>
        </p:txBody>
      </p:sp>
      <p:sp>
        <p:nvSpPr>
          <p:cNvPr id="4" name="Footer Placeholder 3"/>
          <p:cNvSpPr>
            <a:spLocks noGrp="1"/>
          </p:cNvSpPr>
          <p:nvPr>
            <p:ph type="ftr" sz="quarter" idx="11"/>
          </p:nvPr>
        </p:nvSpPr>
        <p:spPr>
          <a:xfrm>
            <a:off x="5257800" y="612648"/>
            <a:ext cx="1325880" cy="457200"/>
          </a:xfrm>
        </p:spPr>
        <p:txBody>
          <a:bodyPr/>
          <a:lstStyle/>
          <a:p>
            <a:endParaRPr lang="en-GB"/>
          </a:p>
        </p:txBody>
      </p:sp>
      <p:sp>
        <p:nvSpPr>
          <p:cNvPr id="5" name="Slide Number Placeholder 4"/>
          <p:cNvSpPr>
            <a:spLocks noGrp="1"/>
          </p:cNvSpPr>
          <p:nvPr>
            <p:ph type="sldNum" sz="quarter" idx="12"/>
          </p:nvPr>
        </p:nvSpPr>
        <p:spPr>
          <a:xfrm>
            <a:off x="8174736" y="2272"/>
            <a:ext cx="762000" cy="365760"/>
          </a:xfrm>
        </p:spPr>
        <p:txBody>
          <a:bodyPr/>
          <a:lstStyle/>
          <a:p>
            <a:fld id="{3AD490CA-5B5D-4516-97F7-B6BAE6EA95AB}"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730397-00AA-4B08-9BB2-18DFF2212D93}" type="datetimeFigureOut">
              <a:rPr lang="en-GB" smtClean="0"/>
              <a:t>26/10/2018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5730397-00AA-4B08-9BB2-18DFF2212D93}" type="datetimeFigureOut">
              <a:rPr lang="en-GB" smtClean="0"/>
              <a:t>26/10/2018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5730397-00AA-4B08-9BB2-18DFF2212D93}" type="datetimeFigureOut">
              <a:rPr lang="en-GB" smtClean="0"/>
              <a:t>26/10/2018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26/10/2018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5730397-00AA-4B08-9BB2-18DFF2212D93}" type="datetimeFigureOut">
              <a:rPr lang="en-GB" smtClean="0"/>
              <a:t>26/10/2018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AD490CA-5B5D-4516-97F7-B6BAE6EA95AB}"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B5730397-00AA-4B08-9BB2-18DFF2212D93}" type="datetimeFigureOut">
              <a:rPr lang="en-GB" smtClean="0"/>
              <a:t>26/10/2018</a:t>
            </a:fld>
            <a:endParaRPr lang="en-GB"/>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GB"/>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3AD490CA-5B5D-4516-97F7-B6BAE6EA95AB}"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www.google.co.uk/url?sa=i&amp;rct=j&amp;q=&amp;esrc=s&amp;frm=1&amp;source=images&amp;cd=&amp;cad=rja&amp;uact=8&amp;ved=0ahUKEwirhb7VvbDJAhXBPRoKHSjMDcgQjRwIBw&amp;url=http://www.gcu.ac.uk/library/SMIRK/Help_and_feedback.html&amp;psig=AFQjCNF1uQwlZ6pyzMziwXHbVyA4JOJmgA&amp;ust=1448709513353212"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google.co.uk/url?sa=i&amp;rct=j&amp;q=&amp;esrc=s&amp;source=images&amp;cd=&amp;cad=rja&amp;uact=8&amp;ved=0ahUKEwifvqT40pHPAhUBLhQKHbPEAhUQjRwIBw&amp;url=http://www.canstockphoto.com/illustration/news-anchor.html&amp;bvm=bv.132653024,d.ZGg&amp;psig=AFQjCNE_3KA99LyeHFKKvRKtR_d4yA1xWA&amp;ust=147403835023315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istockphoto.com/stock-photo-2585519-little-person-big-pen.php"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www.phrasebank.manchester.ac.uk/being-critical/" TargetMode="External"/><Relationship Id="rId5" Type="http://schemas.openxmlformats.org/officeDocument/2006/relationships/image" Target="../media/image11.pn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www.google.co.uk/url?sa=i&amp;rct=j&amp;q=&amp;esrc=s&amp;source=images&amp;cd=&amp;cad=rja&amp;uact=8&amp;ved=0ahUKEwiWhLWB67DLAhWBdpoKHcNcDMcQjRwIBw&amp;url=http://cliparts.co/post-it-note-png&amp;bvm=bv.116274245,d.d2s&amp;psig=AFQjCNEfLpXUzKYuHs89Q9X-rtboWtZRUA&amp;ust=1457517786431753" TargetMode="External"/><Relationship Id="rId3" Type="http://schemas.openxmlformats.org/officeDocument/2006/relationships/hyperlink" Target="https://www.google.co.uk/url?sa=i&amp;rct=j&amp;q=&amp;esrc=s&amp;source=images&amp;cd=&amp;cad=rja&amp;uact=8&amp;ved=0ahUKEwjR8vbL6rDLAhVKCpoKHZXBCwwQjRwIBw&amp;url=https://www.professorprint.com/design/post-it-notes-colors&amp;bvm=bv.116274245,d.d2s&amp;psig=AFQjCNHdeatORl_PeqfQmdRfA428P4a6ZA&amp;ust=1457517674034468" TargetMode="External"/><Relationship Id="rId7"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3.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ites.google.com/site/ldcgculear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860" y="2276872"/>
            <a:ext cx="8458200" cy="1470025"/>
          </a:xfrm>
        </p:spPr>
        <p:txBody>
          <a:bodyPr>
            <a:normAutofit/>
          </a:bodyPr>
          <a:lstStyle/>
          <a:p>
            <a:r>
              <a:rPr lang="en-GB" dirty="0" smtClean="0"/>
              <a:t>Critical Writing</a:t>
            </a:r>
            <a:endParaRPr lang="en-GB" dirty="0"/>
          </a:p>
        </p:txBody>
      </p:sp>
      <p:sp>
        <p:nvSpPr>
          <p:cNvPr id="3" name="Subtitle 2"/>
          <p:cNvSpPr>
            <a:spLocks noGrp="1"/>
          </p:cNvSpPr>
          <p:nvPr>
            <p:ph type="subTitle" idx="1"/>
          </p:nvPr>
        </p:nvSpPr>
        <p:spPr>
          <a:xfrm>
            <a:off x="162287" y="3853006"/>
            <a:ext cx="4953000" cy="1752600"/>
          </a:xfrm>
        </p:spPr>
        <p:txBody>
          <a:bodyPr>
            <a:normAutofit/>
          </a:bodyPr>
          <a:lstStyle/>
          <a:p>
            <a:r>
              <a:rPr lang="en-GB" sz="2800" dirty="0" smtClean="0"/>
              <a:t>MSc Paramedic Practice</a:t>
            </a:r>
            <a:endParaRPr lang="en-GB" sz="2800" dirty="0"/>
          </a:p>
        </p:txBody>
      </p:sp>
      <p:sp>
        <p:nvSpPr>
          <p:cNvPr id="4" name="Subtitle 2"/>
          <p:cNvSpPr txBox="1">
            <a:spLocks/>
          </p:cNvSpPr>
          <p:nvPr/>
        </p:nvSpPr>
        <p:spPr>
          <a:xfrm>
            <a:off x="2339752" y="5319312"/>
            <a:ext cx="4847632" cy="1040845"/>
          </a:xfrm>
          <a:prstGeom prst="rect">
            <a:avLst/>
          </a:prstGeom>
        </p:spPr>
        <p:txBody>
          <a:bodyPr vert="horz">
            <a:normAutofit/>
          </a:bodyPr>
          <a:lstStyle>
            <a:lvl1pPr marL="0" indent="0" algn="ctr" rtl="0" eaLnBrk="1" latinLnBrk="0" hangingPunct="1">
              <a:spcBef>
                <a:spcPct val="20000"/>
              </a:spcBef>
              <a:buClr>
                <a:schemeClr val="accent1"/>
              </a:buClr>
              <a:buSzPct val="85000"/>
              <a:buFont typeface="Wingdings 2"/>
              <a:buNone/>
              <a:defRPr kumimoji="0" sz="1600" b="1" kern="1200" cap="all" spc="250" baseline="0">
                <a:solidFill>
                  <a:schemeClr val="tx2"/>
                </a:solidFill>
                <a:latin typeface="+mn-lt"/>
                <a:ea typeface="+mn-ea"/>
                <a:cs typeface="+mn-cs"/>
              </a:defRPr>
            </a:lvl1pPr>
            <a:lvl2pPr marL="457200" indent="0" algn="ctr" rtl="0" eaLnBrk="1" latinLnBrk="0" hangingPunct="1">
              <a:spcBef>
                <a:spcPct val="20000"/>
              </a:spcBef>
              <a:buClr>
                <a:schemeClr val="accent2"/>
              </a:buClr>
              <a:buSzPct val="70000"/>
              <a:buFont typeface="Wingdings"/>
              <a:buNone/>
              <a:defRPr kumimoji="0" sz="2200" kern="1200">
                <a:solidFill>
                  <a:schemeClr val="tx2"/>
                </a:solidFill>
                <a:latin typeface="+mn-lt"/>
                <a:ea typeface="+mn-ea"/>
                <a:cs typeface="+mn-cs"/>
              </a:defRPr>
            </a:lvl2pPr>
            <a:lvl3pPr marL="914400" indent="0" algn="ctr" rtl="0" eaLnBrk="1" latinLnBrk="0" hangingPunct="1">
              <a:spcBef>
                <a:spcPct val="20000"/>
              </a:spcBef>
              <a:buClr>
                <a:schemeClr val="accent3"/>
              </a:buClr>
              <a:buSzPct val="75000"/>
              <a:buFont typeface="Wingdings 2"/>
              <a:buNone/>
              <a:defRPr kumimoji="0" sz="2000" kern="1200">
                <a:solidFill>
                  <a:schemeClr val="tx1"/>
                </a:solidFill>
                <a:latin typeface="+mn-lt"/>
                <a:ea typeface="+mn-ea"/>
                <a:cs typeface="+mn-cs"/>
              </a:defRPr>
            </a:lvl3pPr>
            <a:lvl4pPr marL="1371600" indent="0" algn="ctr" rtl="0" eaLnBrk="1" latinLnBrk="0" hangingPunct="1">
              <a:spcBef>
                <a:spcPct val="20000"/>
              </a:spcBef>
              <a:buClr>
                <a:schemeClr val="accent4"/>
              </a:buClr>
              <a:buSzPct val="70000"/>
              <a:buFont typeface="Wingdings"/>
              <a:buNone/>
              <a:defRPr kumimoji="0" sz="2000" kern="1200">
                <a:solidFill>
                  <a:schemeClr val="tx2"/>
                </a:solidFill>
                <a:latin typeface="+mn-lt"/>
                <a:ea typeface="+mn-ea"/>
                <a:cs typeface="+mn-cs"/>
              </a:defRPr>
            </a:lvl4pPr>
            <a:lvl5pPr marL="1828800" indent="0" algn="ctr" rtl="0" eaLnBrk="1" latinLnBrk="0" hangingPunct="1">
              <a:spcBef>
                <a:spcPct val="20000"/>
              </a:spcBef>
              <a:buClr>
                <a:schemeClr val="accent5"/>
              </a:buClr>
              <a:buFontTx/>
              <a:buNone/>
              <a:defRPr kumimoji="0" sz="1800" kern="1200">
                <a:solidFill>
                  <a:schemeClr val="tx1"/>
                </a:solidFill>
                <a:latin typeface="+mn-lt"/>
                <a:ea typeface="+mn-ea"/>
                <a:cs typeface="+mn-cs"/>
              </a:defRPr>
            </a:lvl5pPr>
            <a:lvl6pPr marL="2286000" indent="0" algn="ctr" rtl="0" eaLnBrk="1" latinLnBrk="0" hangingPunct="1">
              <a:spcBef>
                <a:spcPct val="20000"/>
              </a:spcBef>
              <a:buClr>
                <a:schemeClr val="accent6"/>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1">
                  <a:shade val="75000"/>
                </a:schemeClr>
              </a:buClr>
              <a:buSzPct val="90000"/>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accent4">
                  <a:shade val="75000"/>
                </a:schemeClr>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accent2">
                  <a:shade val="75000"/>
                </a:schemeClr>
              </a:buClr>
              <a:buSzPct val="90000"/>
              <a:buNone/>
              <a:defRPr kumimoji="0" sz="1400" kern="1200" cap="all" baseline="0">
                <a:solidFill>
                  <a:schemeClr val="tx1"/>
                </a:solidFill>
                <a:latin typeface="+mn-lt"/>
                <a:ea typeface="+mn-ea"/>
                <a:cs typeface="+mn-cs"/>
              </a:defRPr>
            </a:lvl9pPr>
          </a:lstStyle>
          <a:p>
            <a:r>
              <a:rPr lang="en-GB" sz="2000" dirty="0" smtClean="0">
                <a:latin typeface="Calibri" panose="020F0502020204030204" pitchFamily="34" charset="0"/>
              </a:rPr>
              <a:t>Learning Development Centre</a:t>
            </a:r>
          </a:p>
          <a:p>
            <a:r>
              <a:rPr lang="en-GB" dirty="0" smtClean="0">
                <a:latin typeface="Calibri" panose="020F0502020204030204" pitchFamily="34" charset="0"/>
              </a:rPr>
              <a:t>Kim Williams  </a:t>
            </a:r>
          </a:p>
          <a:p>
            <a:r>
              <a:rPr lang="en-GB" dirty="0" smtClean="0">
                <a:latin typeface="Calibri" panose="020F0502020204030204" pitchFamily="34" charset="0"/>
              </a:rPr>
              <a:t>Academic Development Tutor</a:t>
            </a:r>
            <a:endParaRPr lang="en-GB" dirty="0">
              <a:latin typeface="Calibri" panose="020F0502020204030204" pitchFamily="34" charset="0"/>
            </a:endParaRPr>
          </a:p>
        </p:txBody>
      </p:sp>
      <p:pic>
        <p:nvPicPr>
          <p:cNvPr id="5" name="Picture 2" descr="http://www.gcu.ac.uk/library/SMIRK/images/gcu_200.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5445224"/>
            <a:ext cx="1440160" cy="8912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762" t="19030" r="29365" b="20243"/>
          <a:stretch/>
        </p:blipFill>
        <p:spPr bwMode="auto">
          <a:xfrm>
            <a:off x="7308304" y="188640"/>
            <a:ext cx="1591469" cy="1335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856034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908720"/>
            <a:ext cx="8229600" cy="1066800"/>
          </a:xfrm>
        </p:spPr>
        <p:txBody>
          <a:bodyPr/>
          <a:lstStyle/>
          <a:p>
            <a:r>
              <a:rPr lang="en-GB" dirty="0" smtClean="0"/>
              <a:t>Overall Learning Objective</a:t>
            </a:r>
            <a:endParaRPr lang="en-GB" dirty="0"/>
          </a:p>
        </p:txBody>
      </p:sp>
      <p:sp>
        <p:nvSpPr>
          <p:cNvPr id="3" name="Content Placeholder 2"/>
          <p:cNvSpPr>
            <a:spLocks noGrp="1"/>
          </p:cNvSpPr>
          <p:nvPr>
            <p:ph idx="1"/>
          </p:nvPr>
        </p:nvSpPr>
        <p:spPr>
          <a:xfrm>
            <a:off x="971600" y="1916832"/>
            <a:ext cx="7787208" cy="4325112"/>
          </a:xfrm>
        </p:spPr>
        <p:txBody>
          <a:bodyPr>
            <a:normAutofit/>
          </a:bodyPr>
          <a:lstStyle/>
          <a:p>
            <a:pPr marL="0" indent="0">
              <a:buNone/>
            </a:pPr>
            <a:r>
              <a:rPr lang="en-GB" sz="4800" dirty="0" smtClean="0"/>
              <a:t>By the end of today’s session we will be able to demonstrate our understanding of how to write critically</a:t>
            </a:r>
          </a:p>
          <a:p>
            <a:pPr marL="457200" indent="-457200">
              <a:buFont typeface="Wingdings" panose="05000000000000000000" pitchFamily="2" charset="2"/>
              <a:buChar char="ü"/>
            </a:pPr>
            <a:endParaRPr lang="en-GB" sz="3200" dirty="0"/>
          </a:p>
          <a:p>
            <a:pPr marL="0" indent="0">
              <a:buNone/>
            </a:pPr>
            <a:endParaRPr lang="en-GB" dirty="0"/>
          </a:p>
          <a:p>
            <a:pPr marL="457200" indent="-457200">
              <a:buFont typeface="Wingdings" panose="05000000000000000000" pitchFamily="2" charset="2"/>
              <a:buChar char="ü"/>
            </a:pPr>
            <a:endParaRPr lang="en-GB" dirty="0" smtClean="0"/>
          </a:p>
          <a:p>
            <a:pPr marL="0" indent="0">
              <a:buNone/>
            </a:pPr>
            <a:endParaRPr lang="en-GB" dirty="0"/>
          </a:p>
        </p:txBody>
      </p:sp>
    </p:spTree>
    <p:extLst>
      <p:ext uri="{BB962C8B-B14F-4D97-AF65-F5344CB8AC3E}">
        <p14:creationId xmlns:p14="http://schemas.microsoft.com/office/powerpoint/2010/main" val="7681120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Being critical? </a:t>
            </a:r>
            <a:endParaRPr lang="en-GB" dirty="0"/>
          </a:p>
        </p:txBody>
      </p:sp>
      <p:sp>
        <p:nvSpPr>
          <p:cNvPr id="3" name="Content Placeholder 2"/>
          <p:cNvSpPr>
            <a:spLocks noGrp="1"/>
          </p:cNvSpPr>
          <p:nvPr>
            <p:ph idx="1"/>
          </p:nvPr>
        </p:nvSpPr>
        <p:spPr/>
        <p:txBody>
          <a:bodyPr>
            <a:normAutofit/>
          </a:bodyPr>
          <a:lstStyle/>
          <a:p>
            <a:pPr marL="109728" indent="0" algn="ctr">
              <a:buNone/>
            </a:pPr>
            <a:r>
              <a:rPr lang="en-GB" sz="4000" b="1" dirty="0" smtClean="0"/>
              <a:t>What does it mean? </a:t>
            </a:r>
            <a:endParaRPr lang="en-GB" sz="4000" b="1" dirty="0"/>
          </a:p>
        </p:txBody>
      </p:sp>
      <p:pic>
        <p:nvPicPr>
          <p:cNvPr id="4" name="Picture 4" descr="O:\Images\Morph\question_mar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3036045"/>
            <a:ext cx="2815974"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9227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Critical Thinking…</a:t>
            </a:r>
            <a:endParaRPr lang="en-GB" dirty="0"/>
          </a:p>
        </p:txBody>
      </p:sp>
      <p:sp>
        <p:nvSpPr>
          <p:cNvPr id="3" name="Content Placeholder 2"/>
          <p:cNvSpPr>
            <a:spLocks noGrp="1"/>
          </p:cNvSpPr>
          <p:nvPr>
            <p:ph idx="1"/>
          </p:nvPr>
        </p:nvSpPr>
        <p:spPr>
          <a:xfrm>
            <a:off x="4211960" y="2132856"/>
            <a:ext cx="4618856" cy="4325112"/>
          </a:xfrm>
        </p:spPr>
        <p:txBody>
          <a:bodyPr>
            <a:normAutofit fontScale="85000" lnSpcReduction="20000"/>
          </a:bodyPr>
          <a:lstStyle/>
          <a:p>
            <a:pPr marL="109728" indent="0" algn="ctr">
              <a:buNone/>
            </a:pPr>
            <a:r>
              <a:rPr lang="en-GB" sz="2600" dirty="0" smtClean="0"/>
              <a:t>The first question a critical thinker SHOULD ask is…</a:t>
            </a:r>
          </a:p>
          <a:p>
            <a:pPr marL="109728" indent="0" algn="ctr">
              <a:buNone/>
            </a:pPr>
            <a:endParaRPr lang="en-GB" dirty="0"/>
          </a:p>
          <a:p>
            <a:pPr marL="109728" indent="0" algn="ctr">
              <a:buNone/>
            </a:pPr>
            <a:r>
              <a:rPr lang="en-GB" sz="4000" b="1" dirty="0" smtClean="0"/>
              <a:t>WHY?! </a:t>
            </a:r>
          </a:p>
          <a:p>
            <a:pPr marL="109728" indent="0" algn="ctr">
              <a:buNone/>
            </a:pPr>
            <a:endParaRPr lang="en-GB" sz="4000" b="1" dirty="0"/>
          </a:p>
          <a:p>
            <a:pPr algn="ctr">
              <a:buFontTx/>
              <a:buChar char="-"/>
            </a:pPr>
            <a:r>
              <a:rPr lang="en-GB" sz="2400" dirty="0" smtClean="0"/>
              <a:t>What research exists that suggests this would benefit us in any way?</a:t>
            </a:r>
          </a:p>
          <a:p>
            <a:pPr marL="109728" indent="0" algn="ctr">
              <a:buNone/>
            </a:pPr>
            <a:endParaRPr lang="en-GB" sz="2400" dirty="0" smtClean="0"/>
          </a:p>
          <a:p>
            <a:pPr algn="ctr">
              <a:buFontTx/>
              <a:buChar char="-"/>
            </a:pPr>
            <a:r>
              <a:rPr lang="en-GB" sz="2400" dirty="0" smtClean="0"/>
              <a:t>What research exists that suggests that this would NOT benefit us?</a:t>
            </a:r>
          </a:p>
          <a:p>
            <a:pPr algn="ctr">
              <a:buFontTx/>
              <a:buChar char="-"/>
            </a:pPr>
            <a:endParaRPr lang="en-GB" sz="2400" dirty="0"/>
          </a:p>
          <a:p>
            <a:pPr marL="109728" indent="0" algn="ctr">
              <a:buNone/>
            </a:pPr>
            <a:r>
              <a:rPr lang="en-GB" sz="2400" dirty="0" smtClean="0"/>
              <a:t>ALSO</a:t>
            </a:r>
          </a:p>
          <a:p>
            <a:pPr marL="109728" indent="0" algn="ctr">
              <a:buNone/>
            </a:pPr>
            <a:endParaRPr lang="en-GB" sz="2400" dirty="0" smtClean="0"/>
          </a:p>
          <a:p>
            <a:pPr marL="109728" indent="0" algn="ctr">
              <a:buNone/>
            </a:pPr>
            <a:r>
              <a:rPr lang="en-GB" sz="2400" dirty="0" smtClean="0"/>
              <a:t>How VALID is this research anyway? </a:t>
            </a:r>
          </a:p>
        </p:txBody>
      </p:sp>
      <p:pic>
        <p:nvPicPr>
          <p:cNvPr id="2050" name="Picture 2" descr="Image result for news presenter clipart">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304"/>
          <a:stretch/>
        </p:blipFill>
        <p:spPr bwMode="auto">
          <a:xfrm>
            <a:off x="683568" y="2420888"/>
            <a:ext cx="2736304" cy="2409325"/>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49983" y="2578551"/>
            <a:ext cx="1152128" cy="1323439"/>
          </a:xfrm>
          <a:prstGeom prst="rect">
            <a:avLst/>
          </a:prstGeom>
          <a:noFill/>
        </p:spPr>
        <p:txBody>
          <a:bodyPr wrap="square" rtlCol="0">
            <a:spAutoFit/>
          </a:bodyPr>
          <a:lstStyle/>
          <a:p>
            <a:pPr algn="ctr"/>
            <a:r>
              <a:rPr lang="en-GB" sz="2000" dirty="0" smtClean="0"/>
              <a:t>GO TO BED</a:t>
            </a:r>
          </a:p>
          <a:p>
            <a:pPr algn="ctr"/>
            <a:r>
              <a:rPr lang="en-GB" sz="2000" dirty="0" smtClean="0"/>
              <a:t> AT 10PM</a:t>
            </a:r>
            <a:endParaRPr lang="en-GB" sz="2000" dirty="0"/>
          </a:p>
        </p:txBody>
      </p:sp>
    </p:spTree>
    <p:extLst>
      <p:ext uri="{BB962C8B-B14F-4D97-AF65-F5344CB8AC3E}">
        <p14:creationId xmlns:p14="http://schemas.microsoft.com/office/powerpoint/2010/main" val="397147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908720"/>
            <a:ext cx="8229600" cy="1066800"/>
          </a:xfrm>
        </p:spPr>
        <p:txBody>
          <a:bodyPr>
            <a:normAutofit fontScale="90000"/>
          </a:bodyPr>
          <a:lstStyle/>
          <a:p>
            <a:r>
              <a:rPr lang="en-GB" dirty="0" smtClean="0"/>
              <a:t>Descriptive writing vs critical writing</a:t>
            </a:r>
            <a:endParaRPr lang="en-GB" dirty="0"/>
          </a:p>
        </p:txBody>
      </p:sp>
      <p:sp>
        <p:nvSpPr>
          <p:cNvPr id="3" name="Content Placeholder 2"/>
          <p:cNvSpPr>
            <a:spLocks noGrp="1"/>
          </p:cNvSpPr>
          <p:nvPr>
            <p:ph idx="1"/>
          </p:nvPr>
        </p:nvSpPr>
        <p:spPr>
          <a:xfrm>
            <a:off x="539552" y="1988840"/>
            <a:ext cx="8280920" cy="4056564"/>
          </a:xfrm>
        </p:spPr>
        <p:txBody>
          <a:bodyPr>
            <a:noAutofit/>
          </a:bodyPr>
          <a:lstStyle/>
          <a:p>
            <a:pPr marL="0" indent="0">
              <a:buNone/>
            </a:pPr>
            <a:r>
              <a:rPr lang="en-GB" sz="2000" dirty="0" smtClean="0"/>
              <a:t>Focus should </a:t>
            </a:r>
            <a:r>
              <a:rPr lang="en-GB" sz="2000" dirty="0"/>
              <a:t>be on the </a:t>
            </a:r>
            <a:r>
              <a:rPr lang="en-GB" sz="2000" dirty="0" smtClean="0"/>
              <a:t>arguments you </a:t>
            </a:r>
            <a:r>
              <a:rPr lang="en-GB" sz="2000" dirty="0"/>
              <a:t>want to present in response to the assessment task, rather than a description of the topic. </a:t>
            </a:r>
            <a:endParaRPr lang="en-GB" sz="2000" dirty="0" smtClean="0"/>
          </a:p>
          <a:p>
            <a:pPr marL="0" indent="0">
              <a:buNone/>
            </a:pPr>
            <a:endParaRPr lang="en-GB" sz="2000" dirty="0"/>
          </a:p>
          <a:p>
            <a:pPr marL="0" indent="0">
              <a:buNone/>
            </a:pPr>
            <a:r>
              <a:rPr lang="en-GB" sz="2000" dirty="0" smtClean="0"/>
              <a:t>Descriptive </a:t>
            </a:r>
            <a:r>
              <a:rPr lang="en-GB" sz="2000" dirty="0"/>
              <a:t>writing is of course still necessary to</a:t>
            </a:r>
            <a:r>
              <a:rPr lang="en-GB" sz="2000" dirty="0" smtClean="0"/>
              <a:t>:</a:t>
            </a:r>
          </a:p>
          <a:p>
            <a:pPr marL="0" indent="0">
              <a:buNone/>
            </a:pPr>
            <a:endParaRPr lang="en-GB" sz="2000" dirty="0"/>
          </a:p>
          <a:p>
            <a:pPr marL="109728" indent="0">
              <a:buNone/>
            </a:pPr>
            <a:r>
              <a:rPr lang="en-GB" sz="2000" dirty="0"/>
              <a:t>•set the scene</a:t>
            </a:r>
          </a:p>
          <a:p>
            <a:pPr marL="109728" indent="0">
              <a:buNone/>
            </a:pPr>
            <a:r>
              <a:rPr lang="en-GB" sz="2000" dirty="0"/>
              <a:t>•provide background information, evidence or context for your critical arguments</a:t>
            </a:r>
          </a:p>
          <a:p>
            <a:pPr marL="109728" indent="0">
              <a:buNone/>
            </a:pPr>
            <a:r>
              <a:rPr lang="en-GB" sz="2000" dirty="0"/>
              <a:t>•give signposts to your reader.</a:t>
            </a:r>
          </a:p>
          <a:p>
            <a:pPr marL="109728" indent="0">
              <a:buNone/>
            </a:pPr>
            <a:endParaRPr lang="en-GB" sz="2000" dirty="0"/>
          </a:p>
          <a:p>
            <a:pPr algn="ctr"/>
            <a:endParaRPr lang="en-GB" sz="2400" dirty="0" smtClean="0"/>
          </a:p>
          <a:p>
            <a:pPr marL="109728" indent="0" algn="ctr">
              <a:buNone/>
            </a:pPr>
            <a:r>
              <a:rPr lang="en-GB" sz="2800" dirty="0" smtClean="0"/>
              <a:t>Keep to </a:t>
            </a:r>
            <a:r>
              <a:rPr lang="en-GB" sz="2800" dirty="0"/>
              <a:t>a </a:t>
            </a:r>
            <a:r>
              <a:rPr lang="en-GB" sz="2800" dirty="0" smtClean="0"/>
              <a:t>minimum! </a:t>
            </a:r>
            <a:endParaRPr lang="en-GB" sz="2000" dirty="0"/>
          </a:p>
        </p:txBody>
      </p:sp>
    </p:spTree>
    <p:extLst>
      <p:ext uri="{BB962C8B-B14F-4D97-AF65-F5344CB8AC3E}">
        <p14:creationId xmlns:p14="http://schemas.microsoft.com/office/powerpoint/2010/main" val="17498924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Task: critical or descriptive?</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935" t="47301" r="5991" b="38586"/>
          <a:stretch/>
        </p:blipFill>
        <p:spPr bwMode="auto">
          <a:xfrm>
            <a:off x="539552" y="2096852"/>
            <a:ext cx="7560840"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843808" y="4338272"/>
            <a:ext cx="3168352"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smtClean="0"/>
              <a:t>Critical</a:t>
            </a:r>
            <a:endParaRPr lang="en-GB" sz="3600" dirty="0"/>
          </a:p>
        </p:txBody>
      </p:sp>
    </p:spTree>
    <p:extLst>
      <p:ext uri="{BB962C8B-B14F-4D97-AF65-F5344CB8AC3E}">
        <p14:creationId xmlns:p14="http://schemas.microsoft.com/office/powerpoint/2010/main" val="353230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a:p>
        </p:txBody>
      </p:sp>
      <p:sp>
        <p:nvSpPr>
          <p:cNvPr id="4" name="Title 1"/>
          <p:cNvSpPr txBox="1">
            <a:spLocks/>
          </p:cNvSpPr>
          <p:nvPr/>
        </p:nvSpPr>
        <p:spPr>
          <a:xfrm>
            <a:off x="549670" y="765651"/>
            <a:ext cx="7520940"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n-GB" sz="4000" cap="none" dirty="0" smtClean="0"/>
              <a:t>Task: critical or descriptive?</a:t>
            </a:r>
            <a:endParaRPr lang="en-GB" sz="4000" cap="none"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916" t="46924" r="53200" b="42944"/>
          <a:stretch/>
        </p:blipFill>
        <p:spPr bwMode="auto">
          <a:xfrm>
            <a:off x="611560" y="1556792"/>
            <a:ext cx="7459050" cy="1478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43808" y="3429000"/>
            <a:ext cx="3168352"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smtClean="0"/>
              <a:t>Descriptive</a:t>
            </a:r>
            <a:endParaRPr lang="en-GB" sz="3600" dirty="0"/>
          </a:p>
        </p:txBody>
      </p:sp>
    </p:spTree>
    <p:extLst>
      <p:ext uri="{BB962C8B-B14F-4D97-AF65-F5344CB8AC3E}">
        <p14:creationId xmlns:p14="http://schemas.microsoft.com/office/powerpoint/2010/main" val="424723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a:p>
        </p:txBody>
      </p:sp>
      <p:sp>
        <p:nvSpPr>
          <p:cNvPr id="4" name="Title 1"/>
          <p:cNvSpPr txBox="1">
            <a:spLocks/>
          </p:cNvSpPr>
          <p:nvPr/>
        </p:nvSpPr>
        <p:spPr>
          <a:xfrm>
            <a:off x="711454" y="637604"/>
            <a:ext cx="8086051"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n-GB" sz="4000" cap="none" dirty="0" smtClean="0"/>
              <a:t>Task: critical or descriptive?</a:t>
            </a:r>
            <a:endParaRPr lang="en-GB" sz="4000" cap="none" dirty="0"/>
          </a:p>
        </p:txBody>
      </p:sp>
      <p:sp>
        <p:nvSpPr>
          <p:cNvPr id="6" name="Rectangle 5"/>
          <p:cNvSpPr/>
          <p:nvPr/>
        </p:nvSpPr>
        <p:spPr>
          <a:xfrm>
            <a:off x="2843808" y="3429000"/>
            <a:ext cx="3168352"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smtClean="0"/>
              <a:t>Descriptive</a:t>
            </a:r>
            <a:endParaRPr lang="en-GB" sz="3600"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78" t="57160" r="53619" b="30263"/>
          <a:stretch/>
        </p:blipFill>
        <p:spPr bwMode="auto">
          <a:xfrm>
            <a:off x="711454" y="1340768"/>
            <a:ext cx="7497276"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260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066800"/>
          </a:xfrm>
        </p:spPr>
        <p:txBody>
          <a:bodyPr/>
          <a:lstStyle/>
          <a:p>
            <a:r>
              <a:rPr lang="en-GB" dirty="0" smtClean="0"/>
              <a:t>Critical Analysis</a:t>
            </a:r>
            <a:endParaRPr lang="en-GB" dirty="0"/>
          </a:p>
        </p:txBody>
      </p:sp>
      <p:sp>
        <p:nvSpPr>
          <p:cNvPr id="3" name="Content Placeholder 2"/>
          <p:cNvSpPr>
            <a:spLocks noGrp="1"/>
          </p:cNvSpPr>
          <p:nvPr>
            <p:ph idx="1"/>
          </p:nvPr>
        </p:nvSpPr>
        <p:spPr>
          <a:xfrm>
            <a:off x="467544" y="1196752"/>
            <a:ext cx="8229600" cy="4325112"/>
          </a:xfrm>
        </p:spPr>
        <p:txBody>
          <a:bodyPr>
            <a:normAutofit/>
          </a:bodyPr>
          <a:lstStyle/>
          <a:p>
            <a:pPr marL="109728" indent="0">
              <a:buNone/>
            </a:pPr>
            <a:endParaRPr lang="en-GB" sz="2800" dirty="0"/>
          </a:p>
          <a:p>
            <a:pPr marL="109728" indent="0">
              <a:buNone/>
            </a:pPr>
            <a:r>
              <a:rPr lang="en-GB" sz="2800" dirty="0" smtClean="0"/>
              <a:t>Let’s look now at the difference between descriptive writing and critical writing in a bit more detail. </a:t>
            </a:r>
          </a:p>
          <a:p>
            <a:pPr marL="109728" indent="0">
              <a:buNone/>
            </a:pPr>
            <a:endParaRPr lang="en-GB" sz="2800" dirty="0"/>
          </a:p>
          <a:p>
            <a:pPr marL="109728" indent="0">
              <a:buNone/>
            </a:pPr>
            <a:r>
              <a:rPr lang="en-GB" sz="2800" dirty="0" smtClean="0"/>
              <a:t>Which one of these is a more effective paragraph and why? </a:t>
            </a:r>
            <a:endParaRPr lang="en-GB" sz="2800" dirty="0"/>
          </a:p>
        </p:txBody>
      </p:sp>
    </p:spTree>
    <p:extLst>
      <p:ext uri="{BB962C8B-B14F-4D97-AF65-F5344CB8AC3E}">
        <p14:creationId xmlns:p14="http://schemas.microsoft.com/office/powerpoint/2010/main" val="189903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066800"/>
          </a:xfrm>
        </p:spPr>
        <p:txBody>
          <a:bodyPr/>
          <a:lstStyle/>
          <a:p>
            <a:r>
              <a:rPr lang="en-GB" dirty="0" smtClean="0"/>
              <a:t>Activity 1</a:t>
            </a:r>
            <a:endParaRPr lang="en-GB" dirty="0"/>
          </a:p>
        </p:txBody>
      </p:sp>
      <p:sp>
        <p:nvSpPr>
          <p:cNvPr id="3" name="Content Placeholder 2"/>
          <p:cNvSpPr>
            <a:spLocks noGrp="1"/>
          </p:cNvSpPr>
          <p:nvPr>
            <p:ph idx="1"/>
          </p:nvPr>
        </p:nvSpPr>
        <p:spPr>
          <a:xfrm>
            <a:off x="107504" y="1160748"/>
            <a:ext cx="4320480" cy="4896544"/>
          </a:xfrm>
        </p:spPr>
        <p:txBody>
          <a:bodyPr>
            <a:normAutofit/>
          </a:bodyPr>
          <a:lstStyle/>
          <a:p>
            <a:pPr marL="109728" indent="0">
              <a:lnSpc>
                <a:spcPct val="160000"/>
              </a:lnSpc>
              <a:buNone/>
            </a:pPr>
            <a:r>
              <a:rPr lang="en-GB" sz="1600" b="1" dirty="0" smtClean="0"/>
              <a:t>EXEMPLAR 1</a:t>
            </a:r>
          </a:p>
          <a:p>
            <a:pPr marL="514350" indent="-514350">
              <a:lnSpc>
                <a:spcPct val="150000"/>
              </a:lnSpc>
              <a:buClr>
                <a:srgbClr val="C00000"/>
              </a:buClr>
              <a:buFont typeface="Arial" charset="0"/>
              <a:buNone/>
              <a:defRPr/>
            </a:pPr>
            <a:r>
              <a:rPr lang="en-GB" sz="2400" dirty="0" smtClean="0"/>
              <a:t>       </a:t>
            </a:r>
            <a:r>
              <a:rPr lang="en-GB" sz="1800" dirty="0" smtClean="0"/>
              <a:t>A </a:t>
            </a:r>
            <a:r>
              <a:rPr lang="en-GB" sz="1800" dirty="0"/>
              <a:t>study by Daniels (1998) found that group exercise was more effective than a control (n=21) in significantly reducing anxiety symptoms among 22 middle-aged men. The participants were randomly assigned to groups and effects were maintained at 6 month follow-up. </a:t>
            </a:r>
            <a:endParaRPr lang="en-GB" sz="1000" dirty="0"/>
          </a:p>
          <a:p>
            <a:pPr marL="514350" indent="-514350">
              <a:lnSpc>
                <a:spcPct val="150000"/>
              </a:lnSpc>
              <a:buClr>
                <a:srgbClr val="C00000"/>
              </a:buClr>
              <a:buFont typeface="Arial" charset="0"/>
              <a:buNone/>
              <a:defRPr/>
            </a:pPr>
            <a:r>
              <a:rPr lang="en-GB" sz="1600" dirty="0"/>
              <a:t>	</a:t>
            </a:r>
          </a:p>
        </p:txBody>
      </p:sp>
      <p:sp>
        <p:nvSpPr>
          <p:cNvPr id="4" name="Content Placeholder 2"/>
          <p:cNvSpPr txBox="1">
            <a:spLocks/>
          </p:cNvSpPr>
          <p:nvPr/>
        </p:nvSpPr>
        <p:spPr>
          <a:xfrm>
            <a:off x="4644008" y="1412776"/>
            <a:ext cx="3960440" cy="4824536"/>
          </a:xfrm>
          <a:prstGeom prst="rect">
            <a:avLst/>
          </a:prstGeom>
        </p:spPr>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lnSpc>
                <a:spcPct val="160000"/>
              </a:lnSpc>
              <a:buFont typeface="Georgia"/>
              <a:buNone/>
            </a:pPr>
            <a:endParaRPr lang="en-GB" sz="2000" dirty="0"/>
          </a:p>
        </p:txBody>
      </p:sp>
      <p:sp>
        <p:nvSpPr>
          <p:cNvPr id="5" name="Content Placeholder 2"/>
          <p:cNvSpPr txBox="1">
            <a:spLocks/>
          </p:cNvSpPr>
          <p:nvPr/>
        </p:nvSpPr>
        <p:spPr>
          <a:xfrm>
            <a:off x="4608004" y="764704"/>
            <a:ext cx="4356484" cy="5688632"/>
          </a:xfrm>
          <a:prstGeom prst="rect">
            <a:avLst/>
          </a:prstGeom>
        </p:spPr>
        <p:txBody>
          <a:bodyPr vert="horz">
            <a:normAutofit fontScale="25000" lnSpcReduction="2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lnSpc>
                <a:spcPct val="160000"/>
              </a:lnSpc>
              <a:buFont typeface="Georgia"/>
              <a:buNone/>
            </a:pPr>
            <a:r>
              <a:rPr lang="en-GB" sz="5600" b="1" dirty="0" smtClean="0"/>
              <a:t>EXEMPLAR 2</a:t>
            </a:r>
          </a:p>
          <a:p>
            <a:pPr marL="109728" indent="0">
              <a:lnSpc>
                <a:spcPct val="170000"/>
              </a:lnSpc>
              <a:buNone/>
            </a:pPr>
            <a:r>
              <a:rPr lang="en-GB" sz="6400" dirty="0"/>
              <a:t>A study by Daniels (2002) found that group exercise was more effective than a control (n=24) in significantly reducing anxiety symptoms among 28 middle-aged men. The participants were randomly assigned to groups and effects were maintained at 6 month follow-up. A strength of Daniel’s study was the randomisation of participants to groups and the incorporation of a follow-up anxiety measure.  This is a strength because . . . (ref). However, the study is limited due to the relatively small sample size and anxiety measure which has been shown to have poor reliability (ref).  This presents problems regarding . . .</a:t>
            </a:r>
          </a:p>
        </p:txBody>
      </p:sp>
    </p:spTree>
    <p:extLst>
      <p:ext uri="{BB962C8B-B14F-4D97-AF65-F5344CB8AC3E}">
        <p14:creationId xmlns:p14="http://schemas.microsoft.com/office/powerpoint/2010/main" val="8196664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23528" y="548680"/>
            <a:ext cx="8229600" cy="939800"/>
          </a:xfrm>
        </p:spPr>
        <p:txBody>
          <a:bodyPr>
            <a:normAutofit/>
          </a:bodyPr>
          <a:lstStyle/>
          <a:p>
            <a:pPr eaLnBrk="1" hangingPunct="1">
              <a:defRPr/>
            </a:pPr>
            <a:r>
              <a:rPr lang="en-GB" sz="3200" dirty="0" smtClean="0"/>
              <a:t>Critical</a:t>
            </a:r>
            <a:r>
              <a:rPr lang="en-GB" sz="3600" dirty="0" smtClean="0"/>
              <a:t> </a:t>
            </a:r>
            <a:r>
              <a:rPr lang="en-GB" sz="3200" dirty="0" smtClean="0"/>
              <a:t>thinking is…</a:t>
            </a:r>
            <a:endParaRPr lang="en-GB" sz="4400" dirty="0" smtClean="0"/>
          </a:p>
        </p:txBody>
      </p:sp>
      <p:sp>
        <p:nvSpPr>
          <p:cNvPr id="8195" name="Content Placeholder 2"/>
          <p:cNvSpPr>
            <a:spLocks noGrp="1"/>
          </p:cNvSpPr>
          <p:nvPr>
            <p:ph idx="1"/>
          </p:nvPr>
        </p:nvSpPr>
        <p:spPr>
          <a:xfrm>
            <a:off x="539552" y="1484784"/>
            <a:ext cx="8229600" cy="4248366"/>
          </a:xfrm>
        </p:spPr>
        <p:txBody>
          <a:bodyPr>
            <a:normAutofit/>
          </a:bodyPr>
          <a:lstStyle/>
          <a:p>
            <a:pPr marL="109728" indent="0" algn="ctr" eaLnBrk="1" hangingPunct="1">
              <a:buClr>
                <a:srgbClr val="0070C0"/>
              </a:buClr>
              <a:buNone/>
            </a:pPr>
            <a:r>
              <a:rPr lang="en-GB" altLang="en-US" sz="2400" b="1" dirty="0" smtClean="0"/>
              <a:t>Asking the ‘whys’ and ‘</a:t>
            </a:r>
            <a:r>
              <a:rPr lang="en-GB" altLang="en-US" sz="2400" b="1" dirty="0" err="1" smtClean="0"/>
              <a:t>hows</a:t>
            </a:r>
            <a:r>
              <a:rPr lang="en-GB" altLang="en-US" sz="2400" b="1" dirty="0" smtClean="0"/>
              <a:t>’, not </a:t>
            </a:r>
            <a:r>
              <a:rPr lang="en-GB" altLang="en-US" sz="2400" b="1" u="sng" dirty="0" smtClean="0"/>
              <a:t>just </a:t>
            </a:r>
            <a:r>
              <a:rPr lang="en-GB" altLang="en-US" sz="2400" b="1" dirty="0" smtClean="0"/>
              <a:t>the ‘</a:t>
            </a:r>
            <a:r>
              <a:rPr lang="en-GB" altLang="en-US" sz="2400" b="1" dirty="0" err="1" smtClean="0"/>
              <a:t>whats</a:t>
            </a:r>
            <a:r>
              <a:rPr lang="en-GB" altLang="en-US" sz="2400" b="1" dirty="0" smtClean="0"/>
              <a:t>’</a:t>
            </a:r>
          </a:p>
          <a:p>
            <a:pPr marL="109728" indent="0" eaLnBrk="1" hangingPunct="1">
              <a:buClr>
                <a:srgbClr val="0070C0"/>
              </a:buClr>
              <a:buNone/>
            </a:pPr>
            <a:endParaRPr lang="en-GB" altLang="en-US" sz="2400" b="0" dirty="0" smtClean="0"/>
          </a:p>
          <a:p>
            <a:pPr marL="109728" indent="0" eaLnBrk="1" hangingPunct="1">
              <a:buClr>
                <a:srgbClr val="0070C0"/>
              </a:buClr>
              <a:buNone/>
            </a:pPr>
            <a:r>
              <a:rPr lang="en-GB" altLang="en-US" sz="2000" b="0" dirty="0" smtClean="0"/>
              <a:t>This means being analytical, not just descriptive. So you need to:</a:t>
            </a:r>
          </a:p>
          <a:p>
            <a:pPr marL="109728" indent="0" eaLnBrk="1" hangingPunct="1">
              <a:buClr>
                <a:srgbClr val="0070C0"/>
              </a:buClr>
              <a:buNone/>
            </a:pPr>
            <a:endParaRPr lang="en-GB" altLang="en-US" sz="2000" b="0" dirty="0" smtClean="0"/>
          </a:p>
          <a:p>
            <a:pPr lvl="1" eaLnBrk="1" hangingPunct="1">
              <a:buClr>
                <a:srgbClr val="0070C0"/>
              </a:buClr>
              <a:buFont typeface="Arial" panose="020B0604020202020204" pitchFamily="34" charset="0"/>
              <a:buChar char="•"/>
            </a:pPr>
            <a:r>
              <a:rPr lang="en-GB" altLang="en-US" sz="2000" dirty="0" smtClean="0">
                <a:solidFill>
                  <a:schemeClr val="tx1"/>
                </a:solidFill>
              </a:rPr>
              <a:t>Give examples</a:t>
            </a:r>
          </a:p>
          <a:p>
            <a:pPr lvl="1" eaLnBrk="1" hangingPunct="1">
              <a:buClr>
                <a:srgbClr val="0070C0"/>
              </a:buClr>
              <a:buFont typeface="Arial" panose="020B0604020202020204" pitchFamily="34" charset="0"/>
              <a:buChar char="•"/>
            </a:pPr>
            <a:r>
              <a:rPr lang="en-GB" altLang="en-US" sz="2000" dirty="0" smtClean="0">
                <a:solidFill>
                  <a:schemeClr val="tx1"/>
                </a:solidFill>
              </a:rPr>
              <a:t>Give explanations</a:t>
            </a:r>
          </a:p>
          <a:p>
            <a:pPr lvl="1" eaLnBrk="1" hangingPunct="1">
              <a:buClr>
                <a:srgbClr val="0070C0"/>
              </a:buClr>
              <a:buFont typeface="Arial" panose="020B0604020202020204" pitchFamily="34" charset="0"/>
              <a:buChar char="•"/>
            </a:pPr>
            <a:r>
              <a:rPr lang="en-GB" altLang="en-US" sz="2000" dirty="0" smtClean="0">
                <a:solidFill>
                  <a:schemeClr val="tx1"/>
                </a:solidFill>
              </a:rPr>
              <a:t>Draw comparisons</a:t>
            </a:r>
          </a:p>
          <a:p>
            <a:pPr lvl="1" eaLnBrk="1" hangingPunct="1">
              <a:buClr>
                <a:srgbClr val="0070C0"/>
              </a:buClr>
              <a:buFont typeface="Arial" panose="020B0604020202020204" pitchFamily="34" charset="0"/>
              <a:buChar char="•"/>
            </a:pPr>
            <a:r>
              <a:rPr lang="en-GB" altLang="en-US" sz="2000" dirty="0" smtClean="0">
                <a:solidFill>
                  <a:schemeClr val="tx1"/>
                </a:solidFill>
              </a:rPr>
              <a:t>Consider alternative approaches or explanations</a:t>
            </a:r>
          </a:p>
          <a:p>
            <a:pPr lvl="1" eaLnBrk="1" hangingPunct="1">
              <a:buClr>
                <a:srgbClr val="0070C0"/>
              </a:buClr>
              <a:buFont typeface="Arial" panose="020B0604020202020204" pitchFamily="34" charset="0"/>
              <a:buChar char="•"/>
            </a:pPr>
            <a:r>
              <a:rPr lang="en-GB" altLang="en-US" sz="2000" dirty="0" smtClean="0">
                <a:solidFill>
                  <a:schemeClr val="tx1"/>
                </a:solidFill>
              </a:rPr>
              <a:t>Discuss strengths and weaknesses</a:t>
            </a:r>
          </a:p>
          <a:p>
            <a:pPr lvl="1" eaLnBrk="1" hangingPunct="1">
              <a:buClr>
                <a:srgbClr val="0070C0"/>
              </a:buClr>
              <a:buFont typeface="Arial" panose="020B0604020202020204" pitchFamily="34" charset="0"/>
              <a:buChar char="•"/>
            </a:pPr>
            <a:r>
              <a:rPr lang="en-GB" altLang="en-US" sz="2000" dirty="0" smtClean="0">
                <a:solidFill>
                  <a:schemeClr val="tx1"/>
                </a:solidFill>
              </a:rPr>
              <a:t>Make links with practice</a:t>
            </a:r>
          </a:p>
          <a:p>
            <a:pPr lvl="1" eaLnBrk="1" hangingPunct="1">
              <a:buClr>
                <a:srgbClr val="0070C0"/>
              </a:buClr>
              <a:buFont typeface="Arial" panose="020B0604020202020204" pitchFamily="34" charset="0"/>
              <a:buChar char="•"/>
            </a:pPr>
            <a:r>
              <a:rPr lang="en-GB" altLang="en-US" sz="2000" u="sng" dirty="0" smtClean="0">
                <a:solidFill>
                  <a:schemeClr val="tx1"/>
                </a:solidFill>
              </a:rPr>
              <a:t>Using evidence </a:t>
            </a:r>
          </a:p>
          <a:p>
            <a:pPr marL="0" indent="0" eaLnBrk="1" hangingPunct="1">
              <a:buClr>
                <a:srgbClr val="C00000"/>
              </a:buClr>
              <a:buNone/>
            </a:pPr>
            <a:endParaRPr lang="en-GB" altLang="en-US" dirty="0" smtClean="0">
              <a:solidFill>
                <a:schemeClr val="bg1"/>
              </a:solidFill>
            </a:endParaRPr>
          </a:p>
        </p:txBody>
      </p:sp>
      <p:pic>
        <p:nvPicPr>
          <p:cNvPr id="8196" name="imageThumb_7411702" descr="istockphoto_7411702-corr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4349" y="5246786"/>
            <a:ext cx="1739651" cy="16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3982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p:cNvSpPr txBox="1">
            <a:spLocks noChangeArrowheads="1"/>
          </p:cNvSpPr>
          <p:nvPr/>
        </p:nvSpPr>
        <p:spPr bwMode="auto">
          <a:xfrm>
            <a:off x="359687" y="1705545"/>
            <a:ext cx="7920038" cy="289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6213" algn="l"/>
              </a:tabLst>
              <a:defRPr sz="2400">
                <a:solidFill>
                  <a:schemeClr val="tx1"/>
                </a:solidFill>
                <a:latin typeface="Times" pitchFamily="18" charset="0"/>
              </a:defRPr>
            </a:lvl1pPr>
            <a:lvl2pPr>
              <a:tabLst>
                <a:tab pos="176213" algn="l"/>
              </a:tabLst>
              <a:defRPr sz="2400">
                <a:solidFill>
                  <a:schemeClr val="tx1"/>
                </a:solidFill>
                <a:latin typeface="Times" pitchFamily="18" charset="0"/>
              </a:defRPr>
            </a:lvl2pPr>
            <a:lvl3pPr marL="1143000" indent="-228600">
              <a:tabLst>
                <a:tab pos="176213" algn="l"/>
              </a:tabLst>
              <a:defRPr sz="2400">
                <a:solidFill>
                  <a:schemeClr val="tx1"/>
                </a:solidFill>
                <a:latin typeface="Times" pitchFamily="18" charset="0"/>
              </a:defRPr>
            </a:lvl3pPr>
            <a:lvl4pPr marL="1600200" indent="-228600">
              <a:tabLst>
                <a:tab pos="176213" algn="l"/>
              </a:tabLst>
              <a:defRPr sz="2400">
                <a:solidFill>
                  <a:schemeClr val="tx1"/>
                </a:solidFill>
                <a:latin typeface="Times" pitchFamily="18" charset="0"/>
              </a:defRPr>
            </a:lvl4pPr>
            <a:lvl5pPr marL="2057400" indent="-228600">
              <a:tabLst>
                <a:tab pos="176213" algn="l"/>
              </a:tabLst>
              <a:defRPr sz="2400">
                <a:solidFill>
                  <a:schemeClr val="tx1"/>
                </a:solidFill>
                <a:latin typeface="Times" pitchFamily="18" charset="0"/>
              </a:defRPr>
            </a:lvl5pPr>
            <a:lvl6pPr marL="2514600" indent="-228600" eaLnBrk="0" fontAlgn="base" hangingPunct="0">
              <a:spcBef>
                <a:spcPct val="0"/>
              </a:spcBef>
              <a:spcAft>
                <a:spcPct val="0"/>
              </a:spcAft>
              <a:tabLst>
                <a:tab pos="176213" algn="l"/>
              </a:tabLst>
              <a:defRPr sz="2400">
                <a:solidFill>
                  <a:schemeClr val="tx1"/>
                </a:solidFill>
                <a:latin typeface="Times" pitchFamily="18" charset="0"/>
              </a:defRPr>
            </a:lvl6pPr>
            <a:lvl7pPr marL="2971800" indent="-228600" eaLnBrk="0" fontAlgn="base" hangingPunct="0">
              <a:spcBef>
                <a:spcPct val="0"/>
              </a:spcBef>
              <a:spcAft>
                <a:spcPct val="0"/>
              </a:spcAft>
              <a:tabLst>
                <a:tab pos="176213" algn="l"/>
              </a:tabLst>
              <a:defRPr sz="2400">
                <a:solidFill>
                  <a:schemeClr val="tx1"/>
                </a:solidFill>
                <a:latin typeface="Times" pitchFamily="18" charset="0"/>
              </a:defRPr>
            </a:lvl7pPr>
            <a:lvl8pPr marL="3429000" indent="-228600" eaLnBrk="0" fontAlgn="base" hangingPunct="0">
              <a:spcBef>
                <a:spcPct val="0"/>
              </a:spcBef>
              <a:spcAft>
                <a:spcPct val="0"/>
              </a:spcAft>
              <a:tabLst>
                <a:tab pos="176213" algn="l"/>
              </a:tabLst>
              <a:defRPr sz="2400">
                <a:solidFill>
                  <a:schemeClr val="tx1"/>
                </a:solidFill>
                <a:latin typeface="Times" pitchFamily="18" charset="0"/>
              </a:defRPr>
            </a:lvl8pPr>
            <a:lvl9pPr marL="3886200" indent="-228600" eaLnBrk="0" fontAlgn="base" hangingPunct="0">
              <a:spcBef>
                <a:spcPct val="0"/>
              </a:spcBef>
              <a:spcAft>
                <a:spcPct val="0"/>
              </a:spcAft>
              <a:tabLst>
                <a:tab pos="176213" algn="l"/>
              </a:tabLst>
              <a:defRPr sz="2400">
                <a:solidFill>
                  <a:schemeClr val="tx1"/>
                </a:solidFill>
                <a:latin typeface="Times" pitchFamily="18" charset="0"/>
              </a:defRPr>
            </a:lvl9pPr>
          </a:lstStyle>
          <a:p>
            <a:pPr marL="800100" lvl="1" indent="-342900">
              <a:spcAft>
                <a:spcPct val="20000"/>
              </a:spcAft>
              <a:buClr>
                <a:srgbClr val="0070C0"/>
              </a:buClr>
              <a:buFont typeface="Arial" pitchFamily="34" charset="0"/>
              <a:buChar char="•"/>
            </a:pPr>
            <a:r>
              <a:rPr lang="en-GB" altLang="en-US" dirty="0" smtClean="0">
                <a:latin typeface="+mn-lt"/>
                <a:cs typeface="Arial" charset="0"/>
              </a:rPr>
              <a:t>Descriptive writing tells you the ‘what’ the critical tells you the ‘why’</a:t>
            </a:r>
          </a:p>
          <a:p>
            <a:pPr lvl="1">
              <a:spcAft>
                <a:spcPct val="20000"/>
              </a:spcAft>
              <a:buClr>
                <a:srgbClr val="0070C0"/>
              </a:buClr>
            </a:pPr>
            <a:endParaRPr lang="en-GB" altLang="en-US" dirty="0" smtClean="0">
              <a:latin typeface="+mn-lt"/>
              <a:cs typeface="Arial" charset="0"/>
            </a:endParaRPr>
          </a:p>
          <a:p>
            <a:pPr marL="800100" lvl="1" indent="-342900">
              <a:spcAft>
                <a:spcPct val="20000"/>
              </a:spcAft>
              <a:buClr>
                <a:srgbClr val="0070C0"/>
              </a:buClr>
              <a:buFont typeface="Arial" pitchFamily="34" charset="0"/>
              <a:buChar char="•"/>
            </a:pPr>
            <a:r>
              <a:rPr lang="en-GB" altLang="en-US" dirty="0" smtClean="0">
                <a:latin typeface="+mn-lt"/>
                <a:cs typeface="Arial" charset="0"/>
              </a:rPr>
              <a:t>Critical writing shows an awareness of a body of knowledge and your thoughts on this backed up with evidence </a:t>
            </a:r>
            <a:endParaRPr lang="en-GB" altLang="en-US" dirty="0">
              <a:latin typeface="+mn-lt"/>
              <a:cs typeface="Arial" charset="0"/>
            </a:endParaRPr>
          </a:p>
          <a:p>
            <a:pPr>
              <a:spcAft>
                <a:spcPct val="20000"/>
              </a:spcAft>
            </a:pPr>
            <a:endParaRPr lang="en-GB" altLang="en-US" dirty="0">
              <a:latin typeface="+mn-lt"/>
            </a:endParaRPr>
          </a:p>
        </p:txBody>
      </p:sp>
      <p:pic>
        <p:nvPicPr>
          <p:cNvPr id="14340" name="Picture 6" descr="http://www.istockphoto.com/file_thumbview_approve/2585519/1/istockphoto_2585519-little-person-big-pen.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7029" y="80181"/>
            <a:ext cx="1385391" cy="1385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7" descr="Image">
            <a:hlinkClick r:id="rId3"/>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3" y="434975"/>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06700" y="4653136"/>
            <a:ext cx="7689850" cy="830997"/>
          </a:xfrm>
          <a:prstGeom prst="rect">
            <a:avLst/>
          </a:prstGeom>
          <a:solidFill>
            <a:schemeClr val="bg1"/>
          </a:solidFill>
        </p:spPr>
        <p:txBody>
          <a:bodyPr wrap="square">
            <a:spAutoFit/>
          </a:bodyPr>
          <a:lstStyle/>
          <a:p>
            <a:r>
              <a:rPr lang="en-GB" sz="2400" dirty="0" smtClean="0"/>
              <a:t>Useful resource </a:t>
            </a:r>
            <a:r>
              <a:rPr lang="en-GB" sz="2400" dirty="0" smtClean="0">
                <a:hlinkClick r:id="rId6"/>
              </a:rPr>
              <a:t>http</a:t>
            </a:r>
            <a:r>
              <a:rPr lang="en-GB" sz="2400" dirty="0">
                <a:hlinkClick r:id="rId6"/>
              </a:rPr>
              <a:t>://www.phrasebank.manchester.ac.uk/being-critical</a:t>
            </a:r>
            <a:r>
              <a:rPr lang="en-GB" sz="2400" dirty="0" smtClean="0">
                <a:hlinkClick r:id="rId6"/>
              </a:rPr>
              <a:t>/</a:t>
            </a:r>
            <a:r>
              <a:rPr lang="en-GB" sz="2400" dirty="0" smtClean="0"/>
              <a:t> </a:t>
            </a:r>
            <a:endParaRPr lang="en-GB" sz="2400" dirty="0"/>
          </a:p>
        </p:txBody>
      </p:sp>
      <p:sp>
        <p:nvSpPr>
          <p:cNvPr id="8" name="Title 1"/>
          <p:cNvSpPr txBox="1">
            <a:spLocks/>
          </p:cNvSpPr>
          <p:nvPr/>
        </p:nvSpPr>
        <p:spPr>
          <a:xfrm>
            <a:off x="387900" y="765745"/>
            <a:ext cx="8229600" cy="939800"/>
          </a:xfrm>
          <a:prstGeom prst="rect">
            <a:avLst/>
          </a:prstGeom>
        </p:spPr>
        <p:txBody>
          <a:bodyP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defRPr/>
            </a:pPr>
            <a:r>
              <a:rPr lang="en-GB" sz="3200" dirty="0" smtClean="0">
                <a:solidFill>
                  <a:schemeClr val="tx1"/>
                </a:solidFill>
              </a:rPr>
              <a:t>Critical vs. Descriptive writing</a:t>
            </a:r>
            <a:endParaRPr lang="en-GB" sz="4400" dirty="0" smtClean="0">
              <a:solidFill>
                <a:schemeClr val="tx1"/>
              </a:solidFill>
            </a:endParaRPr>
          </a:p>
        </p:txBody>
      </p:sp>
    </p:spTree>
    <p:extLst>
      <p:ext uri="{BB962C8B-B14F-4D97-AF65-F5344CB8AC3E}">
        <p14:creationId xmlns:p14="http://schemas.microsoft.com/office/powerpoint/2010/main" val="8373341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67544" y="476672"/>
            <a:ext cx="8229600" cy="939800"/>
          </a:xfrm>
        </p:spPr>
        <p:txBody>
          <a:bodyPr>
            <a:normAutofit/>
          </a:bodyPr>
          <a:lstStyle/>
          <a:p>
            <a:pPr eaLnBrk="1" hangingPunct="1">
              <a:defRPr/>
            </a:pPr>
            <a:r>
              <a:rPr lang="en-GB" sz="3600" dirty="0" smtClean="0"/>
              <a:t>Critiquing…</a:t>
            </a:r>
            <a:endParaRPr lang="en-GB" sz="4800" dirty="0" smtClean="0"/>
          </a:p>
        </p:txBody>
      </p:sp>
      <p:sp>
        <p:nvSpPr>
          <p:cNvPr id="8195" name="Content Placeholder 2"/>
          <p:cNvSpPr>
            <a:spLocks noGrp="1"/>
          </p:cNvSpPr>
          <p:nvPr>
            <p:ph idx="1"/>
          </p:nvPr>
        </p:nvSpPr>
        <p:spPr>
          <a:xfrm>
            <a:off x="185575" y="1484890"/>
            <a:ext cx="8229600" cy="4248366"/>
          </a:xfrm>
        </p:spPr>
        <p:txBody>
          <a:bodyPr>
            <a:normAutofit/>
          </a:bodyPr>
          <a:lstStyle/>
          <a:p>
            <a:pPr marL="0" indent="0" eaLnBrk="1" hangingPunct="1">
              <a:buClr>
                <a:srgbClr val="C00000"/>
              </a:buClr>
              <a:buNone/>
            </a:pPr>
            <a:endParaRPr lang="en-GB" altLang="en-US" dirty="0" smtClean="0">
              <a:solidFill>
                <a:schemeClr val="bg1"/>
              </a:solidFill>
            </a:endParaRPr>
          </a:p>
        </p:txBody>
      </p:sp>
      <p:sp>
        <p:nvSpPr>
          <p:cNvPr id="2" name="Rectangle 1"/>
          <p:cNvSpPr/>
          <p:nvPr/>
        </p:nvSpPr>
        <p:spPr>
          <a:xfrm>
            <a:off x="467544" y="1556792"/>
            <a:ext cx="3456384" cy="40324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AutoNum type="arabicParenR"/>
            </a:pPr>
            <a:r>
              <a:rPr lang="en-GB" b="1" u="sng" dirty="0" smtClean="0"/>
              <a:t>The TOPIC itself</a:t>
            </a:r>
          </a:p>
          <a:p>
            <a:pPr algn="ctr"/>
            <a:endParaRPr lang="en-GB" dirty="0"/>
          </a:p>
          <a:p>
            <a:pPr algn="ctr"/>
            <a:r>
              <a:rPr lang="en-GB" dirty="0" smtClean="0"/>
              <a:t>e.g. Critically evaluate breast-feeding</a:t>
            </a:r>
          </a:p>
          <a:p>
            <a:pPr algn="ctr"/>
            <a:endParaRPr lang="en-GB" dirty="0"/>
          </a:p>
          <a:p>
            <a:pPr algn="ctr"/>
            <a:r>
              <a:rPr lang="en-GB" dirty="0" smtClean="0"/>
              <a:t>You could look at:</a:t>
            </a:r>
          </a:p>
          <a:p>
            <a:pPr algn="ctr"/>
            <a:endParaRPr lang="en-GB" dirty="0" smtClean="0"/>
          </a:p>
          <a:p>
            <a:pPr marL="285750" indent="-285750" algn="ctr">
              <a:buFontTx/>
              <a:buChar char="-"/>
            </a:pPr>
            <a:r>
              <a:rPr lang="en-GB" dirty="0" smtClean="0"/>
              <a:t>Strengths of breast feeding </a:t>
            </a:r>
          </a:p>
          <a:p>
            <a:pPr marL="285750" indent="-285750" algn="ctr">
              <a:buFontTx/>
              <a:buChar char="-"/>
            </a:pPr>
            <a:r>
              <a:rPr lang="en-GB" dirty="0" smtClean="0"/>
              <a:t>Limitations of breast feeding</a:t>
            </a:r>
          </a:p>
          <a:p>
            <a:pPr marL="285750" indent="-285750" algn="ctr">
              <a:buFontTx/>
              <a:buChar char="-"/>
            </a:pPr>
            <a:r>
              <a:rPr lang="en-GB" dirty="0" smtClean="0"/>
              <a:t>Compare and contrast findings on this…</a:t>
            </a:r>
          </a:p>
          <a:p>
            <a:pPr marL="285750" indent="-285750" algn="ctr">
              <a:buFontTx/>
              <a:buChar char="-"/>
            </a:pPr>
            <a:endParaRPr lang="en-GB" dirty="0" smtClean="0"/>
          </a:p>
          <a:p>
            <a:pPr algn="ctr"/>
            <a:r>
              <a:rPr lang="en-GB" dirty="0" smtClean="0"/>
              <a:t>ALWAYS DRAWING FROM QUALITY LITERATURE</a:t>
            </a:r>
            <a:endParaRPr lang="en-GB" dirty="0"/>
          </a:p>
        </p:txBody>
      </p:sp>
      <p:sp>
        <p:nvSpPr>
          <p:cNvPr id="6" name="Rectangle 5"/>
          <p:cNvSpPr/>
          <p:nvPr/>
        </p:nvSpPr>
        <p:spPr>
          <a:xfrm>
            <a:off x="4860032" y="1556792"/>
            <a:ext cx="3456384" cy="403244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smtClean="0">
                <a:solidFill>
                  <a:schemeClr val="tx1"/>
                </a:solidFill>
              </a:rPr>
              <a:t>2) </a:t>
            </a:r>
            <a:r>
              <a:rPr lang="en-GB" b="1" u="sng" dirty="0" smtClean="0">
                <a:solidFill>
                  <a:schemeClr val="tx1"/>
                </a:solidFill>
              </a:rPr>
              <a:t>The RESEARCH PAPER</a:t>
            </a:r>
          </a:p>
          <a:p>
            <a:pPr algn="ctr"/>
            <a:endParaRPr lang="en-GB" dirty="0">
              <a:solidFill>
                <a:schemeClr val="tx1"/>
              </a:solidFill>
            </a:endParaRPr>
          </a:p>
          <a:p>
            <a:pPr algn="ctr"/>
            <a:r>
              <a:rPr lang="en-GB" dirty="0" smtClean="0">
                <a:solidFill>
                  <a:schemeClr val="tx1"/>
                </a:solidFill>
              </a:rPr>
              <a:t>You should also critique the PAPERS/STUDIES themselves</a:t>
            </a:r>
          </a:p>
          <a:p>
            <a:pPr algn="ctr"/>
            <a:endParaRPr lang="en-GB" dirty="0">
              <a:solidFill>
                <a:schemeClr val="tx1"/>
              </a:solidFill>
            </a:endParaRPr>
          </a:p>
          <a:p>
            <a:pPr algn="ctr"/>
            <a:r>
              <a:rPr lang="en-GB" dirty="0" smtClean="0">
                <a:solidFill>
                  <a:schemeClr val="tx1"/>
                </a:solidFill>
              </a:rPr>
              <a:t>You could look at:</a:t>
            </a:r>
          </a:p>
          <a:p>
            <a:pPr algn="ctr"/>
            <a:endParaRPr lang="en-GB" dirty="0">
              <a:solidFill>
                <a:schemeClr val="tx1"/>
              </a:solidFill>
            </a:endParaRPr>
          </a:p>
          <a:p>
            <a:pPr marL="285750" indent="-285750" algn="ctr">
              <a:buFontTx/>
              <a:buChar char="-"/>
            </a:pPr>
            <a:r>
              <a:rPr lang="en-GB" dirty="0" smtClean="0">
                <a:solidFill>
                  <a:schemeClr val="tx1"/>
                </a:solidFill>
              </a:rPr>
              <a:t>The methods used</a:t>
            </a:r>
          </a:p>
          <a:p>
            <a:pPr marL="285750" indent="-285750" algn="ctr">
              <a:buFontTx/>
              <a:buChar char="-"/>
            </a:pPr>
            <a:r>
              <a:rPr lang="en-GB" dirty="0" smtClean="0">
                <a:solidFill>
                  <a:schemeClr val="tx1"/>
                </a:solidFill>
              </a:rPr>
              <a:t>The number of participants</a:t>
            </a:r>
          </a:p>
          <a:p>
            <a:pPr marL="285750" indent="-285750" algn="ctr">
              <a:buFontTx/>
              <a:buChar char="-"/>
            </a:pPr>
            <a:r>
              <a:rPr lang="en-GB" dirty="0" smtClean="0">
                <a:solidFill>
                  <a:schemeClr val="tx1"/>
                </a:solidFill>
              </a:rPr>
              <a:t>The questions asked</a:t>
            </a:r>
          </a:p>
          <a:p>
            <a:pPr marL="285750" indent="-285750" algn="ctr">
              <a:buFontTx/>
              <a:buChar char="-"/>
            </a:pPr>
            <a:r>
              <a:rPr lang="en-GB" dirty="0" smtClean="0">
                <a:solidFill>
                  <a:schemeClr val="tx1"/>
                </a:solidFill>
              </a:rPr>
              <a:t>Conclusions drawn </a:t>
            </a:r>
          </a:p>
          <a:p>
            <a:pPr marL="285750" indent="-285750" algn="ctr">
              <a:buFontTx/>
              <a:buChar char="-"/>
            </a:pPr>
            <a:r>
              <a:rPr lang="en-GB" dirty="0" smtClean="0">
                <a:solidFill>
                  <a:schemeClr val="tx1"/>
                </a:solidFill>
              </a:rPr>
              <a:t>Was the researched peer-reviewed etc. </a:t>
            </a:r>
          </a:p>
          <a:p>
            <a:pPr marL="285750" indent="-285750" algn="ctr">
              <a:buFontTx/>
              <a:buChar char="-"/>
            </a:pPr>
            <a:endParaRPr lang="en-GB" dirty="0"/>
          </a:p>
        </p:txBody>
      </p:sp>
    </p:spTree>
    <p:extLst>
      <p:ext uri="{BB962C8B-B14F-4D97-AF65-F5344CB8AC3E}">
        <p14:creationId xmlns:p14="http://schemas.microsoft.com/office/powerpoint/2010/main" val="295221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468242"/>
            <a:ext cx="5832648" cy="36529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utoShape 2" descr="data:image/jpeg;base64,/9j/4AAQSkZJRgABAQAAAQABAAD/2wCEAAkGBw8NDQ0PDw8NDQ0NDQ0NDQ0NDQ8NDQ0NFREWFhURExUYHSggGBolGxUVITEhJSktLi46Fx8zODMtODQtNSsBCgoKDg0OGhAQGy0lHyUtLS0tLS0tLS0tLS0tLS0tLS0tLS0tLS0tLS0tLS0tLS0tLS0tLS0tLS0tLS0tLS0tLf/AABEIAOQA3QMBEQACEQEDEQH/xAAbAAEBAAMBAQEAAAAAAAAAAAAAAQIEBQMGB//EAEEQAAIBAgEHCQUFBQkAAAAAAAABAgMRBAUGEjFBUXEhIjOBkaGxwdETMlJhchQjQkOiBxVzk+EWJGJjgpKjssL/xAAaAQEBAQADAQAAAAAAAAAAAAAAAQIDBAUG/8QANBEBAAEDAQQHBgcBAQEAAAAAAAECAxExBAUhQRITMlFhcaFCgZGxwdEVIiMkM1LhFPAG/9oADAMBAAIRAxEAPwD9xAAAAAAAAAAAAAAAAAAAAAAAAAAAAAAAAAAAAAAAAAAAAAAAABpZZyjDB4atiJ3caMHKy1yepLrbRmqqKYzLsbLs9W0XqbVOsy/MYZ4ZWnKNf2tGFOfOp4d0Yum433+9+o8mrbLuc8n2M7n3dTE2+jMzGtWeP29H6Dmrl+OUaDno+zrU5aFele6jK1009sXs6z0bF+LtOXy28dgq2O70c5pnjE98feHaOd54AAAAAAAAAAAIBi2BYgZAAAAAAAAAAAD5nPvOj914eDioyr15OFLS92CXvTktqV1yfM4b13oRHfL1t0bt/wC27PSnFNPGfpHvfkmUM8MRiKNeFfEVKyqvRUE9CmrNO+itzOjermYmnpZfXWtk2ezdoqs0RGNZ1nu1buEy1h6mEownenWowUE9G8KkVqae86NU8nLXsl2L9VdHGmrj4w+7/ZjgKsI4rE1Iyp08R7KNGM04ynGGlepZ7HpWXA9LYLdVNM1Vc3zX/wBDtFuqqizTOZpznHjjh6cX3Fzv9KIfNppreu0zN2iOcfFcSntI/Eu1GJ2i1HtR8YXoz3J7aHxLtMztdiPbj4nQq7k+0Q+JGJ27Z49perq7k+0w39zMTvHZ/wC3pP2Xqqk+1Q3vsJO8rEc5+B1VT1pzUkmr2e87dq7TdoiunSWKoxOGRyIAAACwHnUqKCu9V7ajivXqbVPSqWKZnR5vGQ+fYdOd52PH4N9VUxeOjul3GZ3ra7p9PuvVSjxy+F9xid7W/wCsr1Mp9vXw95md7Ryp9TqvFg8of4e8z+LTnhT6/wCL1Pijx73LvMzvWv8ArB1UI8dLdHsZid6XuUR6/deqpYyx0/l2E/Eb06THwXq6XhUyhUX4u5E/7r8+16QvV0uTlTL9SjFv2jXVH0N07VfqntfJumzTPJ+a58ZSnjY05Tm5uk5Rim1yKVr27DVdVczE1Tl9RuLoUTXa0mrEx44fGU6LvvQmuMPct7PVl+l/swpynUqPQSpU6dnzbpzbVuV7eRnRuzh5O/qabVummJ/NMv0rSOHpz3vk8FyZC5OAlyoaRmZDTJ0jC3JkVMDo4R8xcX4n0+7Zzs8e/wCbq3e09jvOMAAAAGrjnyLiefvP+D3w5LXaaR87LsMWhhUsBGBGXAgC4GLZRr1jUK+Yzlw0qkOTYztWaohy25xL5eGSHUa0o3ad4trUzkuXM0zDu27nQmKo5O5kzMnD1bSqKpHeoTsvA6XXy9Cd+7TRGIxPjMPtcnYClhaap0YKEFsWtve3tZwzV0p4vGv7Rcv19O5OZbRMy4QckUs8EABJFZcoljOFZIqOhgnzOtn0e65/Q98utd7TYPRcQAAAANPHbDo7xjNifOG7faah85LslgqWJqMWixAjCpYSjFkEZdFeVSJYngNaph1LWaipqJSlgIp6hNa9KW/SpKJwTPEy9DOQLmEDUAVACjAACSioK6GBfNf1eSPod0z+jPn9IdW92myem4gAAAAaWO1x6/A6e3xmxV7vm3R2msfNS7AFQghcqjQngJYSMbEVGhAxcSCKBqVekY2MzIyZx1cVhDMgWmQNwga4gUAgZlVAqIN/Ae7Lj5Hv7onNurz+kOte1htHrOEAAAAGjj/ehxfgzq7bGbFTdHah4HzLsIRQYEAglUsQQTIlgqWAthIyRAaJMLCHFhUQiBbHLjuQKgXAWJEBYswFgMkiTA3sBqlxR7m6ezV5w697WG0eu4QAAAAc/KL51P6vI6+1xmzX5NU6wwsfMuyljPFUYEM8RGUQKgAYCxICxZVSQBnAhhUMz3qHLE5QCBoCxICZkUmRUOY3cA/e6vM9ndE9uPL6uC9ybZ7LgAAAABzMqu0qX8SPicO0Rm1V5StOsKfLy7SWIMTMqjAhBBOqliiDIpNAACZAchDEqhieChqkDfJFEAOYhQApNRuYDXLgj190T+auPJw3tIbp7jrgAAAA5OXJW9m/8yH/AGRi7GaKvKVjV6nykaO0jQEZlWLQwIyZEZMqg1EKKQCAMAPIQVQoYmFQkAckcUBMAANQAFEyNvAPlfDzPU3T/JV5fVw3tIbx7rrgAAAA4mckrQT3Si+8lUZiRtnyURiOLtIxKoyCEVi0ZViOICBAIQUAMAAZVQxxEMKptENgJyBBC5ADcwD5z+k9LdU/rT5fWHFe0b59A6wAAAAODnZ0EuAG7SelCL3xT7UfKzGseLs5VoxMKhnkqMisWiTAxZJhUGggAAAAEAsd4EkRmJhQsY5iG8oDKoMAACtrAPn9TPQ3XP6/ulxXuy6J9E6oAAAAODnZ0EuAHrkmelhsO99Gn26KPmrkYu1x4y7EaNpo4aoaYmYVDOAMqwZJgYsZVCTOQLIAAAAsAQRmZhQzChtENIgmFBPACDYwPvrg/A727p/cR5S47vZdM+kdUAAAAHCzq6GXADDNyV8Fh/4duxteR87tXC9X5uenR0jgaRmZhWJnCoZxgRkxOVYSIMSYVAAAuBSAXiAkCYEMKG4RC8gYwqAAPfBP7yPX4Hc2Cf3FPv8Ak47nZl1D6V1QAAAAcPOjoZcANfNV3wVH5e1X/JI8DbI/cVe75Q56NHWOpMNIMCWM4VCTSozM+AwZFYMnAQQIFCaAMAUBIDwAk+CoZzIHJHFAmJAcVQo9sJ0keJ2NinG0UMXOzLqn1DqAAAAA4mc/Qy4AaWaL/ucPlUqr9bfmeDt3C/PlDmo0do6ucthBAIzMqGRg0ZmGmLM8xgwqEAoEgCgWUCKADMSqGkBkQTMqCNR6Yb34/Ujn2Xhfo84Zr7MuufVOmAAAADiZzdDLgBzszZXwsl8Neou6L8zw94R+t7o+rmt6O6dFtSxwASIzMqhMCSJMLDBoxhWLGBiQAqACgAIIAJpKhciFQJlUA9KL58fqXicticXafOPmzVpLsH1jpgAAAA4ucvQy4AcfMiX3NdbsQ32wj6Hi7y/kpnw+sua3o+jPPy2DRS5MiE6XeBkQKwkzMyrG5MwIwIJAohFBqITAFAgAQqhEQ0Mqb5y4o1bnFcecfMnR2j650gAAAAcXOXoZcAOBmLPkxcd1SD7U/Q8fecfno8pctvm+qPN4ORCc1DMgSALgQKxaMzGVYtGeiIWBB4CAQnmoUAISQKIAuTAFEADnlXcPsHRAAAABxs5OilwA+YzEl99jI/KlLvn6nlb0jsT5/RyW+b7E8uXKGVQmQIAyIJ4qEgYsgxZM5VCYGJcgJ0EEAOCoAADIgwAAswISR246lwPr6ZzEOlKlAAAA4+cfRS4AfJ5kStjMSt9K/ZNep528o/JTPj9HJb1fbHj4cqGZwBFQgE4CFVCCMaCE0VCDFlyIQRgCQIVQSIUGZEKAyBJHapPmx+leB9banNumfCHTq1ZHIgAAAcjOHonwA+MzRlbKM18VGov1RZ0N4/w58Ybt6vuzxXMGccRCKE4CF0AkZVAIQRiYEJyELHiMWMcBLDChNBAqBACBQmAAFHYoe5D6Y+B9Ts/8NHlHydSrtS9DmZAAADk5fX3T4AfEZtrRynD5xqr9LfkdLeEZsT7vm3Rq++PCcwMgZlUZcAzOBBxEbEKgEJAggQYEYECoPIAIOQxIIAGAERKlwOxhX93Dgj6bZP4KPJ1K+1L1OyyAAAHMy1G9NgfF5Jho5Qov5zXbBnV2yM2KmqO0+4Pn4dgIAAghR5yqRWuUVxaRMTyV5SxlJa6tJcakV5moornSJ+Epl4yyph1rr0f5sPU1Fi7PsT8JOlHe8pZbwq/PpdUr+BqNlvz7Ep0qe95yzgwi/OT4Rm/I3/xX59n1j7nTp72DzjwvxyfCnP0NRu+/PL1hOspebzkw+xVXwp+rNRu29OuPidZDH+0VJ6qdd/6YL/0bjdl3vj1+ydbC/v1PVRqdbijX4XX/AGhOthVlWb1UJdc/6Gvwqf7en+nW+DNY2tLVRS4zb8jUbqjnX6f6nW+D1jUxD/Lgv9zNRuuj+0+h1svSNHEPZBdT9Tcbstd8/wDvcnWy94YKu9bXYajdtjx+J1tTZpZOl+KRqN37PHs+sp1lTahgoLWrm42KxHsnTq72xGKSSXIlqR2KaYpjEaMTOVNAAAAaWUo3gwPjsTQlCopw5Jxd4u17MxXRTXTNNWkrE4atbKmNWqtJcIU/Q68bDs8ez6z916dTTqZRxz/Pq9TS8EbjZLMezB0pebxGNlrr4j+bNeZqNntR7MfBOlLH2OKlrq13xqTfmai1RGlMfCDMslk6vLW5vi2zcUxHJGccg1Ja0+wo96ebVR7O4DZp5rTe8Dap5pvaBtU81FtA2qea8FsA2qebtJbEBswyJSWxAe8MmU1+FAescHBbEB6KhFbEBkoLcgLYCgAAAAAAAAPKvT0kBzauTdIDxeRIsDKOQobgPaGRqa2ID2jkumtiA9Y4GC2ID0WGitiAzVKO4CqK3AWwFAAAAAAAAAAAAAAAgFAAAAAAAAAAAAAAAAAAAAAAAAAAAAAAAAAAAAAAAAAAAAAAAAAAAAAAAAAAAAAAAAAAP//Z">
            <a:hlinkClick r:id="rId3"/>
          </p:cNvPr>
          <p:cNvSpPr>
            <a:spLocks noChangeAspect="1" noChangeArrowheads="1"/>
          </p:cNvSpPr>
          <p:nvPr/>
        </p:nvSpPr>
        <p:spPr bwMode="auto">
          <a:xfrm>
            <a:off x="57150" y="-1881188"/>
            <a:ext cx="38100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p:txBody>
          <a:bodyPr>
            <a:normAutofit/>
          </a:bodyPr>
          <a:lstStyle/>
          <a:p>
            <a:r>
              <a:rPr lang="en-GB" dirty="0" smtClean="0"/>
              <a:t>Critical thought should begin…</a:t>
            </a:r>
            <a:endParaRPr lang="en-GB" dirty="0"/>
          </a:p>
        </p:txBody>
      </p:sp>
      <p:sp>
        <p:nvSpPr>
          <p:cNvPr id="6" name="Rectangle 5"/>
          <p:cNvSpPr/>
          <p:nvPr/>
        </p:nvSpPr>
        <p:spPr>
          <a:xfrm rot="19635132">
            <a:off x="1302006" y="3803147"/>
            <a:ext cx="6367187" cy="8361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…from the minute you start reading! </a:t>
            </a:r>
            <a:endParaRPr lang="en-GB" sz="2800" dirty="0"/>
          </a:p>
        </p:txBody>
      </p:sp>
      <p:pic>
        <p:nvPicPr>
          <p:cNvPr id="2051" name="Picture 3"/>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316" b="85965" l="9502" r="85068"/>
                    </a14:imgEffect>
                  </a14:imgLayer>
                </a14:imgProps>
              </a:ext>
              <a:ext uri="{28A0092B-C50C-407E-A947-70E740481C1C}">
                <a14:useLocalDpi xmlns:a14="http://schemas.microsoft.com/office/drawing/2010/main" val="0"/>
              </a:ext>
            </a:extLst>
          </a:blip>
          <a:srcRect l="7697" r="5877" b="4312"/>
          <a:stretch/>
        </p:blipFill>
        <p:spPr bwMode="auto">
          <a:xfrm rot="20791745">
            <a:off x="275675" y="2377664"/>
            <a:ext cx="3559158" cy="4065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rot="20461274">
            <a:off x="628801" y="3074945"/>
            <a:ext cx="2664296" cy="3385542"/>
          </a:xfrm>
          <a:prstGeom prst="rect">
            <a:avLst/>
          </a:prstGeom>
          <a:noFill/>
        </p:spPr>
        <p:txBody>
          <a:bodyPr wrap="square" rtlCol="0">
            <a:spAutoFit/>
          </a:bodyPr>
          <a:lstStyle/>
          <a:p>
            <a:pPr marL="285750" indent="-285750">
              <a:buFont typeface="Arial" panose="020B0604020202020204" pitchFamily="34" charset="0"/>
              <a:buChar char="•"/>
            </a:pPr>
            <a:r>
              <a:rPr lang="en-GB" sz="1600" dirty="0" smtClean="0">
                <a:latin typeface="Lucida Handwriting" panose="03010101010101010101" pitchFamily="66" charset="0"/>
              </a:rPr>
              <a:t>Contextual info – could use for intro.</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Method</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Results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Strengths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Weaknesses</a:t>
            </a:r>
          </a:p>
          <a:p>
            <a:pPr marL="285750" indent="-285750">
              <a:buFont typeface="Arial" panose="020B0604020202020204" pitchFamily="34" charset="0"/>
              <a:buChar char="•"/>
            </a:pPr>
            <a:endParaRPr lang="en-GB" dirty="0"/>
          </a:p>
          <a:p>
            <a:endParaRPr lang="en-GB" dirty="0"/>
          </a:p>
        </p:txBody>
      </p:sp>
      <p:pic>
        <p:nvPicPr>
          <p:cNvPr id="2052" name="Picture 4"/>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315" b="89815" l="9871" r="89700"/>
                    </a14:imgEffect>
                  </a14:imgLayer>
                </a14:imgProps>
              </a:ext>
              <a:ext uri="{28A0092B-C50C-407E-A947-70E740481C1C}">
                <a14:useLocalDpi xmlns:a14="http://schemas.microsoft.com/office/drawing/2010/main" val="0"/>
              </a:ext>
            </a:extLst>
          </a:blip>
          <a:srcRect/>
          <a:stretch>
            <a:fillRect/>
          </a:stretch>
        </p:blipFill>
        <p:spPr bwMode="auto">
          <a:xfrm>
            <a:off x="2055254" y="2015195"/>
            <a:ext cx="4588983" cy="4358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2987824" y="2785897"/>
            <a:ext cx="2664296" cy="3385542"/>
          </a:xfrm>
          <a:prstGeom prst="rect">
            <a:avLst/>
          </a:prstGeom>
          <a:noFill/>
        </p:spPr>
        <p:txBody>
          <a:bodyPr wrap="square" rtlCol="0">
            <a:spAutoFit/>
          </a:bodyPr>
          <a:lstStyle/>
          <a:p>
            <a:pPr marL="285750" indent="-285750">
              <a:buFont typeface="Arial" panose="020B0604020202020204" pitchFamily="34" charset="0"/>
              <a:buChar char="•"/>
            </a:pPr>
            <a:r>
              <a:rPr lang="en-GB" sz="1600" dirty="0" smtClean="0">
                <a:latin typeface="Lucida Handwriting" panose="03010101010101010101" pitchFamily="66" charset="0"/>
              </a:rPr>
              <a:t>Contextual info – could use for intro.</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Method</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Results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Strengths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Weaknesses</a:t>
            </a:r>
          </a:p>
          <a:p>
            <a:pPr marL="285750" indent="-285750">
              <a:buFont typeface="Arial" panose="020B0604020202020204" pitchFamily="34" charset="0"/>
              <a:buChar char="•"/>
            </a:pPr>
            <a:endParaRPr lang="en-GB" dirty="0"/>
          </a:p>
          <a:p>
            <a:endParaRPr lang="en-GB" dirty="0"/>
          </a:p>
        </p:txBody>
      </p:sp>
      <p:pic>
        <p:nvPicPr>
          <p:cNvPr id="2054" name="Picture 6" descr="http://cliparts.co/cliparts/Lid/oqn/LidoqnK5T.png">
            <a:hlinkClick r:id="rId8"/>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8881" t="8297" r="18391" b="17212"/>
          <a:stretch/>
        </p:blipFill>
        <p:spPr bwMode="auto">
          <a:xfrm rot="939413">
            <a:off x="5376692" y="2566878"/>
            <a:ext cx="3719207" cy="389963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rot="788438">
            <a:off x="5881595" y="3201517"/>
            <a:ext cx="2664296" cy="3385542"/>
          </a:xfrm>
          <a:prstGeom prst="rect">
            <a:avLst/>
          </a:prstGeom>
          <a:noFill/>
        </p:spPr>
        <p:txBody>
          <a:bodyPr wrap="square" rtlCol="0">
            <a:spAutoFit/>
          </a:bodyPr>
          <a:lstStyle/>
          <a:p>
            <a:pPr marL="285750" indent="-285750">
              <a:buFont typeface="Arial" panose="020B0604020202020204" pitchFamily="34" charset="0"/>
              <a:buChar char="•"/>
            </a:pPr>
            <a:r>
              <a:rPr lang="en-GB" sz="1600" dirty="0" smtClean="0">
                <a:latin typeface="Lucida Handwriting" panose="03010101010101010101" pitchFamily="66" charset="0"/>
              </a:rPr>
              <a:t>Contextual info – could use for intro.</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Method</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Results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Strengths</a:t>
            </a:r>
          </a:p>
          <a:p>
            <a:pPr marL="285750" indent="-285750">
              <a:buFont typeface="Arial" panose="020B0604020202020204" pitchFamily="34" charset="0"/>
              <a:buChar char="•"/>
            </a:pPr>
            <a:endParaRPr lang="en-GB" sz="1600" dirty="0">
              <a:latin typeface="Lucida Handwriting" panose="03010101010101010101" pitchFamily="66" charset="0"/>
            </a:endParaRPr>
          </a:p>
          <a:p>
            <a:pPr marL="285750" indent="-285750">
              <a:buFont typeface="Arial" panose="020B0604020202020204" pitchFamily="34" charset="0"/>
              <a:buChar char="•"/>
            </a:pPr>
            <a:r>
              <a:rPr lang="en-GB" sz="1600" dirty="0" smtClean="0">
                <a:latin typeface="Lucida Handwriting" panose="03010101010101010101" pitchFamily="66" charset="0"/>
              </a:rPr>
              <a:t>Weaknesses</a:t>
            </a:r>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423242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fade">
                                      <p:cBhvr>
                                        <p:cTn id="12" dur="1000"/>
                                        <p:tgtEl>
                                          <p:spTgt spid="2051"/>
                                        </p:tgtEl>
                                      </p:cBhvr>
                                    </p:animEffect>
                                    <p:anim calcmode="lin" valueType="num">
                                      <p:cBhvr>
                                        <p:cTn id="13" dur="1000" fill="hold"/>
                                        <p:tgtEl>
                                          <p:spTgt spid="2051"/>
                                        </p:tgtEl>
                                        <p:attrNameLst>
                                          <p:attrName>ppt_x</p:attrName>
                                        </p:attrNameLst>
                                      </p:cBhvr>
                                      <p:tavLst>
                                        <p:tav tm="0">
                                          <p:val>
                                            <p:strVal val="#ppt_x"/>
                                          </p:val>
                                        </p:tav>
                                        <p:tav tm="100000">
                                          <p:val>
                                            <p:strVal val="#ppt_x"/>
                                          </p:val>
                                        </p:tav>
                                      </p:tavLst>
                                    </p:anim>
                                    <p:anim calcmode="lin" valueType="num">
                                      <p:cBhvr>
                                        <p:cTn id="14" dur="1000" fill="hold"/>
                                        <p:tgtEl>
                                          <p:spTgt spid="205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052"/>
                                        </p:tgtEl>
                                        <p:attrNameLst>
                                          <p:attrName>style.visibility</p:attrName>
                                        </p:attrNameLst>
                                      </p:cBhvr>
                                      <p:to>
                                        <p:strVal val="visible"/>
                                      </p:to>
                                    </p:set>
                                    <p:animEffect transition="in" filter="fade">
                                      <p:cBhvr>
                                        <p:cTn id="29" dur="1000"/>
                                        <p:tgtEl>
                                          <p:spTgt spid="2052"/>
                                        </p:tgtEl>
                                      </p:cBhvr>
                                    </p:animEffect>
                                    <p:anim calcmode="lin" valueType="num">
                                      <p:cBhvr>
                                        <p:cTn id="30" dur="1000" fill="hold"/>
                                        <p:tgtEl>
                                          <p:spTgt spid="2052"/>
                                        </p:tgtEl>
                                        <p:attrNameLst>
                                          <p:attrName>ppt_x</p:attrName>
                                        </p:attrNameLst>
                                      </p:cBhvr>
                                      <p:tavLst>
                                        <p:tav tm="0">
                                          <p:val>
                                            <p:strVal val="#ppt_x"/>
                                          </p:val>
                                        </p:tav>
                                        <p:tav tm="100000">
                                          <p:val>
                                            <p:strVal val="#ppt_x"/>
                                          </p:val>
                                        </p:tav>
                                      </p:tavLst>
                                    </p:anim>
                                    <p:anim calcmode="lin" valueType="num">
                                      <p:cBhvr>
                                        <p:cTn id="31"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054"/>
                                        </p:tgtEl>
                                        <p:attrNameLst>
                                          <p:attrName>style.visibility</p:attrName>
                                        </p:attrNameLst>
                                      </p:cBhvr>
                                      <p:to>
                                        <p:strVal val="visible"/>
                                      </p:to>
                                    </p:set>
                                    <p:anim calcmode="lin" valueType="num">
                                      <p:cBhvr additive="base">
                                        <p:cTn id="36" dur="500" fill="hold"/>
                                        <p:tgtEl>
                                          <p:spTgt spid="2054"/>
                                        </p:tgtEl>
                                        <p:attrNameLst>
                                          <p:attrName>ppt_x</p:attrName>
                                        </p:attrNameLst>
                                      </p:cBhvr>
                                      <p:tavLst>
                                        <p:tav tm="0">
                                          <p:val>
                                            <p:strVal val="#ppt_x"/>
                                          </p:val>
                                        </p:tav>
                                        <p:tav tm="100000">
                                          <p:val>
                                            <p:strVal val="#ppt_x"/>
                                          </p:val>
                                        </p:tav>
                                      </p:tavLst>
                                    </p:anim>
                                    <p:anim calcmode="lin" valueType="num">
                                      <p:cBhvr additive="base">
                                        <p:cTn id="37" dur="500" fill="hold"/>
                                        <p:tgtEl>
                                          <p:spTgt spid="205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ppt_x"/>
                                          </p:val>
                                        </p:tav>
                                        <p:tav tm="100000">
                                          <p:val>
                                            <p:strVal val="#ppt_x"/>
                                          </p:val>
                                        </p:tav>
                                      </p:tavLst>
                                    </p:anim>
                                    <p:anim calcmode="lin" valueType="num">
                                      <p:cBhvr additive="base">
                                        <p:cTn id="4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3"/>
          <p:cNvGraphicFramePr>
            <a:graphicFrameLocks/>
          </p:cNvGraphicFramePr>
          <p:nvPr>
            <p:extLst/>
          </p:nvPr>
        </p:nvGraphicFramePr>
        <p:xfrm>
          <a:off x="206968" y="1458662"/>
          <a:ext cx="8613505" cy="1790900"/>
        </p:xfrm>
        <a:graphic>
          <a:graphicData uri="http://schemas.openxmlformats.org/drawingml/2006/table">
            <a:tbl>
              <a:tblPr firstRow="1" bandRow="1">
                <a:tableStyleId>{5C22544A-7EE6-4342-B048-85BDC9FD1C3A}</a:tableStyleId>
              </a:tblPr>
              <a:tblGrid>
                <a:gridCol w="758293">
                  <a:extLst>
                    <a:ext uri="{9D8B030D-6E8A-4147-A177-3AD203B41FA5}">
                      <a16:colId xmlns:a16="http://schemas.microsoft.com/office/drawing/2014/main" xmlns="" val="20000"/>
                    </a:ext>
                  </a:extLst>
                </a:gridCol>
                <a:gridCol w="1213988">
                  <a:extLst>
                    <a:ext uri="{9D8B030D-6E8A-4147-A177-3AD203B41FA5}">
                      <a16:colId xmlns:a16="http://schemas.microsoft.com/office/drawing/2014/main" xmlns="" val="20001"/>
                    </a:ext>
                  </a:extLst>
                </a:gridCol>
                <a:gridCol w="1240623">
                  <a:extLst>
                    <a:ext uri="{9D8B030D-6E8A-4147-A177-3AD203B41FA5}">
                      <a16:colId xmlns:a16="http://schemas.microsoft.com/office/drawing/2014/main" xmlns="" val="20002"/>
                    </a:ext>
                  </a:extLst>
                </a:gridCol>
                <a:gridCol w="1830051">
                  <a:extLst>
                    <a:ext uri="{9D8B030D-6E8A-4147-A177-3AD203B41FA5}">
                      <a16:colId xmlns:a16="http://schemas.microsoft.com/office/drawing/2014/main" xmlns="" val="20003"/>
                    </a:ext>
                  </a:extLst>
                </a:gridCol>
                <a:gridCol w="1571042">
                  <a:extLst>
                    <a:ext uri="{9D8B030D-6E8A-4147-A177-3AD203B41FA5}">
                      <a16:colId xmlns:a16="http://schemas.microsoft.com/office/drawing/2014/main" xmlns="" val="20004"/>
                    </a:ext>
                  </a:extLst>
                </a:gridCol>
                <a:gridCol w="1783483">
                  <a:extLst>
                    <a:ext uri="{9D8B030D-6E8A-4147-A177-3AD203B41FA5}">
                      <a16:colId xmlns:a16="http://schemas.microsoft.com/office/drawing/2014/main" xmlns="" val="20005"/>
                    </a:ext>
                  </a:extLst>
                </a:gridCol>
                <a:gridCol w="216025">
                  <a:extLst>
                    <a:ext uri="{9D8B030D-6E8A-4147-A177-3AD203B41FA5}">
                      <a16:colId xmlns:a16="http://schemas.microsoft.com/office/drawing/2014/main" xmlns="" val="20006"/>
                    </a:ext>
                  </a:extLst>
                </a:gridCol>
              </a:tblGrid>
              <a:tr h="602186">
                <a:tc>
                  <a:txBody>
                    <a:bodyPr/>
                    <a:lstStyle/>
                    <a:p>
                      <a:r>
                        <a:rPr lang="en-GB" sz="1050" b="1" dirty="0" smtClean="0"/>
                        <a:t>Authors</a:t>
                      </a:r>
                      <a:endParaRPr lang="en-GB" sz="1050" b="1" dirty="0"/>
                    </a:p>
                  </a:txBody>
                  <a:tcPr marL="91438" marR="91438" marT="45717" marB="45717"/>
                </a:tc>
                <a:tc>
                  <a:txBody>
                    <a:bodyPr/>
                    <a:lstStyle/>
                    <a:p>
                      <a:r>
                        <a:rPr lang="en-GB" sz="1050" b="1" dirty="0" smtClean="0"/>
                        <a:t>Topic/Practice / Product etc.  </a:t>
                      </a:r>
                      <a:endParaRPr lang="en-GB" sz="1050" b="1" dirty="0"/>
                    </a:p>
                  </a:txBody>
                  <a:tcPr marL="91438" marR="91438" marT="45717" marB="45717"/>
                </a:tc>
                <a:tc>
                  <a:txBody>
                    <a:bodyPr/>
                    <a:lstStyle/>
                    <a:p>
                      <a:r>
                        <a:rPr lang="en-GB" sz="1200" b="1" dirty="0" smtClean="0"/>
                        <a:t>For what purpose?</a:t>
                      </a:r>
                      <a:endParaRPr lang="en-GB" sz="1200" b="1" dirty="0"/>
                    </a:p>
                  </a:txBody>
                  <a:tcPr marL="91438" marR="91438" marT="45717" marB="45717"/>
                </a:tc>
                <a:tc>
                  <a:txBody>
                    <a:bodyPr/>
                    <a:lstStyle/>
                    <a:p>
                      <a:r>
                        <a:rPr lang="en-GB" sz="1200" b="1" dirty="0" smtClean="0">
                          <a:solidFill>
                            <a:srgbClr val="FFFF00"/>
                          </a:solidFill>
                        </a:rPr>
                        <a:t>Strengths</a:t>
                      </a:r>
                      <a:endParaRPr lang="en-GB" sz="1200" b="1" dirty="0">
                        <a:solidFill>
                          <a:srgbClr val="FFFF00"/>
                        </a:solidFill>
                      </a:endParaRPr>
                    </a:p>
                  </a:txBody>
                  <a:tcPr marL="91438" marR="91438" marT="45717" marB="45717"/>
                </a:tc>
                <a:tc>
                  <a:txBody>
                    <a:bodyPr/>
                    <a:lstStyle/>
                    <a:p>
                      <a:r>
                        <a:rPr lang="en-GB" sz="1200" b="1" dirty="0" smtClean="0">
                          <a:solidFill>
                            <a:srgbClr val="FFFF00"/>
                          </a:solidFill>
                        </a:rPr>
                        <a:t>Weaknesses</a:t>
                      </a:r>
                      <a:endParaRPr lang="en-GB" sz="1200" b="1" dirty="0">
                        <a:solidFill>
                          <a:srgbClr val="FFFF00"/>
                        </a:solidFill>
                      </a:endParaRPr>
                    </a:p>
                  </a:txBody>
                  <a:tcPr marL="91438" marR="91438" marT="45717" marB="45717"/>
                </a:tc>
                <a:tc>
                  <a:txBody>
                    <a:bodyPr/>
                    <a:lstStyle/>
                    <a:p>
                      <a:r>
                        <a:rPr lang="en-GB" sz="1000" b="1" dirty="0" smtClean="0">
                          <a:solidFill>
                            <a:srgbClr val="FFFF00"/>
                          </a:solidFill>
                        </a:rPr>
                        <a:t>Practice</a:t>
                      </a:r>
                      <a:r>
                        <a:rPr lang="en-GB" sz="1000" b="1" baseline="0" dirty="0" smtClean="0">
                          <a:solidFill>
                            <a:srgbClr val="FFFF00"/>
                          </a:solidFill>
                        </a:rPr>
                        <a:t> implications</a:t>
                      </a:r>
                      <a:endParaRPr lang="en-GB" sz="1000" b="1" dirty="0">
                        <a:solidFill>
                          <a:srgbClr val="FFFF00"/>
                        </a:solidFill>
                      </a:endParaRPr>
                    </a:p>
                  </a:txBody>
                  <a:tcPr marL="91438" marR="91438" marT="45717" marB="45717"/>
                </a:tc>
                <a:tc>
                  <a:txBody>
                    <a:bodyPr/>
                    <a:lstStyle/>
                    <a:p>
                      <a:endParaRPr lang="en-GB" sz="1000" b="1" dirty="0">
                        <a:solidFill>
                          <a:srgbClr val="FFFF00"/>
                        </a:solidFill>
                      </a:endParaRPr>
                    </a:p>
                  </a:txBody>
                  <a:tcPr marL="91438" marR="91438" marT="45717" marB="45717"/>
                </a:tc>
                <a:extLst>
                  <a:ext uri="{0D108BD9-81ED-4DB2-BD59-A6C34878D82A}">
                    <a16:rowId xmlns:a16="http://schemas.microsoft.com/office/drawing/2014/main" xmlns="" val="10000"/>
                  </a:ext>
                </a:extLst>
              </a:tr>
              <a:tr h="1143520">
                <a:tc>
                  <a:txBody>
                    <a:bodyPr/>
                    <a:lstStyle/>
                    <a:p>
                      <a:r>
                        <a:rPr lang="en-GB" sz="1050" b="1" dirty="0" err="1" smtClean="0"/>
                        <a:t>Pelli</a:t>
                      </a:r>
                      <a:r>
                        <a:rPr lang="en-GB" sz="1050" b="1" dirty="0" smtClean="0"/>
                        <a:t>, Robson and Wilkins (1998</a:t>
                      </a:r>
                      <a:r>
                        <a:rPr lang="en-GB" sz="1050" b="1" baseline="0" dirty="0" smtClean="0"/>
                        <a:t>)</a:t>
                      </a:r>
                      <a:endParaRPr lang="en-GB" sz="1050" b="1" dirty="0"/>
                    </a:p>
                  </a:txBody>
                  <a:tcPr marL="91438" marR="91438" marT="45717" marB="45717"/>
                </a:tc>
                <a:tc>
                  <a:txBody>
                    <a:bodyPr/>
                    <a:lstStyle/>
                    <a:p>
                      <a:r>
                        <a:rPr lang="en-GB" sz="1050" b="1" dirty="0" smtClean="0"/>
                        <a:t>Hair</a:t>
                      </a:r>
                      <a:r>
                        <a:rPr lang="en-GB" sz="1050" b="1" baseline="0" dirty="0" smtClean="0"/>
                        <a:t> thickening shampoo to be used across all branches of  X hairdressers</a:t>
                      </a:r>
                      <a:endParaRPr lang="en-GB" sz="1050" b="1" dirty="0"/>
                    </a:p>
                  </a:txBody>
                  <a:tcPr marL="91438" marR="91438" marT="45717" marB="45717"/>
                </a:tc>
                <a:tc>
                  <a:txBody>
                    <a:bodyPr/>
                    <a:lstStyle/>
                    <a:p>
                      <a:r>
                        <a:rPr lang="en-GB" sz="1200" b="1" dirty="0" smtClean="0"/>
                        <a:t>To increase</a:t>
                      </a:r>
                      <a:r>
                        <a:rPr lang="en-GB" sz="1200" b="1" baseline="0" dirty="0" smtClean="0"/>
                        <a:t> thickness and volume of hair. </a:t>
                      </a:r>
                      <a:endParaRPr lang="en-GB" sz="1200" b="1" dirty="0"/>
                    </a:p>
                  </a:txBody>
                  <a:tcPr marL="91438" marR="91438" marT="45717" marB="45717"/>
                </a:tc>
                <a:tc>
                  <a:txBody>
                    <a:bodyPr/>
                    <a:lstStyle/>
                    <a:p>
                      <a:pPr>
                        <a:buFont typeface="Arial" pitchFamily="34" charset="0"/>
                        <a:buNone/>
                      </a:pPr>
                      <a:r>
                        <a:rPr lang="en-GB" sz="1200" b="1" baseline="0" dirty="0" smtClean="0"/>
                        <a:t>Majority of participants (80%)  found that hair became shinier and more manageable  after use</a:t>
                      </a:r>
                      <a:endParaRPr lang="en-GB" sz="1200" b="1" dirty="0"/>
                    </a:p>
                  </a:txBody>
                  <a:tcPr marL="91438" marR="91438" marT="45717" marB="45717"/>
                </a:tc>
                <a:tc>
                  <a:txBody>
                    <a:bodyPr/>
                    <a:lstStyle/>
                    <a:p>
                      <a:pPr>
                        <a:buFont typeface="Arial" pitchFamily="34" charset="0"/>
                        <a:buNone/>
                      </a:pPr>
                      <a:r>
                        <a:rPr lang="en-GB" sz="1000" b="1" dirty="0" smtClean="0"/>
                        <a:t>It</a:t>
                      </a:r>
                      <a:r>
                        <a:rPr lang="en-GB" sz="1000" b="1" baseline="0" dirty="0" smtClean="0"/>
                        <a:t> appeared to have little affect on thickness with only 5%  of participants noting an improvement in thickness of hair</a:t>
                      </a:r>
                      <a:endParaRPr lang="en-GB" sz="1100" b="1" dirty="0"/>
                    </a:p>
                  </a:txBody>
                  <a:tcPr marL="91438" marR="91438" marT="45717" marB="45717"/>
                </a:tc>
                <a:tc>
                  <a:txBody>
                    <a:bodyPr/>
                    <a:lstStyle/>
                    <a:p>
                      <a:pPr>
                        <a:buFont typeface="Arial" pitchFamily="34" charset="0"/>
                        <a:buNone/>
                      </a:pPr>
                      <a:r>
                        <a:rPr lang="en-GB" sz="1000" b="1" dirty="0" smtClean="0"/>
                        <a:t>An additional</a:t>
                      </a:r>
                      <a:r>
                        <a:rPr lang="en-GB" sz="1000" b="1" baseline="0" dirty="0" smtClean="0"/>
                        <a:t> product may need to be sourced by hairdressers to enhance thickness.   </a:t>
                      </a:r>
                      <a:endParaRPr lang="en-GB" sz="1000" b="1" dirty="0"/>
                    </a:p>
                  </a:txBody>
                  <a:tcPr marL="91438" marR="91438" marT="45717" marB="45717"/>
                </a:tc>
                <a:tc>
                  <a:txBody>
                    <a:bodyPr/>
                    <a:lstStyle/>
                    <a:p>
                      <a:pPr marL="171450" indent="-171450">
                        <a:buFontTx/>
                        <a:buChar char="-"/>
                      </a:pPr>
                      <a:endParaRPr lang="en-GB" sz="1000" b="1" dirty="0"/>
                    </a:p>
                  </a:txBody>
                  <a:tcPr marL="91438" marR="91438" marT="45717" marB="45717"/>
                </a:tc>
                <a:extLst>
                  <a:ext uri="{0D108BD9-81ED-4DB2-BD59-A6C34878D82A}">
                    <a16:rowId xmlns:a16="http://schemas.microsoft.com/office/drawing/2014/main" xmlns="" val="10001"/>
                  </a:ext>
                </a:extLst>
              </a:tr>
            </a:tbl>
          </a:graphicData>
        </a:graphic>
      </p:graphicFrame>
      <p:sp>
        <p:nvSpPr>
          <p:cNvPr id="2" name="5-Point Star 1"/>
          <p:cNvSpPr/>
          <p:nvPr/>
        </p:nvSpPr>
        <p:spPr>
          <a:xfrm>
            <a:off x="4716016" y="1552471"/>
            <a:ext cx="288032" cy="266244"/>
          </a:xfrm>
          <a:prstGeom prst="star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5-Point Star 5"/>
          <p:cNvSpPr/>
          <p:nvPr/>
        </p:nvSpPr>
        <p:spPr>
          <a:xfrm>
            <a:off x="6467268" y="1566932"/>
            <a:ext cx="216024" cy="237321"/>
          </a:xfrm>
          <a:prstGeom prst="star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5-Point Star 6"/>
          <p:cNvSpPr/>
          <p:nvPr/>
        </p:nvSpPr>
        <p:spPr>
          <a:xfrm>
            <a:off x="7596336" y="1819816"/>
            <a:ext cx="216024" cy="180020"/>
          </a:xfrm>
          <a:prstGeom prst="star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2"/>
          <p:cNvSpPr txBox="1">
            <a:spLocks/>
          </p:cNvSpPr>
          <p:nvPr/>
        </p:nvSpPr>
        <p:spPr>
          <a:xfrm>
            <a:off x="4122" y="689840"/>
            <a:ext cx="8229600" cy="36004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r>
              <a:rPr lang="en-GB" dirty="0" smtClean="0"/>
              <a:t>Organising your findings</a:t>
            </a:r>
          </a:p>
        </p:txBody>
      </p:sp>
      <p:sp>
        <p:nvSpPr>
          <p:cNvPr id="5" name="Rectangle 4"/>
          <p:cNvSpPr/>
          <p:nvPr/>
        </p:nvSpPr>
        <p:spPr>
          <a:xfrm>
            <a:off x="199001" y="3942184"/>
            <a:ext cx="870441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t>This is a generic table – you may wish to personalise yours for this specific review.</a:t>
            </a:r>
            <a:endParaRPr lang="en-GB" dirty="0" smtClean="0"/>
          </a:p>
        </p:txBody>
      </p:sp>
    </p:spTree>
    <p:extLst>
      <p:ext uri="{BB962C8B-B14F-4D97-AF65-F5344CB8AC3E}">
        <p14:creationId xmlns:p14="http://schemas.microsoft.com/office/powerpoint/2010/main" val="2146009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791" t="26310" r="20091" b="8454"/>
          <a:stretch/>
        </p:blipFill>
        <p:spPr bwMode="auto">
          <a:xfrm>
            <a:off x="827584" y="85288"/>
            <a:ext cx="7451536" cy="6696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8039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8229600" cy="1066800"/>
          </a:xfrm>
        </p:spPr>
        <p:txBody>
          <a:bodyPr/>
          <a:lstStyle/>
          <a:p>
            <a:r>
              <a:rPr lang="en-GB" dirty="0" smtClean="0"/>
              <a:t>Academic writing- example*</a:t>
            </a:r>
            <a:endParaRPr lang="en-GB" dirty="0"/>
          </a:p>
        </p:txBody>
      </p:sp>
      <p:sp>
        <p:nvSpPr>
          <p:cNvPr id="3" name="Content Placeholder 2"/>
          <p:cNvSpPr>
            <a:spLocks noGrp="1"/>
          </p:cNvSpPr>
          <p:nvPr>
            <p:ph idx="1"/>
          </p:nvPr>
        </p:nvSpPr>
        <p:spPr>
          <a:xfrm>
            <a:off x="899592" y="1484784"/>
            <a:ext cx="7520940" cy="5496724"/>
          </a:xfrm>
        </p:spPr>
        <p:txBody>
          <a:bodyPr>
            <a:normAutofit/>
          </a:bodyPr>
          <a:lstStyle/>
          <a:p>
            <a:pPr marL="109728" indent="0">
              <a:buNone/>
            </a:pPr>
            <a:r>
              <a:rPr lang="en-GB" sz="1800" dirty="0" smtClean="0"/>
              <a:t>Food </a:t>
            </a:r>
            <a:r>
              <a:rPr lang="en-GB" sz="1800" dirty="0"/>
              <a:t>refusal is a major problem that has evolved, so nutritionists have adopted an approach of setting up home visits to support families with their child's eating problems. "Sure Start" centres have been set up also by the Nutrition Society for mothers to be educated on basic food issues. Technological advances have also aided the role of nutritionists. Computerised nutrient analysis helps to calculate nutrient intake in relation to the statistical data. </a:t>
            </a:r>
            <a:r>
              <a:rPr lang="en-GB" sz="1800" dirty="0" smtClean="0"/>
              <a:t>In addition to this, anthropologists </a:t>
            </a:r>
            <a:r>
              <a:rPr lang="en-GB" sz="1800" dirty="0"/>
              <a:t>have tried to find distinct separation between the food as a biological necessity and also the cultural factors that condition its availability and consumption. In essence they are looking at the same preface as nutritionists however with a varied priority. Where as nutritionists seem to focus on nutrient intake of the big five in relation to achieving a healthy human diet, anthropologists assess lifestyle changes and </a:t>
            </a:r>
            <a:r>
              <a:rPr lang="en-GB" sz="1800" dirty="0" smtClean="0"/>
              <a:t>finding </a:t>
            </a:r>
            <a:r>
              <a:rPr lang="en-GB" sz="1800" dirty="0"/>
              <a:t>the right diet and nutrient intake to suit </a:t>
            </a:r>
            <a:endParaRPr lang="en-GB" sz="1800" dirty="0" smtClean="0"/>
          </a:p>
          <a:p>
            <a:endParaRPr lang="en-GB" sz="1800" dirty="0"/>
          </a:p>
          <a:p>
            <a:pPr marL="109728" indent="0">
              <a:buNone/>
            </a:pPr>
            <a:r>
              <a:rPr lang="en-GB" sz="1100" dirty="0" smtClean="0"/>
              <a:t>*References  above are </a:t>
            </a:r>
            <a:r>
              <a:rPr lang="en-GB" sz="1100" dirty="0"/>
              <a:t>entirely fictitious and used for illustrative purposes </a:t>
            </a:r>
            <a:r>
              <a:rPr lang="en-GB" sz="1100" dirty="0" smtClean="0"/>
              <a:t>only</a:t>
            </a:r>
          </a:p>
          <a:p>
            <a:pPr marL="109728" indent="0">
              <a:buNone/>
            </a:pPr>
            <a:r>
              <a:rPr lang="en-GB" sz="1000" b="0" dirty="0" smtClean="0"/>
              <a:t>  (Marked By Teachers, 2017)</a:t>
            </a:r>
          </a:p>
          <a:p>
            <a:endParaRPr lang="en-GB" sz="1100" dirty="0"/>
          </a:p>
          <a:p>
            <a:endParaRPr lang="en-GB" sz="1800" dirty="0"/>
          </a:p>
          <a:p>
            <a:endParaRPr lang="en-GB" sz="1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5229200"/>
            <a:ext cx="1518915" cy="1518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915816" y="1484784"/>
            <a:ext cx="2880320" cy="3312368"/>
          </a:xfrm>
          <a:prstGeom prst="rect">
            <a:avLst/>
          </a:prstGeom>
          <a:solidFill>
            <a:srgbClr val="31B6FD"/>
          </a:solidFill>
          <a:ln w="15875" cap="flat" cmpd="sng" algn="ctr">
            <a:solidFill>
              <a:srgbClr val="31B6FD">
                <a:shade val="50000"/>
                <a:shade val="75000"/>
                <a:lumMod val="80000"/>
              </a:srgbClr>
            </a:solidFill>
            <a:prstDash val="solid"/>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1800" b="1" i="0" u="none" strike="noStrike" kern="0" cap="none" spc="0" normalizeH="0" baseline="0" noProof="0" dirty="0" smtClean="0">
              <a:ln>
                <a:noFill/>
              </a:ln>
              <a:solidFill>
                <a:prstClr val="white"/>
              </a:solidFill>
              <a:effectLst/>
              <a:uLnTx/>
              <a:uFillTx/>
              <a:latin typeface="Candara"/>
              <a:ea typeface="+mn-ea"/>
              <a:cs typeface="+mn-cs"/>
            </a:endParaRPr>
          </a:p>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800" b="1" i="0" u="none" strike="noStrike" kern="0" cap="none" spc="0" normalizeH="0" baseline="0" noProof="0" dirty="0" smtClean="0">
                <a:ln>
                  <a:noFill/>
                </a:ln>
                <a:solidFill>
                  <a:prstClr val="white"/>
                </a:solidFill>
                <a:effectLst/>
                <a:uLnTx/>
                <a:uFillTx/>
                <a:latin typeface="Candara"/>
                <a:ea typeface="+mn-ea"/>
                <a:cs typeface="+mn-cs"/>
              </a:rPr>
              <a:t>Entirely</a:t>
            </a:r>
            <a:r>
              <a:rPr kumimoji="0" lang="en-GB" sz="1800" b="1" i="0" u="none" strike="noStrike" kern="0" cap="none" spc="0" normalizeH="0" noProof="0" dirty="0" smtClean="0">
                <a:ln>
                  <a:noFill/>
                </a:ln>
                <a:solidFill>
                  <a:prstClr val="white"/>
                </a:solidFill>
                <a:effectLst/>
                <a:uLnTx/>
                <a:uFillTx/>
                <a:latin typeface="Candara"/>
                <a:ea typeface="+mn-ea"/>
                <a:cs typeface="+mn-cs"/>
              </a:rPr>
              <a:t> descriptive- not critical</a:t>
            </a:r>
            <a:endParaRPr kumimoji="0" lang="en-GB" sz="1800" b="1" i="0" u="none" strike="noStrike" kern="0" cap="none" spc="0" normalizeH="0" baseline="0" noProof="0" dirty="0" smtClean="0">
              <a:ln>
                <a:noFill/>
              </a:ln>
              <a:solidFill>
                <a:prstClr val="white"/>
              </a:solidFill>
              <a:effectLst/>
              <a:uLnTx/>
              <a:uFillTx/>
              <a:latin typeface="Candara"/>
              <a:ea typeface="+mn-ea"/>
              <a:cs typeface="+mn-cs"/>
            </a:endParaRPr>
          </a:p>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1800" b="1" i="0" u="none" strike="noStrike" kern="0" cap="none" spc="0" normalizeH="0" baseline="0" noProof="0" dirty="0" smtClean="0">
              <a:ln>
                <a:noFill/>
              </a:ln>
              <a:solidFill>
                <a:prstClr val="white"/>
              </a:solidFill>
              <a:effectLst/>
              <a:uLnTx/>
              <a:uFillTx/>
              <a:latin typeface="Candara"/>
              <a:ea typeface="+mn-ea"/>
              <a:cs typeface="+mn-cs"/>
            </a:endParaRPr>
          </a:p>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800" b="1" i="0" u="none" strike="noStrike" kern="0" cap="none" spc="0" normalizeH="0" baseline="0" noProof="0" dirty="0" smtClean="0">
                <a:ln>
                  <a:noFill/>
                </a:ln>
                <a:solidFill>
                  <a:prstClr val="white"/>
                </a:solidFill>
                <a:effectLst/>
                <a:uLnTx/>
                <a:uFillTx/>
                <a:latin typeface="Candara"/>
                <a:ea typeface="+mn-ea"/>
                <a:cs typeface="+mn-cs"/>
              </a:rPr>
              <a:t>No</a:t>
            </a:r>
            <a:r>
              <a:rPr kumimoji="0" lang="en-GB" sz="1800" b="1" i="0" u="none" strike="noStrike" kern="0" cap="none" spc="0" normalizeH="0" noProof="0" dirty="0" smtClean="0">
                <a:ln>
                  <a:noFill/>
                </a:ln>
                <a:solidFill>
                  <a:prstClr val="white"/>
                </a:solidFill>
                <a:effectLst/>
                <a:uLnTx/>
                <a:uFillTx/>
                <a:latin typeface="Candara"/>
                <a:ea typeface="+mn-ea"/>
                <a:cs typeface="+mn-cs"/>
              </a:rPr>
              <a:t> clear line of thought – topic sentence doesn’t work effectively with what is contained in paragraph</a:t>
            </a:r>
          </a:p>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1800" b="1" i="0" u="none" strike="noStrike" kern="0" cap="none" spc="0" normalizeH="0" baseline="0" noProof="0" dirty="0" smtClean="0">
              <a:ln>
                <a:noFill/>
              </a:ln>
              <a:solidFill>
                <a:prstClr val="white"/>
              </a:solidFill>
              <a:effectLst/>
              <a:uLnTx/>
              <a:uFillTx/>
              <a:latin typeface="Candara"/>
              <a:ea typeface="+mn-ea"/>
              <a:cs typeface="+mn-cs"/>
            </a:endParaRPr>
          </a:p>
          <a:p>
            <a:pPr marL="285750" marR="0" lvl="0" indent="-285750" algn="ctr"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800" b="1" i="0" u="none" strike="noStrike" kern="0" cap="none" spc="0" normalizeH="0" baseline="0" noProof="0" dirty="0" smtClean="0">
                <a:ln>
                  <a:noFill/>
                </a:ln>
                <a:solidFill>
                  <a:prstClr val="white"/>
                </a:solidFill>
                <a:effectLst/>
                <a:uLnTx/>
                <a:uFillTx/>
                <a:latin typeface="Candara"/>
                <a:ea typeface="+mn-ea"/>
                <a:cs typeface="+mn-cs"/>
              </a:rPr>
              <a:t>No evidence of wider reading (no references)</a:t>
            </a:r>
          </a:p>
        </p:txBody>
      </p:sp>
    </p:spTree>
    <p:extLst>
      <p:ext uri="{BB962C8B-B14F-4D97-AF65-F5344CB8AC3E}">
        <p14:creationId xmlns:p14="http://schemas.microsoft.com/office/powerpoint/2010/main" val="174627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1066800"/>
          </a:xfrm>
        </p:spPr>
        <p:txBody>
          <a:bodyPr/>
          <a:lstStyle/>
          <a:p>
            <a:r>
              <a:rPr lang="en-GB" dirty="0"/>
              <a:t>Academic writing- </a:t>
            </a:r>
            <a:r>
              <a:rPr lang="en-GB" dirty="0" smtClean="0"/>
              <a:t>example*</a:t>
            </a:r>
            <a:endParaRPr lang="en-GB" dirty="0"/>
          </a:p>
        </p:txBody>
      </p:sp>
      <p:sp>
        <p:nvSpPr>
          <p:cNvPr id="3" name="Content Placeholder 2"/>
          <p:cNvSpPr>
            <a:spLocks noGrp="1"/>
          </p:cNvSpPr>
          <p:nvPr>
            <p:ph idx="1"/>
          </p:nvPr>
        </p:nvSpPr>
        <p:spPr>
          <a:xfrm>
            <a:off x="718095" y="1652746"/>
            <a:ext cx="7520940" cy="5424716"/>
          </a:xfrm>
        </p:spPr>
        <p:txBody>
          <a:bodyPr>
            <a:normAutofit fontScale="55000" lnSpcReduction="20000"/>
          </a:bodyPr>
          <a:lstStyle/>
          <a:p>
            <a:pPr marL="0" indent="0">
              <a:lnSpc>
                <a:spcPct val="170000"/>
              </a:lnSpc>
              <a:buNone/>
            </a:pPr>
            <a:r>
              <a:rPr lang="en-GB" sz="2600" dirty="0"/>
              <a:t>Food refusal is a major problem that has </a:t>
            </a:r>
            <a:r>
              <a:rPr lang="en-GB" sz="2600" dirty="0" smtClean="0"/>
              <a:t>evolved  in children (Smith, 2016) so significant research has been undertaken by nutritionists to understand and ultimately address this issue </a:t>
            </a:r>
            <a:r>
              <a:rPr lang="en-GB" sz="2600" dirty="0" smtClean="0">
                <a:solidFill>
                  <a:srgbClr val="FF0000"/>
                </a:solidFill>
              </a:rPr>
              <a:t>(topic sentence).  </a:t>
            </a:r>
            <a:r>
              <a:rPr lang="en-GB" sz="2600" dirty="0" smtClean="0"/>
              <a:t>Jones (2017) found that technological advances facilitating computerised nutrient analysis have aided nutritionists in calculating nutrient intake in relation to the statistical data linked to food refusal </a:t>
            </a:r>
            <a:r>
              <a:rPr lang="en-GB" sz="2600" dirty="0" smtClean="0">
                <a:solidFill>
                  <a:srgbClr val="FF0000"/>
                </a:solidFill>
              </a:rPr>
              <a:t>(description).  </a:t>
            </a:r>
            <a:r>
              <a:rPr lang="en-GB" sz="2600" dirty="0" smtClean="0"/>
              <a:t>Jones found that a key strength of </a:t>
            </a:r>
            <a:r>
              <a:rPr lang="en-GB" sz="2600" dirty="0"/>
              <a:t>computerised nutrient analysis </a:t>
            </a:r>
            <a:r>
              <a:rPr lang="en-GB" sz="2600" dirty="0" smtClean="0"/>
              <a:t> is…. </a:t>
            </a:r>
            <a:r>
              <a:rPr lang="en-GB" sz="2600" dirty="0" smtClean="0">
                <a:solidFill>
                  <a:srgbClr val="FF0000"/>
                </a:solidFill>
              </a:rPr>
              <a:t>(strength).  </a:t>
            </a:r>
            <a:r>
              <a:rPr lang="en-GB" sz="2600" dirty="0">
                <a:solidFill>
                  <a:srgbClr val="FF0000"/>
                </a:solidFill>
              </a:rPr>
              <a:t> </a:t>
            </a:r>
            <a:r>
              <a:rPr lang="en-GB" sz="2600" dirty="0" smtClean="0"/>
              <a:t>A recent study by Wilson (2017), however, highlighted that … </a:t>
            </a:r>
            <a:r>
              <a:rPr lang="en-GB" sz="2600" dirty="0" smtClean="0">
                <a:solidFill>
                  <a:srgbClr val="FF0000"/>
                </a:solidFill>
              </a:rPr>
              <a:t>(limitation).  </a:t>
            </a:r>
            <a:r>
              <a:rPr lang="en-GB" sz="2600" dirty="0" smtClean="0"/>
              <a:t>Additionally,  nutritionists </a:t>
            </a:r>
            <a:r>
              <a:rPr lang="en-GB" sz="2600" dirty="0"/>
              <a:t>have adopted </a:t>
            </a:r>
            <a:r>
              <a:rPr lang="en-GB" sz="2600" dirty="0" smtClean="0"/>
              <a:t>an approach </a:t>
            </a:r>
            <a:r>
              <a:rPr lang="en-GB" sz="2600" dirty="0"/>
              <a:t>of setting up home visits to support families with their child's eating </a:t>
            </a:r>
            <a:r>
              <a:rPr lang="en-GB" sz="2600" dirty="0" smtClean="0"/>
              <a:t>problems (Scott, 2013). ‘Sure Start’ centres </a:t>
            </a:r>
            <a:r>
              <a:rPr lang="en-GB" sz="2600" dirty="0"/>
              <a:t>have been set up </a:t>
            </a:r>
            <a:r>
              <a:rPr lang="en-GB" sz="2600" dirty="0" smtClean="0"/>
              <a:t>by </a:t>
            </a:r>
            <a:r>
              <a:rPr lang="en-GB" sz="2600" dirty="0"/>
              <a:t>the Nutrition Society </a:t>
            </a:r>
            <a:r>
              <a:rPr lang="en-GB" sz="2600" dirty="0" smtClean="0"/>
              <a:t> (2015) for parents </a:t>
            </a:r>
            <a:r>
              <a:rPr lang="en-GB" sz="2600" dirty="0"/>
              <a:t>to be educated on basic food </a:t>
            </a:r>
            <a:r>
              <a:rPr lang="en-GB" sz="2600" dirty="0" smtClean="0"/>
              <a:t>issues</a:t>
            </a:r>
            <a:r>
              <a:rPr lang="en-GB" sz="2600" dirty="0"/>
              <a:t> </a:t>
            </a:r>
            <a:r>
              <a:rPr lang="en-GB" sz="2600" dirty="0" smtClean="0">
                <a:solidFill>
                  <a:srgbClr val="FF0000"/>
                </a:solidFill>
              </a:rPr>
              <a:t>(description).  </a:t>
            </a:r>
            <a:r>
              <a:rPr lang="en-GB" sz="2600" dirty="0" smtClean="0"/>
              <a:t>‘Sure Start’ centres were found to be beneficial in… </a:t>
            </a:r>
            <a:r>
              <a:rPr lang="en-GB" sz="2600" dirty="0" smtClean="0">
                <a:solidFill>
                  <a:srgbClr val="FF0000"/>
                </a:solidFill>
              </a:rPr>
              <a:t>(strength).  </a:t>
            </a:r>
            <a:r>
              <a:rPr lang="en-GB" sz="2600" dirty="0" smtClean="0"/>
              <a:t>In addition to this, Martin (2017) also found that a key strength of such centres is…   It has been suggested, however, that while these centres can offer a wide range of benefits to parents dealing with food refusal they are limited in </a:t>
            </a:r>
            <a:r>
              <a:rPr lang="en-GB" sz="2600" dirty="0" smtClean="0">
                <a:solidFill>
                  <a:srgbClr val="FF0000"/>
                </a:solidFill>
              </a:rPr>
              <a:t>…(limitation). </a:t>
            </a:r>
          </a:p>
          <a:p>
            <a:pPr marL="0" indent="14288"/>
            <a:endParaRPr lang="en-GB" dirty="0"/>
          </a:p>
          <a:p>
            <a:pPr marL="0" indent="14288"/>
            <a:endParaRPr lang="en-GB" dirty="0" smtClean="0"/>
          </a:p>
          <a:p>
            <a:pPr marL="0" indent="14288"/>
            <a:endParaRPr lang="en-GB" dirty="0"/>
          </a:p>
          <a:p>
            <a:pPr marL="0" indent="0">
              <a:buNone/>
            </a:pPr>
            <a:r>
              <a:rPr lang="en-GB" sz="1800" i="1" dirty="0" smtClean="0"/>
              <a:t>References are entirely fictitious and used for illustrative purposes only</a:t>
            </a:r>
            <a:r>
              <a:rPr lang="en-GB" sz="1800" b="0" i="1" dirty="0" smtClean="0"/>
              <a:t> </a:t>
            </a:r>
            <a:r>
              <a:rPr lang="en-GB" sz="1400" b="0" dirty="0"/>
              <a:t>(Marked By Teachers, 2017)</a:t>
            </a:r>
            <a:endParaRPr lang="en-GB" sz="1400" dirty="0"/>
          </a:p>
        </p:txBody>
      </p:sp>
      <p:pic>
        <p:nvPicPr>
          <p:cNvPr id="4" name="imageThumb_7411702" descr="istockphoto_7411702-cor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322" y="5157192"/>
            <a:ext cx="1573426" cy="157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627784" y="1988840"/>
            <a:ext cx="2880320"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en-GB" b="1" dirty="0" smtClean="0"/>
              <a:t>Topic sentence relevant to paragraph content</a:t>
            </a:r>
          </a:p>
          <a:p>
            <a:pPr marL="285750" indent="-285750" algn="ctr">
              <a:buFont typeface="Wingdings" panose="05000000000000000000" pitchFamily="2" charset="2"/>
              <a:buChar char="ü"/>
            </a:pPr>
            <a:endParaRPr lang="en-GB" b="1" dirty="0"/>
          </a:p>
          <a:p>
            <a:pPr marL="285750" indent="-285750" algn="ctr">
              <a:buFont typeface="Wingdings" panose="05000000000000000000" pitchFamily="2" charset="2"/>
              <a:buChar char="ü"/>
            </a:pPr>
            <a:r>
              <a:rPr lang="en-GB" b="1" dirty="0" smtClean="0"/>
              <a:t>Synthesis</a:t>
            </a:r>
          </a:p>
          <a:p>
            <a:pPr marL="285750" indent="-285750" algn="ctr">
              <a:buFont typeface="Wingdings" panose="05000000000000000000" pitchFamily="2" charset="2"/>
              <a:buChar char="ü"/>
            </a:pPr>
            <a:endParaRPr lang="en-GB" b="1" dirty="0"/>
          </a:p>
          <a:p>
            <a:pPr marL="285750" indent="-285750" algn="ctr">
              <a:buFont typeface="Wingdings" panose="05000000000000000000" pitchFamily="2" charset="2"/>
              <a:buChar char="ü"/>
            </a:pPr>
            <a:r>
              <a:rPr lang="en-GB" b="1" dirty="0" smtClean="0"/>
              <a:t>Critical analysis</a:t>
            </a:r>
          </a:p>
          <a:p>
            <a:pPr marL="285750" indent="-285750" algn="ctr">
              <a:buFont typeface="Wingdings" panose="05000000000000000000" pitchFamily="2" charset="2"/>
              <a:buChar char="ü"/>
            </a:pPr>
            <a:endParaRPr lang="en-GB" b="1" dirty="0"/>
          </a:p>
          <a:p>
            <a:pPr marL="285750" indent="-285750" algn="ctr">
              <a:buFont typeface="Wingdings" panose="05000000000000000000" pitchFamily="2" charset="2"/>
              <a:buChar char="ü"/>
            </a:pPr>
            <a:r>
              <a:rPr lang="en-GB" b="1" dirty="0" smtClean="0"/>
              <a:t>Accurate references and academic tone</a:t>
            </a:r>
            <a:endParaRPr lang="en-GB" b="1" dirty="0"/>
          </a:p>
        </p:txBody>
      </p:sp>
    </p:spTree>
    <p:extLst>
      <p:ext uri="{BB962C8B-B14F-4D97-AF65-F5344CB8AC3E}">
        <p14:creationId xmlns:p14="http://schemas.microsoft.com/office/powerpoint/2010/main" val="356688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extLst/>
          </p:nvPr>
        </p:nvGraphicFramePr>
        <p:xfrm>
          <a:off x="395536" y="620688"/>
          <a:ext cx="8291264" cy="595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p:cNvSpPr/>
          <p:nvPr/>
        </p:nvSpPr>
        <p:spPr>
          <a:xfrm>
            <a:off x="3491880" y="2780928"/>
            <a:ext cx="1944216" cy="1728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Critiquing Literature</a:t>
            </a:r>
            <a:endParaRPr lang="en-GB" dirty="0"/>
          </a:p>
        </p:txBody>
      </p:sp>
    </p:spTree>
    <p:extLst>
      <p:ext uri="{BB962C8B-B14F-4D97-AF65-F5344CB8AC3E}">
        <p14:creationId xmlns:p14="http://schemas.microsoft.com/office/powerpoint/2010/main" val="17574446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83255" y="1268760"/>
            <a:ext cx="8229600" cy="5328592"/>
          </a:xfrm>
        </p:spPr>
        <p:txBody>
          <a:bodyPr>
            <a:normAutofit fontScale="92500" lnSpcReduction="10000"/>
          </a:bodyPr>
          <a:lstStyle/>
          <a:p>
            <a:pPr marL="109728" indent="0">
              <a:buNone/>
            </a:pPr>
            <a:endParaRPr lang="en-GB" sz="1800" dirty="0" smtClean="0"/>
          </a:p>
          <a:p>
            <a:pPr>
              <a:buFont typeface="Wingdings" panose="05000000000000000000" pitchFamily="2" charset="2"/>
              <a:buChar char="ü"/>
            </a:pPr>
            <a:r>
              <a:rPr lang="en-GB" sz="2100" dirty="0" smtClean="0"/>
              <a:t>The year  it was published – has new evidence been </a:t>
            </a:r>
            <a:r>
              <a:rPr lang="en-GB" sz="2100" dirty="0"/>
              <a:t>added to the literature since </a:t>
            </a:r>
            <a:r>
              <a:rPr lang="en-GB" sz="2100" dirty="0" smtClean="0"/>
              <a:t>this publication?</a:t>
            </a:r>
          </a:p>
          <a:p>
            <a:pPr>
              <a:buFont typeface="Wingdings" panose="05000000000000000000" pitchFamily="2" charset="2"/>
              <a:buChar char="ü"/>
            </a:pPr>
            <a:endParaRPr lang="en-GB" sz="2100" dirty="0"/>
          </a:p>
          <a:p>
            <a:pPr>
              <a:buFont typeface="Wingdings" panose="05000000000000000000" pitchFamily="2" charset="2"/>
              <a:buChar char="ü"/>
            </a:pPr>
            <a:endParaRPr lang="en-GB" sz="2100" dirty="0" smtClean="0"/>
          </a:p>
          <a:p>
            <a:pPr>
              <a:buFont typeface="Wingdings" panose="05000000000000000000" pitchFamily="2" charset="2"/>
              <a:buChar char="ü"/>
            </a:pPr>
            <a:endParaRPr lang="en-GB" sz="2100" dirty="0" smtClean="0"/>
          </a:p>
          <a:p>
            <a:pPr>
              <a:buFont typeface="Wingdings" panose="05000000000000000000" pitchFamily="2" charset="2"/>
              <a:buChar char="ü"/>
            </a:pPr>
            <a:endParaRPr lang="en-GB" sz="2100" dirty="0" smtClean="0"/>
          </a:p>
          <a:p>
            <a:pPr>
              <a:buFont typeface="Wingdings" panose="05000000000000000000" pitchFamily="2" charset="2"/>
              <a:buChar char="ü"/>
            </a:pPr>
            <a:r>
              <a:rPr lang="en-GB" sz="2100" dirty="0" smtClean="0"/>
              <a:t>Also note </a:t>
            </a:r>
            <a:r>
              <a:rPr lang="en-GB" sz="2100" dirty="0"/>
              <a:t>that seminal papers may have </a:t>
            </a:r>
            <a:r>
              <a:rPr lang="en-GB" sz="2100" dirty="0" smtClean="0"/>
              <a:t>been published </a:t>
            </a:r>
            <a:r>
              <a:rPr lang="en-GB" sz="2100" dirty="0"/>
              <a:t>a significant time ago and, although the studies are old, these may still be </a:t>
            </a:r>
            <a:r>
              <a:rPr lang="en-GB" sz="2100" dirty="0" smtClean="0"/>
              <a:t>of significance </a:t>
            </a:r>
            <a:r>
              <a:rPr lang="en-GB" sz="2100" dirty="0"/>
              <a:t>to modern practice</a:t>
            </a:r>
            <a:r>
              <a:rPr lang="en-GB" sz="2100" dirty="0" smtClean="0"/>
              <a:t>.</a:t>
            </a:r>
          </a:p>
          <a:p>
            <a:pPr>
              <a:buFont typeface="Wingdings" panose="05000000000000000000" pitchFamily="2" charset="2"/>
              <a:buChar char="ü"/>
            </a:pPr>
            <a:endParaRPr lang="en-GB" sz="2100" dirty="0"/>
          </a:p>
          <a:p>
            <a:pPr>
              <a:buFont typeface="Wingdings" panose="05000000000000000000" pitchFamily="2" charset="2"/>
              <a:buChar char="ü"/>
            </a:pPr>
            <a:r>
              <a:rPr lang="en-GB" sz="2100" dirty="0" smtClean="0"/>
              <a:t>Is there evidence of a peer review process? This would suggest robustness to the content and indicate </a:t>
            </a:r>
            <a:r>
              <a:rPr lang="en-GB" sz="2100" dirty="0"/>
              <a:t>a </a:t>
            </a:r>
            <a:r>
              <a:rPr lang="en-GB" sz="2100" dirty="0" smtClean="0"/>
              <a:t>reduced likelihood </a:t>
            </a:r>
            <a:r>
              <a:rPr lang="en-GB" sz="2100" dirty="0"/>
              <a:t>of publication of poor quality research. </a:t>
            </a:r>
            <a:endParaRPr lang="en-GB" sz="2100" dirty="0" smtClean="0"/>
          </a:p>
          <a:p>
            <a:pPr>
              <a:buFont typeface="Wingdings" panose="05000000000000000000" pitchFamily="2" charset="2"/>
              <a:buChar char="ü"/>
            </a:pPr>
            <a:endParaRPr lang="en-GB" sz="2100" dirty="0"/>
          </a:p>
          <a:p>
            <a:pPr>
              <a:buFont typeface="Wingdings" panose="05000000000000000000" pitchFamily="2" charset="2"/>
              <a:buChar char="ü"/>
            </a:pPr>
            <a:r>
              <a:rPr lang="en-GB" sz="2100" dirty="0" smtClean="0"/>
              <a:t>Also consider authors</a:t>
            </a:r>
            <a:r>
              <a:rPr lang="en-GB" sz="2100" dirty="0"/>
              <a:t>’ declarations of interest and potential market bias.</a:t>
            </a:r>
          </a:p>
        </p:txBody>
      </p:sp>
      <p:sp>
        <p:nvSpPr>
          <p:cNvPr id="5" name="Title 1"/>
          <p:cNvSpPr>
            <a:spLocks noGrp="1"/>
          </p:cNvSpPr>
          <p:nvPr>
            <p:ph type="title"/>
          </p:nvPr>
        </p:nvSpPr>
        <p:spPr>
          <a:xfrm>
            <a:off x="467544" y="548680"/>
            <a:ext cx="8229600" cy="1066800"/>
          </a:xfrm>
        </p:spPr>
        <p:txBody>
          <a:bodyPr/>
          <a:lstStyle/>
          <a:p>
            <a:r>
              <a:rPr lang="en-GB" dirty="0" smtClean="0"/>
              <a:t>Initial Assessment</a:t>
            </a:r>
            <a:endParaRPr lang="en-GB" dirty="0"/>
          </a:p>
        </p:txBody>
      </p:sp>
      <p:sp>
        <p:nvSpPr>
          <p:cNvPr id="6" name="Rectangle 5"/>
          <p:cNvSpPr/>
          <p:nvPr/>
        </p:nvSpPr>
        <p:spPr>
          <a:xfrm>
            <a:off x="917635" y="2406920"/>
            <a:ext cx="7560840" cy="830997"/>
          </a:xfrm>
          <a:prstGeom prst="rect">
            <a:avLst/>
          </a:prstGeom>
        </p:spPr>
        <p:txBody>
          <a:bodyPr wrap="square">
            <a:spAutoFit/>
          </a:bodyPr>
          <a:lstStyle/>
          <a:p>
            <a:r>
              <a:rPr lang="en-GB" sz="1200" dirty="0" smtClean="0"/>
              <a:t>Example: Recent </a:t>
            </a:r>
            <a:r>
              <a:rPr lang="en-GB" sz="1200" dirty="0"/>
              <a:t>years have seen the publication of a number of critiques of changes in funding regimes, for example: Anderson (2003); Phillips (2002). However this text was published before the recent wave of reforms took place. Consequently, although much of the </a:t>
            </a:r>
            <a:r>
              <a:rPr lang="en-GB" sz="1200" dirty="0" smtClean="0"/>
              <a:t>journal’s </a:t>
            </a:r>
            <a:r>
              <a:rPr lang="en-GB" sz="1200" dirty="0"/>
              <a:t>contents remain valuable, the conclusions on this particular aspect of the problem are at best partial in nature, and at worst no longer relevant.  </a:t>
            </a:r>
          </a:p>
        </p:txBody>
      </p:sp>
    </p:spTree>
    <p:extLst>
      <p:ext uri="{BB962C8B-B14F-4D97-AF65-F5344CB8AC3E}">
        <p14:creationId xmlns:p14="http://schemas.microsoft.com/office/powerpoint/2010/main" val="17057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animEffect transition="in" filter="fade">
                                      <p:cBhvr>
                                        <p:cTn id="2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29600" cy="1066800"/>
          </a:xfrm>
        </p:spPr>
        <p:txBody>
          <a:bodyPr/>
          <a:lstStyle/>
          <a:p>
            <a:r>
              <a:rPr lang="en-GB" dirty="0" smtClean="0"/>
              <a:t>Problem</a:t>
            </a:r>
            <a:endParaRPr lang="en-GB" dirty="0"/>
          </a:p>
        </p:txBody>
      </p:sp>
      <p:sp>
        <p:nvSpPr>
          <p:cNvPr id="3" name="Content Placeholder 2"/>
          <p:cNvSpPr>
            <a:spLocks noGrp="1"/>
          </p:cNvSpPr>
          <p:nvPr>
            <p:ph idx="1"/>
          </p:nvPr>
        </p:nvSpPr>
        <p:spPr>
          <a:xfrm>
            <a:off x="611560" y="1628800"/>
            <a:ext cx="8229600" cy="4325112"/>
          </a:xfrm>
        </p:spPr>
        <p:txBody>
          <a:bodyPr>
            <a:normAutofit/>
          </a:bodyPr>
          <a:lstStyle/>
          <a:p>
            <a:pPr>
              <a:buFont typeface="Wingdings" panose="05000000000000000000" pitchFamily="2" charset="2"/>
              <a:buChar char="ü"/>
            </a:pPr>
            <a:r>
              <a:rPr lang="en-GB" sz="2800" dirty="0" smtClean="0"/>
              <a:t>The study must </a:t>
            </a:r>
            <a:r>
              <a:rPr lang="en-GB" sz="2800" dirty="0"/>
              <a:t>address a significant or relevant </a:t>
            </a:r>
            <a:r>
              <a:rPr lang="en-GB" sz="2800" dirty="0" smtClean="0"/>
              <a:t>problem and </a:t>
            </a:r>
            <a:r>
              <a:rPr lang="en-GB" sz="2800" dirty="0"/>
              <a:t>usually provide new or meaningful results. </a:t>
            </a:r>
            <a:endParaRPr lang="en-GB" sz="2800" dirty="0" smtClean="0"/>
          </a:p>
          <a:p>
            <a:pPr marL="109728" indent="0">
              <a:buNone/>
            </a:pPr>
            <a:endParaRPr lang="en-GB" sz="2800" dirty="0"/>
          </a:p>
          <a:p>
            <a:pPr>
              <a:buFont typeface="Wingdings" panose="05000000000000000000" pitchFamily="2" charset="2"/>
              <a:buChar char="ü"/>
            </a:pPr>
            <a:r>
              <a:rPr lang="en-GB" sz="2800" dirty="0" smtClean="0"/>
              <a:t>The </a:t>
            </a:r>
            <a:r>
              <a:rPr lang="en-GB" sz="2800" dirty="0"/>
              <a:t>current literature should </a:t>
            </a:r>
            <a:r>
              <a:rPr lang="en-GB" sz="2800" dirty="0" smtClean="0"/>
              <a:t>also have been reviewed </a:t>
            </a:r>
            <a:r>
              <a:rPr lang="en-GB" sz="2800" dirty="0"/>
              <a:t>and commonly will support the hypothesis, which should be clearly stated.</a:t>
            </a:r>
          </a:p>
        </p:txBody>
      </p:sp>
    </p:spTree>
    <p:extLst>
      <p:ext uri="{BB962C8B-B14F-4D97-AF65-F5344CB8AC3E}">
        <p14:creationId xmlns:p14="http://schemas.microsoft.com/office/powerpoint/2010/main" val="324382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1066800"/>
          </a:xfrm>
        </p:spPr>
        <p:txBody>
          <a:bodyPr/>
          <a:lstStyle/>
          <a:p>
            <a:r>
              <a:rPr lang="en-GB" dirty="0" smtClean="0"/>
              <a:t>Methodology</a:t>
            </a:r>
            <a:endParaRPr lang="en-GB" dirty="0"/>
          </a:p>
        </p:txBody>
      </p:sp>
      <p:sp>
        <p:nvSpPr>
          <p:cNvPr id="3" name="Content Placeholder 2"/>
          <p:cNvSpPr>
            <a:spLocks noGrp="1"/>
          </p:cNvSpPr>
          <p:nvPr>
            <p:ph idx="1"/>
          </p:nvPr>
        </p:nvSpPr>
        <p:spPr>
          <a:xfrm>
            <a:off x="709228" y="1268760"/>
            <a:ext cx="8013576" cy="4325112"/>
          </a:xfrm>
        </p:spPr>
        <p:txBody>
          <a:bodyPr>
            <a:normAutofit/>
          </a:bodyPr>
          <a:lstStyle/>
          <a:p>
            <a:pPr>
              <a:buFont typeface="Wingdings" panose="05000000000000000000" pitchFamily="2" charset="2"/>
              <a:buChar char="ü"/>
            </a:pPr>
            <a:r>
              <a:rPr lang="en-GB" sz="2000" dirty="0" smtClean="0"/>
              <a:t>Several types of </a:t>
            </a:r>
            <a:r>
              <a:rPr lang="en-GB" sz="2000" dirty="0"/>
              <a:t>study </a:t>
            </a:r>
            <a:r>
              <a:rPr lang="en-GB" sz="2000" dirty="0" smtClean="0"/>
              <a:t>design are </a:t>
            </a:r>
            <a:r>
              <a:rPr lang="en-GB" sz="2000" dirty="0"/>
              <a:t>available and each has their advantages </a:t>
            </a:r>
            <a:r>
              <a:rPr lang="en-GB" sz="2000" dirty="0" smtClean="0"/>
              <a:t>and disadvantages</a:t>
            </a:r>
            <a:r>
              <a:rPr lang="en-GB" sz="2000" dirty="0"/>
              <a:t>. </a:t>
            </a:r>
            <a:r>
              <a:rPr lang="en-GB" sz="2000" dirty="0" smtClean="0"/>
              <a:t>An inappropriate study  design </a:t>
            </a:r>
            <a:r>
              <a:rPr lang="en-GB" sz="2000" dirty="0"/>
              <a:t>can incorporate bias into the study </a:t>
            </a:r>
            <a:r>
              <a:rPr lang="en-GB" sz="2000" dirty="0" smtClean="0"/>
              <a:t>and subsequently </a:t>
            </a:r>
            <a:r>
              <a:rPr lang="en-GB" sz="2000" dirty="0"/>
              <a:t>skew results</a:t>
            </a:r>
            <a:r>
              <a:rPr lang="en-GB" sz="2000" dirty="0" smtClean="0"/>
              <a:t>.</a:t>
            </a:r>
          </a:p>
          <a:p>
            <a:pPr>
              <a:buFont typeface="Wingdings" panose="05000000000000000000" pitchFamily="2" charset="2"/>
              <a:buChar char="ü"/>
            </a:pPr>
            <a:endParaRPr lang="en-GB" sz="2000" dirty="0"/>
          </a:p>
          <a:p>
            <a:pPr marL="109728" indent="0">
              <a:buNone/>
            </a:pPr>
            <a:endParaRPr lang="en-GB" sz="2000" dirty="0" smtClean="0"/>
          </a:p>
          <a:p>
            <a:pPr>
              <a:buFont typeface="Wingdings" panose="05000000000000000000" pitchFamily="2" charset="2"/>
              <a:buChar char="ü"/>
            </a:pPr>
            <a:endParaRPr lang="en-GB" sz="2000" dirty="0"/>
          </a:p>
          <a:p>
            <a:pPr>
              <a:buFont typeface="Wingdings" panose="05000000000000000000" pitchFamily="2" charset="2"/>
              <a:buChar char="ü"/>
            </a:pPr>
            <a:endParaRPr lang="en-GB" sz="2000" dirty="0" smtClean="0"/>
          </a:p>
          <a:p>
            <a:pPr marL="109728" indent="0">
              <a:buNone/>
            </a:pPr>
            <a:endParaRPr lang="en-GB" sz="2000" dirty="0" smtClean="0"/>
          </a:p>
        </p:txBody>
      </p:sp>
      <p:sp>
        <p:nvSpPr>
          <p:cNvPr id="5" name="Rectangle 4"/>
          <p:cNvSpPr/>
          <p:nvPr/>
        </p:nvSpPr>
        <p:spPr>
          <a:xfrm>
            <a:off x="971600" y="2564904"/>
            <a:ext cx="7488832" cy="1169551"/>
          </a:xfrm>
          <a:prstGeom prst="rect">
            <a:avLst/>
          </a:prstGeom>
        </p:spPr>
        <p:txBody>
          <a:bodyPr wrap="square">
            <a:spAutoFit/>
          </a:bodyPr>
          <a:lstStyle/>
          <a:p>
            <a:r>
              <a:rPr lang="en-GB" sz="1400" i="1" dirty="0" smtClean="0"/>
              <a:t>Example, Horowitz </a:t>
            </a:r>
            <a:r>
              <a:rPr lang="en-GB" sz="1400" i="1" dirty="0"/>
              <a:t>(1969) interviewed a smaller sample (n = 31) of individuals said to be representative members of a drug-taking community, found that 32% (that is 8 individuals) reported having flashbacks. However there was poly-drug use amongst this group, which could have confounded the results</a:t>
            </a:r>
            <a:r>
              <a:rPr lang="en-GB" sz="1400" i="1" dirty="0" smtClean="0"/>
              <a:t>.</a:t>
            </a:r>
          </a:p>
          <a:p>
            <a:endParaRPr lang="en-GB" sz="1400" i="1" dirty="0"/>
          </a:p>
        </p:txBody>
      </p:sp>
    </p:spTree>
    <p:extLst>
      <p:ext uri="{BB962C8B-B14F-4D97-AF65-F5344CB8AC3E}">
        <p14:creationId xmlns:p14="http://schemas.microsoft.com/office/powerpoint/2010/main" val="119687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Participants</a:t>
            </a:r>
            <a:endParaRPr lang="en-GB" dirty="0"/>
          </a:p>
        </p:txBody>
      </p:sp>
      <p:sp>
        <p:nvSpPr>
          <p:cNvPr id="3" name="Content Placeholder 2"/>
          <p:cNvSpPr>
            <a:spLocks noGrp="1"/>
          </p:cNvSpPr>
          <p:nvPr>
            <p:ph idx="1"/>
          </p:nvPr>
        </p:nvSpPr>
        <p:spPr>
          <a:xfrm>
            <a:off x="611560" y="2132856"/>
            <a:ext cx="8229600" cy="4325112"/>
          </a:xfrm>
        </p:spPr>
        <p:txBody>
          <a:bodyPr>
            <a:normAutofit/>
          </a:bodyPr>
          <a:lstStyle/>
          <a:p>
            <a:pPr>
              <a:buFont typeface="Wingdings" panose="05000000000000000000" pitchFamily="2" charset="2"/>
              <a:buChar char="ü"/>
            </a:pPr>
            <a:r>
              <a:rPr lang="en-GB" sz="2400" dirty="0" smtClean="0"/>
              <a:t>To </a:t>
            </a:r>
            <a:r>
              <a:rPr lang="en-GB" sz="2400" dirty="0"/>
              <a:t>minimise any bias within </a:t>
            </a:r>
            <a:r>
              <a:rPr lang="en-GB" sz="2400" dirty="0" smtClean="0"/>
              <a:t>an study </a:t>
            </a:r>
            <a:r>
              <a:rPr lang="en-GB" sz="2400" dirty="0"/>
              <a:t>the sample population should be representative of the </a:t>
            </a:r>
            <a:r>
              <a:rPr lang="en-GB" sz="2400" dirty="0" smtClean="0"/>
              <a:t>population being studied as a whole and</a:t>
            </a:r>
            <a:r>
              <a:rPr lang="en-GB" sz="2400" dirty="0"/>
              <a:t>, ideally, participants should be allocated randomly within the study. </a:t>
            </a:r>
            <a:endParaRPr lang="en-GB" sz="2400" dirty="0" smtClean="0"/>
          </a:p>
          <a:p>
            <a:pPr marL="109728" indent="0">
              <a:buNone/>
            </a:pPr>
            <a:endParaRPr lang="en-GB" sz="2400" dirty="0" smtClean="0"/>
          </a:p>
          <a:p>
            <a:pPr>
              <a:buFont typeface="Wingdings" panose="05000000000000000000" pitchFamily="2" charset="2"/>
              <a:buChar char="ü"/>
            </a:pPr>
            <a:r>
              <a:rPr lang="en-GB" sz="2400" dirty="0" smtClean="0"/>
              <a:t>It </a:t>
            </a:r>
            <a:r>
              <a:rPr lang="en-GB" sz="2400" dirty="0"/>
              <a:t>is </a:t>
            </a:r>
            <a:r>
              <a:rPr lang="en-GB" sz="2400" dirty="0" smtClean="0"/>
              <a:t>also imperative </a:t>
            </a:r>
            <a:r>
              <a:rPr lang="en-GB" sz="2400" dirty="0"/>
              <a:t>to consider the sample size in the study and identify if the study is </a:t>
            </a:r>
            <a:r>
              <a:rPr lang="en-GB" sz="2400" dirty="0" smtClean="0"/>
              <a:t>adequately powered </a:t>
            </a:r>
            <a:r>
              <a:rPr lang="en-GB" sz="2400" dirty="0"/>
              <a:t>to produce statistically significant results</a:t>
            </a:r>
          </a:p>
        </p:txBody>
      </p:sp>
    </p:spTree>
    <p:extLst>
      <p:ext uri="{BB962C8B-B14F-4D97-AF65-F5344CB8AC3E}">
        <p14:creationId xmlns:p14="http://schemas.microsoft.com/office/powerpoint/2010/main" val="4153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8229600" cy="1066800"/>
          </a:xfrm>
        </p:spPr>
        <p:txBody>
          <a:bodyPr/>
          <a:lstStyle/>
          <a:p>
            <a:r>
              <a:rPr lang="en-GB" dirty="0" smtClean="0"/>
              <a:t>Conclusions</a:t>
            </a:r>
            <a:endParaRPr lang="en-GB" dirty="0"/>
          </a:p>
        </p:txBody>
      </p:sp>
      <p:sp>
        <p:nvSpPr>
          <p:cNvPr id="3" name="Content Placeholder 2"/>
          <p:cNvSpPr>
            <a:spLocks noGrp="1"/>
          </p:cNvSpPr>
          <p:nvPr>
            <p:ph idx="1"/>
          </p:nvPr>
        </p:nvSpPr>
        <p:spPr>
          <a:xfrm>
            <a:off x="470495" y="1052736"/>
            <a:ext cx="8229600" cy="4325112"/>
          </a:xfrm>
        </p:spPr>
        <p:txBody>
          <a:bodyPr>
            <a:normAutofit/>
          </a:bodyPr>
          <a:lstStyle/>
          <a:p>
            <a:pPr>
              <a:buFont typeface="Wingdings" panose="05000000000000000000" pitchFamily="2" charset="2"/>
              <a:buChar char="ü"/>
            </a:pPr>
            <a:endParaRPr lang="en-GB" sz="2000" dirty="0"/>
          </a:p>
          <a:p>
            <a:pPr>
              <a:buFont typeface="Wingdings" panose="05000000000000000000" pitchFamily="2" charset="2"/>
              <a:buChar char="ü"/>
            </a:pPr>
            <a:r>
              <a:rPr lang="en-GB" sz="2000" dirty="0" smtClean="0"/>
              <a:t>The </a:t>
            </a:r>
            <a:r>
              <a:rPr lang="en-GB" sz="2000" dirty="0"/>
              <a:t>authors should </a:t>
            </a:r>
            <a:r>
              <a:rPr lang="en-GB" sz="2000" dirty="0" smtClean="0"/>
              <a:t>also address </a:t>
            </a:r>
            <a:r>
              <a:rPr lang="en-GB" sz="2000" dirty="0"/>
              <a:t>shortcomings in the study and discuss how this may have affected the results </a:t>
            </a:r>
            <a:r>
              <a:rPr lang="en-GB" sz="2000" dirty="0" smtClean="0"/>
              <a:t>and recommendations </a:t>
            </a:r>
            <a:r>
              <a:rPr lang="en-GB" sz="2000" dirty="0"/>
              <a:t>proposed.</a:t>
            </a:r>
          </a:p>
        </p:txBody>
      </p:sp>
      <p:sp>
        <p:nvSpPr>
          <p:cNvPr id="4" name="Rectangle 3"/>
          <p:cNvSpPr/>
          <p:nvPr/>
        </p:nvSpPr>
        <p:spPr>
          <a:xfrm>
            <a:off x="660859" y="2708920"/>
            <a:ext cx="7848872" cy="1446550"/>
          </a:xfrm>
          <a:prstGeom prst="rect">
            <a:avLst/>
          </a:prstGeom>
        </p:spPr>
        <p:txBody>
          <a:bodyPr wrap="square">
            <a:spAutoFit/>
          </a:bodyPr>
          <a:lstStyle/>
          <a:p>
            <a:r>
              <a:rPr lang="en-GB" sz="1400" i="1" dirty="0" smtClean="0"/>
              <a:t>Example: The </a:t>
            </a:r>
            <a:r>
              <a:rPr lang="en-GB" sz="1400" i="1" dirty="0"/>
              <a:t>main shortcoming of this text is the author’s reliance on personal opinion rather than empirical data. For example, on page 325 there is a critical attack on the government’s policy towards private eye hospitals, but the author offers no data to support the argument he is making. In the absence of any supporting evidence there is no way of judging the validity or reliability of his conclusions and this seriously undermines the value of the work.  </a:t>
            </a:r>
          </a:p>
          <a:p>
            <a:r>
              <a:rPr lang="en-GB" dirty="0"/>
              <a:t> </a:t>
            </a:r>
          </a:p>
        </p:txBody>
      </p:sp>
    </p:spTree>
    <p:extLst>
      <p:ext uri="{BB962C8B-B14F-4D97-AF65-F5344CB8AC3E}">
        <p14:creationId xmlns:p14="http://schemas.microsoft.com/office/powerpoint/2010/main" val="190509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Justifying your strengths and weaknesses</a:t>
            </a:r>
            <a:endParaRPr lang="en-GB" dirty="0"/>
          </a:p>
        </p:txBody>
      </p:sp>
      <p:sp>
        <p:nvSpPr>
          <p:cNvPr id="3" name="Content Placeholder 2"/>
          <p:cNvSpPr>
            <a:spLocks noGrp="1"/>
          </p:cNvSpPr>
          <p:nvPr>
            <p:ph idx="1"/>
          </p:nvPr>
        </p:nvSpPr>
        <p:spPr/>
        <p:txBody>
          <a:bodyPr>
            <a:normAutofit/>
          </a:bodyPr>
          <a:lstStyle/>
          <a:p>
            <a:pPr marL="109728" indent="0">
              <a:buNone/>
            </a:pPr>
            <a:r>
              <a:rPr lang="en-GB" sz="2400" dirty="0" smtClean="0"/>
              <a:t>It will add strength to your analysis if you are able to JUSTIFY your assertion of a study’s strength or weakness by including evidence, such as an </a:t>
            </a:r>
            <a:r>
              <a:rPr lang="en-GB" sz="2400" dirty="0"/>
              <a:t>expert’s </a:t>
            </a:r>
            <a:r>
              <a:rPr lang="en-GB" sz="2400" dirty="0" smtClean="0"/>
              <a:t>argument/theory.  For example, if you were suggesting the weakness was in methodology you may wish to add:</a:t>
            </a:r>
          </a:p>
          <a:p>
            <a:pPr marL="109728" indent="0">
              <a:buNone/>
            </a:pPr>
            <a:endParaRPr lang="en-GB" sz="3200" dirty="0" smtClean="0"/>
          </a:p>
          <a:p>
            <a:pPr marL="109728" indent="0">
              <a:lnSpc>
                <a:spcPct val="110000"/>
              </a:lnSpc>
              <a:buNone/>
            </a:pPr>
            <a:r>
              <a:rPr lang="en-GB" sz="1600" i="1" dirty="0" smtClean="0"/>
              <a:t>Gibb (2015) found that there is evidence to suggest that it </a:t>
            </a:r>
            <a:r>
              <a:rPr lang="en-GB" sz="1600" i="1" dirty="0"/>
              <a:t>should not be assumed that the individuals in a focus group are expressing their own </a:t>
            </a:r>
            <a:r>
              <a:rPr lang="en-GB" sz="1600" i="1" dirty="0" smtClean="0"/>
              <a:t>definitive individual </a:t>
            </a:r>
            <a:r>
              <a:rPr lang="en-GB" sz="1600" i="1" dirty="0"/>
              <a:t>view. </a:t>
            </a:r>
            <a:r>
              <a:rPr lang="en-GB" sz="2400" dirty="0" smtClean="0"/>
              <a:t> </a:t>
            </a:r>
            <a:endParaRPr lang="en-GB" sz="2400" dirty="0"/>
          </a:p>
          <a:p>
            <a:pPr marL="109728" indent="0">
              <a:buNone/>
            </a:pPr>
            <a:endParaRPr lang="en-GB" dirty="0"/>
          </a:p>
        </p:txBody>
      </p:sp>
    </p:spTree>
    <p:extLst>
      <p:ext uri="{BB962C8B-B14F-4D97-AF65-F5344CB8AC3E}">
        <p14:creationId xmlns:p14="http://schemas.microsoft.com/office/powerpoint/2010/main" val="35312620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204" y="1124744"/>
            <a:ext cx="8229600" cy="1066800"/>
          </a:xfrm>
        </p:spPr>
        <p:txBody>
          <a:bodyPr/>
          <a:lstStyle/>
          <a:p>
            <a:endParaRPr lang="en-GB" b="1"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028" t="15909" r="30909" b="6250"/>
          <a:stretch/>
        </p:blipFill>
        <p:spPr bwMode="auto">
          <a:xfrm>
            <a:off x="1583160" y="449288"/>
            <a:ext cx="6408712" cy="6408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51520" y="2852936"/>
            <a:ext cx="1152128"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In addition/ furthermore – links studies </a:t>
            </a:r>
            <a:endParaRPr lang="en-GB" sz="1100" dirty="0"/>
          </a:p>
        </p:txBody>
      </p:sp>
      <p:sp>
        <p:nvSpPr>
          <p:cNvPr id="6" name="Rectangle 5"/>
          <p:cNvSpPr/>
          <p:nvPr/>
        </p:nvSpPr>
        <p:spPr>
          <a:xfrm>
            <a:off x="107504" y="476672"/>
            <a:ext cx="1152128"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Accurate referencing</a:t>
            </a:r>
            <a:endParaRPr lang="en-GB" sz="1100" dirty="0"/>
          </a:p>
        </p:txBody>
      </p:sp>
      <p:sp>
        <p:nvSpPr>
          <p:cNvPr id="7" name="Rectangle 6"/>
          <p:cNvSpPr/>
          <p:nvPr/>
        </p:nvSpPr>
        <p:spPr>
          <a:xfrm>
            <a:off x="7991872" y="349215"/>
            <a:ext cx="1152128"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Academic tone throughout</a:t>
            </a:r>
            <a:endParaRPr lang="en-GB" sz="1100" dirty="0"/>
          </a:p>
        </p:txBody>
      </p:sp>
      <p:sp>
        <p:nvSpPr>
          <p:cNvPr id="8" name="Rectangle 7"/>
          <p:cNvSpPr/>
          <p:nvPr/>
        </p:nvSpPr>
        <p:spPr>
          <a:xfrm>
            <a:off x="7884368" y="3337234"/>
            <a:ext cx="1152128"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Critique of research paper/methods</a:t>
            </a:r>
            <a:endParaRPr lang="en-GB" sz="1100" dirty="0"/>
          </a:p>
        </p:txBody>
      </p:sp>
      <p:sp>
        <p:nvSpPr>
          <p:cNvPr id="9" name="Rectangle 8"/>
          <p:cNvSpPr/>
          <p:nvPr/>
        </p:nvSpPr>
        <p:spPr>
          <a:xfrm>
            <a:off x="251520" y="4509120"/>
            <a:ext cx="1152128"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Limitations of breast feeding stated</a:t>
            </a:r>
            <a:endParaRPr lang="en-GB" sz="1100" dirty="0"/>
          </a:p>
        </p:txBody>
      </p:sp>
    </p:spTree>
    <p:extLst>
      <p:ext uri="{BB962C8B-B14F-4D97-AF65-F5344CB8AC3E}">
        <p14:creationId xmlns:p14="http://schemas.microsoft.com/office/powerpoint/2010/main" val="82418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2420888"/>
            <a:ext cx="8064896" cy="3939540"/>
          </a:xfrm>
          <a:prstGeom prst="rect">
            <a:avLst/>
          </a:prstGeom>
          <a:noFill/>
        </p:spPr>
        <p:txBody>
          <a:bodyPr wrap="square" rtlCol="0">
            <a:spAutoFit/>
          </a:bodyPr>
          <a:lstStyle/>
          <a:p>
            <a:r>
              <a:rPr lang="en-GB" sz="2000" dirty="0" smtClean="0"/>
              <a:t>For additional support one to one support on academic writing you can:</a:t>
            </a:r>
          </a:p>
          <a:p>
            <a:endParaRPr lang="en-GB" sz="2000" dirty="0"/>
          </a:p>
          <a:p>
            <a:pPr marL="285750" indent="-285750">
              <a:buFont typeface="Arial" panose="020B0604020202020204" pitchFamily="34" charset="0"/>
              <a:buChar char="•"/>
            </a:pPr>
            <a:r>
              <a:rPr lang="en-GB" sz="2000" dirty="0" smtClean="0"/>
              <a:t>Book </a:t>
            </a:r>
            <a:r>
              <a:rPr lang="en-GB" sz="2000" dirty="0"/>
              <a:t>an appointment with an ADT </a:t>
            </a:r>
            <a:r>
              <a:rPr lang="en-GB" sz="2000" dirty="0" smtClean="0"/>
              <a:t>on </a:t>
            </a:r>
            <a:r>
              <a:rPr lang="en-GB" sz="1600" dirty="0" smtClean="0">
                <a:hlinkClick r:id="rId2"/>
              </a:rPr>
              <a:t>https</a:t>
            </a:r>
            <a:r>
              <a:rPr lang="en-GB" sz="1600" dirty="0">
                <a:hlinkClick r:id="rId2"/>
              </a:rPr>
              <a:t>://sites.google.com/site/ldcgculearn</a:t>
            </a:r>
            <a:r>
              <a:rPr lang="en-GB" sz="1600" dirty="0" smtClean="0">
                <a:hlinkClick r:id="rId2"/>
              </a:rPr>
              <a:t>/</a:t>
            </a:r>
            <a:endParaRPr lang="en-GB" sz="1600" dirty="0" smtClean="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2000" dirty="0" smtClean="0"/>
              <a:t>Come along to our ‘drop-in session’ on Wednesdays 2-4pm  </a:t>
            </a:r>
          </a:p>
          <a:p>
            <a:pPr algn="ctr"/>
            <a:endParaRPr lang="en-GB" sz="2000" dirty="0" smtClean="0"/>
          </a:p>
          <a:p>
            <a:pPr algn="ctr"/>
            <a:endParaRPr lang="en-GB" sz="2000" dirty="0" smtClean="0"/>
          </a:p>
          <a:p>
            <a:pPr algn="ctr"/>
            <a:r>
              <a:rPr lang="en-GB" sz="2000" dirty="0" smtClean="0"/>
              <a:t>Kim Williams</a:t>
            </a:r>
          </a:p>
          <a:p>
            <a:pPr algn="ctr"/>
            <a:r>
              <a:rPr lang="en-GB" sz="2000" dirty="0" smtClean="0"/>
              <a:t>Academic Development Tutor</a:t>
            </a:r>
          </a:p>
          <a:p>
            <a:pPr algn="ctr"/>
            <a:r>
              <a:rPr lang="en-GB" sz="2000" b="1" dirty="0" smtClean="0"/>
              <a:t>Learning Development Centre</a:t>
            </a:r>
          </a:p>
          <a:p>
            <a:pPr algn="ctr"/>
            <a:r>
              <a:rPr lang="en-GB" sz="2000" b="1" dirty="0" smtClean="0"/>
              <a:t>Govan Mbeki Building – A107</a:t>
            </a:r>
            <a:endParaRPr lang="en-GB" sz="2000" b="1" dirty="0"/>
          </a:p>
        </p:txBody>
      </p:sp>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762" t="19030" r="29365" b="20243"/>
          <a:stretch/>
        </p:blipFill>
        <p:spPr bwMode="auto">
          <a:xfrm>
            <a:off x="3275856" y="554387"/>
            <a:ext cx="1951509" cy="16382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85365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500"/>
                                        <p:tgtEl>
                                          <p:spTgt spid="4">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Effect transition="in" filter="fade">
                                      <p:cBhvr>
                                        <p:cTn id="19" dur="500"/>
                                        <p:tgtEl>
                                          <p:spTgt spid="4">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Effect transition="in" filter="fade">
                                      <p:cBhvr>
                                        <p:cTn id="22" dur="500"/>
                                        <p:tgtEl>
                                          <p:spTgt spid="4">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Effect transition="in" filter="fade">
                                      <p:cBhvr>
                                        <p:cTn id="25"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2661</TotalTime>
  <Words>1815</Words>
  <Application>Microsoft Office PowerPoint</Application>
  <PresentationFormat>On-screen Show (4:3)</PresentationFormat>
  <Paragraphs>224</Paragraphs>
  <Slides>27</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Calibri</vt:lpstr>
      <vt:lpstr>Candara</vt:lpstr>
      <vt:lpstr>Georgia</vt:lpstr>
      <vt:lpstr>Lucida Handwriting</vt:lpstr>
      <vt:lpstr>Times</vt:lpstr>
      <vt:lpstr>Trebuchet MS</vt:lpstr>
      <vt:lpstr>Wingdings</vt:lpstr>
      <vt:lpstr>Wingdings 2</vt:lpstr>
      <vt:lpstr>Urban</vt:lpstr>
      <vt:lpstr>Critical Writing</vt:lpstr>
      <vt:lpstr>Overall Learning Objective</vt:lpstr>
      <vt:lpstr>Being critical? </vt:lpstr>
      <vt:lpstr>Critical Thinking…</vt:lpstr>
      <vt:lpstr>Descriptive writing vs critical writing</vt:lpstr>
      <vt:lpstr>Task: critical or descriptive?</vt:lpstr>
      <vt:lpstr>PowerPoint Presentation</vt:lpstr>
      <vt:lpstr>PowerPoint Presentation</vt:lpstr>
      <vt:lpstr>Critical Analysis</vt:lpstr>
      <vt:lpstr>Activity 1</vt:lpstr>
      <vt:lpstr>Critical thinking is…</vt:lpstr>
      <vt:lpstr>PowerPoint Presentation</vt:lpstr>
      <vt:lpstr>Critiquing…</vt:lpstr>
      <vt:lpstr>Critical thought should begin…</vt:lpstr>
      <vt:lpstr>PowerPoint Presentation</vt:lpstr>
      <vt:lpstr>PowerPoint Presentation</vt:lpstr>
      <vt:lpstr>Academic writing- example*</vt:lpstr>
      <vt:lpstr>Academic writing- example*</vt:lpstr>
      <vt:lpstr>PowerPoint Presentation</vt:lpstr>
      <vt:lpstr>Initial Assessment</vt:lpstr>
      <vt:lpstr>Problem</vt:lpstr>
      <vt:lpstr>Methodology</vt:lpstr>
      <vt:lpstr>Participants</vt:lpstr>
      <vt:lpstr>Conclusions</vt:lpstr>
      <vt:lpstr>Justifying your strengths and weaknesses</vt:lpstr>
      <vt:lpstr>PowerPoint Presentation</vt:lpstr>
      <vt:lpstr>PowerPoint Presentation</vt:lpstr>
    </vt:vector>
  </TitlesOfParts>
  <Company>Glasgow Caledonian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Research Project</dc:title>
  <dc:creator>Setup</dc:creator>
  <cp:lastModifiedBy>keith cameron</cp:lastModifiedBy>
  <cp:revision>187</cp:revision>
  <cp:lastPrinted>2016-01-22T11:49:54Z</cp:lastPrinted>
  <dcterms:created xsi:type="dcterms:W3CDTF">2015-12-03T10:09:27Z</dcterms:created>
  <dcterms:modified xsi:type="dcterms:W3CDTF">2018-10-26T14:05:40Z</dcterms:modified>
</cp:coreProperties>
</file>