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/>
    <p:restoredTop sz="95455"/>
  </p:normalViewPr>
  <p:slideViewPr>
    <p:cSldViewPr snapToGrid="0">
      <p:cViewPr varScale="1">
        <p:scale>
          <a:sx n="115" d="100"/>
          <a:sy n="115" d="100"/>
        </p:scale>
        <p:origin x="48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10/3/26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17E07-6DE1-AF40-5CE0-F08D3C847A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8310" y="0"/>
            <a:ext cx="8637073" cy="3429000"/>
          </a:xfrm>
        </p:spPr>
        <p:txBody>
          <a:bodyPr>
            <a:noAutofit/>
          </a:bodyPr>
          <a:lstStyle/>
          <a:p>
            <a:r>
              <a:rPr lang="en-GB" sz="2400" b="1" dirty="0"/>
              <a:t>Title: </a:t>
            </a:r>
            <a:br>
              <a:rPr lang="en-GB" sz="2000" b="1" dirty="0"/>
            </a:br>
            <a:r>
              <a:rPr lang="en-GB" sz="2000" b="1" dirty="0"/>
              <a:t>                 </a:t>
            </a:r>
            <a:r>
              <a:rPr lang="en-GB" sz="2000" dirty="0"/>
              <a:t>Jersey Number Detection using TensorFlow</a:t>
            </a:r>
            <a:br>
              <a:rPr lang="en-GB" sz="2000" b="1" dirty="0"/>
            </a:br>
            <a:br>
              <a:rPr lang="en-GB" sz="2000" b="1" dirty="0"/>
            </a:br>
            <a:br>
              <a:rPr lang="en-GB" sz="2000" b="1" dirty="0"/>
            </a:br>
            <a:r>
              <a:rPr lang="en-GB" sz="2400" b="1" dirty="0"/>
              <a:t>Subtitle: </a:t>
            </a:r>
            <a:br>
              <a:rPr lang="en-GB" sz="2000" b="1" dirty="0"/>
            </a:br>
            <a:r>
              <a:rPr lang="en-GB" sz="2000" b="1" dirty="0"/>
              <a:t>                 </a:t>
            </a:r>
            <a:r>
              <a:rPr lang="en-GB" sz="2000" dirty="0"/>
              <a:t>A Deep Learning Approach for Sports Analytics</a:t>
            </a:r>
            <a:br>
              <a:rPr lang="en-GB" sz="2000" b="1" dirty="0"/>
            </a:br>
            <a:br>
              <a:rPr lang="en-GB" sz="2000" b="1" dirty="0"/>
            </a:br>
            <a:r>
              <a:rPr lang="en-GB" sz="2400" b="1" dirty="0"/>
              <a:t>Author: </a:t>
            </a:r>
            <a:br>
              <a:rPr lang="en-GB" sz="2000" b="1" dirty="0"/>
            </a:br>
            <a:r>
              <a:rPr lang="en-GB" sz="2000" b="1" dirty="0"/>
              <a:t>                     </a:t>
            </a:r>
            <a:r>
              <a:rPr lang="en-GB" sz="2000"/>
              <a:t>Muzammal Hussain</a:t>
            </a:r>
            <a:br>
              <a:rPr lang="en-GB" sz="2000" dirty="0"/>
            </a:br>
            <a:br>
              <a:rPr lang="en-GB" sz="2000" b="1" dirty="0"/>
            </a:br>
            <a:endParaRPr lang="en-PK" sz="2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346435-1150-3310-2EDA-7F7311EC3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6088" y="3941737"/>
            <a:ext cx="8637072" cy="1219201"/>
          </a:xfrm>
        </p:spPr>
        <p:txBody>
          <a:bodyPr>
            <a:normAutofit/>
          </a:bodyPr>
          <a:lstStyle/>
          <a:p>
            <a:r>
              <a:rPr lang="en-GB" sz="2400" b="1" dirty="0"/>
              <a:t>Date:</a:t>
            </a:r>
            <a:br>
              <a:rPr lang="en-GB" sz="2400" b="1" dirty="0"/>
            </a:br>
            <a:r>
              <a:rPr lang="en-GB" sz="2400" b="1" dirty="0"/>
              <a:t> </a:t>
            </a:r>
            <a:r>
              <a:rPr lang="en-GB" sz="2400" dirty="0"/>
              <a:t>30 April 2025</a:t>
            </a:r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3530806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3E00E-599D-BA5F-AB1C-E213CF053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342420"/>
            <a:ext cx="9603275" cy="1049235"/>
          </a:xfrm>
        </p:spPr>
        <p:txBody>
          <a:bodyPr/>
          <a:lstStyle/>
          <a:p>
            <a:pPr algn="ctr"/>
            <a:r>
              <a:rPr lang="en-GB" b="1" dirty="0"/>
              <a:t>Project Overview</a:t>
            </a:r>
            <a:endParaRPr lang="en-P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85CD8-83E3-C0CF-18A7-2E114E135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45061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GB" b="1" dirty="0"/>
              <a:t>Objective</a:t>
            </a:r>
            <a:r>
              <a:rPr lang="en-GB" dirty="0"/>
              <a:t>:     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2000" dirty="0"/>
              <a:t>Develop a deep learning model to detect and classify jersey numbers from player images</a:t>
            </a:r>
            <a:r>
              <a:rPr lang="en-GB" sz="2000" b="1" dirty="0"/>
              <a:t>.</a:t>
            </a:r>
            <a:endParaRPr lang="en-GB" b="1" dirty="0"/>
          </a:p>
          <a:p>
            <a:pPr>
              <a:buFont typeface="Wingdings" pitchFamily="2" charset="2"/>
              <a:buChar char="v"/>
            </a:pPr>
            <a:r>
              <a:rPr lang="en-GB" b="1" dirty="0"/>
              <a:t>Motivation:    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2000" dirty="0"/>
              <a:t>Enhance sports analytics through automated player tracking and identification.</a:t>
            </a:r>
            <a:endParaRPr lang="en-GB" b="1" dirty="0"/>
          </a:p>
          <a:p>
            <a:pPr>
              <a:buFont typeface="Wingdings" pitchFamily="2" charset="2"/>
              <a:buChar char="v"/>
            </a:pPr>
            <a:r>
              <a:rPr lang="en-GB" b="1" dirty="0"/>
              <a:t>Approach:       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2000" dirty="0"/>
              <a:t>Use TensorFlow and a custom CNN model to detect bounding boxes and classify jersey numbers</a:t>
            </a:r>
            <a:r>
              <a:rPr lang="en-GB" sz="2000" b="1" dirty="0"/>
              <a:t>.</a:t>
            </a:r>
            <a:endParaRPr lang="en-PK" sz="2000" b="1" dirty="0"/>
          </a:p>
        </p:txBody>
      </p:sp>
    </p:spTree>
    <p:extLst>
      <p:ext uri="{BB962C8B-B14F-4D97-AF65-F5344CB8AC3E}">
        <p14:creationId xmlns:p14="http://schemas.microsoft.com/office/powerpoint/2010/main" val="1282689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E15D1-5402-B0D4-A516-54DB9EEC5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 </a:t>
            </a:r>
            <a:r>
              <a:rPr lang="en-GB" b="1" dirty="0"/>
              <a:t>Problem Statement</a:t>
            </a:r>
            <a:br>
              <a:rPr lang="en-GB" b="1" dirty="0"/>
            </a:br>
            <a:endParaRPr lang="en-P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3EFCE-5270-668A-E756-70DE31075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89738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GB" b="1" dirty="0"/>
              <a:t>Challenge:   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2000" dirty="0"/>
              <a:t>Manual player tracking is time-consuming and error-prone.</a:t>
            </a:r>
          </a:p>
          <a:p>
            <a:pPr>
              <a:buFont typeface="Wingdings" pitchFamily="2" charset="2"/>
              <a:buChar char="v"/>
            </a:pPr>
            <a:r>
              <a:rPr lang="en-GB" b="1" dirty="0"/>
              <a:t>Goal:    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b="1" dirty="0"/>
              <a:t> </a:t>
            </a:r>
            <a:r>
              <a:rPr lang="en-GB" sz="2000" dirty="0"/>
              <a:t>Automate detection and classification of players based on jersey numbers.</a:t>
            </a:r>
          </a:p>
          <a:p>
            <a:pPr>
              <a:buFont typeface="Wingdings" pitchFamily="2" charset="2"/>
              <a:buChar char="v"/>
            </a:pPr>
            <a:r>
              <a:rPr lang="en-GB" b="1" dirty="0"/>
              <a:t>Application: 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b="1" dirty="0"/>
              <a:t> </a:t>
            </a:r>
            <a:r>
              <a:rPr lang="en-GB" sz="2000" dirty="0"/>
              <a:t>Useful in football, basketball, and other sports for tracking, statistics, and broadcasting.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1343004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0BABE-B6D2-5558-6E6A-E74EED9F6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 </a:t>
            </a:r>
            <a:r>
              <a:rPr lang="en-GB" b="1" dirty="0"/>
              <a:t>Dataset Description</a:t>
            </a:r>
            <a:endParaRPr lang="en-P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B1933-1771-C43F-8F8F-CBFB13223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v"/>
            </a:pPr>
            <a:r>
              <a:rPr lang="en-GB" b="1" dirty="0"/>
              <a:t>Source: 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Roboflow dataset (TFRecord format)</a:t>
            </a:r>
          </a:p>
          <a:p>
            <a:pPr>
              <a:buFont typeface="Wingdings" pitchFamily="2" charset="2"/>
              <a:buChar char="v"/>
            </a:pPr>
            <a:r>
              <a:rPr lang="en-GB" b="1" dirty="0"/>
              <a:t>Content: 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Images of players with labeled bounding boxes and jersey numbers.</a:t>
            </a:r>
          </a:p>
          <a:p>
            <a:pPr>
              <a:buFont typeface="Wingdings" pitchFamily="2" charset="2"/>
              <a:buChar char="v"/>
            </a:pPr>
            <a:r>
              <a:rPr lang="en-GB" b="1" dirty="0"/>
              <a:t>Structure: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Training, validation, and test splits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Each image includes bounding box coordinates and class label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703830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83F51-DC55-6802-530B-327A4559B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746759"/>
            <a:ext cx="9603275" cy="1097281"/>
          </a:xfrm>
        </p:spPr>
        <p:txBody>
          <a:bodyPr/>
          <a:lstStyle/>
          <a:p>
            <a:pPr algn="ctr"/>
            <a:r>
              <a:rPr lang="en-GB" dirty="0"/>
              <a:t>Data Preparation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76FF5-E1F0-D017-0A1B-6D8467852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GB" sz="2400" b="1" dirty="0"/>
              <a:t>Pre-processing Steps:</a:t>
            </a:r>
          </a:p>
          <a:p>
            <a:pPr marL="0" indent="0">
              <a:buNone/>
            </a:pPr>
            <a:endParaRPr lang="en-GB" sz="2400" b="1" dirty="0"/>
          </a:p>
          <a:p>
            <a:pPr marL="914400" lvl="1" indent="-457200">
              <a:buFont typeface="+mj-lt"/>
              <a:buAutoNum type="arabicPeriod"/>
            </a:pPr>
            <a:r>
              <a:rPr lang="en-GB" sz="2000" dirty="0"/>
              <a:t>Load TFRecord files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2000" dirty="0"/>
              <a:t>Parse encoded images and bounding box annotations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2000" dirty="0"/>
              <a:t>Resize images to 128x128 pixel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2000" dirty="0"/>
              <a:t>Normalize pixel values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2000" dirty="0"/>
              <a:t>Extract the first object per image (only one class used)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544935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2AA0F-D2C7-8F05-C457-2DF7EAD39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457200"/>
            <a:ext cx="9603275" cy="1099752"/>
          </a:xfrm>
        </p:spPr>
        <p:txBody>
          <a:bodyPr/>
          <a:lstStyle/>
          <a:p>
            <a:pPr algn="ctr"/>
            <a:r>
              <a:rPr lang="en-GB" b="1" dirty="0"/>
              <a:t>Model Architecture</a:t>
            </a:r>
            <a:endParaRPr lang="en-P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6F2C7-DE53-5384-6B69-D93ED2D755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703693"/>
            <a:ext cx="9603275" cy="4351118"/>
          </a:xfrm>
        </p:spPr>
        <p:txBody>
          <a:bodyPr>
            <a:normAutofit fontScale="25000" lnSpcReduction="20000"/>
          </a:bodyPr>
          <a:lstStyle/>
          <a:p>
            <a:endParaRPr lang="en-GB" dirty="0"/>
          </a:p>
          <a:p>
            <a:pPr>
              <a:buFont typeface="Wingdings" pitchFamily="2" charset="2"/>
              <a:buChar char="v"/>
            </a:pPr>
            <a:r>
              <a:rPr lang="en-GB" sz="8000" b="1" dirty="0"/>
              <a:t>Input:</a:t>
            </a:r>
          </a:p>
          <a:p>
            <a:pPr marL="1828800" lvl="1" indent="-1371600">
              <a:buFont typeface="+mj-lt"/>
              <a:buAutoNum type="arabicPeriod"/>
            </a:pPr>
            <a:r>
              <a:rPr lang="en-GB" sz="7600" dirty="0"/>
              <a:t>128x128 RGB images</a:t>
            </a:r>
          </a:p>
          <a:p>
            <a:pPr>
              <a:buFont typeface="Wingdings" pitchFamily="2" charset="2"/>
              <a:buChar char="v"/>
            </a:pPr>
            <a:r>
              <a:rPr lang="en-GB" sz="8000" b="1" dirty="0"/>
              <a:t>Backbone:       </a:t>
            </a:r>
          </a:p>
          <a:p>
            <a:pPr marL="1828800" lvl="1" indent="-1371600">
              <a:buFont typeface="+mj-lt"/>
              <a:buAutoNum type="arabicPeriod"/>
            </a:pPr>
            <a:r>
              <a:rPr lang="en-GB" sz="7800" dirty="0"/>
              <a:t>Custom CNN with Conv2D, </a:t>
            </a:r>
            <a:r>
              <a:rPr lang="en-GB" sz="7800" dirty="0" err="1"/>
              <a:t>MaxPool</a:t>
            </a:r>
            <a:r>
              <a:rPr lang="en-GB" sz="7800" dirty="0"/>
              <a:t>, and </a:t>
            </a:r>
            <a:r>
              <a:rPr lang="en-GB" sz="7800" dirty="0" err="1"/>
              <a:t>GlobalAvgPooling</a:t>
            </a:r>
            <a:r>
              <a:rPr lang="en-GB" sz="7800" dirty="0"/>
              <a:t> layers</a:t>
            </a:r>
          </a:p>
          <a:p>
            <a:pPr>
              <a:buFont typeface="Wingdings" pitchFamily="2" charset="2"/>
              <a:buChar char="v"/>
            </a:pPr>
            <a:r>
              <a:rPr lang="en-GB" sz="8000" b="1" dirty="0"/>
              <a:t>Outputs:</a:t>
            </a:r>
          </a:p>
          <a:p>
            <a:pPr marL="1828800" lvl="1" indent="-1371600">
              <a:buFont typeface="+mj-lt"/>
              <a:buAutoNum type="arabicPeriod"/>
            </a:pPr>
            <a:r>
              <a:rPr lang="en-GB" sz="7800" dirty="0"/>
              <a:t>Bounding Box (4 coordinates using sigmoid)</a:t>
            </a:r>
          </a:p>
          <a:p>
            <a:pPr marL="1828800" lvl="1" indent="-1371600">
              <a:buFont typeface="+mj-lt"/>
              <a:buAutoNum type="arabicPeriod"/>
            </a:pPr>
            <a:r>
              <a:rPr lang="en-GB" sz="7800" dirty="0"/>
              <a:t>Classification (binary output using sigmoid)</a:t>
            </a:r>
          </a:p>
          <a:p>
            <a:pPr>
              <a:buFont typeface="Wingdings" pitchFamily="2" charset="2"/>
              <a:buChar char="v"/>
            </a:pPr>
            <a:r>
              <a:rPr lang="en-GB" sz="8000" b="1" dirty="0"/>
              <a:t>Loss Functions</a:t>
            </a:r>
            <a:r>
              <a:rPr lang="en-GB" sz="8000" dirty="0"/>
              <a:t>:</a:t>
            </a:r>
          </a:p>
          <a:p>
            <a:pPr marL="1828800" lvl="1" indent="-1371600">
              <a:buFont typeface="+mj-lt"/>
              <a:buAutoNum type="arabicPeriod"/>
            </a:pPr>
            <a:r>
              <a:rPr lang="en-GB" sz="7800" dirty="0"/>
              <a:t>Bounding box: Mean Squared Error</a:t>
            </a:r>
          </a:p>
          <a:p>
            <a:pPr marL="2286000" lvl="2" indent="-1371600">
              <a:buFont typeface="+mj-lt"/>
              <a:buAutoNum type="arabicPeriod"/>
            </a:pPr>
            <a:r>
              <a:rPr lang="en-GB" sz="7600" dirty="0"/>
              <a:t>Classification: Binary </a:t>
            </a:r>
            <a:r>
              <a:rPr lang="en-GB" sz="7600" dirty="0" err="1"/>
              <a:t>Crossentropy</a:t>
            </a:r>
            <a:endParaRPr lang="en-PK" sz="7600" dirty="0"/>
          </a:p>
        </p:txBody>
      </p:sp>
    </p:spTree>
    <p:extLst>
      <p:ext uri="{BB962C8B-B14F-4D97-AF65-F5344CB8AC3E}">
        <p14:creationId xmlns:p14="http://schemas.microsoft.com/office/powerpoint/2010/main" val="3734795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977F0-84A9-8AEF-BB40-BF3B85637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531340"/>
            <a:ext cx="9603275" cy="766119"/>
          </a:xfrm>
        </p:spPr>
        <p:txBody>
          <a:bodyPr/>
          <a:lstStyle/>
          <a:p>
            <a:pPr algn="ctr"/>
            <a:r>
              <a:rPr lang="en-GB" b="1" dirty="0"/>
              <a:t>Training Configuration</a:t>
            </a:r>
            <a:endParaRPr lang="en-P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184D7-B5ED-1954-ACFF-152B10EFC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5095"/>
            <a:ext cx="9603275" cy="4199716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v"/>
            </a:pPr>
            <a:r>
              <a:rPr lang="en-GB" b="1" dirty="0"/>
              <a:t>Optimizer:    </a:t>
            </a:r>
            <a:r>
              <a:rPr lang="en-GB" dirty="0"/>
              <a:t>Adam</a:t>
            </a:r>
          </a:p>
          <a:p>
            <a:pPr>
              <a:buFont typeface="Wingdings" pitchFamily="2" charset="2"/>
              <a:buChar char="v"/>
            </a:pPr>
            <a:r>
              <a:rPr lang="en-GB" b="1" dirty="0"/>
              <a:t>Batch Size:     </a:t>
            </a:r>
            <a:r>
              <a:rPr lang="en-GB" dirty="0"/>
              <a:t>8</a:t>
            </a:r>
          </a:p>
          <a:p>
            <a:pPr>
              <a:buFont typeface="Wingdings" pitchFamily="2" charset="2"/>
              <a:buChar char="v"/>
            </a:pPr>
            <a:r>
              <a:rPr lang="en-GB" b="1" dirty="0"/>
              <a:t>Epochs:        </a:t>
            </a:r>
            <a:r>
              <a:rPr lang="en-GB" dirty="0"/>
              <a:t>15</a:t>
            </a:r>
          </a:p>
          <a:p>
            <a:pPr>
              <a:buFont typeface="Wingdings" pitchFamily="2" charset="2"/>
              <a:buChar char="v"/>
            </a:pPr>
            <a:r>
              <a:rPr lang="en-GB" b="1" dirty="0"/>
              <a:t>Datasets: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Training and Validation sets from TFRecord</a:t>
            </a:r>
          </a:p>
          <a:p>
            <a:pPr>
              <a:buFont typeface="Wingdings" pitchFamily="2" charset="2"/>
              <a:buChar char="v"/>
            </a:pPr>
            <a:r>
              <a:rPr lang="en-GB" b="1" dirty="0"/>
              <a:t>Metrics: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MSE for </a:t>
            </a:r>
            <a:r>
              <a:rPr lang="en-GB" dirty="0" err="1"/>
              <a:t>bbox</a:t>
            </a:r>
            <a:r>
              <a:rPr lang="en-GB" dirty="0"/>
              <a:t>, Binary Accuracy for classification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969966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29BEB-7BFA-3E97-F4EF-E897ECAAC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752432"/>
          </a:xfrm>
        </p:spPr>
        <p:txBody>
          <a:bodyPr/>
          <a:lstStyle/>
          <a:p>
            <a:pPr algn="ctr"/>
            <a:r>
              <a:rPr lang="en-GB" dirty="0"/>
              <a:t>Results and Visualization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1AA9E-DC20-5DE7-48B9-AC1C09D3C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itchFamily="2" charset="2"/>
              <a:buChar char="v"/>
            </a:pPr>
            <a:r>
              <a:rPr lang="en-GB" b="1" dirty="0"/>
              <a:t>Prediction Example: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Shows detected bounding box on a validation image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Includes confidence score and predicted class</a:t>
            </a:r>
          </a:p>
          <a:p>
            <a:endParaRPr lang="en-GB" dirty="0"/>
          </a:p>
          <a:p>
            <a:pPr>
              <a:buFont typeface="Wingdings" pitchFamily="2" charset="2"/>
              <a:buChar char="v"/>
            </a:pPr>
            <a:r>
              <a:rPr lang="en-GB" b="1" dirty="0"/>
              <a:t>Outcome:</a:t>
            </a:r>
            <a:endParaRPr lang="en-GB" dirty="0"/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Successful bounding box detection for visible jerseys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Reasonable accuracy for binary classification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713819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B7DED-E1F5-53E5-F985-3BD87AA4E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0"/>
            <a:ext cx="9603275" cy="1049235"/>
          </a:xfrm>
        </p:spPr>
        <p:txBody>
          <a:bodyPr/>
          <a:lstStyle/>
          <a:p>
            <a:pPr algn="ctr"/>
            <a:r>
              <a:rPr lang="en-GB" b="1" dirty="0"/>
              <a:t>Analysis and Discussion</a:t>
            </a:r>
            <a:endParaRPr lang="en-P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C9C43-9D4A-4A0B-0733-D75B3206F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543698"/>
            <a:ext cx="9603275" cy="4922648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v"/>
            </a:pPr>
            <a:r>
              <a:rPr lang="en-GB" b="1" dirty="0"/>
              <a:t>Strengths:</a:t>
            </a:r>
            <a:endParaRPr lang="en-GB" dirty="0"/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Lightweight model with good inference speed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Easy to adapt for multiple classes</a:t>
            </a:r>
          </a:p>
          <a:p>
            <a:pPr>
              <a:buFont typeface="Wingdings" pitchFamily="2" charset="2"/>
              <a:buChar char="v"/>
            </a:pPr>
            <a:r>
              <a:rPr lang="en-GB" b="1" dirty="0"/>
              <a:t>Limitations:</a:t>
            </a:r>
            <a:endParaRPr lang="en-GB" dirty="0"/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Single object per image assumption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Limited class diversity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No augmentation or regularization</a:t>
            </a:r>
          </a:p>
          <a:p>
            <a:pPr>
              <a:buFont typeface="Wingdings" pitchFamily="2" charset="2"/>
              <a:buChar char="v"/>
            </a:pPr>
            <a:r>
              <a:rPr lang="en-GB" b="1" dirty="0"/>
              <a:t>Improvement Ideas:</a:t>
            </a:r>
            <a:endParaRPr lang="en-GB" dirty="0"/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Introduce data augmentation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Train on multi-object datasets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Use more advanced architectures like YOLO or SSD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58587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D4945-A005-03BA-9455-EB825B30C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342420"/>
            <a:ext cx="9603275" cy="1049235"/>
          </a:xfrm>
        </p:spPr>
        <p:txBody>
          <a:bodyPr/>
          <a:lstStyle/>
          <a:p>
            <a:pPr algn="ctr"/>
            <a:r>
              <a:rPr lang="en-GB" b="1" dirty="0"/>
              <a:t>Conclusion and Future Work</a:t>
            </a:r>
            <a:endParaRPr lang="en-P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E745C-AED7-5164-41B7-7AFF48F67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itchFamily="2" charset="2"/>
              <a:buChar char="v"/>
            </a:pPr>
            <a:r>
              <a:rPr lang="en-GB" b="1" dirty="0"/>
              <a:t>Conclusion:</a:t>
            </a:r>
            <a:endParaRPr lang="en-GB" dirty="0"/>
          </a:p>
          <a:p>
            <a:pPr marL="914400" lvl="1" indent="-457200">
              <a:buFont typeface="+mj-lt"/>
              <a:buAutoNum type="arabicPeriod"/>
            </a:pPr>
            <a:r>
              <a:rPr lang="en-GB" sz="2000" dirty="0"/>
              <a:t>Built a custom object detection model for jersey number identification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2000" dirty="0"/>
              <a:t>Demonstrated capability with TFRecord data pipeline and visualization</a:t>
            </a:r>
          </a:p>
          <a:p>
            <a:pPr>
              <a:buFont typeface="Wingdings" pitchFamily="2" charset="2"/>
              <a:buChar char="v"/>
            </a:pPr>
            <a:r>
              <a:rPr lang="en-GB" b="1" dirty="0"/>
              <a:t>Future Work:</a:t>
            </a:r>
            <a:endParaRPr lang="en-GB" dirty="0"/>
          </a:p>
          <a:p>
            <a:pPr marL="914400" lvl="1" indent="-457200">
              <a:buFont typeface="+mj-lt"/>
              <a:buAutoNum type="arabicPeriod"/>
            </a:pPr>
            <a:r>
              <a:rPr lang="en-GB" sz="2000" dirty="0"/>
              <a:t>Expand dataset and include multiple jersey numbers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2000" dirty="0"/>
              <a:t>Apply real-time detection with video frames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2000" dirty="0"/>
              <a:t>Evaluate with </a:t>
            </a:r>
            <a:r>
              <a:rPr lang="en-GB" sz="2000" dirty="0" err="1"/>
              <a:t>IoU</a:t>
            </a:r>
            <a:r>
              <a:rPr lang="en-GB" sz="2000" dirty="0"/>
              <a:t>, precision-recall metrics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383959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12EFD-CEEA-FC98-5275-E9388D861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End</a:t>
            </a:r>
            <a:br>
              <a:rPr lang="en-GB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B07A5-E948-201D-D116-72BA77003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Wingdings" pitchFamily="2" charset="2"/>
              <a:buChar char="v"/>
            </a:pPr>
            <a:endParaRPr lang="en-GB" b="1" dirty="0"/>
          </a:p>
          <a:p>
            <a:pPr algn="ctr">
              <a:buFont typeface="Wingdings" pitchFamily="2" charset="2"/>
              <a:buChar char="v"/>
            </a:pPr>
            <a:r>
              <a:rPr lang="en-GB" b="1" dirty="0"/>
              <a:t>Thank you!</a:t>
            </a:r>
          </a:p>
          <a:p>
            <a:pPr algn="ctr"/>
            <a:endParaRPr lang="en-GB" dirty="0"/>
          </a:p>
          <a:p>
            <a:pPr algn="ctr">
              <a:buFont typeface="Wingdings" pitchFamily="2" charset="2"/>
              <a:buChar char="v"/>
            </a:pPr>
            <a:endParaRPr lang="en-GB" b="1" dirty="0"/>
          </a:p>
          <a:p>
            <a:pPr algn="ctr">
              <a:buFont typeface="Wingdings" pitchFamily="2" charset="2"/>
              <a:buChar char="v"/>
            </a:pPr>
            <a:endParaRPr lang="en-GB" b="1" dirty="0"/>
          </a:p>
          <a:p>
            <a:pPr algn="ctr">
              <a:buFont typeface="Wingdings" pitchFamily="2" charset="2"/>
              <a:buChar char="v"/>
            </a:pPr>
            <a:r>
              <a:rPr lang="en-GB" b="1" dirty="0"/>
              <a:t>Any questions?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14882664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67</TotalTime>
  <Words>430</Words>
  <Application>Microsoft Macintosh PowerPoint</Application>
  <PresentationFormat>Widescreen</PresentationFormat>
  <Paragraphs>87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Gill Sans MT</vt:lpstr>
      <vt:lpstr>Wingdings</vt:lpstr>
      <vt:lpstr>Gallery</vt:lpstr>
      <vt:lpstr>Title:                   Jersey Number Detection using TensorFlow   Subtitle:                   A Deep Learning Approach for Sports Analytics  Author:                       Muzammal Hussain  </vt:lpstr>
      <vt:lpstr>Project Overview</vt:lpstr>
      <vt:lpstr> Problem Statement </vt:lpstr>
      <vt:lpstr> Dataset Description</vt:lpstr>
      <vt:lpstr>Data Preparation</vt:lpstr>
      <vt:lpstr>Model Architecture</vt:lpstr>
      <vt:lpstr>Training Configuration</vt:lpstr>
      <vt:lpstr>Results and Visualization</vt:lpstr>
      <vt:lpstr>Analysis and Discussion</vt:lpstr>
      <vt:lpstr>Conclusion and Future Work</vt:lpstr>
      <vt:lpstr>End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Khalid, Maryam</dc:creator>
  <cp:lastModifiedBy>Muzammal Hussain</cp:lastModifiedBy>
  <cp:revision>5</cp:revision>
  <dcterms:created xsi:type="dcterms:W3CDTF">2025-04-30T05:26:11Z</dcterms:created>
  <dcterms:modified xsi:type="dcterms:W3CDTF">2026-10-03T02:06:53Z</dcterms:modified>
</cp:coreProperties>
</file>