
<file path=[Content_Types].xml><?xml version="1.0" encoding="utf-8"?>
<Types xmlns="http://schemas.openxmlformats.org/package/2006/content-types">
  <Default Extension="png" ContentType="image/png"/>
  <Default Extension="emf" ContentType="image/x-emf"/>
  <Default Extension="m4a" ContentType="audio/mp4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1" r:id="rId1"/>
    <p:sldMasterId id="2147483711" r:id="rId2"/>
    <p:sldMasterId id="2147483682" r:id="rId3"/>
  </p:sldMasterIdLst>
  <p:notesMasterIdLst>
    <p:notesMasterId r:id="rId23"/>
  </p:notesMasterIdLst>
  <p:handoutMasterIdLst>
    <p:handoutMasterId r:id="rId24"/>
  </p:handoutMasterIdLst>
  <p:sldIdLst>
    <p:sldId id="278" r:id="rId4"/>
    <p:sldId id="327" r:id="rId5"/>
    <p:sldId id="348" r:id="rId6"/>
    <p:sldId id="347" r:id="rId7"/>
    <p:sldId id="349" r:id="rId8"/>
    <p:sldId id="350" r:id="rId9"/>
    <p:sldId id="351" r:id="rId10"/>
    <p:sldId id="352" r:id="rId11"/>
    <p:sldId id="353" r:id="rId12"/>
    <p:sldId id="354" r:id="rId13"/>
    <p:sldId id="355" r:id="rId14"/>
    <p:sldId id="356" r:id="rId15"/>
    <p:sldId id="357" r:id="rId16"/>
    <p:sldId id="358" r:id="rId17"/>
    <p:sldId id="359" r:id="rId18"/>
    <p:sldId id="360" r:id="rId19"/>
    <p:sldId id="361" r:id="rId20"/>
    <p:sldId id="362" r:id="rId21"/>
    <p:sldId id="325" r:id="rId2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" id="{885F766A-7AEC-455B-BCF9-E8B6C269F7BA}">
          <p14:sldIdLst>
            <p14:sldId id="278"/>
          </p14:sldIdLst>
        </p14:section>
        <p14:section name="Section Dividers" id="{82575F4C-A2F0-4EE9-9AE0-39F65A27CD48}">
          <p14:sldIdLst>
            <p14:sldId id="327"/>
            <p14:sldId id="348"/>
            <p14:sldId id="347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25"/>
          </p14:sldIdLst>
        </p14:section>
        <p14:section name="Generic Slides" id="{CEC8951E-5280-470D-9367-390EE319EB8C}">
          <p14:sldIdLst/>
        </p14:section>
        <p14:section name="Closing Slide" id="{18BF6BD7-647C-4898-8490-009901F6A82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orient="horz" pos="4201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232">
          <p15:clr>
            <a:srgbClr val="A4A3A4"/>
          </p15:clr>
        </p15:guide>
        <p15:guide id="5" orient="horz" pos="4088">
          <p15:clr>
            <a:srgbClr val="A4A3A4"/>
          </p15:clr>
        </p15:guide>
        <p15:guide id="6" orient="horz" pos="5">
          <p15:clr>
            <a:srgbClr val="A4A3A4"/>
          </p15:clr>
        </p15:guide>
        <p15:guide id="7" pos="2880">
          <p15:clr>
            <a:srgbClr val="A4A3A4"/>
          </p15:clr>
        </p15:guide>
        <p15:guide id="8" pos="159">
          <p15:clr>
            <a:srgbClr val="A4A3A4"/>
          </p15:clr>
        </p15:guide>
        <p15:guide id="9" pos="5603">
          <p15:clr>
            <a:srgbClr val="A4A3A4"/>
          </p15:clr>
        </p15:guide>
        <p15:guide id="10" pos="2993">
          <p15:clr>
            <a:srgbClr val="A4A3A4"/>
          </p15:clr>
        </p15:guide>
        <p15:guide id="11" pos="2767">
          <p15:clr>
            <a:srgbClr val="A4A3A4"/>
          </p15:clr>
        </p15:guide>
        <p15:guide id="12" pos="272">
          <p15:clr>
            <a:srgbClr val="A4A3A4"/>
          </p15:clr>
        </p15:guide>
        <p15:guide id="13" pos="5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orient="horz" pos="4201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pos="2880">
          <p15:clr>
            <a:srgbClr val="A4A3A4"/>
          </p15:clr>
        </p15:guide>
        <p15:guide id="5" pos="5601">
          <p15:clr>
            <a:srgbClr val="A4A3A4"/>
          </p15:clr>
        </p15:guide>
        <p15:guide id="6" pos="158">
          <p15:clr>
            <a:srgbClr val="A4A3A4"/>
          </p15:clr>
        </p15:guide>
        <p15:guide id="7" pos="2993">
          <p15:clr>
            <a:srgbClr val="A4A3A4"/>
          </p15:clr>
        </p15:guide>
        <p15:guide id="8" pos="276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398"/>
    <a:srgbClr val="01498E"/>
    <a:srgbClr val="AF1685"/>
    <a:srgbClr val="97D700"/>
    <a:srgbClr val="753BBD"/>
    <a:srgbClr val="006CB4"/>
    <a:srgbClr val="009681"/>
    <a:srgbClr val="EFEEED"/>
    <a:srgbClr val="C6003D"/>
    <a:srgbClr val="6847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5313" autoAdjust="0"/>
  </p:normalViewPr>
  <p:slideViewPr>
    <p:cSldViewPr snapToObjects="1">
      <p:cViewPr varScale="1">
        <p:scale>
          <a:sx n="58" d="100"/>
          <a:sy n="58" d="100"/>
        </p:scale>
        <p:origin x="2154" y="60"/>
      </p:cViewPr>
      <p:guideLst>
        <p:guide orient="horz" pos="2161"/>
        <p:guide orient="horz" pos="4201"/>
        <p:guide orient="horz" pos="119"/>
        <p:guide orient="horz" pos="232"/>
        <p:guide orient="horz" pos="4088"/>
        <p:guide orient="horz" pos="5"/>
        <p:guide pos="2880"/>
        <p:guide pos="159"/>
        <p:guide pos="5603"/>
        <p:guide pos="2993"/>
        <p:guide pos="2767"/>
        <p:guide pos="272"/>
        <p:guide pos="5488"/>
      </p:guideLst>
    </p:cSldViewPr>
  </p:slideViewPr>
  <p:outlineViewPr>
    <p:cViewPr>
      <p:scale>
        <a:sx n="33" d="100"/>
        <a:sy n="33" d="100"/>
      </p:scale>
      <p:origin x="0" y="6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125" d="100"/>
          <a:sy n="125" d="100"/>
        </p:scale>
        <p:origin x="-966" y="-90"/>
      </p:cViewPr>
      <p:guideLst>
        <p:guide orient="horz" pos="2160"/>
        <p:guide orient="horz" pos="4201"/>
        <p:guide orient="horz" pos="119"/>
        <p:guide pos="2880"/>
        <p:guide pos="5601"/>
        <p:guide pos="158"/>
        <p:guide pos="2993"/>
        <p:guide pos="2767"/>
      </p:guideLst>
    </p:cSldViewPr>
  </p:notes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752024" y="188913"/>
            <a:ext cx="4141151" cy="246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algn="r">
              <a:defRPr sz="1200"/>
            </a:lvl1pPr>
          </a:lstStyle>
          <a:p>
            <a:fld id="{F6D8AFBE-B7CA-4D46-A31C-75EC41E50D85}" type="datetimeFigureOut">
              <a:rPr lang="en-GB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17/03/2020</a:t>
            </a:fld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752024" y="6411676"/>
            <a:ext cx="4139564" cy="24622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r">
              <a:defRPr sz="1200"/>
            </a:lvl1pPr>
          </a:lstStyle>
          <a:p>
            <a:fld id="{7BFE86A2-DB0B-48E3-B43C-FE4600C96B70}" type="slidenum">
              <a:rPr lang="en-GB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/>
          </p:nvPr>
        </p:nvSpPr>
        <p:spPr>
          <a:xfrm>
            <a:off x="259080" y="190500"/>
            <a:ext cx="4132896" cy="246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algn="l">
              <a:defRPr sz="1200"/>
            </a:lvl1pPr>
          </a:lstStyle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259080" y="6411675"/>
            <a:ext cx="4132896" cy="24622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>
              <a:defRPr sz="1200"/>
            </a:lvl1pPr>
          </a:lstStyle>
          <a:p>
            <a:endParaRPr lang="en-GB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71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50825" y="183675"/>
            <a:ext cx="4141150" cy="24622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752024" y="183674"/>
            <a:ext cx="4139564" cy="24622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algn="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A9ED64-0ADF-46CE-9E4F-53EDBA1EDEC4}" type="datetimeFigureOut">
              <a:rPr lang="en-GB" smtClean="0"/>
              <a:pPr/>
              <a:t>17/03/2020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50825" y="6420090"/>
            <a:ext cx="4141150" cy="24622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752024" y="6422867"/>
            <a:ext cx="4139564" cy="24622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r"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A478A9A-ADE8-49A2-AF0A-1FE9A88297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Notes Placeholder 8"/>
          <p:cNvSpPr>
            <a:spLocks noGrp="1"/>
          </p:cNvSpPr>
          <p:nvPr>
            <p:ph type="body" sz="quarter" idx="3"/>
          </p:nvPr>
        </p:nvSpPr>
        <p:spPr>
          <a:xfrm>
            <a:off x="4752024" y="548616"/>
            <a:ext cx="4139564" cy="576076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9852" y="548616"/>
            <a:ext cx="4142123" cy="31065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233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968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1409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505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677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3559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5433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7935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0825" y="549275"/>
            <a:ext cx="4140200" cy="3105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478A9A-ADE8-49A2-AF0A-1FE9A88297B5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47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50826" y="188914"/>
            <a:ext cx="8642351" cy="6480175"/>
          </a:xfrm>
          <a:prstGeom prst="rect">
            <a:avLst/>
          </a:prstGeom>
          <a:solidFill>
            <a:srgbClr val="014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1498E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036" y="6229042"/>
            <a:ext cx="3780797" cy="2547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27" y="5409253"/>
            <a:ext cx="1914660" cy="1080000"/>
          </a:xfrm>
          <a:prstGeom prst="rect">
            <a:avLst/>
          </a:prstGeom>
        </p:spPr>
      </p:pic>
      <p:sp>
        <p:nvSpPr>
          <p:cNvPr id="1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31471" y="1178700"/>
            <a:ext cx="57607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smtClean="0"/>
              <a:t>Presenter’s Name (click to edit)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31412" y="1988808"/>
            <a:ext cx="576080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smtClean="0"/>
              <a:t>Presentation Title (click to edit)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6552200" y="374614"/>
            <a:ext cx="2160000" cy="2160292"/>
          </a:xfrm>
          <a:prstGeom prst="rect">
            <a:avLst/>
          </a:prstGeom>
          <a:blipFill dpi="0" rotWithShape="1">
            <a:blip r:embed="rId4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898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988817"/>
            <a:ext cx="8280400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smtClean="0"/>
              <a:t>Thank you note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74097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50825" y="190500"/>
            <a:ext cx="8642349" cy="6480175"/>
          </a:xfrm>
          <a:prstGeom prst="rect">
            <a:avLst/>
          </a:prstGeom>
          <a:solidFill>
            <a:srgbClr val="014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1498E"/>
              </a:solidFill>
            </a:endParaRP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88331" y="548633"/>
            <a:ext cx="792086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Divider Title (click to edit)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88332" y="1628770"/>
            <a:ext cx="7920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Intro Paragraph (click to edit)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5" y="5949700"/>
            <a:ext cx="9573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431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50826" y="188914"/>
            <a:ext cx="8642351" cy="6480175"/>
          </a:xfrm>
          <a:prstGeom prst="rect">
            <a:avLst/>
          </a:prstGeom>
          <a:solidFill>
            <a:srgbClr val="753B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88331" y="548633"/>
            <a:ext cx="792086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Divider Title (click to edit)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88332" y="1628770"/>
            <a:ext cx="7920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Intro Paragraph (click to edit)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5" y="5949700"/>
            <a:ext cx="9573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932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50826" y="188914"/>
            <a:ext cx="8642351" cy="6480175"/>
          </a:xfrm>
          <a:prstGeom prst="rect">
            <a:avLst/>
          </a:prstGeom>
          <a:solidFill>
            <a:srgbClr val="00B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88331" y="548633"/>
            <a:ext cx="792086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Divider Title (click to edit)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88332" y="1628770"/>
            <a:ext cx="7920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Intro Paragraph (click to edit)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5" y="5949700"/>
            <a:ext cx="9573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7729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50826" y="188587"/>
            <a:ext cx="8642351" cy="6480501"/>
          </a:xfrm>
          <a:prstGeom prst="rect">
            <a:avLst/>
          </a:prstGeom>
          <a:solidFill>
            <a:srgbClr val="AF1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88331" y="548633"/>
            <a:ext cx="792086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Divider Title (click to edit)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88332" y="1628770"/>
            <a:ext cx="7920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Intro Paragraph (click to edit)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5" y="5949700"/>
            <a:ext cx="95733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932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Transpa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588331" y="548633"/>
            <a:ext cx="7920868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Divider Title (click to edit)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88332" y="1628770"/>
            <a:ext cx="7920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Intro Paragraph (click to edit)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5" y="5949700"/>
            <a:ext cx="957330" cy="53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74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31132" y="368301"/>
            <a:ext cx="82804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rgbClr val="0149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Title (click to edit)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1132" y="2170427"/>
            <a:ext cx="828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Paragraph (click to edit)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358900"/>
            <a:ext cx="82797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>
                <a:latin typeface="Arial" pitchFamily="34" charset="0"/>
                <a:cs typeface="Arial" pitchFamily="34" charset="0"/>
              </a:rPr>
              <a:t>Section Subtitle (click to edit)</a:t>
            </a:r>
          </a:p>
        </p:txBody>
      </p:sp>
    </p:spTree>
    <p:extLst>
      <p:ext uri="{BB962C8B-B14F-4D97-AF65-F5344CB8AC3E}">
        <p14:creationId xmlns:p14="http://schemas.microsoft.com/office/powerpoint/2010/main" val="18717555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bject, Overlay (bottom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7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431801" y="368300"/>
            <a:ext cx="8280400" cy="5491163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 smtClean="0"/>
              <a:t>Object (Click an icon below)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2935552"/>
            <a:ext cx="3780152" cy="496805"/>
          </a:xfrm>
          <a:prstGeom prst="rect">
            <a:avLst/>
          </a:prstGeom>
          <a:solidFill>
            <a:srgbClr val="01498E">
              <a:alpha val="88000"/>
            </a:srgb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Subtitle (click to edit)</a:t>
            </a:r>
            <a:endParaRPr lang="en-GB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2" y="3429001"/>
            <a:ext cx="3780150" cy="2430462"/>
          </a:xfrm>
          <a:prstGeom prst="rect">
            <a:avLst/>
          </a:prstGeom>
          <a:solidFill>
            <a:srgbClr val="01498E">
              <a:alpha val="88000"/>
            </a:srgb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962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31132" y="368301"/>
            <a:ext cx="82804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rgbClr val="0149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Title (click to edit)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1132" y="2170427"/>
            <a:ext cx="828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Paragraph (click to edit)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358900"/>
            <a:ext cx="82797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>
                <a:latin typeface="Arial" pitchFamily="34" charset="0"/>
                <a:cs typeface="Arial" pitchFamily="34" charset="0"/>
              </a:rPr>
              <a:t>Section Subtitle (click to edit)</a:t>
            </a:r>
          </a:p>
        </p:txBody>
      </p:sp>
    </p:spTree>
    <p:extLst>
      <p:ext uri="{BB962C8B-B14F-4D97-AF65-F5344CB8AC3E}">
        <p14:creationId xmlns:p14="http://schemas.microsoft.com/office/powerpoint/2010/main" val="19521594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31132" y="368301"/>
            <a:ext cx="82804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rgbClr val="0149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Title (click to edit)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29680" y="1358900"/>
            <a:ext cx="828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Paragraph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0099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68300"/>
            <a:ext cx="8280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Paragraph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65137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431800" y="2168525"/>
            <a:ext cx="8280400" cy="3690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368301"/>
            <a:ext cx="82804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rgbClr val="0149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Title (click to edit)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358900"/>
            <a:ext cx="828040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>
                <a:latin typeface="Arial" pitchFamily="34" charset="0"/>
                <a:cs typeface="Arial" pitchFamily="34" charset="0"/>
              </a:rPr>
              <a:t>Section Subtitle (click to edit)</a:t>
            </a:r>
          </a:p>
        </p:txBody>
      </p:sp>
    </p:spTree>
    <p:extLst>
      <p:ext uri="{BB962C8B-B14F-4D97-AF65-F5344CB8AC3E}">
        <p14:creationId xmlns:p14="http://schemas.microsoft.com/office/powerpoint/2010/main" val="6167336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1" hasCustomPrompt="1"/>
          </p:nvPr>
        </p:nvSpPr>
        <p:spPr>
          <a:xfrm>
            <a:off x="431800" y="1358899"/>
            <a:ext cx="8280400" cy="450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368301"/>
            <a:ext cx="82804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2400" b="1" baseline="0">
                <a:solidFill>
                  <a:srgbClr val="01498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Section Title (click to edit)</a:t>
            </a:r>
          </a:p>
        </p:txBody>
      </p:sp>
    </p:spTree>
    <p:extLst>
      <p:ext uri="{BB962C8B-B14F-4D97-AF65-F5344CB8AC3E}">
        <p14:creationId xmlns:p14="http://schemas.microsoft.com/office/powerpoint/2010/main" val="3988992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431802" y="368301"/>
            <a:ext cx="8101012" cy="504095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 hasCustomPrompt="1"/>
          </p:nvPr>
        </p:nvSpPr>
        <p:spPr>
          <a:xfrm>
            <a:off x="431802" y="368299"/>
            <a:ext cx="8280399" cy="5491163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 smtClean="0"/>
              <a:t>Object (Click an icon below)</a:t>
            </a:r>
          </a:p>
        </p:txBody>
      </p:sp>
    </p:spTree>
    <p:extLst>
      <p:ext uri="{BB962C8B-B14F-4D97-AF65-F5344CB8AC3E}">
        <p14:creationId xmlns:p14="http://schemas.microsoft.com/office/powerpoint/2010/main" val="1782026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, Overlay (top 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431801" y="368301"/>
            <a:ext cx="8280729" cy="5491162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 smtClean="0"/>
              <a:t>Object (Click an icon below)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932036" y="375319"/>
            <a:ext cx="3780165" cy="496805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sz="2000" b="1" dirty="0" smtClean="0">
                <a:latin typeface="Arial" pitchFamily="34" charset="0"/>
                <a:cs typeface="Arial" pitchFamily="34" charset="0"/>
              </a:rPr>
              <a:t>Subtitle (click to edit)</a:t>
            </a:r>
            <a:endParaRPr lang="en-GB" sz="24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4932363" y="872124"/>
            <a:ext cx="3780167" cy="2558463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1102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, Overlay (bottom 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7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431801" y="368300"/>
            <a:ext cx="8280400" cy="5491163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 dirty="0" smtClean="0"/>
              <a:t>Object (Click an icon below)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2935552"/>
            <a:ext cx="3780152" cy="496805"/>
          </a:xfrm>
          <a:prstGeom prst="rect">
            <a:avLst/>
          </a:prstGeom>
          <a:solidFill>
            <a:srgbClr val="01498E">
              <a:alpha val="88000"/>
            </a:srgb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Subtitle (click to edit)</a:t>
            </a:r>
            <a:endParaRPr lang="en-GB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431802" y="3429001"/>
            <a:ext cx="3780150" cy="2430462"/>
          </a:xfrm>
          <a:prstGeom prst="rect">
            <a:avLst/>
          </a:prstGeom>
          <a:solidFill>
            <a:srgbClr val="01498E">
              <a:alpha val="88000"/>
            </a:srgbClr>
          </a:solidFill>
        </p:spPr>
        <p:txBody>
          <a:bodyPr lIns="180000" tIns="93600" rIns="180000" bIns="93600">
            <a:norm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52562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left), Objec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2" hasCustomPrompt="1"/>
          </p:nvPr>
        </p:nvSpPr>
        <p:spPr>
          <a:xfrm>
            <a:off x="4751389" y="368609"/>
            <a:ext cx="3960812" cy="54908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368609"/>
            <a:ext cx="3960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Text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9914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 (left), Objec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1802" y="368300"/>
            <a:ext cx="3960811" cy="5491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4751388" y="368300"/>
            <a:ext cx="3960812" cy="54911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8473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ejct  (left),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1801" y="368300"/>
            <a:ext cx="3960812" cy="5491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 dirty="0" smtClean="0"/>
              <a:t>Object (Click an icon below)</a:t>
            </a:r>
            <a:endParaRPr lang="en-GB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751389" y="368609"/>
            <a:ext cx="3960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Text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53096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left), Text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368609"/>
            <a:ext cx="3960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Text (click to edit)</a:t>
            </a:r>
            <a:endParaRPr lang="en-GB" dirty="0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4751389" y="368609"/>
            <a:ext cx="3960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dirty="0" smtClean="0"/>
              <a:t>Paragraph Text (click to edit)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73938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3433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5409700"/>
            <a:ext cx="1914660" cy="108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2036" y="6229061"/>
            <a:ext cx="3780504" cy="25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8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680" r:id="rId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1" y="5949700"/>
            <a:ext cx="95765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61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714" r:id="rId5"/>
    <p:sldLayoutId id="2147483723" r:id="rId6"/>
    <p:sldLayoutId id="2147483724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56" y="5945640"/>
            <a:ext cx="957330" cy="540000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4932046" y="6453644"/>
            <a:ext cx="396271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68E1414-5F24-4E3F-ACA1-76792B015177}" type="slidenum">
              <a:rPr lang="en-GB" sz="800" smtClean="0">
                <a:latin typeface="+mn-lt"/>
              </a:rPr>
              <a:pPr algn="r"/>
              <a:t>‹#›</a:t>
            </a:fld>
            <a:endParaRPr lang="en-GB" sz="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009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1" r:id="rId2"/>
    <p:sldLayoutId id="2147483693" r:id="rId3"/>
    <p:sldLayoutId id="2147483690" r:id="rId4"/>
    <p:sldLayoutId id="2147483692" r:id="rId5"/>
    <p:sldLayoutId id="2147483694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3" r:id="rId12"/>
    <p:sldLayoutId id="2147483710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7.png"/><Relationship Id="rId4" Type="http://schemas.openxmlformats.org/officeDocument/2006/relationships/hyperlink" Target="https://www.danielsoper.com/statcalc/calculator.aspx?id=47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7.m4a"/><Relationship Id="rId1" Type="http://schemas.microsoft.com/office/2007/relationships/media" Target="../media/media17.m4a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18.m4a"/><Relationship Id="rId1" Type="http://schemas.microsoft.com/office/2007/relationships/media" Target="../media/media18.m4a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9.m4a"/><Relationship Id="rId1" Type="http://schemas.microsoft.com/office/2007/relationships/media" Target="../media/media19.m4a"/><Relationship Id="rId6" Type="http://schemas.openxmlformats.org/officeDocument/2006/relationships/image" Target="../media/image7.png"/><Relationship Id="rId5" Type="http://schemas.openxmlformats.org/officeDocument/2006/relationships/image" Target="../media/image9.jp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31471" y="1178700"/>
            <a:ext cx="6300817" cy="2554545"/>
          </a:xfrm>
        </p:spPr>
        <p:txBody>
          <a:bodyPr/>
          <a:lstStyle/>
          <a:p>
            <a:r>
              <a:rPr lang="en-GB" dirty="0" smtClean="0"/>
              <a:t>Human movement and MSK Rehabilitation</a:t>
            </a:r>
          </a:p>
          <a:p>
            <a:endParaRPr lang="en-GB" dirty="0"/>
          </a:p>
          <a:p>
            <a:r>
              <a:rPr lang="en-GB" dirty="0" smtClean="0"/>
              <a:t>Laboratory hands on – basic measurement techniques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March 2020</a:t>
            </a:r>
            <a:endParaRPr lang="en-GB" dirty="0"/>
          </a:p>
          <a:p>
            <a:endParaRPr lang="en-GB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412" y="3081767"/>
            <a:ext cx="5760806" cy="1508105"/>
          </a:xfrm>
        </p:spPr>
        <p:txBody>
          <a:bodyPr/>
          <a:lstStyle/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Gordon J Hendry</a:t>
            </a:r>
          </a:p>
          <a:p>
            <a:r>
              <a:rPr lang="en-GB" dirty="0" smtClean="0"/>
              <a:t>Senior </a:t>
            </a:r>
            <a:r>
              <a:rPr lang="en-GB" dirty="0" smtClean="0"/>
              <a:t>Research Fellow</a:t>
            </a:r>
            <a:endParaRPr lang="en-GB" dirty="0"/>
          </a:p>
        </p:txBody>
      </p:sp>
      <p:pic>
        <p:nvPicPr>
          <p:cNvPr id="4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3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Overview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76944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From research question to basic performance testing</a:t>
            </a:r>
            <a:endParaRPr lang="en-GB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583532" y="2322827"/>
            <a:ext cx="82804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Research question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Aim and hypotheses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Sampling and population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Selecting a performance based test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Set up, instructions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Data collection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Quality checks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dirty="0" smtClean="0"/>
              <a:t>Interpretation</a:t>
            </a:r>
          </a:p>
          <a:p>
            <a:pPr marL="342900" indent="-342900">
              <a:buFont typeface="Arial" pitchFamily="34" charset="0"/>
              <a:buChar char="•"/>
            </a:pPr>
            <a:endParaRPr lang="en-GB" dirty="0" smtClean="0"/>
          </a:p>
          <a:p>
            <a:pPr marL="342900" indent="-342900">
              <a:buFont typeface="Arial" pitchFamily="34" charset="0"/>
              <a:buChar char="•"/>
            </a:pPr>
            <a:endParaRPr lang="en-GB" dirty="0"/>
          </a:p>
        </p:txBody>
      </p:sp>
      <p:sp>
        <p:nvSpPr>
          <p:cNvPr id="7" name="Text Placeholder 4"/>
          <p:cNvSpPr txBox="1">
            <a:spLocks/>
          </p:cNvSpPr>
          <p:nvPr/>
        </p:nvSpPr>
        <p:spPr>
          <a:xfrm>
            <a:off x="431132" y="5639238"/>
            <a:ext cx="827973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We will focus on 2 basic measurement tests. </a:t>
            </a:r>
            <a:endParaRPr lang="en-GB" dirty="0"/>
          </a:p>
        </p:txBody>
      </p:sp>
      <p:pic>
        <p:nvPicPr>
          <p:cNvPr id="8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72120" y="45880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8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48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Research question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292387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Generated to address an important ‘unknown’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Clinical knowledge and understanding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Knowledge and awareness of the relevant literature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Example: Is there reduced functional capacity amongst people with rheumatoid arthritis, who are medically classed as “in remission”?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2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528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Aims and hypothesis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34778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The aim of this study is to determine whether or not there is reduced functional capacity in people with RA </a:t>
            </a:r>
            <a:r>
              <a:rPr lang="en-GB" dirty="0" smtClean="0"/>
              <a:t>who are in remission, compared to healthy age and sex matched controls.</a:t>
            </a:r>
          </a:p>
          <a:p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Null hypothesis – there is no difference between groups on functional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Alternative hypothesis – there is a significant difference between groups on functional capacity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31800" y="1358900"/>
            <a:ext cx="8279732" cy="400110"/>
          </a:xfrm>
        </p:spPr>
        <p:txBody>
          <a:bodyPr/>
          <a:lstStyle/>
          <a:p>
            <a:r>
              <a:rPr lang="en-GB" dirty="0" smtClean="0"/>
              <a:t>Aims should be addressable via inferential statistics</a:t>
            </a:r>
            <a:endParaRPr lang="en-GB" dirty="0"/>
          </a:p>
        </p:txBody>
      </p:sp>
      <p:pic>
        <p:nvPicPr>
          <p:cNvPr id="6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562132" y="52292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6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Sampling and population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298543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Sampling frame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Sampling strategy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Inclusion / exclusion criteria </a:t>
            </a: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Sample size and power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Clinically significant 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Statistically significant 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Recruitment gatekeepers and feasibility considerations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Consider: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7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21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Selecting a test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26161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Consider measurement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Validity and reliability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Clinical interpretability: minimum clinical important difference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MCID in relation to error for repeat 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Feasibility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Safety and ethical considerations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Normative database availability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Key considerations for selection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7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340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Set up and instructions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352387"/>
            <a:ext cx="8280400" cy="22467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Minimise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Precision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Testing should be replicable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Instructions same for all participants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Pre-testing recommended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31800" y="1358900"/>
            <a:ext cx="8279732" cy="707886"/>
          </a:xfrm>
        </p:spPr>
        <p:txBody>
          <a:bodyPr/>
          <a:lstStyle/>
          <a:p>
            <a:r>
              <a:rPr lang="en-GB" dirty="0" smtClean="0"/>
              <a:t>Goal: ensure that variations in measurement are not due to set-up or instructions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2216" y="42943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6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59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Data collection and quality checks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1898796"/>
            <a:ext cx="8280400" cy="261610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Protocol adherence</a:t>
            </a:r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Ensure participant safety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Normal to undertake repeat trials for consistency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Observe trials for validity/quality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Participants may need further instruction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Reject poor quality trials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Consider safety and ethical issues for repeat testing</a:t>
            </a:r>
            <a:endParaRPr lang="en-GB" dirty="0"/>
          </a:p>
        </p:txBody>
      </p:sp>
      <p:pic>
        <p:nvPicPr>
          <p:cNvPr id="7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9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357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Interpretation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187743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Explore data with descriptive statistics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Consistency with expectations? Can inconsistencies be explained?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Consult existing data in the literature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Consult data from alternative/similar populations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Consider meaningfulness of findings</a:t>
            </a:r>
            <a:endParaRPr lang="en-GB" dirty="0"/>
          </a:p>
        </p:txBody>
      </p:sp>
      <p:pic>
        <p:nvPicPr>
          <p:cNvPr id="6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7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88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413942"/>
            <a:ext cx="8280400" cy="2185214"/>
          </a:xfrm>
        </p:spPr>
        <p:txBody>
          <a:bodyPr/>
          <a:lstStyle/>
          <a:p>
            <a:r>
              <a:rPr lang="en-GB" dirty="0" smtClean="0"/>
              <a:t>Originally developed for evaluation of recovery of walking ability in people who have suffered a stroke.</a:t>
            </a:r>
          </a:p>
          <a:p>
            <a:endParaRPr lang="en-GB" dirty="0"/>
          </a:p>
          <a:p>
            <a:r>
              <a:rPr lang="en-GB" dirty="0" err="1" smtClean="0"/>
              <a:t>Tilson</a:t>
            </a:r>
            <a:r>
              <a:rPr lang="en-GB" dirty="0" smtClean="0"/>
              <a:t> et al. </a:t>
            </a:r>
            <a:r>
              <a:rPr lang="en-GB" dirty="0" err="1" smtClean="0"/>
              <a:t>Phys</a:t>
            </a:r>
            <a:r>
              <a:rPr lang="en-GB" dirty="0" smtClean="0"/>
              <a:t> </a:t>
            </a:r>
            <a:r>
              <a:rPr lang="en-GB" dirty="0" err="1" smtClean="0"/>
              <a:t>Ther</a:t>
            </a:r>
            <a:r>
              <a:rPr lang="en-GB" dirty="0" smtClean="0"/>
              <a:t> 2010,90(2):196-208</a:t>
            </a:r>
          </a:p>
          <a:p>
            <a:endParaRPr lang="en-GB" dirty="0"/>
          </a:p>
          <a:p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31800" y="1358900"/>
            <a:ext cx="8279732" cy="707886"/>
          </a:xfrm>
        </p:spPr>
        <p:txBody>
          <a:bodyPr/>
          <a:lstStyle/>
          <a:p>
            <a:r>
              <a:rPr lang="en-GB" dirty="0" smtClean="0"/>
              <a:t>10 metre walk test (10MWT) / Self-paced walk test (any set distance)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12192" y="39895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39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4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3170099"/>
          </a:xfrm>
        </p:spPr>
        <p:txBody>
          <a:bodyPr/>
          <a:lstStyle/>
          <a:p>
            <a:r>
              <a:rPr lang="en-US" dirty="0" smtClean="0"/>
              <a:t>Q. Is </a:t>
            </a:r>
            <a:r>
              <a:rPr lang="en-US" dirty="0"/>
              <a:t>there reduced </a:t>
            </a:r>
            <a:r>
              <a:rPr lang="en-US" dirty="0" smtClean="0"/>
              <a:t>walking speed amongst </a:t>
            </a:r>
            <a:r>
              <a:rPr lang="en-US" dirty="0"/>
              <a:t>people with rheumatoid arthritis, who are medically classed as “in remission</a:t>
            </a:r>
            <a:r>
              <a:rPr lang="en-US" dirty="0" smtClean="0"/>
              <a:t>”?</a:t>
            </a:r>
          </a:p>
          <a:p>
            <a:endParaRPr lang="en-US" dirty="0"/>
          </a:p>
          <a:p>
            <a:r>
              <a:rPr lang="en-US" dirty="0" smtClean="0"/>
              <a:t>Aim. To determine whether or not people with RA in remission have a slower walking speed than healthy controls.</a:t>
            </a:r>
          </a:p>
          <a:p>
            <a:endParaRPr lang="en-US" dirty="0"/>
          </a:p>
          <a:p>
            <a:r>
              <a:rPr lang="en-US" dirty="0" smtClean="0"/>
              <a:t>Hypothesis (alt). People with RA in remission have a slower walking speed than healthy controls.</a:t>
            </a:r>
            <a:endParaRPr lang="en-US" dirty="0"/>
          </a:p>
          <a:p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Research question and hypotheses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7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75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1900215"/>
            <a:ext cx="8280400" cy="50167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Frame: people with RA from rheumatology outpatient clinics in Glasgow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Strategy: consecutive/convenience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err="1" smtClean="0"/>
              <a:t>Inc</a:t>
            </a:r>
            <a:r>
              <a:rPr lang="en-GB" dirty="0" smtClean="0"/>
              <a:t>/</a:t>
            </a:r>
            <a:r>
              <a:rPr lang="en-GB" dirty="0" err="1" smtClean="0"/>
              <a:t>exc</a:t>
            </a:r>
            <a:r>
              <a:rPr lang="en-GB" dirty="0" smtClean="0"/>
              <a:t>: exclude those:- unable to walk, active foot ulceration, severe intermittent claudication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r>
              <a:rPr lang="en-GB" dirty="0" smtClean="0"/>
              <a:t>Sample size and power:-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Typically 80% power, 5% significance (by convention)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Size of the difference anticipated: Cohens 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Try one here: </a:t>
            </a:r>
            <a:r>
              <a:rPr lang="en-GB" dirty="0">
                <a:hlinkClick r:id="rId4"/>
              </a:rPr>
              <a:t>https://</a:t>
            </a:r>
            <a:r>
              <a:rPr lang="en-GB" dirty="0" smtClean="0">
                <a:hlinkClick r:id="rId4"/>
              </a:rPr>
              <a:t>www.danielsoper.com/statcalc/calculator.aspx?id=47</a:t>
            </a:r>
            <a:endParaRPr lang="en-GB" dirty="0" smtClean="0"/>
          </a:p>
          <a:p>
            <a:endParaRPr lang="en-GB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Gatekeeper access: lead clinicians at recruitment sites.</a:t>
            </a: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31800" y="1088688"/>
            <a:ext cx="8279732" cy="400110"/>
          </a:xfrm>
        </p:spPr>
        <p:txBody>
          <a:bodyPr/>
          <a:lstStyle/>
          <a:p>
            <a:r>
              <a:rPr lang="en-GB" dirty="0" smtClean="0"/>
              <a:t>Sampling 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542396" y="42391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574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24929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Reliability and validity: walking speed correlates highly with disability scores, high ICCs have been reported, responsive to change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Easy to set up, low burden, quick to complete and interpret, little equipment need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Clear instructions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Widely used = data for comparison / interpretation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Selecting a test: 10MWT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76800" y="507483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9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36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1877437"/>
          </a:xfrm>
        </p:spPr>
        <p:txBody>
          <a:bodyPr/>
          <a:lstStyle/>
          <a:p>
            <a:r>
              <a:rPr lang="en-GB" dirty="0" smtClean="0"/>
              <a:t>See 10MWT support materials in GCU Learn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Set up and instructions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87" y="3428999"/>
            <a:ext cx="6829425" cy="1781175"/>
          </a:xfrm>
          <a:prstGeom prst="rect">
            <a:avLst/>
          </a:prstGeom>
        </p:spPr>
      </p:pic>
      <p:pic>
        <p:nvPicPr>
          <p:cNvPr id="6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7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8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	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22467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Allow practice to ensure participant confidence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Beware fatigue effect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Observe trials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Record written notes on each trial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Select 2 best trials as per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Calculate mean of 2 best trials for representative score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Data collections and quality checks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6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51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335476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Explore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View distributions by histogram and tests (Kolmogorov </a:t>
            </a:r>
            <a:r>
              <a:rPr lang="en-GB" dirty="0" err="1" smtClean="0"/>
              <a:t>smirnov</a:t>
            </a:r>
            <a:r>
              <a:rPr lang="en-GB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Explore statistics for central tendency and spread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Calculate differences in group means or medians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Undertake inferential/hypothesis testing (t-test / </a:t>
            </a:r>
            <a:r>
              <a:rPr lang="en-GB" dirty="0" err="1" smtClean="0"/>
              <a:t>mann</a:t>
            </a:r>
            <a:r>
              <a:rPr lang="en-GB" dirty="0" smtClean="0"/>
              <a:t> </a:t>
            </a:r>
            <a:r>
              <a:rPr lang="en-GB" dirty="0" err="1" smtClean="0"/>
              <a:t>whitney</a:t>
            </a:r>
            <a:r>
              <a:rPr lang="en-GB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Use graphical representations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Compare differences to MCID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/>
              <a:t>Compare data to literature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Interpretation	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83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1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1 - Activity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4339650"/>
          </a:xfrm>
        </p:spPr>
        <p:txBody>
          <a:bodyPr/>
          <a:lstStyle/>
          <a:p>
            <a:r>
              <a:rPr lang="en-GB" dirty="0"/>
              <a:t>EXERCISE: Interpret this data by exploring the relevant literature:</a:t>
            </a:r>
          </a:p>
          <a:p>
            <a:endParaRPr lang="en-GB" dirty="0" smtClean="0"/>
          </a:p>
          <a:p>
            <a:r>
              <a:rPr lang="en-GB" dirty="0" smtClean="0"/>
              <a:t>N=35 people with early RA</a:t>
            </a:r>
          </a:p>
          <a:p>
            <a:r>
              <a:rPr lang="en-GB" dirty="0" smtClean="0"/>
              <a:t>Mean (SD) age 57.9 (14.5)</a:t>
            </a:r>
          </a:p>
          <a:p>
            <a:r>
              <a:rPr lang="en-GB" dirty="0" smtClean="0"/>
              <a:t>69% female</a:t>
            </a:r>
          </a:p>
          <a:p>
            <a:r>
              <a:rPr lang="en-GB" dirty="0" smtClean="0"/>
              <a:t>Mean (SD) BMI 27.6 (5.6)</a:t>
            </a:r>
          </a:p>
          <a:p>
            <a:endParaRPr lang="en-GB" dirty="0"/>
          </a:p>
          <a:p>
            <a:r>
              <a:rPr lang="en-GB" dirty="0" smtClean="0"/>
              <a:t>Mean (SD) walking velocity from 10MWT: 11.9 (9.9) seconds</a:t>
            </a:r>
          </a:p>
          <a:p>
            <a:endParaRPr lang="en-GB" dirty="0"/>
          </a:p>
          <a:p>
            <a:r>
              <a:rPr lang="en-GB" dirty="0" smtClean="0"/>
              <a:t>Do you think that there is a clinically significant difference in walking speed measured via 10MWT between people with early RA and healthy adults of a similar age and sex?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ACTIVITY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7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57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 smtClean="0"/>
              <a:t>Example 2 Activity – 8 foot get up and go test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132" y="2170427"/>
            <a:ext cx="8280400" cy="3600986"/>
          </a:xfrm>
        </p:spPr>
        <p:txBody>
          <a:bodyPr/>
          <a:lstStyle/>
          <a:p>
            <a:r>
              <a:rPr lang="en-GB" dirty="0" err="1" smtClean="0"/>
              <a:t>Lemmey</a:t>
            </a:r>
            <a:r>
              <a:rPr lang="en-GB" dirty="0" smtClean="0"/>
              <a:t> et al, Rheumatology 2016,55:1736-1745 </a:t>
            </a:r>
          </a:p>
          <a:p>
            <a:endParaRPr lang="en-GB" dirty="0"/>
          </a:p>
          <a:p>
            <a:r>
              <a:rPr lang="en-GB" dirty="0" smtClean="0"/>
              <a:t>Wilkinson et al, Rheumatology Advances in Practice 2018</a:t>
            </a:r>
          </a:p>
          <a:p>
            <a:endParaRPr lang="en-GB" dirty="0"/>
          </a:p>
          <a:p>
            <a:r>
              <a:rPr lang="en-GB" dirty="0" smtClean="0"/>
              <a:t>Reading tasks</a:t>
            </a:r>
          </a:p>
          <a:p>
            <a:endParaRPr lang="en-GB" dirty="0"/>
          </a:p>
          <a:p>
            <a:pPr marL="457200" indent="-457200">
              <a:buAutoNum type="arabicParenR"/>
            </a:pPr>
            <a:r>
              <a:rPr lang="en-GB" dirty="0" smtClean="0"/>
              <a:t>Identify benefits of objective/performance based tests over questionnaires / patient reported outcome measures (Wilkinson)</a:t>
            </a:r>
          </a:p>
          <a:p>
            <a:pPr marL="457200" indent="-457200">
              <a:buAutoNum type="arabicParenR"/>
            </a:pPr>
            <a:r>
              <a:rPr lang="en-GB" dirty="0" smtClean="0"/>
              <a:t>Consider how </a:t>
            </a:r>
            <a:r>
              <a:rPr lang="en-GB" dirty="0" err="1" smtClean="0"/>
              <a:t>Lemmey</a:t>
            </a:r>
            <a:r>
              <a:rPr lang="en-GB" dirty="0" smtClean="0"/>
              <a:t> et al used performance based testing to evaluate functional status in a well defined group of people with RA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 smtClean="0"/>
              <a:t>Read the following 2 articles provided in GCU Learn</a:t>
            </a:r>
            <a:endParaRPr lang="en-GB" dirty="0"/>
          </a:p>
        </p:txBody>
      </p:sp>
      <p:pic>
        <p:nvPicPr>
          <p:cNvPr id="5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67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5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8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5" t="3023" r="3109" b="4436"/>
          <a:stretch/>
        </p:blipFill>
        <p:spPr>
          <a:xfrm>
            <a:off x="431800" y="368300"/>
            <a:ext cx="8280400" cy="5491164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431801" y="2935552"/>
            <a:ext cx="3780152" cy="1573592"/>
          </a:xfrm>
        </p:spPr>
        <p:txBody>
          <a:bodyPr>
            <a:normAutofit/>
          </a:bodyPr>
          <a:lstStyle/>
          <a:p>
            <a:r>
              <a:rPr lang="en-GB" dirty="0" smtClean="0"/>
              <a:t>Gordon </a:t>
            </a:r>
            <a:r>
              <a:rPr lang="en-GB" dirty="0" smtClean="0"/>
              <a:t>Hendry</a:t>
            </a:r>
          </a:p>
          <a:p>
            <a:endParaRPr lang="en-GB" dirty="0" smtClean="0"/>
          </a:p>
          <a:p>
            <a:r>
              <a:rPr lang="en-GB" dirty="0" smtClean="0"/>
              <a:t>gordon.hendry@gcu.ac.uk</a:t>
            </a:r>
            <a:endParaRPr lang="en-GB" dirty="0" smtClean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2" name="Recorded Sound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2681748" y="603934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8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06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Divider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">
  <a:themeElements>
    <a:clrScheme name="GCU">
      <a:dk1>
        <a:sysClr val="windowText" lastClr="000000"/>
      </a:dk1>
      <a:lt1>
        <a:srgbClr val="FFFFFF"/>
      </a:lt1>
      <a:dk2>
        <a:srgbClr val="006CB4"/>
      </a:dk2>
      <a:lt2>
        <a:srgbClr val="EFEEED"/>
      </a:lt2>
      <a:accent1>
        <a:srgbClr val="0092BC"/>
      </a:accent1>
      <a:accent2>
        <a:srgbClr val="64A70B"/>
      </a:accent2>
      <a:accent3>
        <a:srgbClr val="AA0061"/>
      </a:accent3>
      <a:accent4>
        <a:srgbClr val="642667"/>
      </a:accent4>
      <a:accent5>
        <a:srgbClr val="B5BD00"/>
      </a:accent5>
      <a:accent6>
        <a:srgbClr val="00A9E0"/>
      </a:accent6>
      <a:hlink>
        <a:srgbClr val="64A70B"/>
      </a:hlink>
      <a:folHlink>
        <a:srgbClr val="DAAA00"/>
      </a:folHlink>
    </a:clrScheme>
    <a:fontScheme name="GC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GCU Template v8</Template>
  <TotalTime>0</TotalTime>
  <Words>854</Words>
  <Application>Microsoft Office PowerPoint</Application>
  <PresentationFormat>On-screen Show (4:3)</PresentationFormat>
  <Paragraphs>161</Paragraphs>
  <Slides>19</Slides>
  <Notes>8</Notes>
  <HiddenSlides>0</HiddenSlides>
  <MMClips>19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Frame</vt:lpstr>
      <vt:lpstr>Section Dividers</vt:lpstr>
      <vt:lpstr>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2013-06-18T15:06:41Z</dcterms:created>
  <dcterms:modified xsi:type="dcterms:W3CDTF">2020-03-23T11:05:31Z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