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3" r:id="rId6"/>
    <p:sldId id="260" r:id="rId7"/>
    <p:sldId id="261" r:id="rId8"/>
    <p:sldId id="262" r:id="rId9"/>
    <p:sldId id="285" r:id="rId10"/>
    <p:sldId id="266" r:id="rId11"/>
    <p:sldId id="283" r:id="rId12"/>
    <p:sldId id="265" r:id="rId13"/>
    <p:sldId id="264" r:id="rId14"/>
    <p:sldId id="267" r:id="rId15"/>
    <p:sldId id="277" r:id="rId16"/>
    <p:sldId id="268" r:id="rId17"/>
    <p:sldId id="269" r:id="rId18"/>
    <p:sldId id="282" r:id="rId19"/>
    <p:sldId id="270" r:id="rId20"/>
    <p:sldId id="284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368" y="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4A7A8E47-7F5A-4399-9414-0DFFDB5927AE}" type="datetimeFigureOut">
              <a:rPr lang="en-GB" smtClean="0"/>
              <a:t>24/01/2020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211E7E8-6244-4F95-9380-BEB1A9F0E30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Decision Making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Theories and Models 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60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Session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Discuss decisions from an advanced practice perspective </a:t>
            </a:r>
          </a:p>
          <a:p>
            <a:r>
              <a:rPr lang="en-GB" dirty="0" smtClean="0"/>
              <a:t>Consider the context of high level decision making </a:t>
            </a:r>
          </a:p>
          <a:p>
            <a:r>
              <a:rPr lang="en-GB" dirty="0" smtClean="0"/>
              <a:t>Explore theories of decision making </a:t>
            </a:r>
          </a:p>
          <a:p>
            <a:r>
              <a:rPr lang="en-GB" dirty="0" smtClean="0"/>
              <a:t>Applied models which support development of roles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376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Relevance of Decision Making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Clinical governance framework – quality healthcare</a:t>
            </a:r>
          </a:p>
          <a:p>
            <a:r>
              <a:rPr lang="en-GB" dirty="0" smtClean="0"/>
              <a:t>Public expectation</a:t>
            </a:r>
          </a:p>
          <a:p>
            <a:r>
              <a:rPr lang="en-GB" dirty="0" smtClean="0"/>
              <a:t>Accountability of professionals- self regulation, PDP, appraisal, performance </a:t>
            </a:r>
          </a:p>
          <a:p>
            <a:r>
              <a:rPr lang="en-GB" dirty="0" smtClean="0"/>
              <a:t>Processes that underpin the functionality of professional roles.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496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Within a Professional Role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Within a care context:</a:t>
            </a:r>
          </a:p>
          <a:p>
            <a:pPr lvl="1"/>
            <a:r>
              <a:rPr lang="en-GB" dirty="0" smtClean="0"/>
              <a:t>Systematically assess patients</a:t>
            </a:r>
          </a:p>
          <a:p>
            <a:pPr lvl="1"/>
            <a:r>
              <a:rPr lang="en-GB" dirty="0" smtClean="0"/>
              <a:t>Diagnoses</a:t>
            </a:r>
          </a:p>
          <a:p>
            <a:pPr lvl="1"/>
            <a:r>
              <a:rPr lang="en-GB" dirty="0" smtClean="0"/>
              <a:t>Plan</a:t>
            </a:r>
          </a:p>
          <a:p>
            <a:pPr lvl="1"/>
            <a:r>
              <a:rPr lang="en-GB" dirty="0" smtClean="0"/>
              <a:t>Implement </a:t>
            </a:r>
          </a:p>
          <a:p>
            <a:pPr lvl="1"/>
            <a:r>
              <a:rPr lang="en-GB" dirty="0" smtClean="0"/>
              <a:t>Evaluate</a:t>
            </a:r>
          </a:p>
          <a:p>
            <a:r>
              <a:rPr lang="en-GB" dirty="0" smtClean="0"/>
              <a:t>Skills </a:t>
            </a:r>
          </a:p>
          <a:p>
            <a:pPr lvl="1"/>
            <a:r>
              <a:rPr lang="en-GB" dirty="0" smtClean="0"/>
              <a:t>Judgement and decision making – effective with application of critical thinking </a:t>
            </a:r>
          </a:p>
          <a:p>
            <a:pPr marL="457200" lvl="1" indent="0"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57222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Decision Making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A choice between alternatives</a:t>
            </a:r>
          </a:p>
          <a:p>
            <a:endParaRPr lang="en-GB" sz="2800" dirty="0" smtClean="0"/>
          </a:p>
          <a:p>
            <a:r>
              <a:rPr lang="en-GB" sz="2800" dirty="0" smtClean="0"/>
              <a:t>Making independent decisions  (</a:t>
            </a:r>
            <a:r>
              <a:rPr lang="en-GB" sz="2800" dirty="0" err="1" smtClean="0"/>
              <a:t>Tiffen</a:t>
            </a:r>
            <a:r>
              <a:rPr lang="en-GB" sz="2800" dirty="0" smtClean="0"/>
              <a:t> et al. 2014)</a:t>
            </a:r>
          </a:p>
          <a:p>
            <a:endParaRPr lang="en-GB" sz="2800" dirty="0" smtClean="0"/>
          </a:p>
          <a:p>
            <a:r>
              <a:rPr lang="en-GB" sz="2800" dirty="0" smtClean="0"/>
              <a:t>Freedom to exercise judgement about actions, in turn accepting responsibility for them and being held to account.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883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Reality of Decision Making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Problem solving </a:t>
            </a:r>
          </a:p>
          <a:p>
            <a:r>
              <a:rPr lang="en-GB" dirty="0" smtClean="0"/>
              <a:t>Critical thinking</a:t>
            </a:r>
          </a:p>
          <a:p>
            <a:r>
              <a:rPr lang="en-GB" dirty="0" smtClean="0"/>
              <a:t>Judgement </a:t>
            </a:r>
          </a:p>
          <a:p>
            <a:r>
              <a:rPr lang="en-GB" dirty="0" smtClean="0"/>
              <a:t>Evidence based practice </a:t>
            </a:r>
          </a:p>
          <a:p>
            <a:r>
              <a:rPr lang="en-GB" dirty="0" smtClean="0"/>
              <a:t>Reflective practice</a:t>
            </a:r>
          </a:p>
          <a:p>
            <a:r>
              <a:rPr lang="en-GB" dirty="0" smtClean="0"/>
              <a:t>Ethical imperatives</a:t>
            </a:r>
          </a:p>
          <a:p>
            <a:r>
              <a:rPr lang="en-GB" dirty="0" smtClean="0"/>
              <a:t>Professional accountability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326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/>
              <a:t>High Level </a:t>
            </a:r>
            <a:r>
              <a:rPr lang="en-GB" dirty="0" smtClean="0"/>
              <a:t>Decision Making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Making decisions </a:t>
            </a:r>
            <a:r>
              <a:rPr lang="en-GB" b="1" dirty="0" smtClean="0"/>
              <a:t>autonomously</a:t>
            </a:r>
            <a:r>
              <a:rPr lang="en-GB" dirty="0" smtClean="0"/>
              <a:t> which affect patient care</a:t>
            </a:r>
          </a:p>
          <a:p>
            <a:r>
              <a:rPr lang="en-GB" dirty="0" smtClean="0"/>
              <a:t>Taking account of various factors which have bearing on the outcome – </a:t>
            </a:r>
            <a:r>
              <a:rPr lang="en-GB" b="1" dirty="0" smtClean="0"/>
              <a:t>high risk</a:t>
            </a:r>
          </a:p>
          <a:p>
            <a:r>
              <a:rPr lang="en-GB" dirty="0" smtClean="0"/>
              <a:t>Overlap between critical thinking and decision making in context</a:t>
            </a:r>
          </a:p>
          <a:p>
            <a:r>
              <a:rPr lang="en-GB" dirty="0" smtClean="0"/>
              <a:t>Judgements informed by information gathering from patients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312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Decision Making Needs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>Practically and cognitively skilled practitioner</a:t>
            </a:r>
          </a:p>
          <a:p>
            <a:r>
              <a:rPr lang="en-GB" sz="2800" dirty="0" smtClean="0"/>
              <a:t>Assessing the effectiveness of approaches</a:t>
            </a:r>
          </a:p>
          <a:p>
            <a:pPr marL="0" indent="0">
              <a:buNone/>
            </a:pPr>
            <a:endParaRPr lang="en-GB" sz="2800" dirty="0" smtClean="0"/>
          </a:p>
          <a:p>
            <a:r>
              <a:rPr lang="en-GB" sz="2800" dirty="0" smtClean="0"/>
              <a:t>Taking into account</a:t>
            </a:r>
          </a:p>
          <a:p>
            <a:pPr lvl="1"/>
            <a:r>
              <a:rPr lang="en-GB" sz="2000" dirty="0" smtClean="0"/>
              <a:t>Experience/expertise</a:t>
            </a:r>
          </a:p>
          <a:p>
            <a:pPr lvl="1"/>
            <a:r>
              <a:rPr lang="en-GB" sz="2000" dirty="0" smtClean="0"/>
              <a:t>Competence</a:t>
            </a:r>
          </a:p>
          <a:p>
            <a:pPr lvl="1"/>
            <a:r>
              <a:rPr lang="en-GB" sz="2000" dirty="0" smtClean="0"/>
              <a:t>Knowledge </a:t>
            </a:r>
          </a:p>
          <a:p>
            <a:pPr lvl="1"/>
            <a:r>
              <a:rPr lang="en-GB" sz="2000" dirty="0" smtClean="0"/>
              <a:t>Values and beliefs</a:t>
            </a:r>
          </a:p>
          <a:p>
            <a:r>
              <a:rPr lang="en-GB" sz="2800" dirty="0" smtClean="0"/>
              <a:t> Professional, legal and ethical drivers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5791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Bounded Rationality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mtClean="0"/>
          </a:p>
          <a:p>
            <a:r>
              <a:rPr lang="en-GB" smtClean="0"/>
              <a:t>No </a:t>
            </a:r>
            <a:r>
              <a:rPr lang="en-GB" dirty="0" smtClean="0"/>
              <a:t>one has the mental capacity to know </a:t>
            </a:r>
            <a:r>
              <a:rPr lang="en-GB" i="1" u="sng" dirty="0" smtClean="0"/>
              <a:t>everything </a:t>
            </a:r>
          </a:p>
          <a:p>
            <a:pPr lvl="1"/>
            <a:r>
              <a:rPr lang="en-GB" dirty="0" smtClean="0"/>
              <a:t>Patterns and cues can reduce the amount of Raw knowledge which has to be retained</a:t>
            </a:r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dirty="0" smtClean="0"/>
              <a:t>You can have every piece of relevant information and not be able to make a decision</a:t>
            </a:r>
          </a:p>
          <a:p>
            <a:pPr lvl="1"/>
            <a:r>
              <a:rPr lang="en-GB" dirty="0" smtClean="0"/>
              <a:t>Knowledge/Data does not necessarily mean an effective decision will be made 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86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Models of Decision Making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u="sng" dirty="0" smtClean="0"/>
              <a:t>Classification (Bell et al. 1995)</a:t>
            </a:r>
          </a:p>
          <a:p>
            <a:r>
              <a:rPr lang="en-GB" dirty="0" smtClean="0"/>
              <a:t>Normative </a:t>
            </a:r>
          </a:p>
          <a:p>
            <a:pPr lvl="1"/>
            <a:r>
              <a:rPr lang="en-GB" sz="2600" dirty="0" smtClean="0"/>
              <a:t>Rational, logical, scientific evidence </a:t>
            </a:r>
          </a:p>
          <a:p>
            <a:pPr lvl="1"/>
            <a:r>
              <a:rPr lang="en-GB" sz="2600" dirty="0" smtClean="0"/>
              <a:t>Empirical evidence, population based studies </a:t>
            </a:r>
          </a:p>
          <a:p>
            <a:r>
              <a:rPr lang="en-GB" dirty="0" smtClean="0"/>
              <a:t>Prescriptive </a:t>
            </a:r>
          </a:p>
          <a:p>
            <a:pPr lvl="1"/>
            <a:r>
              <a:rPr lang="en-GB" sz="2600" dirty="0" smtClean="0"/>
              <a:t>Improved decision making utilising frameworks, algorithms and guidelines</a:t>
            </a:r>
          </a:p>
          <a:p>
            <a:pPr lvl="1"/>
            <a:r>
              <a:rPr lang="en-GB" sz="2600" dirty="0" smtClean="0"/>
              <a:t>Decision support, guides systematic problem solving</a:t>
            </a:r>
          </a:p>
          <a:p>
            <a:r>
              <a:rPr lang="en-GB" dirty="0" smtClean="0"/>
              <a:t>Descriptive</a:t>
            </a:r>
          </a:p>
          <a:p>
            <a:pPr lvl="1"/>
            <a:r>
              <a:rPr lang="en-GB" sz="2600" dirty="0" smtClean="0"/>
              <a:t>How ‘real life’ decisions are made</a:t>
            </a:r>
          </a:p>
          <a:p>
            <a:pPr lvl="1"/>
            <a:r>
              <a:rPr lang="en-GB" sz="2600" dirty="0" smtClean="0"/>
              <a:t>Novice to expert theory (Benner, 1984)</a:t>
            </a:r>
            <a:endParaRPr lang="en-GB" sz="2600" dirty="0"/>
          </a:p>
        </p:txBody>
      </p:sp>
    </p:spTree>
    <p:extLst>
      <p:ext uri="{BB962C8B-B14F-4D97-AF65-F5344CB8AC3E}">
        <p14:creationId xmlns:p14="http://schemas.microsoft.com/office/powerpoint/2010/main" val="109880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Novice or Expert?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dirty="0" smtClean="0"/>
          </a:p>
          <a:p>
            <a:r>
              <a:rPr lang="en-GB" dirty="0" smtClean="0"/>
              <a:t>How does an expert make decisions?</a:t>
            </a:r>
          </a:p>
          <a:p>
            <a:pPr lvl="1"/>
            <a:r>
              <a:rPr lang="en-GB" dirty="0" smtClean="0"/>
              <a:t>Increase use of intuition, patterns, quick decisions</a:t>
            </a:r>
          </a:p>
          <a:p>
            <a:pPr lvl="1"/>
            <a:r>
              <a:rPr lang="en-GB" dirty="0" smtClean="0"/>
              <a:t>Reduced neural taxation</a:t>
            </a:r>
          </a:p>
          <a:p>
            <a:endParaRPr lang="en-GB" dirty="0"/>
          </a:p>
          <a:p>
            <a:r>
              <a:rPr lang="en-GB" dirty="0" smtClean="0"/>
              <a:t>How does a novice make decisions?</a:t>
            </a:r>
            <a:endParaRPr lang="en-GB" dirty="0"/>
          </a:p>
          <a:p>
            <a:pPr lvl="1"/>
            <a:r>
              <a:rPr lang="en-GB" dirty="0" smtClean="0"/>
              <a:t>Slow decision making</a:t>
            </a:r>
          </a:p>
          <a:p>
            <a:pPr lvl="1"/>
            <a:r>
              <a:rPr lang="en-GB" dirty="0" smtClean="0"/>
              <a:t>Use of multiple tests, observations and data</a:t>
            </a:r>
          </a:p>
          <a:p>
            <a:pPr lvl="1"/>
            <a:r>
              <a:rPr lang="en-GB" dirty="0" smtClean="0"/>
              <a:t>Mentally tiring 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(Benner, 1984)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4550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Theories of Decision Making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sz="2800" dirty="0" smtClean="0"/>
              <a:t>Information Process Theory</a:t>
            </a:r>
            <a:endParaRPr lang="en-GB" sz="2800" dirty="0"/>
          </a:p>
          <a:p>
            <a:pPr lvl="1"/>
            <a:r>
              <a:rPr lang="en-GB" sz="2000" dirty="0" err="1" smtClean="0"/>
              <a:t>Hypothetico</a:t>
            </a:r>
            <a:r>
              <a:rPr lang="en-GB" sz="2000" dirty="0" smtClean="0"/>
              <a:t>-deductive</a:t>
            </a:r>
          </a:p>
          <a:p>
            <a:endParaRPr lang="en-GB" sz="2800" dirty="0" smtClean="0"/>
          </a:p>
          <a:p>
            <a:r>
              <a:rPr lang="en-GB" sz="2800" dirty="0" smtClean="0"/>
              <a:t>Intuitive-Heuristic Theory</a:t>
            </a:r>
          </a:p>
          <a:p>
            <a:endParaRPr lang="en-GB" sz="2800" dirty="0" smtClean="0"/>
          </a:p>
          <a:p>
            <a:r>
              <a:rPr lang="en-GB" sz="2800" dirty="0" smtClean="0"/>
              <a:t>Cognitive Continuum Theory</a:t>
            </a:r>
            <a:endParaRPr lang="en-GB" sz="2800" dirty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507927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Dual Process Theory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Dual Process approach</a:t>
            </a:r>
          </a:p>
          <a:p>
            <a:endParaRPr lang="en-GB" dirty="0"/>
          </a:p>
          <a:p>
            <a:r>
              <a:rPr lang="en-GB" dirty="0" smtClean="0"/>
              <a:t>Common approach in healthcare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smtClean="0"/>
              <a:t>• </a:t>
            </a:r>
            <a:r>
              <a:rPr lang="en-GB" dirty="0"/>
              <a:t>Rationalistic </a:t>
            </a:r>
            <a:r>
              <a:rPr lang="en-GB" dirty="0" smtClean="0"/>
              <a:t>approach</a:t>
            </a:r>
          </a:p>
          <a:p>
            <a:endParaRPr lang="en-GB" dirty="0"/>
          </a:p>
          <a:p>
            <a:r>
              <a:rPr lang="en-GB" dirty="0"/>
              <a:t>A</a:t>
            </a:r>
            <a:r>
              <a:rPr lang="en-GB" dirty="0" smtClean="0"/>
              <a:t> </a:t>
            </a:r>
            <a:r>
              <a:rPr lang="en-GB" dirty="0"/>
              <a:t>reasoning process, formulating </a:t>
            </a:r>
            <a:r>
              <a:rPr lang="en-GB" dirty="0" smtClean="0"/>
              <a:t>a hypothesis </a:t>
            </a:r>
            <a:r>
              <a:rPr lang="en-GB" dirty="0"/>
              <a:t>and using research to arrive </a:t>
            </a:r>
            <a:r>
              <a:rPr lang="en-GB" dirty="0" smtClean="0"/>
              <a:t>at a </a:t>
            </a:r>
            <a:r>
              <a:rPr lang="en-GB" dirty="0"/>
              <a:t>decision </a:t>
            </a:r>
            <a:endParaRPr lang="en-GB" dirty="0" smtClean="0"/>
          </a:p>
          <a:p>
            <a:pPr lvl="1"/>
            <a:r>
              <a:rPr lang="en-GB" dirty="0" smtClean="0"/>
              <a:t>(</a:t>
            </a:r>
            <a:r>
              <a:rPr lang="en-GB" dirty="0" err="1"/>
              <a:t>Elstein</a:t>
            </a:r>
            <a:r>
              <a:rPr lang="en-GB" dirty="0"/>
              <a:t> et al 1978)</a:t>
            </a:r>
          </a:p>
        </p:txBody>
      </p:sp>
    </p:spTree>
    <p:extLst>
      <p:ext uri="{BB962C8B-B14F-4D97-AF65-F5344CB8AC3E}">
        <p14:creationId xmlns:p14="http://schemas.microsoft.com/office/powerpoint/2010/main" val="427067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Information Processing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GB" u="sng" dirty="0" smtClean="0"/>
              <a:t>Pattern acquisition or recognition</a:t>
            </a:r>
          </a:p>
          <a:p>
            <a:pPr lvl="1"/>
            <a:r>
              <a:rPr lang="en-GB" dirty="0" smtClean="0"/>
              <a:t>Preliminary information gathered</a:t>
            </a:r>
          </a:p>
          <a:p>
            <a:pPr lvl="1"/>
            <a:r>
              <a:rPr lang="en-GB" dirty="0" smtClean="0"/>
              <a:t>Structured history taking and assessment </a:t>
            </a:r>
          </a:p>
          <a:p>
            <a:pPr lvl="1"/>
            <a:r>
              <a:rPr lang="en-GB" dirty="0" smtClean="0"/>
              <a:t>Physical examination, diagnostic tests</a:t>
            </a:r>
          </a:p>
          <a:p>
            <a:pPr lvl="1"/>
            <a:r>
              <a:rPr lang="en-GB" dirty="0" smtClean="0"/>
              <a:t>Working diagnosis, exclusion of red flags </a:t>
            </a:r>
          </a:p>
          <a:p>
            <a:pPr lvl="1"/>
            <a:r>
              <a:rPr lang="en-GB" dirty="0" smtClean="0"/>
              <a:t>Consultation and examinations skills paramount</a:t>
            </a:r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r>
              <a:rPr lang="en-GB" u="sng" dirty="0" smtClean="0"/>
              <a:t>Hypothesis generation </a:t>
            </a:r>
          </a:p>
          <a:p>
            <a:pPr lvl="1"/>
            <a:r>
              <a:rPr lang="en-GB" dirty="0" smtClean="0"/>
              <a:t>Initial/tentative hypothesis generated </a:t>
            </a:r>
          </a:p>
          <a:p>
            <a:pPr lvl="1"/>
            <a:r>
              <a:rPr lang="en-GB" dirty="0" smtClean="0"/>
              <a:t>Findings from examination/testing</a:t>
            </a:r>
          </a:p>
          <a:p>
            <a:pPr lvl="1"/>
            <a:r>
              <a:rPr lang="en-GB" dirty="0" smtClean="0"/>
              <a:t>Narrowing of possibilities</a:t>
            </a:r>
          </a:p>
          <a:p>
            <a:pPr lvl="1"/>
            <a:r>
              <a:rPr lang="en-GB" dirty="0" smtClean="0"/>
              <a:t>Indications of urgency, eliminate red flags; act accordingly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8443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Intuition </a:t>
            </a:r>
            <a:r>
              <a:rPr lang="en-GB" dirty="0" smtClean="0"/>
              <a:t>– A Time and a Place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474" y="1562100"/>
            <a:ext cx="8229600" cy="4525963"/>
          </a:xfrm>
        </p:spPr>
        <p:txBody>
          <a:bodyPr/>
          <a:lstStyle/>
          <a:p>
            <a:r>
              <a:rPr lang="en-GB" dirty="0" smtClean="0"/>
              <a:t>Pattern Recognition – Emergency Situations </a:t>
            </a:r>
            <a:endParaRPr lang="en-GB" dirty="0"/>
          </a:p>
        </p:txBody>
      </p:sp>
      <p:sp>
        <p:nvSpPr>
          <p:cNvPr id="4" name="AutoShape 2" descr="Image result for meningitis ras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2" name="Picture 8" descr="Image result for meningitis r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41" y="2132856"/>
            <a:ext cx="250507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0" descr="Image result for strok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40" name="Picture 16" descr="Image result for strok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247900"/>
            <a:ext cx="3171825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Image result for cyanosi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03" y="4240212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age result for asystol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507" y="4599929"/>
            <a:ext cx="4734921" cy="112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77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Intuitive-Heuristic Theory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GB" sz="2800" dirty="0" smtClean="0"/>
          </a:p>
          <a:p>
            <a:r>
              <a:rPr lang="en-GB" sz="2800" dirty="0" smtClean="0"/>
              <a:t>Intuitive basis for decision making </a:t>
            </a:r>
          </a:p>
          <a:p>
            <a:pPr lvl="1"/>
            <a:r>
              <a:rPr lang="en-GB" sz="2800" dirty="0" smtClean="0"/>
              <a:t>Understanding without rationale (Benner &amp; Tanner, 1987)</a:t>
            </a:r>
          </a:p>
          <a:p>
            <a:pPr marL="457200" lvl="1" indent="0">
              <a:buNone/>
            </a:pPr>
            <a:endParaRPr lang="en-GB" sz="2800" dirty="0" smtClean="0"/>
          </a:p>
          <a:p>
            <a:r>
              <a:rPr lang="en-GB" sz="2800" dirty="0" smtClean="0"/>
              <a:t>Information void </a:t>
            </a:r>
            <a:endParaRPr lang="en-GB" sz="2800" dirty="0"/>
          </a:p>
          <a:p>
            <a:pPr lvl="1"/>
            <a:r>
              <a:rPr lang="en-GB" sz="2000" dirty="0" smtClean="0"/>
              <a:t>experience is vital to the decision making process</a:t>
            </a:r>
          </a:p>
          <a:p>
            <a:pPr lvl="1"/>
            <a:endParaRPr lang="en-GB" sz="2000" dirty="0" smtClean="0"/>
          </a:p>
          <a:p>
            <a:r>
              <a:rPr lang="en-GB" sz="2800" dirty="0" smtClean="0"/>
              <a:t>Situational </a:t>
            </a:r>
            <a:endParaRPr lang="en-GB" sz="2800" dirty="0"/>
          </a:p>
          <a:p>
            <a:pPr lvl="1"/>
            <a:r>
              <a:rPr lang="en-GB" sz="2000" dirty="0" smtClean="0"/>
              <a:t>effective in some circumstances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7296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Information Processing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000" u="sng" dirty="0" smtClean="0"/>
          </a:p>
          <a:p>
            <a:r>
              <a:rPr lang="en-GB" sz="2000" u="sng" dirty="0" smtClean="0"/>
              <a:t>Cue acquisition or recognition</a:t>
            </a:r>
          </a:p>
          <a:p>
            <a:pPr lvl="1"/>
            <a:r>
              <a:rPr lang="en-GB" sz="2000" dirty="0" smtClean="0"/>
              <a:t>Involves interpreting the information gathered and initial cue acquisition phase</a:t>
            </a:r>
          </a:p>
          <a:p>
            <a:pPr lvl="1"/>
            <a:r>
              <a:rPr lang="en-GB" sz="2000" dirty="0" smtClean="0"/>
              <a:t>Contribute to, confirm or exclude initial hypothesis</a:t>
            </a:r>
          </a:p>
          <a:p>
            <a:pPr lvl="1"/>
            <a:r>
              <a:rPr lang="en-GB" sz="2000" dirty="0" smtClean="0"/>
              <a:t>Likely diagnosis ‘what is going on here’</a:t>
            </a:r>
          </a:p>
          <a:p>
            <a:pPr lvl="1"/>
            <a:endParaRPr lang="en-GB" sz="2000" dirty="0" smtClean="0"/>
          </a:p>
          <a:p>
            <a:r>
              <a:rPr lang="en-GB" sz="2000" u="sng" dirty="0" smtClean="0"/>
              <a:t>Hypothesis generation</a:t>
            </a:r>
          </a:p>
          <a:p>
            <a:pPr lvl="1"/>
            <a:r>
              <a:rPr lang="en-GB" sz="2000" dirty="0" smtClean="0"/>
              <a:t>Involves evaluation evidence and weighing up pros and cons, either confirming or rejecting the initial diagnosis (</a:t>
            </a:r>
            <a:r>
              <a:rPr lang="en-GB" sz="2000" dirty="0" err="1" smtClean="0"/>
              <a:t>Tiffen</a:t>
            </a:r>
            <a:r>
              <a:rPr lang="en-GB" sz="2000" dirty="0" smtClean="0"/>
              <a:t> et al, 2014)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6799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Heuristics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r>
              <a:rPr lang="en-US" dirty="0" smtClean="0"/>
              <a:t>Heuristics</a:t>
            </a:r>
            <a:r>
              <a:rPr lang="en-US" dirty="0"/>
              <a:t> can be mental shortcuts that ease the cognitive load of making a decision.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Examples </a:t>
            </a:r>
            <a:r>
              <a:rPr lang="en-US" dirty="0"/>
              <a:t>that employ heuristics include using a rule of thumb, an educated guess, an intuitive judgment, a guesstimate, profiling, or common sense.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00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Intuitive-Heuristic Theory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Application of theory</a:t>
            </a:r>
          </a:p>
          <a:p>
            <a:pPr lvl="1"/>
            <a:r>
              <a:rPr lang="en-GB" dirty="0" smtClean="0"/>
              <a:t>Complex presentations with high level of uncertainty or when assessment required in rapid time frame </a:t>
            </a:r>
          </a:p>
          <a:p>
            <a:pPr lvl="2"/>
            <a:r>
              <a:rPr lang="en-GB" dirty="0" smtClean="0"/>
              <a:t>Encourages critic thinking for novices and experts</a:t>
            </a:r>
          </a:p>
          <a:p>
            <a:r>
              <a:rPr lang="en-GB" dirty="0" smtClean="0"/>
              <a:t>Limitations</a:t>
            </a:r>
          </a:p>
          <a:p>
            <a:pPr lvl="1"/>
            <a:r>
              <a:rPr lang="en-GB" dirty="0" smtClean="0"/>
              <a:t>Not a linear process</a:t>
            </a:r>
          </a:p>
          <a:p>
            <a:pPr lvl="1"/>
            <a:r>
              <a:rPr lang="en-GB" dirty="0" smtClean="0"/>
              <a:t>Knowledge and experience required to investigate al cues</a:t>
            </a:r>
          </a:p>
          <a:p>
            <a:pPr lvl="1"/>
            <a:r>
              <a:rPr lang="en-GB" dirty="0" smtClean="0"/>
              <a:t>Clinical acumen vs rule of logic (</a:t>
            </a:r>
            <a:r>
              <a:rPr lang="en-GB" dirty="0" err="1" smtClean="0"/>
              <a:t>Croskerry</a:t>
            </a:r>
            <a:r>
              <a:rPr lang="en-GB" dirty="0" smtClean="0"/>
              <a:t>, 2000)</a:t>
            </a:r>
          </a:p>
          <a:p>
            <a:pPr lvl="1"/>
            <a:r>
              <a:rPr lang="en-GB" dirty="0" smtClean="0"/>
              <a:t>Liable to confirmation bias </a:t>
            </a:r>
          </a:p>
          <a:p>
            <a:r>
              <a:rPr lang="en-GB" dirty="0" smtClean="0"/>
              <a:t>Cautions</a:t>
            </a:r>
          </a:p>
          <a:p>
            <a:pPr lvl="1"/>
            <a:r>
              <a:rPr lang="en-GB" dirty="0" smtClean="0"/>
              <a:t>Reliance on intuition </a:t>
            </a:r>
            <a:r>
              <a:rPr lang="en-GB" b="1" dirty="0" smtClean="0"/>
              <a:t>alone</a:t>
            </a:r>
            <a:r>
              <a:rPr lang="en-GB" dirty="0" smtClean="0"/>
              <a:t>, not sufficient for robust decision making </a:t>
            </a:r>
          </a:p>
          <a:p>
            <a:pPr lvl="1"/>
            <a:r>
              <a:rPr lang="en-GB" dirty="0" smtClean="0"/>
              <a:t>High risk and prone to error </a:t>
            </a:r>
          </a:p>
          <a:p>
            <a:pPr lvl="1"/>
            <a:r>
              <a:rPr lang="en-GB" dirty="0" smtClean="0"/>
              <a:t>Experience doesn't always equate with expertise.</a:t>
            </a:r>
          </a:p>
          <a:p>
            <a:r>
              <a:rPr lang="en-GB" dirty="0" smtClean="0"/>
              <a:t>Experts differ from novices in decision making </a:t>
            </a:r>
          </a:p>
          <a:p>
            <a:pPr lvl="1"/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525617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27" y="836712"/>
            <a:ext cx="8229600" cy="1600200"/>
          </a:xfrm>
        </p:spPr>
        <p:txBody>
          <a:bodyPr/>
          <a:lstStyle/>
          <a:p>
            <a:r>
              <a:rPr lang="en-GB" dirty="0" smtClean="0"/>
              <a:t>How do </a:t>
            </a:r>
            <a:r>
              <a:rPr lang="en-GB" dirty="0" smtClean="0"/>
              <a:t>Higher Level Clinicians  </a:t>
            </a:r>
            <a:r>
              <a:rPr lang="en-GB" dirty="0" smtClean="0"/>
              <a:t>make decisions?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77283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Take the history</a:t>
            </a:r>
          </a:p>
          <a:p>
            <a:r>
              <a:rPr lang="en-GB" dirty="0" smtClean="0"/>
              <a:t>Intuition </a:t>
            </a:r>
          </a:p>
          <a:p>
            <a:r>
              <a:rPr lang="en-GB" dirty="0" smtClean="0"/>
              <a:t>Focused questions and testing 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Questioning until able to make a decision</a:t>
            </a:r>
          </a:p>
          <a:p>
            <a:r>
              <a:rPr lang="en-GB" dirty="0" smtClean="0"/>
              <a:t>Not to reach a formal or final diagnosis</a:t>
            </a:r>
          </a:p>
          <a:p>
            <a:endParaRPr lang="en-GB" dirty="0" smtClean="0"/>
          </a:p>
          <a:p>
            <a:r>
              <a:rPr lang="en-GB" dirty="0" smtClean="0"/>
              <a:t>Top down thinking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6203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Cognitive Continuum Theory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71296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Decision making can be:</a:t>
            </a:r>
          </a:p>
          <a:p>
            <a:pPr lvl="1"/>
            <a:r>
              <a:rPr lang="en-GB" sz="2400" dirty="0" smtClean="0"/>
              <a:t>Poorly structured, little time, multiple cues – Intuitive</a:t>
            </a:r>
          </a:p>
          <a:p>
            <a:pPr lvl="1"/>
            <a:r>
              <a:rPr lang="en-GB" sz="2400" dirty="0" smtClean="0"/>
              <a:t>Well structured, allowed time, few cues – Rational </a:t>
            </a:r>
          </a:p>
          <a:p>
            <a:pPr lvl="1"/>
            <a:endParaRPr lang="en-GB" sz="2400" dirty="0" smtClean="0"/>
          </a:p>
          <a:p>
            <a:r>
              <a:rPr lang="en-GB" dirty="0" smtClean="0"/>
              <a:t>In reality; Somewhere in between </a:t>
            </a:r>
          </a:p>
          <a:p>
            <a:endParaRPr lang="en-GB" dirty="0" smtClean="0"/>
          </a:p>
          <a:p>
            <a:r>
              <a:rPr lang="en-GB" dirty="0" smtClean="0"/>
              <a:t>System aided by judgement – prescriptive model </a:t>
            </a:r>
          </a:p>
          <a:p>
            <a:r>
              <a:rPr lang="en-GB" dirty="0" smtClean="0"/>
              <a:t>CCT tool aids transparency (Calder et al. 2005)</a:t>
            </a:r>
          </a:p>
          <a:p>
            <a:pPr marL="457200" lvl="1" indent="0">
              <a:buNone/>
            </a:pPr>
            <a:endParaRPr lang="en-GB" dirty="0" smtClean="0"/>
          </a:p>
          <a:p>
            <a:pPr marL="457200" lvl="1" indent="0">
              <a:buNone/>
            </a:pPr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984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Cognitive Continuum Theory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4525963"/>
          </a:xfrm>
        </p:spPr>
        <p:txBody>
          <a:bodyPr>
            <a:normAutofit/>
          </a:bodyPr>
          <a:lstStyle/>
          <a:p>
            <a:r>
              <a:rPr lang="en-GB" sz="2800" dirty="0" smtClean="0"/>
              <a:t>No single theory prevails </a:t>
            </a:r>
          </a:p>
          <a:p>
            <a:endParaRPr lang="en-GB" sz="2800" dirty="0" smtClean="0"/>
          </a:p>
          <a:p>
            <a:r>
              <a:rPr lang="en-GB" sz="2800" dirty="0" smtClean="0"/>
              <a:t>Neither purely rational or intuitive, lying along a continuum.</a:t>
            </a:r>
          </a:p>
          <a:p>
            <a:endParaRPr lang="en-GB" sz="2800" dirty="0" smtClean="0"/>
          </a:p>
          <a:p>
            <a:r>
              <a:rPr lang="en-GB" sz="2800" dirty="0" smtClean="0"/>
              <a:t>Purely intuitive to purely rational (</a:t>
            </a:r>
            <a:r>
              <a:rPr lang="en-GB" sz="2800" dirty="0" err="1" smtClean="0"/>
              <a:t>Shaban</a:t>
            </a:r>
            <a:r>
              <a:rPr lang="en-GB" sz="2800" dirty="0" smtClean="0"/>
              <a:t>, 2012)</a:t>
            </a:r>
          </a:p>
          <a:p>
            <a:endParaRPr lang="en-GB" sz="2800" dirty="0" smtClean="0"/>
          </a:p>
          <a:p>
            <a:r>
              <a:rPr lang="en-GB" sz="2800" dirty="0" smtClean="0"/>
              <a:t>Prescriptive and descriptive model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04504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Cognitive Continuum Theory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/>
              <a:t>Central Tenet</a:t>
            </a:r>
          </a:p>
          <a:p>
            <a:r>
              <a:rPr lang="en-GB" sz="2000" dirty="0" smtClean="0"/>
              <a:t>The way the task is approached</a:t>
            </a:r>
          </a:p>
          <a:p>
            <a:pPr lvl="1"/>
            <a:r>
              <a:rPr lang="en-GB" sz="2000" u="sng" dirty="0" smtClean="0"/>
              <a:t>Complexity</a:t>
            </a:r>
            <a:r>
              <a:rPr lang="en-GB" sz="2000" dirty="0" smtClean="0"/>
              <a:t> – number of information cues required</a:t>
            </a:r>
          </a:p>
          <a:p>
            <a:pPr lvl="1"/>
            <a:r>
              <a:rPr lang="en-GB" sz="2000" u="sng" dirty="0" smtClean="0"/>
              <a:t>Ambiguity</a:t>
            </a:r>
            <a:r>
              <a:rPr lang="en-GB" sz="2000" dirty="0" smtClean="0"/>
              <a:t> – task characteristics that introduce information processing </a:t>
            </a:r>
          </a:p>
          <a:p>
            <a:pPr lvl="1"/>
            <a:r>
              <a:rPr lang="en-GB" sz="2000" u="sng" dirty="0" smtClean="0"/>
              <a:t>Presentation</a:t>
            </a:r>
          </a:p>
          <a:p>
            <a:pPr lvl="2"/>
            <a:r>
              <a:rPr lang="en-GB" sz="2000" dirty="0" smtClean="0"/>
              <a:t>Time frame </a:t>
            </a:r>
            <a:r>
              <a:rPr lang="en-GB" sz="2000" dirty="0"/>
              <a:t>	</a:t>
            </a:r>
            <a:endParaRPr lang="en-GB" sz="2000" dirty="0" smtClean="0"/>
          </a:p>
          <a:p>
            <a:pPr lvl="3"/>
            <a:r>
              <a:rPr lang="en-GB" sz="2000" dirty="0" smtClean="0"/>
              <a:t>Restricted time likely to draw on intuitive approach </a:t>
            </a:r>
          </a:p>
          <a:p>
            <a:pPr lvl="3"/>
            <a:r>
              <a:rPr lang="en-GB" sz="2000" dirty="0" smtClean="0"/>
              <a:t>More time resulting in deconstructing the task leading to rational approach</a:t>
            </a:r>
          </a:p>
          <a:p>
            <a:pPr marL="1371600" lvl="3" indent="0">
              <a:buNone/>
            </a:pPr>
            <a:r>
              <a:rPr lang="en-GB" sz="2000" dirty="0" smtClean="0"/>
              <a:t>                        (Thomson et al, 2015)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6627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 smtClean="0"/>
              <a:t>Decision making is integral to high quality care delivery – nature and context of practice – often complex; risk prone; inclusion of biases.</a:t>
            </a:r>
          </a:p>
          <a:p>
            <a:r>
              <a:rPr lang="en-GB" sz="2800" dirty="0" smtClean="0"/>
              <a:t>Knowledge of theories assist in raising awareness of strengths and limitations of different theories</a:t>
            </a:r>
          </a:p>
          <a:p>
            <a:r>
              <a:rPr lang="en-GB" sz="2800" dirty="0" smtClean="0"/>
              <a:t>Application – context within which healthcare is delivered in practice, influencing decision making.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330067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GB" dirty="0" smtClean="0"/>
              <a:t>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600" dirty="0" smtClean="0"/>
              <a:t>BENNER, P. 1984. </a:t>
            </a:r>
            <a:r>
              <a:rPr lang="en-GB" sz="1600" i="1" dirty="0" smtClean="0"/>
              <a:t>From novice to expert</a:t>
            </a:r>
            <a:r>
              <a:rPr lang="en-GB" sz="1600" dirty="0" smtClean="0"/>
              <a:t>. Addison-Wesley. Menlo Park , CA</a:t>
            </a:r>
          </a:p>
          <a:p>
            <a:r>
              <a:rPr lang="en-GB" sz="1600" dirty="0" smtClean="0"/>
              <a:t>BENNER, P. and TANNER, C. 1987. </a:t>
            </a:r>
            <a:r>
              <a:rPr lang="en-GB" sz="1600" i="1" dirty="0"/>
              <a:t>C</a:t>
            </a:r>
            <a:r>
              <a:rPr lang="en-GB" sz="1600" i="1" dirty="0" smtClean="0"/>
              <a:t>linical judgement: how expert nurses use intuition</a:t>
            </a:r>
            <a:r>
              <a:rPr lang="en-GB" sz="1600" dirty="0" smtClean="0"/>
              <a:t>. American journal of nursing. 81 (</a:t>
            </a:r>
            <a:r>
              <a:rPr lang="en-GB" sz="1600" b="1" dirty="0" smtClean="0"/>
              <a:t>1</a:t>
            </a:r>
            <a:r>
              <a:rPr lang="en-GB" sz="1600" dirty="0" smtClean="0"/>
              <a:t>), 23-31.</a:t>
            </a:r>
          </a:p>
          <a:p>
            <a:r>
              <a:rPr lang="en-GB" sz="1600" dirty="0" smtClean="0"/>
              <a:t>BELL, D., RAIFFA, H. and TVERSKY, A. 1995. </a:t>
            </a:r>
            <a:r>
              <a:rPr lang="en-GB" sz="1600" i="1" dirty="0" smtClean="0"/>
              <a:t>Descriptive, normative and prescriptive interactions in decision making</a:t>
            </a:r>
            <a:r>
              <a:rPr lang="en-GB" sz="1600" dirty="0" smtClean="0"/>
              <a:t>. In Decision making . Cambridge University Press. Cambridge.</a:t>
            </a:r>
          </a:p>
          <a:p>
            <a:r>
              <a:rPr lang="en-GB" sz="1600" dirty="0" smtClean="0"/>
              <a:t>CALDER, R., CAMPBELL, S. and WATSON, D. 2005. </a:t>
            </a:r>
            <a:r>
              <a:rPr lang="en-GB" sz="1600" i="1" dirty="0" smtClean="0"/>
              <a:t>Cognitive continuum theory in nursing decision making</a:t>
            </a:r>
            <a:r>
              <a:rPr lang="en-GB" sz="1600" dirty="0" smtClean="0"/>
              <a:t>. Journal of advanced nursing. 49 (</a:t>
            </a:r>
            <a:r>
              <a:rPr lang="en-GB" sz="1600" b="1" dirty="0" smtClean="0"/>
              <a:t>4</a:t>
            </a:r>
            <a:r>
              <a:rPr lang="en-GB" sz="1600" dirty="0" smtClean="0"/>
              <a:t>), 397-405. </a:t>
            </a:r>
          </a:p>
          <a:p>
            <a:r>
              <a:rPr lang="en-GB" sz="1600" dirty="0" smtClean="0"/>
              <a:t>CROSKERRY, </a:t>
            </a:r>
            <a:r>
              <a:rPr lang="en-GB" sz="1600" dirty="0"/>
              <a:t>P., 2000. </a:t>
            </a:r>
            <a:r>
              <a:rPr lang="en-GB" sz="1600" i="1" dirty="0"/>
              <a:t>The cognitive imperative thinking about how we thin</a:t>
            </a:r>
            <a:r>
              <a:rPr lang="en-GB" sz="1600" dirty="0"/>
              <a:t>k. Academic Emergency Medicine, </a:t>
            </a:r>
            <a:r>
              <a:rPr lang="en-GB" sz="1600" i="1" dirty="0"/>
              <a:t>7</a:t>
            </a:r>
            <a:r>
              <a:rPr lang="en-GB" sz="1600" dirty="0"/>
              <a:t>(</a:t>
            </a:r>
            <a:r>
              <a:rPr lang="en-GB" sz="1600" b="1" dirty="0"/>
              <a:t>11</a:t>
            </a:r>
            <a:r>
              <a:rPr lang="en-GB" sz="1600" dirty="0" smtClean="0"/>
              <a:t>), 1223-1231</a:t>
            </a:r>
            <a:r>
              <a:rPr lang="en-GB" sz="1600" dirty="0"/>
              <a:t>.</a:t>
            </a:r>
            <a:endParaRPr lang="en-GB" sz="1600" dirty="0" smtClean="0"/>
          </a:p>
          <a:p>
            <a:r>
              <a:rPr lang="en-GB" sz="1600" dirty="0" smtClean="0"/>
              <a:t>TIFFEN, </a:t>
            </a:r>
            <a:r>
              <a:rPr lang="en-GB" sz="1600" dirty="0"/>
              <a:t>J., </a:t>
            </a:r>
            <a:r>
              <a:rPr lang="en-GB" sz="1600" dirty="0" smtClean="0"/>
              <a:t>CORBRIDGE, S. </a:t>
            </a:r>
            <a:r>
              <a:rPr lang="en-GB" sz="1600" dirty="0"/>
              <a:t>and </a:t>
            </a:r>
            <a:r>
              <a:rPr lang="en-GB" sz="1600" dirty="0" smtClean="0"/>
              <a:t>SLIMMER, </a:t>
            </a:r>
            <a:r>
              <a:rPr lang="en-GB" sz="1600" dirty="0"/>
              <a:t>L., 2014. </a:t>
            </a:r>
            <a:r>
              <a:rPr lang="en-GB" sz="1600" i="1" dirty="0"/>
              <a:t>Enhancing clinical decision making: development of a contiguous definition and conceptual framework</a:t>
            </a:r>
            <a:r>
              <a:rPr lang="en-GB" sz="1600" dirty="0"/>
              <a:t>. Journal of professional nursing, 30(</a:t>
            </a:r>
            <a:r>
              <a:rPr lang="en-GB" sz="1600" b="1" dirty="0"/>
              <a:t>5</a:t>
            </a:r>
            <a:r>
              <a:rPr lang="en-GB" sz="1600" dirty="0"/>
              <a:t>), </a:t>
            </a:r>
            <a:r>
              <a:rPr lang="en-GB" sz="1600" dirty="0" smtClean="0"/>
              <a:t>99-405</a:t>
            </a:r>
            <a:r>
              <a:rPr lang="en-GB" sz="1600" dirty="0"/>
              <a:t>.</a:t>
            </a:r>
            <a:endParaRPr lang="en-GB" sz="1600" dirty="0" smtClean="0"/>
          </a:p>
          <a:p>
            <a:r>
              <a:rPr lang="en-GB" sz="1600" dirty="0" smtClean="0"/>
              <a:t>SHABAN, </a:t>
            </a:r>
            <a:r>
              <a:rPr lang="en-GB" sz="1600" dirty="0"/>
              <a:t>R., 2015. </a:t>
            </a:r>
            <a:r>
              <a:rPr lang="en-GB" sz="1600" i="1" dirty="0"/>
              <a:t>Theories of clinical judgment and decision-making: A review of the theoretical literature</a:t>
            </a:r>
            <a:r>
              <a:rPr lang="en-GB" sz="1600" dirty="0"/>
              <a:t>. Australasian Journal of </a:t>
            </a:r>
            <a:r>
              <a:rPr lang="en-GB" sz="1600" dirty="0" smtClean="0"/>
              <a:t>Paramedicine</a:t>
            </a:r>
            <a:r>
              <a:rPr lang="en-GB" sz="1600" dirty="0"/>
              <a:t>, </a:t>
            </a:r>
            <a:r>
              <a:rPr lang="en-GB" sz="1600" i="1" dirty="0"/>
              <a:t>3</a:t>
            </a:r>
            <a:r>
              <a:rPr lang="en-GB" sz="1600" dirty="0"/>
              <a:t>(</a:t>
            </a:r>
            <a:r>
              <a:rPr lang="en-GB" sz="1600" b="1" dirty="0"/>
              <a:t>1</a:t>
            </a:r>
            <a:r>
              <a:rPr lang="en-GB" sz="1600" dirty="0" smtClean="0"/>
              <a:t>).</a:t>
            </a:r>
          </a:p>
          <a:p>
            <a:r>
              <a:rPr lang="en-GB" sz="1600" dirty="0" smtClean="0"/>
              <a:t>THOMPSON, </a:t>
            </a:r>
            <a:r>
              <a:rPr lang="en-GB" sz="1600" dirty="0"/>
              <a:t>C., </a:t>
            </a:r>
            <a:r>
              <a:rPr lang="en-GB" sz="1600" dirty="0" smtClean="0"/>
              <a:t>CULLUM, </a:t>
            </a:r>
            <a:r>
              <a:rPr lang="en-GB" sz="1600" dirty="0"/>
              <a:t>N., </a:t>
            </a:r>
            <a:r>
              <a:rPr lang="en-GB" sz="1600" dirty="0" err="1" smtClean="0"/>
              <a:t>McCAUGHAN</a:t>
            </a:r>
            <a:r>
              <a:rPr lang="en-GB" sz="1600" dirty="0" smtClean="0"/>
              <a:t>, </a:t>
            </a:r>
            <a:r>
              <a:rPr lang="en-GB" sz="1600" dirty="0"/>
              <a:t>D., </a:t>
            </a:r>
            <a:r>
              <a:rPr lang="en-GB" sz="1600" dirty="0" smtClean="0"/>
              <a:t>SHELDON, </a:t>
            </a:r>
            <a:r>
              <a:rPr lang="en-GB" sz="1600" dirty="0"/>
              <a:t>T. and </a:t>
            </a:r>
            <a:r>
              <a:rPr lang="en-GB" sz="1600" dirty="0" smtClean="0"/>
              <a:t>RAYNOR, </a:t>
            </a:r>
            <a:r>
              <a:rPr lang="en-GB" sz="1600" dirty="0"/>
              <a:t>P</a:t>
            </a:r>
            <a:r>
              <a:rPr lang="en-GB" sz="1600" dirty="0" smtClean="0"/>
              <a:t>. </a:t>
            </a:r>
            <a:r>
              <a:rPr lang="en-GB" sz="1600" dirty="0"/>
              <a:t>2004. </a:t>
            </a:r>
            <a:r>
              <a:rPr lang="en-GB" sz="1600" i="1" dirty="0"/>
              <a:t>Nurses, information use, and clinical decision making—the real world potential for evidence-based decisions in nursing</a:t>
            </a:r>
            <a:r>
              <a:rPr lang="en-GB" sz="1600" dirty="0"/>
              <a:t>. Evidence-Based Nursing, </a:t>
            </a:r>
            <a:r>
              <a:rPr lang="en-GB" sz="1600" i="1" dirty="0"/>
              <a:t>7</a:t>
            </a:r>
            <a:r>
              <a:rPr lang="en-GB" sz="1600" dirty="0"/>
              <a:t>(</a:t>
            </a:r>
            <a:r>
              <a:rPr lang="en-GB" sz="1600" b="1" dirty="0"/>
              <a:t>3</a:t>
            </a:r>
            <a:r>
              <a:rPr lang="en-GB" sz="1600" dirty="0"/>
              <a:t>), pp.68-72</a:t>
            </a:r>
          </a:p>
        </p:txBody>
      </p:sp>
    </p:spTree>
    <p:extLst>
      <p:ext uri="{BB962C8B-B14F-4D97-AF65-F5344CB8AC3E}">
        <p14:creationId xmlns:p14="http://schemas.microsoft.com/office/powerpoint/2010/main" val="27804905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219</TotalTime>
  <Words>981</Words>
  <Application>Microsoft Office PowerPoint</Application>
  <PresentationFormat>On-screen Show (4:3)</PresentationFormat>
  <Paragraphs>208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Century Gothic</vt:lpstr>
      <vt:lpstr>Courier New</vt:lpstr>
      <vt:lpstr>Palatino Linotype</vt:lpstr>
      <vt:lpstr>Executive</vt:lpstr>
      <vt:lpstr>Decision Making </vt:lpstr>
      <vt:lpstr>Session Objectives</vt:lpstr>
      <vt:lpstr>Relevance of Decision Making </vt:lpstr>
      <vt:lpstr>Within a Professional Role</vt:lpstr>
      <vt:lpstr>Decision Making </vt:lpstr>
      <vt:lpstr>Reality of Decision Making </vt:lpstr>
      <vt:lpstr>High Level Decision Making </vt:lpstr>
      <vt:lpstr>Decision Making Needs</vt:lpstr>
      <vt:lpstr>Bounded Rationality </vt:lpstr>
      <vt:lpstr>Models of Decision Making </vt:lpstr>
      <vt:lpstr>Novice or Expert?</vt:lpstr>
      <vt:lpstr>Theories of Decision Making </vt:lpstr>
      <vt:lpstr>Dual Process Theory</vt:lpstr>
      <vt:lpstr>Information Processing </vt:lpstr>
      <vt:lpstr>Intuition – A Time and a Place</vt:lpstr>
      <vt:lpstr>Intuitive-Heuristic Theory</vt:lpstr>
      <vt:lpstr>Information Processing </vt:lpstr>
      <vt:lpstr>Heuristics</vt:lpstr>
      <vt:lpstr>Intuitive-Heuristic Theory</vt:lpstr>
      <vt:lpstr>How do Higher Level Clinicians  make decisions?</vt:lpstr>
      <vt:lpstr>Cognitive Continuum Theory</vt:lpstr>
      <vt:lpstr>Cognitive Continuum Theory</vt:lpstr>
      <vt:lpstr>Cognitive Continuum Theory</vt:lpstr>
      <vt:lpstr>Summary </vt:lpstr>
      <vt:lpstr>References</vt:lpstr>
    </vt:vector>
  </TitlesOfParts>
  <Company>Glasgow Caledonian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</dc:title>
  <dc:creator>Setup</dc:creator>
  <cp:lastModifiedBy>Cameron, Keith</cp:lastModifiedBy>
  <cp:revision>31</cp:revision>
  <dcterms:created xsi:type="dcterms:W3CDTF">2018-08-20T08:37:06Z</dcterms:created>
  <dcterms:modified xsi:type="dcterms:W3CDTF">2020-01-24T13:51:46Z</dcterms:modified>
</cp:coreProperties>
</file>