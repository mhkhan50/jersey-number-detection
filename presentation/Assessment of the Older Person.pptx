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805F-FF0F-4BAA-A3A3-E4F945D687F8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3A6-CC5D-4649-8527-DB0C21FDDFD9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6F927C-B73E-4F9D-ADFE-F6E23BD7CEE8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FFFF-984A-4EE5-9BF2-EC9310C878F1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71C1-B42E-4A60-A25F-0185B888604B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6292-3725-4763-8973-4C59F0403D99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96D1-8909-469F-911A-4C12C68BF5D9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73BC-5D11-4675-B334-102E1E8C9B50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7B8E45F-652B-4E89-8925-000B0AB8FD98}" type="datetimeFigureOut">
              <a:rPr lang="en-US" dirty="0"/>
              <a:t>12/17/2018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5C51-60B3-48EF-AA78-DB950F30DBA2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676B-6E73-4E3B-A9B3-4966DB9B52A5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4A3462A-2D5B-48AF-A3D4-EF8A90A50A80}" type="datetimeFigureOut">
              <a:rPr lang="en-US" dirty="0"/>
              <a:t>12/17/2018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93/geront/9.3_Part_1.17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Assessment of the Older Person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Keith Cameron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2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Same Priorities?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Geriatric patients tend to report fewer symptoms but have more chronic diseases.</a:t>
            </a:r>
          </a:p>
          <a:p>
            <a:r>
              <a:rPr lang="en-GB" dirty="0" smtClean="0"/>
              <a:t>Presentations likely to be atypical</a:t>
            </a:r>
          </a:p>
          <a:p>
            <a:r>
              <a:rPr lang="en-GB" dirty="0" smtClean="0"/>
              <a:t>Emphasis on 4 matters of concern for older people:</a:t>
            </a:r>
          </a:p>
          <a:p>
            <a:pPr lvl="1"/>
            <a:r>
              <a:rPr lang="en-GB" dirty="0" smtClean="0"/>
              <a:t>Immobility </a:t>
            </a:r>
          </a:p>
          <a:p>
            <a:pPr lvl="1"/>
            <a:r>
              <a:rPr lang="en-GB" dirty="0" smtClean="0"/>
              <a:t>Instability</a:t>
            </a:r>
          </a:p>
          <a:p>
            <a:pPr lvl="1"/>
            <a:r>
              <a:rPr lang="en-GB" dirty="0" smtClean="0"/>
              <a:t>Impaired intellect </a:t>
            </a:r>
          </a:p>
          <a:p>
            <a:pPr lvl="1"/>
            <a:r>
              <a:rPr lang="en-GB" dirty="0" smtClean="0"/>
              <a:t>Incontinence </a:t>
            </a:r>
          </a:p>
          <a:p>
            <a:r>
              <a:rPr lang="en-GB" dirty="0" smtClean="0"/>
              <a:t>Any of these may be caused or worsened by polypharmacy – very common problem in elderly patients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64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Comprehensive Geriatric Assessment – Components (A to I)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>
                <a:solidFill>
                  <a:srgbClr val="FF0000"/>
                </a:solidFill>
              </a:rPr>
              <a:t>A</a:t>
            </a:r>
            <a:r>
              <a:rPr lang="en-GB" dirty="0" smtClean="0"/>
              <a:t>ctivities of daily living 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B</a:t>
            </a:r>
            <a:r>
              <a:rPr lang="en-GB" dirty="0" smtClean="0"/>
              <a:t>alance, frailty testing 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C</a:t>
            </a:r>
            <a:r>
              <a:rPr lang="en-GB" dirty="0" smtClean="0"/>
              <a:t>ognition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D</a:t>
            </a:r>
            <a:r>
              <a:rPr lang="en-GB" dirty="0" smtClean="0"/>
              <a:t>epression, Drugs (polypharmacy), Dentition (Including nutrition and weight loss)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E</a:t>
            </a:r>
            <a:r>
              <a:rPr lang="en-GB" dirty="0" smtClean="0"/>
              <a:t>nvironment: home situation, social support, financial issues, living will.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F</a:t>
            </a:r>
            <a:r>
              <a:rPr lang="en-GB" dirty="0" smtClean="0"/>
              <a:t>alls Risk (history of falls, ‘get up and go’ test, functional reach test)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G</a:t>
            </a:r>
            <a:r>
              <a:rPr lang="en-GB" dirty="0" smtClean="0"/>
              <a:t>ait speed (faster walkers have better survival)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H</a:t>
            </a:r>
            <a:r>
              <a:rPr lang="en-GB" dirty="0" smtClean="0"/>
              <a:t>earing, vision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I</a:t>
            </a:r>
            <a:r>
              <a:rPr lang="en-GB" dirty="0" smtClean="0"/>
              <a:t>ncontinence (urine or stool), sexual function</a:t>
            </a:r>
          </a:p>
        </p:txBody>
      </p:sp>
    </p:spTree>
    <p:extLst>
      <p:ext uri="{BB962C8B-B14F-4D97-AF65-F5344CB8AC3E}">
        <p14:creationId xmlns:p14="http://schemas.microsoft.com/office/powerpoint/2010/main" val="166082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 Standard History Taking?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Changes?</a:t>
            </a:r>
          </a:p>
          <a:p>
            <a:r>
              <a:rPr lang="en-GB" dirty="0" smtClean="0"/>
              <a:t>Slow down the speed of the interview.</a:t>
            </a:r>
          </a:p>
          <a:p>
            <a:r>
              <a:rPr lang="en-GB" dirty="0" smtClean="0"/>
              <a:t>Adjust your interview approach if the patient has hearing or visual impairment, or dementia.</a:t>
            </a:r>
          </a:p>
          <a:p>
            <a:r>
              <a:rPr lang="en-GB" dirty="0" smtClean="0"/>
              <a:t>To maximise the interaction, ensure that he/she can see your face when you talk to them.</a:t>
            </a:r>
          </a:p>
          <a:p>
            <a:r>
              <a:rPr lang="en-GB" dirty="0" smtClean="0"/>
              <a:t>Do not patronise the patient.</a:t>
            </a:r>
          </a:p>
          <a:p>
            <a:r>
              <a:rPr lang="en-GB" dirty="0" smtClean="0"/>
              <a:t>With the patient’s permission, involve a relative or friend to help with the interview.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341016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Falls- Risk Factors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 smtClean="0"/>
              <a:t>History of multiple previous falls (number, Injuries)</a:t>
            </a:r>
          </a:p>
          <a:p>
            <a:r>
              <a:rPr lang="en-GB" dirty="0" smtClean="0"/>
              <a:t>Age over 80years</a:t>
            </a:r>
          </a:p>
          <a:p>
            <a:r>
              <a:rPr lang="en-GB" dirty="0" smtClean="0"/>
              <a:t>Difficulty in getting up fro a chair</a:t>
            </a:r>
          </a:p>
          <a:p>
            <a:r>
              <a:rPr lang="en-GB" dirty="0" smtClean="0"/>
              <a:t>Use of a walking stick or frame </a:t>
            </a:r>
          </a:p>
          <a:p>
            <a:r>
              <a:rPr lang="en-GB" dirty="0" smtClean="0"/>
              <a:t>Arthritis</a:t>
            </a:r>
          </a:p>
          <a:p>
            <a:r>
              <a:rPr lang="en-GB" dirty="0" smtClean="0"/>
              <a:t>Poor Vision </a:t>
            </a:r>
          </a:p>
          <a:p>
            <a:r>
              <a:rPr lang="en-GB" dirty="0" smtClean="0"/>
              <a:t>Cognitive decline or depression</a:t>
            </a:r>
          </a:p>
          <a:p>
            <a:r>
              <a:rPr lang="en-GB" dirty="0" smtClean="0"/>
              <a:t>Muscle weakness</a:t>
            </a:r>
          </a:p>
          <a:p>
            <a:r>
              <a:rPr lang="en-GB" dirty="0" smtClean="0"/>
              <a:t>Parkinson’s disease</a:t>
            </a:r>
          </a:p>
          <a:p>
            <a:r>
              <a:rPr lang="en-GB" dirty="0" smtClean="0"/>
              <a:t>Gait or balance problems </a:t>
            </a:r>
          </a:p>
          <a:p>
            <a:r>
              <a:rPr lang="en-GB" dirty="0" smtClean="0"/>
              <a:t>Mechanical problems in the home (e.g. loose rugs or steep stairs)</a:t>
            </a:r>
          </a:p>
          <a:p>
            <a:r>
              <a:rPr lang="en-GB" dirty="0" smtClean="0"/>
              <a:t>Drug treatment (polypharmac</a:t>
            </a:r>
            <a:r>
              <a:rPr lang="en-GB" dirty="0"/>
              <a:t>y</a:t>
            </a:r>
            <a:r>
              <a:rPr lang="en-GB" dirty="0" smtClean="0"/>
              <a:t>; particularly note sedatives, antidepressants, </a:t>
            </a:r>
            <a:r>
              <a:rPr lang="en-GB" dirty="0" err="1" smtClean="0"/>
              <a:t>antihypertensives</a:t>
            </a:r>
            <a:r>
              <a:rPr lang="en-GB" dirty="0"/>
              <a:t>)</a:t>
            </a:r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752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Lawton &amp; Brody</a:t>
            </a:r>
            <a:br>
              <a:rPr lang="en-GB" dirty="0" smtClean="0"/>
            </a:br>
            <a:r>
              <a:rPr lang="en-GB" dirty="0" smtClean="0"/>
              <a:t>Instrumental Activities of daily Living </a:t>
            </a:r>
            <a:br>
              <a:rPr lang="en-GB" dirty="0" smtClean="0"/>
            </a:br>
            <a:r>
              <a:rPr lang="en-GB" dirty="0" smtClean="0"/>
              <a:t>(IADL) Scale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1	Ability to use the phone </a:t>
            </a:r>
          </a:p>
          <a:p>
            <a:r>
              <a:rPr lang="en-GB" dirty="0" smtClean="0"/>
              <a:t>2	Shopping </a:t>
            </a:r>
          </a:p>
          <a:p>
            <a:r>
              <a:rPr lang="en-GB" dirty="0" smtClean="0"/>
              <a:t>3	Food preparation</a:t>
            </a:r>
            <a:endParaRPr lang="en-GB" dirty="0"/>
          </a:p>
          <a:p>
            <a:r>
              <a:rPr lang="en-GB" dirty="0" smtClean="0"/>
              <a:t>4	Housekeeping </a:t>
            </a:r>
          </a:p>
          <a:p>
            <a:r>
              <a:rPr lang="en-GB" dirty="0" smtClean="0"/>
              <a:t>5	Laundry</a:t>
            </a:r>
          </a:p>
          <a:p>
            <a:r>
              <a:rPr lang="en-GB" dirty="0" smtClean="0"/>
              <a:t>6	Transport</a:t>
            </a:r>
          </a:p>
          <a:p>
            <a:r>
              <a:rPr lang="en-GB" dirty="0" smtClean="0"/>
              <a:t>7	Medication management </a:t>
            </a:r>
          </a:p>
          <a:p>
            <a:r>
              <a:rPr lang="en-GB" dirty="0" smtClean="0"/>
              <a:t>8	Ability to handle finances</a:t>
            </a:r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96684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Lawton &amp; Brody</a:t>
            </a:r>
            <a:br>
              <a:rPr lang="en-GB" dirty="0"/>
            </a:br>
            <a:r>
              <a:rPr lang="en-GB" dirty="0"/>
              <a:t>Instrumental Activities of daily Living </a:t>
            </a:r>
            <a:br>
              <a:rPr lang="en-GB" dirty="0"/>
            </a:br>
            <a:r>
              <a:rPr lang="en-GB" dirty="0"/>
              <a:t>(IADL) </a:t>
            </a:r>
            <a:r>
              <a:rPr lang="en-GB" dirty="0" smtClean="0"/>
              <a:t>Scale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Score 1 for each element:</a:t>
            </a:r>
          </a:p>
          <a:p>
            <a:endParaRPr lang="en-GB" dirty="0"/>
          </a:p>
          <a:p>
            <a:r>
              <a:rPr lang="en-GB" dirty="0" smtClean="0"/>
              <a:t>0 = Total Dependence</a:t>
            </a:r>
          </a:p>
          <a:p>
            <a:r>
              <a:rPr lang="en-GB" dirty="0" smtClean="0"/>
              <a:t>8 = Total Independence  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smtClean="0"/>
              <a:t>Lawton &amp; Brody (1969)</a:t>
            </a:r>
            <a:r>
              <a:rPr lang="en-GB" dirty="0" smtClean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642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Katz Index of Activities of Daily Living(ADLs)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1	Bathing </a:t>
            </a:r>
          </a:p>
          <a:p>
            <a:r>
              <a:rPr lang="en-GB" dirty="0" smtClean="0"/>
              <a:t>2	Dressing </a:t>
            </a:r>
          </a:p>
          <a:p>
            <a:r>
              <a:rPr lang="en-GB" dirty="0" smtClean="0"/>
              <a:t>3	Toileting </a:t>
            </a:r>
          </a:p>
          <a:p>
            <a:r>
              <a:rPr lang="en-GB" dirty="0" smtClean="0"/>
              <a:t>4	Transferring </a:t>
            </a:r>
          </a:p>
          <a:p>
            <a:r>
              <a:rPr lang="en-GB" dirty="0" smtClean="0"/>
              <a:t>5	Continence </a:t>
            </a:r>
          </a:p>
          <a:p>
            <a:r>
              <a:rPr lang="en-GB" dirty="0" smtClean="0"/>
              <a:t>6	Feeding 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393004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Katz Index of Activities of Daily Living(ADLs)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1 point for each element that can be done without help or supervision</a:t>
            </a:r>
          </a:p>
          <a:p>
            <a:endParaRPr lang="en-GB" dirty="0"/>
          </a:p>
          <a:p>
            <a:r>
              <a:rPr lang="en-GB" dirty="0" smtClean="0"/>
              <a:t>6 =	Fully functional </a:t>
            </a:r>
          </a:p>
          <a:p>
            <a:r>
              <a:rPr lang="en-GB" dirty="0" smtClean="0"/>
              <a:t>4 = 	Moderately Impaired </a:t>
            </a:r>
          </a:p>
          <a:p>
            <a:r>
              <a:rPr lang="en-GB" dirty="0" smtClean="0"/>
              <a:t>2 = 	Severely Impaired 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smtClean="0"/>
              <a:t>Katz et al (1970)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572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Timed ‘Get up and Go’ Test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Image result for get up and go tes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51"/>
          <a:stretch/>
        </p:blipFill>
        <p:spPr bwMode="auto">
          <a:xfrm>
            <a:off x="927402" y="2191233"/>
            <a:ext cx="5715000" cy="3911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get up and go tes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325" y="2489453"/>
            <a:ext cx="381000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36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Timed ‘Get up and Go’ Test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Normal time for completion 7-10 seconds</a:t>
            </a:r>
          </a:p>
          <a:p>
            <a:endParaRPr lang="en-GB" dirty="0"/>
          </a:p>
          <a:p>
            <a:r>
              <a:rPr lang="en-GB" dirty="0" smtClean="0"/>
              <a:t>Over 10 seconds, some mobility difficulties (especially over 20 seconds)</a:t>
            </a:r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/>
          </a:p>
          <a:p>
            <a:endParaRPr lang="en-GB" dirty="0"/>
          </a:p>
          <a:p>
            <a:r>
              <a:rPr lang="en-GB" dirty="0" smtClean="0"/>
              <a:t>Douglas et al (2013)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299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DOUGLAS, G., NICOL, F. and ROBERTSON, C. eds., 2013. </a:t>
            </a:r>
            <a:r>
              <a:rPr lang="en-US" i="1" dirty="0"/>
              <a:t>Macleod's Clinical Examination E-Book</a:t>
            </a:r>
            <a:r>
              <a:rPr lang="en-US" dirty="0"/>
              <a:t>. Elsevier Health Sciences</a:t>
            </a:r>
            <a:r>
              <a:rPr lang="en-US" dirty="0" smtClean="0"/>
              <a:t>.</a:t>
            </a:r>
          </a:p>
          <a:p>
            <a:endParaRPr lang="en-GB" dirty="0"/>
          </a:p>
          <a:p>
            <a:r>
              <a:rPr lang="en-US" dirty="0"/>
              <a:t>KATZ, S., DOWNS, T., CASH, H. and GROTZ, R. 1970. Progress in development of the index of ADL. </a:t>
            </a:r>
            <a:r>
              <a:rPr lang="en-US" i="1" dirty="0"/>
              <a:t>The gerontologist</a:t>
            </a:r>
            <a:r>
              <a:rPr lang="en-US" dirty="0"/>
              <a:t>, </a:t>
            </a:r>
            <a:r>
              <a:rPr lang="en-US" i="1" dirty="0"/>
              <a:t>10</a:t>
            </a:r>
            <a:r>
              <a:rPr lang="en-US" dirty="0"/>
              <a:t>(1_Part_1), pp.20-30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GB" dirty="0" smtClean="0"/>
              <a:t>LAWTON, M., &amp; BRODY, E. 1969. </a:t>
            </a:r>
            <a:r>
              <a:rPr lang="en-US" dirty="0"/>
              <a:t>Assessment of Older People: Self-Maintaining and Instrumental Activities of Daily Living, </a:t>
            </a:r>
            <a:r>
              <a:rPr lang="en-US" i="1" dirty="0"/>
              <a:t>The Gerontologist</a:t>
            </a:r>
            <a:r>
              <a:rPr lang="en-US" dirty="0"/>
              <a:t>, Volume 9, Issue 3_Part_1, 1 October 1969, Pages </a:t>
            </a:r>
            <a:r>
              <a:rPr lang="en-US" dirty="0" smtClean="0"/>
              <a:t>179-186, </a:t>
            </a:r>
            <a:r>
              <a:rPr lang="en-US" dirty="0"/>
              <a:t> 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doi.org/10.1093/geront/9.3_Part_1.179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852422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163</TotalTime>
  <Words>406</Words>
  <Application>Microsoft Office PowerPoint</Application>
  <PresentationFormat>Widescreen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Century Gothic</vt:lpstr>
      <vt:lpstr>Wingdings</vt:lpstr>
      <vt:lpstr>Wood Type</vt:lpstr>
      <vt:lpstr>Assessment of the Older Person</vt:lpstr>
      <vt:lpstr>The Same Priorities?</vt:lpstr>
      <vt:lpstr>Comprehensive Geriatric Assessment – Components (A to I)</vt:lpstr>
      <vt:lpstr>A Standard History Taking?</vt:lpstr>
      <vt:lpstr>Falls- Risk Factors</vt:lpstr>
      <vt:lpstr>Lawton &amp; Brody Instrumental Activities of daily Living  (IADL) Scale</vt:lpstr>
      <vt:lpstr>Lawton &amp; Brody Instrumental Activities of daily Living  (IADL) Scale</vt:lpstr>
      <vt:lpstr>Katz Index of Activities of Daily Living(ADLs)</vt:lpstr>
      <vt:lpstr>Katz Index of Activities of Daily Living(ADLs)</vt:lpstr>
      <vt:lpstr>Timed ‘Get up and Go’ Test </vt:lpstr>
      <vt:lpstr>Timed ‘Get up and Go’ Test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of the Older Person</dc:title>
  <dc:creator>Cameron, Keith</dc:creator>
  <cp:lastModifiedBy>Cameron, Keith</cp:lastModifiedBy>
  <cp:revision>8</cp:revision>
  <dcterms:created xsi:type="dcterms:W3CDTF">2018-12-17T10:33:27Z</dcterms:created>
  <dcterms:modified xsi:type="dcterms:W3CDTF">2018-12-17T13:17:04Z</dcterms:modified>
</cp:coreProperties>
</file>