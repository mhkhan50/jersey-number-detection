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8" r:id="rId13"/>
    <p:sldId id="269" r:id="rId14"/>
    <p:sldId id="270" r:id="rId15"/>
    <p:sldId id="271" r:id="rId16"/>
    <p:sldId id="267" r:id="rId17"/>
    <p:sldId id="273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82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39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65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52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57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62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54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10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69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5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90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AF707-3E4A-4178-9FA3-F468E1A0DB9F}" type="datetimeFigureOut">
              <a:rPr lang="en-GB" smtClean="0"/>
              <a:t>19/05/2020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B4682-56C2-49C1-A1D1-75F125FB90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51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Clinical History taking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24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Understand the purpose of clinical history taking </a:t>
            </a:r>
          </a:p>
          <a:p>
            <a:endParaRPr lang="en-GB" dirty="0" smtClean="0"/>
          </a:p>
          <a:p>
            <a:r>
              <a:rPr lang="en-GB" dirty="0" smtClean="0"/>
              <a:t>Understand the sequence of history taking</a:t>
            </a:r>
          </a:p>
          <a:p>
            <a:endParaRPr lang="en-GB" dirty="0" smtClean="0"/>
          </a:p>
          <a:p>
            <a:r>
              <a:rPr lang="en-GB" dirty="0" smtClean="0"/>
              <a:t>Have Insight into the skills of history taking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Objectives</a:t>
            </a:r>
            <a:endParaRPr lang="en-GB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5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500062"/>
            <a:ext cx="10515600" cy="1325563"/>
          </a:xfrm>
        </p:spPr>
        <p:txBody>
          <a:bodyPr/>
          <a:lstStyle/>
          <a:p>
            <a:r>
              <a:rPr lang="en-GB" u="sng" dirty="0" smtClean="0"/>
              <a:t>History Taking 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3 main aims</a:t>
            </a:r>
          </a:p>
          <a:p>
            <a:endParaRPr lang="en-GB" dirty="0"/>
          </a:p>
          <a:p>
            <a:r>
              <a:rPr lang="en-GB" dirty="0" smtClean="0"/>
              <a:t>Build a therapeutic relationship </a:t>
            </a:r>
          </a:p>
          <a:p>
            <a:r>
              <a:rPr lang="en-GB" dirty="0" smtClean="0"/>
              <a:t>Build and test hypotheses – differential diagnosis</a:t>
            </a:r>
          </a:p>
          <a:p>
            <a:r>
              <a:rPr lang="en-GB" dirty="0" smtClean="0"/>
              <a:t>Identify the systems or organs responsible for the symptom (s)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22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The Skilled Interviewer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Listen – This allows the patient to ‘tell the story’ in their own words. Encourage the flow with verbal and non verbal cues.</a:t>
            </a:r>
          </a:p>
          <a:p>
            <a:endParaRPr lang="en-GB" dirty="0"/>
          </a:p>
          <a:p>
            <a:r>
              <a:rPr lang="en-GB" dirty="0" smtClean="0"/>
              <a:t>	Try not to interrupt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/>
              <a:t>Clarify – Exact nature of any vague or colloquial terms used by the patient, times of events, or gaps in the story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/>
              <a:t>	Ensures that you have all the information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93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The Skilled Interviewer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Question – Specific areas of relevance, use open questions while avoiding leading questions</a:t>
            </a:r>
          </a:p>
          <a:p>
            <a:endParaRPr lang="en-GB" dirty="0"/>
          </a:p>
          <a:p>
            <a:r>
              <a:rPr lang="en-GB" dirty="0" smtClean="0"/>
              <a:t>Summarise – Outline the narrative as you understand it.</a:t>
            </a:r>
          </a:p>
          <a:p>
            <a:r>
              <a:rPr lang="en-GB" dirty="0" smtClean="0"/>
              <a:t>Invite the patient to correct any inaccuracies by echoing back the story.</a:t>
            </a:r>
          </a:p>
          <a:p>
            <a:endParaRPr lang="en-GB" dirty="0"/>
          </a:p>
          <a:p>
            <a:pPr lvl="1"/>
            <a:r>
              <a:rPr lang="en-GB" dirty="0" smtClean="0"/>
              <a:t>Can inform the future clinical decisions &amp; clinical judgement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362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Avoid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Lecturing </a:t>
            </a:r>
          </a:p>
          <a:p>
            <a:r>
              <a:rPr lang="en-GB" sz="3600" dirty="0" smtClean="0"/>
              <a:t>Changing the subject</a:t>
            </a:r>
          </a:p>
          <a:p>
            <a:r>
              <a:rPr lang="en-GB" sz="3600" dirty="0" smtClean="0"/>
              <a:t>Jumping to conclusions</a:t>
            </a:r>
          </a:p>
          <a:p>
            <a:r>
              <a:rPr lang="en-GB" sz="3600" dirty="0" smtClean="0"/>
              <a:t>Defensive responses</a:t>
            </a:r>
          </a:p>
          <a:p>
            <a:r>
              <a:rPr lang="en-GB" sz="3600" dirty="0" smtClean="0"/>
              <a:t>Leading questions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80321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Sequence of History Taking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• Introduction </a:t>
            </a:r>
          </a:p>
          <a:p>
            <a:pPr marL="0" indent="0">
              <a:buNone/>
            </a:pPr>
            <a:r>
              <a:rPr lang="en-GB" dirty="0"/>
              <a:t>• Presenting complaint </a:t>
            </a:r>
          </a:p>
          <a:p>
            <a:pPr marL="0" indent="0">
              <a:buNone/>
            </a:pPr>
            <a:r>
              <a:rPr lang="en-US" dirty="0"/>
              <a:t>• History of presenting complaint - Functional enquiry of relevant system </a:t>
            </a:r>
          </a:p>
          <a:p>
            <a:pPr marL="0" indent="0">
              <a:buNone/>
            </a:pPr>
            <a:r>
              <a:rPr lang="en-GB" dirty="0"/>
              <a:t>• Past medical/surgical history </a:t>
            </a:r>
          </a:p>
          <a:p>
            <a:pPr marL="0" indent="0">
              <a:buNone/>
            </a:pPr>
            <a:r>
              <a:rPr lang="en-GB" dirty="0"/>
              <a:t>• Medication &amp; allergies </a:t>
            </a:r>
          </a:p>
          <a:p>
            <a:pPr marL="0" indent="0">
              <a:buNone/>
            </a:pPr>
            <a:r>
              <a:rPr lang="en-GB" dirty="0"/>
              <a:t>• Social history </a:t>
            </a:r>
          </a:p>
          <a:p>
            <a:pPr marL="0" indent="0">
              <a:buNone/>
            </a:pPr>
            <a:r>
              <a:rPr lang="en-GB" dirty="0"/>
              <a:t>• Family history </a:t>
            </a:r>
          </a:p>
          <a:p>
            <a:pPr marL="0" indent="0">
              <a:buNone/>
            </a:pPr>
            <a:r>
              <a:rPr lang="en-GB" dirty="0"/>
              <a:t>• Functional systemic enquiry </a:t>
            </a:r>
          </a:p>
          <a:p>
            <a:pPr marL="0" indent="0">
              <a:buNone/>
            </a:pPr>
            <a:r>
              <a:rPr lang="en-GB" dirty="0"/>
              <a:t>• Patients perception of illness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6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Symptom Attributes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dirty="0"/>
              <a:t>S-</a:t>
            </a:r>
            <a:r>
              <a:rPr lang="en-GB" dirty="0" err="1"/>
              <a:t>ite</a:t>
            </a:r>
            <a:r>
              <a:rPr lang="en-GB" dirty="0"/>
              <a:t> </a:t>
            </a:r>
            <a:endParaRPr lang="en-GB" dirty="0" smtClean="0"/>
          </a:p>
          <a:p>
            <a:r>
              <a:rPr lang="en-GB" dirty="0" smtClean="0"/>
              <a:t>O-</a:t>
            </a:r>
            <a:r>
              <a:rPr lang="en-GB" dirty="0" err="1" smtClean="0"/>
              <a:t>nset</a:t>
            </a:r>
            <a:r>
              <a:rPr lang="en-GB" dirty="0" smtClean="0"/>
              <a:t> </a:t>
            </a:r>
          </a:p>
          <a:p>
            <a:r>
              <a:rPr lang="en-GB" dirty="0" smtClean="0"/>
              <a:t>C-</a:t>
            </a:r>
            <a:r>
              <a:rPr lang="en-GB" dirty="0" err="1" smtClean="0"/>
              <a:t>haracter</a:t>
            </a:r>
            <a:r>
              <a:rPr lang="en-GB" dirty="0" smtClean="0"/>
              <a:t> </a:t>
            </a:r>
          </a:p>
          <a:p>
            <a:r>
              <a:rPr lang="en-GB" dirty="0" smtClean="0"/>
              <a:t>R-</a:t>
            </a:r>
            <a:r>
              <a:rPr lang="en-GB" dirty="0" err="1" smtClean="0"/>
              <a:t>adiation</a:t>
            </a:r>
            <a:r>
              <a:rPr lang="en-GB" dirty="0" smtClean="0"/>
              <a:t> </a:t>
            </a:r>
          </a:p>
          <a:p>
            <a:r>
              <a:rPr lang="en-GB" dirty="0" smtClean="0"/>
              <a:t>A-</a:t>
            </a:r>
            <a:r>
              <a:rPr lang="en-GB" dirty="0" err="1" smtClean="0"/>
              <a:t>llieviating</a:t>
            </a:r>
            <a:r>
              <a:rPr lang="en-GB" dirty="0" smtClean="0"/>
              <a:t> </a:t>
            </a:r>
            <a:r>
              <a:rPr lang="en-GB" dirty="0"/>
              <a:t>factors </a:t>
            </a:r>
            <a:endParaRPr lang="en-GB" dirty="0" smtClean="0"/>
          </a:p>
          <a:p>
            <a:r>
              <a:rPr lang="en-GB" dirty="0" smtClean="0"/>
              <a:t>T-</a:t>
            </a:r>
            <a:r>
              <a:rPr lang="en-GB" dirty="0" err="1" smtClean="0"/>
              <a:t>iming</a:t>
            </a:r>
            <a:r>
              <a:rPr lang="en-GB" dirty="0" smtClean="0"/>
              <a:t> </a:t>
            </a:r>
          </a:p>
          <a:p>
            <a:r>
              <a:rPr lang="en-GB" dirty="0" smtClean="0"/>
              <a:t>E-</a:t>
            </a:r>
            <a:r>
              <a:rPr lang="en-GB" dirty="0" err="1" smtClean="0"/>
              <a:t>xacerbating</a:t>
            </a:r>
            <a:r>
              <a:rPr lang="en-GB" dirty="0" smtClean="0"/>
              <a:t> </a:t>
            </a:r>
            <a:r>
              <a:rPr lang="en-GB" dirty="0"/>
              <a:t>factors </a:t>
            </a:r>
            <a:endParaRPr lang="en-GB" dirty="0" smtClean="0"/>
          </a:p>
          <a:p>
            <a:r>
              <a:rPr lang="en-GB" dirty="0" smtClean="0"/>
              <a:t>S-</a:t>
            </a:r>
            <a:r>
              <a:rPr lang="en-GB" dirty="0" err="1" smtClean="0"/>
              <a:t>everity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00651" y="1825625"/>
            <a:ext cx="5230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r>
              <a:rPr lang="en-US" dirty="0"/>
              <a:t>P-</a:t>
            </a:r>
            <a:r>
              <a:rPr lang="en-US" dirty="0" err="1"/>
              <a:t>recipitating</a:t>
            </a:r>
            <a:r>
              <a:rPr lang="en-US" dirty="0"/>
              <a:t> factors </a:t>
            </a:r>
            <a:endParaRPr lang="en-US" dirty="0" smtClean="0"/>
          </a:p>
          <a:p>
            <a:r>
              <a:rPr lang="en-US" dirty="0" smtClean="0"/>
              <a:t>Q-</a:t>
            </a:r>
            <a:r>
              <a:rPr lang="en-US" dirty="0" err="1" smtClean="0"/>
              <a:t>uality</a:t>
            </a:r>
            <a:r>
              <a:rPr lang="en-US" dirty="0" smtClean="0"/>
              <a:t> </a:t>
            </a:r>
          </a:p>
          <a:p>
            <a:r>
              <a:rPr lang="en-US" dirty="0" smtClean="0"/>
              <a:t>R-</a:t>
            </a:r>
            <a:r>
              <a:rPr lang="en-US" dirty="0" err="1" smtClean="0"/>
              <a:t>adiation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S-</a:t>
            </a:r>
            <a:r>
              <a:rPr lang="en-US" dirty="0" err="1" smtClean="0"/>
              <a:t>everity</a:t>
            </a:r>
            <a:r>
              <a:rPr lang="en-US" dirty="0" smtClean="0"/>
              <a:t> </a:t>
            </a:r>
          </a:p>
          <a:p>
            <a:r>
              <a:rPr lang="en-US" dirty="0" smtClean="0"/>
              <a:t>T-</a:t>
            </a:r>
            <a:r>
              <a:rPr lang="en-US" dirty="0" err="1" smtClean="0"/>
              <a:t>imimg</a:t>
            </a:r>
            <a:r>
              <a:rPr lang="en-US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55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Past Medical/Surgical History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509356" cy="4351338"/>
          </a:xfrm>
        </p:spPr>
        <p:txBody>
          <a:bodyPr>
            <a:normAutofit fontScale="92500" lnSpcReduction="20000"/>
          </a:bodyPr>
          <a:lstStyle/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• T - </a:t>
            </a:r>
            <a:r>
              <a:rPr lang="en-GB" dirty="0" err="1"/>
              <a:t>hyroid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• H - </a:t>
            </a:r>
            <a:r>
              <a:rPr lang="en-GB" dirty="0" err="1"/>
              <a:t>eart</a:t>
            </a:r>
            <a:r>
              <a:rPr lang="en-GB" dirty="0"/>
              <a:t> disease </a:t>
            </a:r>
          </a:p>
          <a:p>
            <a:pPr marL="0" indent="0">
              <a:buNone/>
            </a:pPr>
            <a:r>
              <a:rPr lang="en-GB" dirty="0"/>
              <a:t>• R - rheumatic fever </a:t>
            </a:r>
          </a:p>
          <a:p>
            <a:pPr marL="0" indent="0">
              <a:buNone/>
            </a:pPr>
            <a:r>
              <a:rPr lang="en-GB" dirty="0"/>
              <a:t>• E - </a:t>
            </a:r>
            <a:r>
              <a:rPr lang="en-GB" dirty="0" err="1"/>
              <a:t>pilepsy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 smtClean="0"/>
              <a:t>• A - </a:t>
            </a:r>
            <a:r>
              <a:rPr lang="en-GB" dirty="0" err="1" smtClean="0"/>
              <a:t>sthma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• D - </a:t>
            </a:r>
            <a:r>
              <a:rPr lang="en-GB" dirty="0" err="1" smtClean="0"/>
              <a:t>iabetes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r>
              <a:rPr lang="en-GB" dirty="0" smtClean="0"/>
              <a:t>• </a:t>
            </a:r>
            <a:r>
              <a:rPr lang="en-GB" dirty="0"/>
              <a:t>T - TB </a:t>
            </a:r>
          </a:p>
          <a:p>
            <a:pPr marL="0" indent="0">
              <a:buNone/>
            </a:pPr>
            <a:r>
              <a:rPr lang="en-GB" dirty="0"/>
              <a:t>• J - </a:t>
            </a:r>
            <a:r>
              <a:rPr lang="en-GB" dirty="0" err="1"/>
              <a:t>aundice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53297" y="1825625"/>
            <a:ext cx="47618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sz="2600" dirty="0"/>
              <a:t>• Surgery - </a:t>
            </a:r>
            <a:r>
              <a:rPr lang="en-US" sz="2600" dirty="0" smtClean="0"/>
              <a:t>What/when/scars/pre </a:t>
            </a:r>
            <a:r>
              <a:rPr lang="en-US" sz="2600" dirty="0"/>
              <a:t>or post op complications </a:t>
            </a:r>
          </a:p>
          <a:p>
            <a:pPr marL="0" indent="0">
              <a:buNone/>
            </a:pPr>
            <a:r>
              <a:rPr lang="en-US" sz="2600" dirty="0"/>
              <a:t>• Screening or diagnostic tests - When &amp; outcome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195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Medication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79720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•Including doses &amp; timings </a:t>
            </a:r>
          </a:p>
          <a:p>
            <a:pPr marL="0" indent="0">
              <a:buNone/>
            </a:pPr>
            <a:r>
              <a:rPr lang="en-GB" dirty="0"/>
              <a:t>•Recreational </a:t>
            </a:r>
          </a:p>
          <a:p>
            <a:pPr marL="0" indent="0">
              <a:buNone/>
            </a:pPr>
            <a:r>
              <a:rPr lang="en-GB" dirty="0"/>
              <a:t>•Herbal </a:t>
            </a:r>
          </a:p>
          <a:p>
            <a:pPr marL="0" indent="0">
              <a:buNone/>
            </a:pPr>
            <a:r>
              <a:rPr lang="en-GB" dirty="0"/>
              <a:t>•Over the counter </a:t>
            </a:r>
          </a:p>
          <a:p>
            <a:endParaRPr lang="en-GB" dirty="0"/>
          </a:p>
        </p:txBody>
      </p:sp>
      <p:pic>
        <p:nvPicPr>
          <p:cNvPr id="4" name="Picture 3" descr="Medicine Pills spilling from a bottle " title="Spilt Medicine Bottle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349" y="1825625"/>
            <a:ext cx="2788962" cy="41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9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6689"/>
            <a:ext cx="10515600" cy="1325563"/>
          </a:xfrm>
        </p:spPr>
        <p:txBody>
          <a:bodyPr/>
          <a:lstStyle/>
          <a:p>
            <a:r>
              <a:rPr lang="en-GB" u="sng" dirty="0" smtClean="0"/>
              <a:t>Social History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86796" cy="4351338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•Living arrangements </a:t>
            </a:r>
          </a:p>
          <a:p>
            <a:pPr marL="0" indent="0">
              <a:buNone/>
            </a:pPr>
            <a:r>
              <a:rPr lang="en-GB" dirty="0"/>
              <a:t>•Social Services </a:t>
            </a:r>
          </a:p>
          <a:p>
            <a:pPr marL="0" indent="0">
              <a:buNone/>
            </a:pPr>
            <a:r>
              <a:rPr lang="en-GB" dirty="0"/>
              <a:t>•Employment </a:t>
            </a:r>
          </a:p>
          <a:p>
            <a:pPr marL="0" indent="0">
              <a:buNone/>
            </a:pPr>
            <a:r>
              <a:rPr lang="en-GB" dirty="0"/>
              <a:t>•Smoking (current &amp; previous) </a:t>
            </a:r>
          </a:p>
          <a:p>
            <a:pPr marL="0" indent="0">
              <a:buNone/>
            </a:pPr>
            <a:r>
              <a:rPr lang="en-US" dirty="0"/>
              <a:t>• Alcohol (current &amp; previous) </a:t>
            </a:r>
          </a:p>
          <a:p>
            <a:pPr marL="0" indent="0">
              <a:buNone/>
            </a:pPr>
            <a:r>
              <a:rPr lang="en-US" dirty="0" smtClean="0"/>
              <a:t>		Amount over ? Timescale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? </a:t>
            </a:r>
            <a:r>
              <a:rPr lang="en-US" dirty="0"/>
              <a:t>house or bar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Doing household duties " title="Famle Doing Dis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603" y="1069470"/>
            <a:ext cx="1555322" cy="2330436"/>
          </a:xfrm>
          <a:prstGeom prst="rect">
            <a:avLst/>
          </a:prstGeom>
        </p:spPr>
      </p:pic>
      <p:pic>
        <p:nvPicPr>
          <p:cNvPr id="5" name="Picture 4" descr="male smoking " title="Smoking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00" y="3196199"/>
            <a:ext cx="1992468" cy="1592235"/>
          </a:xfrm>
          <a:prstGeom prst="rect">
            <a:avLst/>
          </a:prstGeom>
        </p:spPr>
      </p:pic>
      <p:pic>
        <p:nvPicPr>
          <p:cNvPr id="6" name="Picture 5" descr="pouring wine inot a glass " title="Drinking alcohol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302" y="4605251"/>
            <a:ext cx="1514003" cy="21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9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Family History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US" dirty="0"/>
              <a:t>Have any family members suffered from a similar problem?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Are </a:t>
            </a:r>
            <a:r>
              <a:rPr lang="en-US" dirty="0"/>
              <a:t>there any illnesses or conditions that run in the family like cancer / genetic / cardiac / diabetes </a:t>
            </a:r>
            <a:r>
              <a:rPr lang="en-US" dirty="0" err="1"/>
              <a:t>etc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Have </a:t>
            </a:r>
            <a:r>
              <a:rPr lang="en-US" dirty="0"/>
              <a:t>any family members died before the age of 60? –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so how many?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297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Specific System Questioning 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u="sng" dirty="0" smtClean="0"/>
              <a:t>Cardiovascular </a:t>
            </a:r>
            <a:endParaRPr lang="en-GB" u="sng" dirty="0"/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Chest pain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Breathlessness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Exercise tolerance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Orthopnoea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 err="1"/>
              <a:t>Paroxsymal</a:t>
            </a:r>
            <a:r>
              <a:rPr lang="en-GB" dirty="0"/>
              <a:t> nocturnal dyspnoea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Palpitations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Ankle swelling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Claudication </a:t>
            </a:r>
          </a:p>
          <a:p>
            <a:endParaRPr lang="en-GB" dirty="0"/>
          </a:p>
        </p:txBody>
      </p:sp>
      <p:pic>
        <p:nvPicPr>
          <p:cNvPr id="4" name="Picture 3" descr="Heart and major blood vessels in upper torso " title="Cardiovascular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16" y="2056494"/>
            <a:ext cx="2863125" cy="38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7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Specific System Questioning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12476" cy="4351338"/>
          </a:xfrm>
        </p:spPr>
        <p:txBody>
          <a:bodyPr/>
          <a:lstStyle/>
          <a:p>
            <a:pPr marL="0" indent="0">
              <a:buNone/>
            </a:pPr>
            <a:r>
              <a:rPr lang="en-GB" u="sng" dirty="0" smtClean="0"/>
              <a:t>Respiratory </a:t>
            </a:r>
            <a:endParaRPr lang="en-GB" u="sng" dirty="0"/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Cough </a:t>
            </a:r>
            <a:endParaRPr lang="en-GB" dirty="0" smtClean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• </a:t>
            </a:r>
            <a:r>
              <a:rPr lang="en-GB" dirty="0"/>
              <a:t>Spit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Wheeze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Haemoptysis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Head Cold </a:t>
            </a:r>
          </a:p>
          <a:p>
            <a:endParaRPr lang="en-GB" dirty="0"/>
          </a:p>
        </p:txBody>
      </p:sp>
      <p:pic>
        <p:nvPicPr>
          <p:cNvPr id="4" name="Picture 3" descr="location of respiratory anatomy " title="Respiratory System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88" y="2020576"/>
            <a:ext cx="3304804" cy="396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5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Specific System Questioning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43007" cy="4351338"/>
          </a:xfrm>
        </p:spPr>
        <p:txBody>
          <a:bodyPr>
            <a:normAutofit fontScale="77500" lnSpcReduction="20000"/>
          </a:bodyPr>
          <a:lstStyle/>
          <a:p>
            <a:endParaRPr lang="en-GB" dirty="0"/>
          </a:p>
          <a:p>
            <a:pPr marL="0" indent="0">
              <a:buNone/>
            </a:pPr>
            <a:r>
              <a:rPr lang="en-GB" dirty="0"/>
              <a:t>Gastrointestinal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Swallowing difficulties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Acid reflux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Nausea/vomiting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 err="1"/>
              <a:t>Haematemsis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Loss of appetite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Weight loss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Abdominal pain </a:t>
            </a:r>
          </a:p>
          <a:p>
            <a:pPr marL="0" indent="0">
              <a:buNone/>
            </a:pPr>
            <a:r>
              <a:rPr lang="en-GB" dirty="0" smtClean="0"/>
              <a:t>	•</a:t>
            </a:r>
            <a:r>
              <a:rPr lang="en-GB" dirty="0"/>
              <a:t>Change in bowel habit </a:t>
            </a:r>
          </a:p>
          <a:p>
            <a:pPr marL="0" indent="0">
              <a:buNone/>
            </a:pPr>
            <a:r>
              <a:rPr lang="en-US" dirty="0" smtClean="0"/>
              <a:t>	•</a:t>
            </a:r>
            <a:r>
              <a:rPr lang="en-US" dirty="0"/>
              <a:t>Change in </a:t>
            </a:r>
            <a:r>
              <a:rPr lang="en-US" dirty="0" err="1"/>
              <a:t>colour</a:t>
            </a:r>
            <a:r>
              <a:rPr lang="en-US" dirty="0"/>
              <a:t>/consistency of stool/urine </a:t>
            </a:r>
          </a:p>
          <a:p>
            <a:pPr marL="0" indent="0">
              <a:buNone/>
            </a:pPr>
            <a:r>
              <a:rPr lang="en-GB" dirty="0" smtClean="0"/>
              <a:t>	•PR </a:t>
            </a:r>
            <a:r>
              <a:rPr lang="en-GB" dirty="0"/>
              <a:t>blood/pus/mucus </a:t>
            </a:r>
          </a:p>
          <a:p>
            <a:endParaRPr lang="en-GB" dirty="0"/>
          </a:p>
        </p:txBody>
      </p:sp>
      <p:pic>
        <p:nvPicPr>
          <p:cNvPr id="4" name="Picture 3" descr="GI Tract " title="GI Tract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531" y="2094627"/>
            <a:ext cx="2863125" cy="381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3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Specific System Questioning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u="sng" dirty="0" smtClean="0"/>
              <a:t>Genitourinary </a:t>
            </a:r>
            <a:endParaRPr lang="en-GB" u="sng" dirty="0"/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Dysuria/burning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Frequency/</a:t>
            </a:r>
            <a:r>
              <a:rPr lang="en-GB" dirty="0" err="1"/>
              <a:t>nocturia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US" dirty="0" smtClean="0"/>
              <a:t>	• </a:t>
            </a:r>
            <a:r>
              <a:rPr lang="en-US" dirty="0"/>
              <a:t>Change in </a:t>
            </a:r>
            <a:r>
              <a:rPr lang="en-US" dirty="0" err="1"/>
              <a:t>colour</a:t>
            </a:r>
            <a:r>
              <a:rPr lang="en-US" dirty="0"/>
              <a:t>/smell of urine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Hesitancy/poor stream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Intermittent flow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Dribbling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Urethral discharge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Incontinence </a:t>
            </a:r>
          </a:p>
          <a:p>
            <a:pPr marL="0" indent="0">
              <a:buNone/>
            </a:pPr>
            <a:r>
              <a:rPr lang="en-GB" dirty="0" smtClean="0"/>
              <a:t>	• </a:t>
            </a:r>
            <a:r>
              <a:rPr lang="en-GB" dirty="0"/>
              <a:t>Menstrual cycle/difficulties – remember pregnancy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Male urinary system " title="Urinary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596" y="2589203"/>
            <a:ext cx="3512087" cy="263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2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Recording the History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97829" cy="456686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Date </a:t>
            </a:r>
            <a:r>
              <a:rPr lang="en-US" dirty="0"/>
              <a:t>&amp; time </a:t>
            </a:r>
            <a:endParaRPr lang="en-US" dirty="0" smtClean="0"/>
          </a:p>
          <a:p>
            <a:r>
              <a:rPr lang="en-US" dirty="0" smtClean="0"/>
              <a:t>Patients </a:t>
            </a:r>
            <a:r>
              <a:rPr lang="en-US" dirty="0"/>
              <a:t>name </a:t>
            </a:r>
            <a:endParaRPr lang="en-US" dirty="0" smtClean="0"/>
          </a:p>
          <a:p>
            <a:r>
              <a:rPr lang="en-US" dirty="0" smtClean="0"/>
              <a:t>DOB </a:t>
            </a:r>
            <a:r>
              <a:rPr lang="en-US" dirty="0"/>
              <a:t>&amp; age </a:t>
            </a:r>
            <a:endParaRPr lang="en-US" dirty="0" smtClean="0"/>
          </a:p>
          <a:p>
            <a:r>
              <a:rPr lang="en-US" dirty="0" smtClean="0"/>
              <a:t>Type </a:t>
            </a:r>
            <a:r>
              <a:rPr lang="en-US" dirty="0"/>
              <a:t>of admission </a:t>
            </a:r>
            <a:endParaRPr lang="en-US" dirty="0" smtClean="0"/>
          </a:p>
          <a:p>
            <a:r>
              <a:rPr lang="en-US" dirty="0" smtClean="0"/>
              <a:t>Presenting </a:t>
            </a:r>
            <a:r>
              <a:rPr lang="en-US" dirty="0"/>
              <a:t>complaint </a:t>
            </a:r>
            <a:endParaRPr lang="en-US" dirty="0" smtClean="0"/>
          </a:p>
          <a:p>
            <a:r>
              <a:rPr lang="en-US" dirty="0" smtClean="0"/>
              <a:t>History </a:t>
            </a:r>
            <a:r>
              <a:rPr lang="en-US" dirty="0"/>
              <a:t>of presenting complaint – including functional enquiry of the system affected </a:t>
            </a:r>
            <a:endParaRPr lang="en-US" dirty="0" smtClean="0"/>
          </a:p>
          <a:p>
            <a:r>
              <a:rPr lang="en-US" dirty="0" smtClean="0"/>
              <a:t>Systemic </a:t>
            </a:r>
            <a:r>
              <a:rPr lang="en-US" dirty="0"/>
              <a:t>inquiry </a:t>
            </a:r>
            <a:endParaRPr lang="en-US" dirty="0" smtClean="0"/>
          </a:p>
          <a:p>
            <a:r>
              <a:rPr lang="en-US" dirty="0" smtClean="0"/>
              <a:t>Hypothesis </a:t>
            </a:r>
            <a:r>
              <a:rPr lang="en-US" dirty="0"/>
              <a:t>/differential diagnosis </a:t>
            </a:r>
            <a:endParaRPr lang="en-GB" dirty="0"/>
          </a:p>
        </p:txBody>
      </p:sp>
      <p:pic>
        <p:nvPicPr>
          <p:cNvPr id="3074" name="Picture 2" descr="Image result for paramedic eprf" title="Clinican completing paper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13" y="2826327"/>
            <a:ext cx="3408316" cy="255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04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Remember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US" sz="7200" dirty="0"/>
              <a:t>70% of diagnoses can be made based on history alone. </a:t>
            </a:r>
            <a:endParaRPr lang="en-GB" sz="7200" dirty="0"/>
          </a:p>
        </p:txBody>
      </p:sp>
      <p:pic>
        <p:nvPicPr>
          <p:cNvPr id="4" name="Picture 3" descr="exclamation mark " title="exclamation mark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61" y="365125"/>
            <a:ext cx="1033118" cy="2196289"/>
          </a:xfrm>
          <a:prstGeom prst="rect">
            <a:avLst/>
          </a:prstGeom>
        </p:spPr>
      </p:pic>
      <p:pic>
        <p:nvPicPr>
          <p:cNvPr id="5" name="Picture 4" descr="exclamation mark " title="exclamation mark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680" y="365125"/>
            <a:ext cx="1033119" cy="219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8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Sources of Information 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GB" dirty="0"/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/>
              <a:t>Bickley, L.S. (2007) </a:t>
            </a:r>
            <a:r>
              <a:rPr lang="en-US" i="1" dirty="0" err="1"/>
              <a:t>Bate’s</a:t>
            </a:r>
            <a:r>
              <a:rPr lang="en-US" i="1" dirty="0"/>
              <a:t> pocket guide to physical examination and history taking. </a:t>
            </a:r>
            <a:r>
              <a:rPr lang="en-US" dirty="0"/>
              <a:t>5th ed. Philadelphia: </a:t>
            </a:r>
            <a:r>
              <a:rPr lang="en-US" dirty="0" err="1"/>
              <a:t>Lipincott</a:t>
            </a:r>
            <a:r>
              <a:rPr lang="en-US" dirty="0"/>
              <a:t> Williams and Wilkins. </a:t>
            </a:r>
          </a:p>
          <a:p>
            <a:pPr marL="0" indent="0">
              <a:buNone/>
            </a:pPr>
            <a:r>
              <a:rPr lang="en-GB" dirty="0"/>
              <a:t>•Douglas, G., Nicol, F. &amp; Robertson, C. (eds.) (2005) </a:t>
            </a:r>
            <a:r>
              <a:rPr lang="en-GB" i="1" dirty="0"/>
              <a:t>MacLeod’s clinical examination. </a:t>
            </a:r>
            <a:r>
              <a:rPr lang="en-GB" dirty="0"/>
              <a:t>11th ed. Edinburgh: Elsevier </a:t>
            </a:r>
          </a:p>
          <a:p>
            <a:pPr marL="0" indent="0">
              <a:buNone/>
            </a:pPr>
            <a:r>
              <a:rPr lang="en-GB" dirty="0"/>
              <a:t>•</a:t>
            </a:r>
            <a:r>
              <a:rPr lang="en-GB" dirty="0" err="1"/>
              <a:t>Longmore</a:t>
            </a:r>
            <a:r>
              <a:rPr lang="en-GB" dirty="0"/>
              <a:t>, M., Wilkinson, I., </a:t>
            </a:r>
            <a:r>
              <a:rPr lang="en-GB" dirty="0" err="1"/>
              <a:t>Turmezei</a:t>
            </a:r>
            <a:r>
              <a:rPr lang="en-GB" dirty="0"/>
              <a:t>, T. &amp; Cheung, K. C. (2007) </a:t>
            </a:r>
            <a:r>
              <a:rPr lang="en-GB" i="1" dirty="0"/>
              <a:t>Oxford Handbook of Clinical Medicine, </a:t>
            </a:r>
            <a:r>
              <a:rPr lang="en-GB" dirty="0"/>
              <a:t>7th ed., Oxford University Press: Oxford </a:t>
            </a:r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US" dirty="0" err="1"/>
              <a:t>Porth</a:t>
            </a:r>
            <a:r>
              <a:rPr lang="en-US" dirty="0"/>
              <a:t>, C. A. &amp; </a:t>
            </a:r>
            <a:r>
              <a:rPr lang="en-US" dirty="0" err="1"/>
              <a:t>Matfin</a:t>
            </a:r>
            <a:r>
              <a:rPr lang="en-US" dirty="0"/>
              <a:t>, G. (2009) </a:t>
            </a:r>
            <a:r>
              <a:rPr lang="en-US" i="1" dirty="0"/>
              <a:t>Pathophysiology: Concepts of Altered Health States. </a:t>
            </a:r>
            <a:r>
              <a:rPr lang="en-US" dirty="0"/>
              <a:t>8th ed. Lippincott, Williams &amp; Wilkins: </a:t>
            </a:r>
            <a:r>
              <a:rPr lang="en-US" dirty="0" err="1"/>
              <a:t>Philidepphia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•Singer, M. &amp; Webb, A. (2004) </a:t>
            </a:r>
            <a:r>
              <a:rPr lang="en-US" i="1" dirty="0"/>
              <a:t>Oxford Handbook of Critical Care</a:t>
            </a:r>
            <a:r>
              <a:rPr lang="en-US" dirty="0"/>
              <a:t>. 2nd ed., Oxford University Press: Oxford. </a:t>
            </a:r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US" dirty="0" err="1"/>
              <a:t>Tortora</a:t>
            </a:r>
            <a:r>
              <a:rPr lang="en-US" dirty="0"/>
              <a:t>, G. &amp; </a:t>
            </a:r>
            <a:r>
              <a:rPr lang="en-US" dirty="0" err="1"/>
              <a:t>Derrickson</a:t>
            </a:r>
            <a:r>
              <a:rPr lang="en-US" dirty="0"/>
              <a:t>, B. (2006) </a:t>
            </a:r>
            <a:r>
              <a:rPr lang="en-US" i="1" dirty="0"/>
              <a:t>Principles of Anatomy and physiology. </a:t>
            </a:r>
            <a:r>
              <a:rPr lang="en-US" dirty="0"/>
              <a:t>11th ed. Wiley: New Jersey. </a:t>
            </a:r>
          </a:p>
          <a:p>
            <a:pPr marL="0" indent="0">
              <a:buNone/>
            </a:pPr>
            <a:r>
              <a:rPr lang="en-GB" dirty="0"/>
              <a:t>•</a:t>
            </a:r>
            <a:r>
              <a:rPr lang="en-GB" i="1" dirty="0"/>
              <a:t>http://www.direct.</a:t>
            </a:r>
            <a:r>
              <a:rPr lang="en-GB" b="1" i="1" dirty="0"/>
              <a:t>gov</a:t>
            </a:r>
            <a:r>
              <a:rPr lang="en-GB" i="1" dirty="0"/>
              <a:t>.uk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•http://www.heartstats.org </a:t>
            </a:r>
          </a:p>
          <a:p>
            <a:pPr marL="0" indent="0">
              <a:buNone/>
            </a:pPr>
            <a:r>
              <a:rPr lang="en-GB" dirty="0"/>
              <a:t>•http://www.isdscotland.org </a:t>
            </a:r>
          </a:p>
          <a:p>
            <a:pPr marL="0" indent="0">
              <a:buNone/>
            </a:pPr>
            <a:r>
              <a:rPr lang="en-GB" dirty="0"/>
              <a:t>•http://www.statistics.gov.uk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69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793</Words>
  <Application>Microsoft Office PowerPoint</Application>
  <PresentationFormat>Widescreen</PresentationFormat>
  <Paragraphs>168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Clinical History taking </vt:lpstr>
      <vt:lpstr>Objectives</vt:lpstr>
      <vt:lpstr>History Taking </vt:lpstr>
      <vt:lpstr>The Skilled Interviewer</vt:lpstr>
      <vt:lpstr>The Skilled Interviewer</vt:lpstr>
      <vt:lpstr>Avoid</vt:lpstr>
      <vt:lpstr>Sequence of History Taking </vt:lpstr>
      <vt:lpstr>Symptom Attributes</vt:lpstr>
      <vt:lpstr>Past Medical/Surgical History</vt:lpstr>
      <vt:lpstr>Medication</vt:lpstr>
      <vt:lpstr>Social History</vt:lpstr>
      <vt:lpstr>Family History</vt:lpstr>
      <vt:lpstr>Specific System Questioning </vt:lpstr>
      <vt:lpstr>Specific System Questioning </vt:lpstr>
      <vt:lpstr>Specific System Questioning </vt:lpstr>
      <vt:lpstr>Specific System Questioning </vt:lpstr>
      <vt:lpstr>Recording the History</vt:lpstr>
      <vt:lpstr>Remember </vt:lpstr>
      <vt:lpstr>Sources of Information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History taking</dc:title>
  <dc:creator>Cameron, Keith</dc:creator>
  <cp:lastModifiedBy>Cameron, Keith</cp:lastModifiedBy>
  <cp:revision>8</cp:revision>
  <dcterms:created xsi:type="dcterms:W3CDTF">2018-09-10T13:56:29Z</dcterms:created>
  <dcterms:modified xsi:type="dcterms:W3CDTF">2020-05-19T14:56:15Z</dcterms:modified>
</cp:coreProperties>
</file>