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4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81" d="100"/>
          <a:sy n="81" d="100"/>
        </p:scale>
        <p:origin x="114" y="6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84890-85D2-4D7B-8EF5-15A9C1DB8F42}" type="datetimeFigureOut">
              <a:rPr lang="en-US" dirty="0"/>
              <a:t>9/18/2018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5661D-6934-4B32-B92C-470368BF1EC6}" type="datetimeFigureOut">
              <a:rPr lang="en-US" dirty="0"/>
              <a:t>9/18/2018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C6F822A4-8DA6-4447-9B1F-C5DB58435268}" type="datetimeFigureOut">
              <a:rPr lang="en-US" dirty="0"/>
              <a:t>9/18/2018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 dirty="0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8D31E-DCDA-41A7-9C67-C4B11B94D21D}" type="datetimeFigureOut">
              <a:rPr lang="en-US" dirty="0"/>
              <a:t>9/18/2018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762C0-B258-48F1-ADE6-176B4174CCDD}" type="datetimeFigureOut">
              <a:rPr lang="en-US" dirty="0"/>
              <a:t>9/18/2018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919A6-33EB-49BD-A62F-1FA56B9F9712}" type="datetimeFigureOut">
              <a:rPr lang="en-US" dirty="0"/>
              <a:t>9/18/2018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E7D1B-D673-4CF6-8672-009D42ABD2A0}" type="datetimeFigureOut">
              <a:rPr lang="en-US" dirty="0"/>
              <a:t>9/18/2018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6AA21-1863-4931-97CB-99D0A168701B}" type="datetimeFigureOut">
              <a:rPr lang="en-US" dirty="0"/>
              <a:t>9/18/2018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2C379-9A7C-4C87-A116-CBE9F58B04C5}" type="datetimeFigureOut">
              <a:rPr lang="en-US" dirty="0"/>
              <a:t>9/18/2018</a:t>
            </a:fld>
            <a:endParaRPr lang="en-US" dirty="0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57CC2-0FC8-4686-B024-99790E0F5162}" type="datetimeFigureOut">
              <a:rPr lang="en-US" dirty="0"/>
              <a:t>9/18/2018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64DA5-CD3D-4590-A511-FCD3BC7A793E}" type="datetimeFigureOut">
              <a:rPr lang="en-US" dirty="0"/>
              <a:t>9/18/2018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8664C608-40B1-4030-A28D-5B74BC98ADCE}" type="datetimeFigureOut">
              <a:rPr lang="en-US" dirty="0"/>
              <a:t>9/18/2018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sz="8800" dirty="0" smtClean="0"/>
              <a:t>Consultation Models</a:t>
            </a:r>
            <a:endParaRPr lang="en-GB" sz="88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352153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Aim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4000" dirty="0" smtClean="0"/>
              <a:t>Why examine consultation models?</a:t>
            </a:r>
          </a:p>
          <a:p>
            <a:r>
              <a:rPr lang="en-GB" sz="4000" dirty="0" smtClean="0"/>
              <a:t>The consultation</a:t>
            </a:r>
          </a:p>
          <a:p>
            <a:r>
              <a:rPr lang="en-GB" sz="4000" dirty="0" smtClean="0"/>
              <a:t>Approaches to the consultation</a:t>
            </a:r>
          </a:p>
          <a:p>
            <a:r>
              <a:rPr lang="en-GB" sz="4000" dirty="0" smtClean="0"/>
              <a:t>The traditional medical model </a:t>
            </a:r>
          </a:p>
          <a:p>
            <a:r>
              <a:rPr lang="en-GB" sz="4000" dirty="0" smtClean="0"/>
              <a:t>Examples of consultation models</a:t>
            </a:r>
            <a:endParaRPr lang="en-GB" sz="4000" dirty="0"/>
          </a:p>
        </p:txBody>
      </p:sp>
    </p:spTree>
    <p:extLst>
      <p:ext uri="{BB962C8B-B14F-4D97-AF65-F5344CB8AC3E}">
        <p14:creationId xmlns:p14="http://schemas.microsoft.com/office/powerpoint/2010/main" val="22235920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Why examine consultation models?</a:t>
            </a:r>
            <a:br>
              <a:rPr lang="en-GB" dirty="0"/>
            </a:b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2800" dirty="0" smtClean="0"/>
              <a:t>Pivotal to everything we do as clinicians</a:t>
            </a:r>
          </a:p>
          <a:p>
            <a:r>
              <a:rPr lang="en-GB" sz="2800" dirty="0" smtClean="0"/>
              <a:t>A framework for how the clinician and the patient interacts </a:t>
            </a:r>
          </a:p>
          <a:p>
            <a:endParaRPr lang="en-GB" sz="2800" dirty="0"/>
          </a:p>
          <a:p>
            <a:r>
              <a:rPr lang="en-GB" sz="2800" dirty="0" smtClean="0"/>
              <a:t>If this is done well</a:t>
            </a:r>
            <a:endParaRPr lang="en-GB" sz="2800" dirty="0"/>
          </a:p>
          <a:p>
            <a:pPr lvl="1"/>
            <a:r>
              <a:rPr lang="en-GB" sz="2800" dirty="0"/>
              <a:t>L</a:t>
            </a:r>
            <a:r>
              <a:rPr lang="en-GB" sz="2800" dirty="0" smtClean="0"/>
              <a:t>eads to better patient understanding with patient involvement </a:t>
            </a:r>
          </a:p>
          <a:p>
            <a:pPr lvl="1"/>
            <a:r>
              <a:rPr lang="en-GB" sz="2800" dirty="0"/>
              <a:t>H</a:t>
            </a:r>
            <a:r>
              <a:rPr lang="en-GB" sz="2800" dirty="0" smtClean="0"/>
              <a:t>igher levels of concordance    </a:t>
            </a:r>
          </a:p>
          <a:p>
            <a:pPr lvl="1"/>
            <a:r>
              <a:rPr lang="en-GB" sz="2800" dirty="0" smtClean="0"/>
              <a:t>Reduced levels of complaints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994563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Aim of the consultation 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E</a:t>
            </a:r>
            <a:r>
              <a:rPr lang="en-GB" sz="2800" dirty="0" smtClean="0"/>
              <a:t>stablishment of a relationship, enabling effective communication</a:t>
            </a:r>
          </a:p>
          <a:p>
            <a:r>
              <a:rPr lang="en-GB" sz="2800" dirty="0" smtClean="0"/>
              <a:t>Discovering whether the patient has any health problems</a:t>
            </a:r>
          </a:p>
          <a:p>
            <a:pPr marL="457200" lvl="2">
              <a:spcBef>
                <a:spcPts val="1200"/>
              </a:spcBef>
              <a:spcAft>
                <a:spcPts val="0"/>
              </a:spcAft>
            </a:pPr>
            <a:r>
              <a:rPr lang="en-GB" sz="2800" dirty="0"/>
              <a:t>If possible – find out the cause</a:t>
            </a:r>
          </a:p>
          <a:p>
            <a:r>
              <a:rPr lang="en-GB" sz="2800" dirty="0" smtClean="0"/>
              <a:t>Assess the individuals emotion/attitude to the problem</a:t>
            </a:r>
          </a:p>
          <a:p>
            <a:r>
              <a:rPr lang="en-GB" sz="2800" dirty="0"/>
              <a:t>How might the problem be managed?</a:t>
            </a:r>
          </a:p>
          <a:p>
            <a:endParaRPr lang="en-GB" dirty="0" smtClean="0"/>
          </a:p>
          <a:p>
            <a:endParaRPr lang="en-GB" dirty="0" smtClean="0"/>
          </a:p>
          <a:p>
            <a:endParaRPr lang="en-GB" dirty="0" smtClean="0"/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691301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Barriers to Communication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2800" dirty="0" smtClean="0"/>
              <a:t>Time constraints </a:t>
            </a:r>
          </a:p>
          <a:p>
            <a:r>
              <a:rPr lang="en-GB" sz="2800" dirty="0" smtClean="0"/>
              <a:t>‘Sensitive’ Issues </a:t>
            </a:r>
          </a:p>
          <a:p>
            <a:r>
              <a:rPr lang="en-GB" sz="2800" dirty="0" smtClean="0"/>
              <a:t>Language differences</a:t>
            </a:r>
          </a:p>
          <a:p>
            <a:r>
              <a:rPr lang="en-GB" sz="2800" dirty="0" smtClean="0"/>
              <a:t>Prior negative experiences with healthcare</a:t>
            </a:r>
          </a:p>
          <a:p>
            <a:r>
              <a:rPr lang="en-GB" sz="2800" dirty="0" smtClean="0"/>
              <a:t>Hidden agenda from the patient (what's the ‘real’ reason)</a:t>
            </a:r>
          </a:p>
          <a:p>
            <a:endParaRPr lang="en-GB" sz="2800" dirty="0"/>
          </a:p>
          <a:p>
            <a:r>
              <a:rPr lang="en-GB" sz="2800" dirty="0" smtClean="0"/>
              <a:t>A Lack of Trust</a:t>
            </a:r>
          </a:p>
          <a:p>
            <a:endParaRPr lang="en-GB" dirty="0" smtClean="0"/>
          </a:p>
          <a:p>
            <a:endParaRPr lang="en-GB" dirty="0" smtClean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540652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Consultation elements 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2400" dirty="0" smtClean="0"/>
              <a:t>Establish rapport</a:t>
            </a:r>
          </a:p>
          <a:p>
            <a:r>
              <a:rPr lang="en-GB" sz="2400" dirty="0" smtClean="0"/>
              <a:t>Identify the reason for the consultation </a:t>
            </a:r>
          </a:p>
          <a:p>
            <a:r>
              <a:rPr lang="en-GB" sz="2400" dirty="0" smtClean="0"/>
              <a:t>Explore the patient’s ideas, concerns and expectations (ICE)</a:t>
            </a:r>
          </a:p>
          <a:p>
            <a:r>
              <a:rPr lang="en-GB" sz="2400" dirty="0" smtClean="0"/>
              <a:t>Focussed questioning with aim of obtaining specific information</a:t>
            </a:r>
          </a:p>
          <a:p>
            <a:r>
              <a:rPr lang="en-GB" sz="2400" dirty="0" smtClean="0"/>
              <a:t>Gathering information about social, familial environmental factors</a:t>
            </a:r>
          </a:p>
          <a:p>
            <a:endParaRPr lang="en-GB" sz="2400" dirty="0"/>
          </a:p>
          <a:p>
            <a:r>
              <a:rPr lang="en-GB" sz="2400" dirty="0" smtClean="0"/>
              <a:t>Developing a diagnosis, including differentials in order of likelihood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160318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Continued….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400" dirty="0" smtClean="0"/>
              <a:t>Focused physical assessment including testing</a:t>
            </a:r>
          </a:p>
          <a:p>
            <a:r>
              <a:rPr lang="en-GB" sz="2400" dirty="0" smtClean="0"/>
              <a:t>Interpret information/data found and re evaluate </a:t>
            </a:r>
          </a:p>
          <a:p>
            <a:endParaRPr lang="en-GB" sz="2400" dirty="0"/>
          </a:p>
          <a:p>
            <a:r>
              <a:rPr lang="en-GB" sz="2400" dirty="0" smtClean="0"/>
              <a:t>Reach a shared understanding of the problem with the patient </a:t>
            </a:r>
          </a:p>
          <a:p>
            <a:r>
              <a:rPr lang="en-GB" sz="2400" dirty="0" smtClean="0"/>
              <a:t>Consider/discuss any further investigations required</a:t>
            </a:r>
          </a:p>
          <a:p>
            <a:endParaRPr lang="en-GB" sz="2400" dirty="0" smtClean="0"/>
          </a:p>
          <a:p>
            <a:r>
              <a:rPr lang="en-GB" sz="2400" dirty="0" smtClean="0"/>
              <a:t>Decide on treatment option/s</a:t>
            </a:r>
          </a:p>
          <a:p>
            <a:r>
              <a:rPr lang="en-GB" sz="2400" dirty="0" smtClean="0"/>
              <a:t>Explain actions to the patient </a:t>
            </a:r>
          </a:p>
        </p:txBody>
      </p:sp>
    </p:spTree>
    <p:extLst>
      <p:ext uri="{BB962C8B-B14F-4D97-AF65-F5344CB8AC3E}">
        <p14:creationId xmlns:p14="http://schemas.microsoft.com/office/powerpoint/2010/main" val="27294739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Continued….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2400" dirty="0" smtClean="0"/>
              <a:t>Invite questions and giving straight forward answers</a:t>
            </a:r>
          </a:p>
          <a:p>
            <a:r>
              <a:rPr lang="en-GB" sz="2400" dirty="0" smtClean="0"/>
              <a:t>Summarise and terminate the consultation</a:t>
            </a:r>
          </a:p>
          <a:p>
            <a:r>
              <a:rPr lang="en-GB" sz="2400" dirty="0" smtClean="0"/>
              <a:t>Record findings and document the consultation</a:t>
            </a:r>
          </a:p>
          <a:p>
            <a:endParaRPr lang="en-GB" sz="2400" dirty="0"/>
          </a:p>
          <a:p>
            <a:pPr lvl="1"/>
            <a:r>
              <a:rPr lang="en-GB" sz="2400" dirty="0" smtClean="0"/>
              <a:t>(Coffey &amp; </a:t>
            </a:r>
            <a:r>
              <a:rPr lang="en-GB" sz="2400" dirty="0" err="1" smtClean="0"/>
              <a:t>Bowskill</a:t>
            </a:r>
            <a:r>
              <a:rPr lang="en-GB" sz="2400" dirty="0" smtClean="0"/>
              <a:t>, 2010)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121342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Medical Model 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 smtClean="0"/>
              <a:t>Presenting complaint</a:t>
            </a:r>
          </a:p>
          <a:p>
            <a:r>
              <a:rPr lang="en-GB" dirty="0" smtClean="0"/>
              <a:t>History of Presenting complaint			Does not include:-</a:t>
            </a:r>
          </a:p>
          <a:p>
            <a:r>
              <a:rPr lang="en-GB" dirty="0" smtClean="0"/>
              <a:t>PMH							- Patient feeling/expectations</a:t>
            </a:r>
          </a:p>
          <a:p>
            <a:r>
              <a:rPr lang="en-GB" dirty="0" smtClean="0"/>
              <a:t>Medications						- NO discussion about safety </a:t>
            </a:r>
          </a:p>
          <a:p>
            <a:r>
              <a:rPr lang="en-GB" dirty="0" smtClean="0"/>
              <a:t>Allergies						netting</a:t>
            </a:r>
          </a:p>
          <a:p>
            <a:r>
              <a:rPr lang="en-GB" dirty="0" smtClean="0"/>
              <a:t>Personal/ social history</a:t>
            </a:r>
          </a:p>
          <a:p>
            <a:r>
              <a:rPr lang="en-GB" dirty="0" smtClean="0"/>
              <a:t>Examination</a:t>
            </a:r>
          </a:p>
          <a:p>
            <a:r>
              <a:rPr lang="en-GB" dirty="0" smtClean="0"/>
              <a:t>Diagnosis</a:t>
            </a:r>
          </a:p>
          <a:p>
            <a:r>
              <a:rPr lang="en-GB" dirty="0" smtClean="0"/>
              <a:t>Investigation</a:t>
            </a:r>
          </a:p>
          <a:p>
            <a:r>
              <a:rPr lang="en-GB" dirty="0" smtClean="0"/>
              <a:t>Treatment</a:t>
            </a:r>
          </a:p>
        </p:txBody>
      </p:sp>
    </p:spTree>
    <p:extLst>
      <p:ext uri="{BB962C8B-B14F-4D97-AF65-F5344CB8AC3E}">
        <p14:creationId xmlns:p14="http://schemas.microsoft.com/office/powerpoint/2010/main" val="11706101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Roger Neighbour</a:t>
            </a:r>
            <a:br>
              <a:rPr lang="en-GB" dirty="0" smtClean="0"/>
            </a:br>
            <a:r>
              <a:rPr lang="en-GB" dirty="0" smtClean="0"/>
              <a:t>The inner </a:t>
            </a:r>
            <a:r>
              <a:rPr lang="en-GB" dirty="0" err="1" smtClean="0"/>
              <a:t>consulation</a:t>
            </a:r>
            <a:r>
              <a:rPr lang="en-GB" dirty="0" smtClean="0"/>
              <a:t> (1987)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Connecting</a:t>
            </a:r>
          </a:p>
          <a:p>
            <a:pPr lvl="1"/>
            <a:r>
              <a:rPr lang="en-GB" dirty="0" smtClean="0"/>
              <a:t>Building a rapport</a:t>
            </a:r>
          </a:p>
          <a:p>
            <a:pPr lvl="1"/>
            <a:r>
              <a:rPr lang="en-GB" dirty="0" smtClean="0"/>
              <a:t>Identifying patient views</a:t>
            </a:r>
          </a:p>
          <a:p>
            <a:pPr lvl="1"/>
            <a:endParaRPr lang="en-GB" dirty="0" smtClean="0"/>
          </a:p>
          <a:p>
            <a:r>
              <a:rPr lang="en-GB" dirty="0" smtClean="0"/>
              <a:t>Summarising </a:t>
            </a:r>
          </a:p>
          <a:p>
            <a:pPr lvl="1"/>
            <a:r>
              <a:rPr lang="en-GB" dirty="0" smtClean="0"/>
              <a:t>Explaining back to patient what they have told you </a:t>
            </a:r>
          </a:p>
          <a:p>
            <a:pPr lvl="1"/>
            <a:r>
              <a:rPr lang="en-GB" dirty="0" smtClean="0"/>
              <a:t>Allows for correction or clarification of ideas and ensures accurate understanding</a:t>
            </a:r>
          </a:p>
          <a:p>
            <a:pPr lvl="1"/>
            <a:endParaRPr lang="en-GB" dirty="0"/>
          </a:p>
          <a:p>
            <a:r>
              <a:rPr lang="en-GB" dirty="0" smtClean="0"/>
              <a:t>Handing Over </a:t>
            </a:r>
          </a:p>
          <a:p>
            <a:pPr lvl="1"/>
            <a:r>
              <a:rPr lang="en-GB" dirty="0" smtClean="0"/>
              <a:t>Agreeing on agendas of the participants </a:t>
            </a:r>
          </a:p>
          <a:p>
            <a:pPr lvl="1"/>
            <a:r>
              <a:rPr lang="en-GB" dirty="0" smtClean="0"/>
              <a:t>Giving ownership and responsibility of the management plan to the patient 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28961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Continued….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Safety Netting </a:t>
            </a:r>
          </a:p>
          <a:p>
            <a:pPr lvl="1"/>
            <a:r>
              <a:rPr lang="en-GB" dirty="0" smtClean="0"/>
              <a:t>Considering the “what if?”</a:t>
            </a:r>
          </a:p>
          <a:p>
            <a:pPr lvl="2"/>
            <a:r>
              <a:rPr lang="en-GB" dirty="0" smtClean="0"/>
              <a:t>Follow up</a:t>
            </a:r>
          </a:p>
          <a:p>
            <a:pPr lvl="2"/>
            <a:r>
              <a:rPr lang="en-GB" dirty="0" smtClean="0"/>
              <a:t>Advice</a:t>
            </a:r>
          </a:p>
          <a:p>
            <a:pPr lvl="2"/>
            <a:r>
              <a:rPr lang="en-GB" dirty="0" smtClean="0"/>
              <a:t>Referral </a:t>
            </a:r>
          </a:p>
          <a:p>
            <a:pPr lvl="1"/>
            <a:r>
              <a:rPr lang="en-GB" dirty="0" smtClean="0"/>
              <a:t>For the benefit of the clinician and the patient</a:t>
            </a:r>
          </a:p>
          <a:p>
            <a:r>
              <a:rPr lang="en-GB" dirty="0" smtClean="0"/>
              <a:t>Housekeeping </a:t>
            </a:r>
          </a:p>
          <a:p>
            <a:pPr lvl="1"/>
            <a:r>
              <a:rPr lang="en-GB" dirty="0" smtClean="0"/>
              <a:t>The clinician acknowledges the importance of ‘looking after self’</a:t>
            </a:r>
          </a:p>
          <a:p>
            <a:pPr lvl="2"/>
            <a:r>
              <a:rPr lang="en-GB" dirty="0" err="1" smtClean="0"/>
              <a:t>Eg</a:t>
            </a:r>
            <a:r>
              <a:rPr lang="en-GB" dirty="0" smtClean="0"/>
              <a:t> getting a coffee, keeping mobile </a:t>
            </a:r>
          </a:p>
          <a:p>
            <a:pPr lvl="2"/>
            <a:r>
              <a:rPr lang="en-GB" dirty="0" smtClean="0"/>
              <a:t>“Am I fit and ready for the next patient”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353480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Pro’s &amp; con’s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400" u="sng" dirty="0" smtClean="0"/>
              <a:t>Pro’s</a:t>
            </a:r>
            <a:r>
              <a:rPr lang="en-GB" sz="2400" dirty="0" smtClean="0"/>
              <a:t>						</a:t>
            </a:r>
            <a:r>
              <a:rPr lang="en-GB" sz="2400" u="sng" dirty="0" smtClean="0"/>
              <a:t>Con’s</a:t>
            </a:r>
          </a:p>
          <a:p>
            <a:r>
              <a:rPr lang="en-GB" sz="2400" dirty="0" smtClean="0"/>
              <a:t>Good for acute issues			Clinician Centred</a:t>
            </a:r>
          </a:p>
          <a:p>
            <a:r>
              <a:rPr lang="en-GB" sz="2400" dirty="0" smtClean="0"/>
              <a:t>Recognises the importance </a:t>
            </a:r>
          </a:p>
          <a:p>
            <a:pPr marL="0" indent="0">
              <a:buNone/>
            </a:pPr>
            <a:r>
              <a:rPr lang="en-GB" sz="2400" dirty="0"/>
              <a:t> </a:t>
            </a:r>
            <a:r>
              <a:rPr lang="en-GB" sz="2400" dirty="0" smtClean="0"/>
              <a:t>  of clinicians looking after </a:t>
            </a:r>
          </a:p>
          <a:p>
            <a:pPr marL="0" indent="0">
              <a:buNone/>
            </a:pPr>
            <a:r>
              <a:rPr lang="en-GB" sz="2400" dirty="0"/>
              <a:t> </a:t>
            </a:r>
            <a:r>
              <a:rPr lang="en-GB" sz="2400" dirty="0" smtClean="0"/>
              <a:t>  themselves</a:t>
            </a:r>
          </a:p>
          <a:p>
            <a:r>
              <a:rPr lang="en-GB" sz="2400" dirty="0" smtClean="0"/>
              <a:t>Empowers the patient 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30015664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 smtClean="0"/>
              <a:t>Helman</a:t>
            </a:r>
            <a:r>
              <a:rPr lang="en-GB" dirty="0" smtClean="0"/>
              <a:t> folk model (1981)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3200" dirty="0" smtClean="0"/>
              <a:t>Suggested that patients form their own theories / diagnoses based on their experiences, imagination and the opinions of their peer group.</a:t>
            </a:r>
          </a:p>
          <a:p>
            <a:r>
              <a:rPr lang="en-GB" sz="3200" dirty="0" smtClean="0"/>
              <a:t>They consult doctors/clinicians in order to obtain answers to specific questions….</a:t>
            </a:r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29268395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Continued….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GB" sz="2800" dirty="0" smtClean="0"/>
              <a:t>What has happened?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2800" dirty="0" smtClean="0"/>
              <a:t>Why has it happened?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2800" dirty="0" smtClean="0"/>
              <a:t>Why to me?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2800" dirty="0" smtClean="0"/>
              <a:t>Why now?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2800" dirty="0" smtClean="0"/>
              <a:t>What would happen if nothing was done?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2800" dirty="0" smtClean="0"/>
              <a:t>What should I do, or who should I speak to?</a:t>
            </a:r>
          </a:p>
          <a:p>
            <a:endParaRPr lang="en-GB" dirty="0" smtClean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589029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Pro’s &amp; Con’s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Pro’s 						Con’s</a:t>
            </a:r>
          </a:p>
          <a:p>
            <a:r>
              <a:rPr lang="en-GB" dirty="0" smtClean="0"/>
              <a:t>Very Patient Centred				Takes Time</a:t>
            </a:r>
          </a:p>
          <a:p>
            <a:r>
              <a:rPr lang="en-GB" dirty="0" smtClean="0"/>
              <a:t>Patient satisfaction				Hard to apply in certain situations</a:t>
            </a:r>
          </a:p>
          <a:p>
            <a:pPr marL="2271400" lvl="8" indent="0">
              <a:buNone/>
            </a:pPr>
            <a:r>
              <a:rPr lang="en-GB" dirty="0" smtClean="0"/>
              <a:t>				</a:t>
            </a:r>
            <a:r>
              <a:rPr lang="en-GB" dirty="0" err="1" smtClean="0"/>
              <a:t>eg</a:t>
            </a:r>
            <a:r>
              <a:rPr lang="en-GB" dirty="0" smtClean="0"/>
              <a:t> 	Severe mental health</a:t>
            </a:r>
          </a:p>
          <a:p>
            <a:pPr marL="2271400" lvl="8" indent="0">
              <a:buNone/>
            </a:pPr>
            <a:r>
              <a:rPr lang="en-GB" dirty="0"/>
              <a:t>	</a:t>
            </a:r>
            <a:r>
              <a:rPr lang="en-GB" dirty="0" smtClean="0"/>
              <a:t>				Substance abuse 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366961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Pendleton et al (1984 + 2003)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Define the reason for the patients attendance/call </a:t>
            </a:r>
          </a:p>
          <a:p>
            <a:pPr lvl="1"/>
            <a:r>
              <a:rPr lang="en-GB" dirty="0" smtClean="0"/>
              <a:t>Nature and history of the problem</a:t>
            </a:r>
          </a:p>
          <a:p>
            <a:pPr lvl="1"/>
            <a:r>
              <a:rPr lang="en-GB" dirty="0" smtClean="0"/>
              <a:t>Patient’s ideas, concerns and expectations</a:t>
            </a:r>
          </a:p>
          <a:p>
            <a:pPr lvl="1"/>
            <a:r>
              <a:rPr lang="en-GB" dirty="0" smtClean="0"/>
              <a:t>The effects and impacts of the problem</a:t>
            </a:r>
          </a:p>
          <a:p>
            <a:pPr lvl="1"/>
            <a:endParaRPr lang="en-GB" dirty="0"/>
          </a:p>
          <a:p>
            <a:r>
              <a:rPr lang="en-GB" dirty="0" smtClean="0"/>
              <a:t>Consider the problem</a:t>
            </a:r>
          </a:p>
          <a:p>
            <a:pPr lvl="1"/>
            <a:r>
              <a:rPr lang="en-GB" dirty="0" smtClean="0"/>
              <a:t>Is this a continuing problem?</a:t>
            </a:r>
          </a:p>
          <a:p>
            <a:pPr lvl="1"/>
            <a:r>
              <a:rPr lang="en-GB" dirty="0" smtClean="0"/>
              <a:t>Does the patient have at risk factors?</a:t>
            </a:r>
          </a:p>
          <a:p>
            <a:pPr lvl="1"/>
            <a:endParaRPr lang="en-GB" dirty="0"/>
          </a:p>
          <a:p>
            <a:r>
              <a:rPr lang="en-GB" dirty="0" smtClean="0"/>
              <a:t>With the patient opt for an appropriate action for each problem.</a:t>
            </a:r>
          </a:p>
          <a:p>
            <a:endParaRPr lang="en-GB" dirty="0"/>
          </a:p>
          <a:p>
            <a:endParaRPr lang="en-GB" dirty="0" smtClean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031388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Continued….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Achieve a shared understanding of the problem</a:t>
            </a:r>
          </a:p>
          <a:p>
            <a:endParaRPr lang="en-GB" dirty="0" smtClean="0"/>
          </a:p>
          <a:p>
            <a:r>
              <a:rPr lang="en-GB" dirty="0" smtClean="0"/>
              <a:t>Involve the patient with the management plan, encouraging them to accept appropriate responsibility</a:t>
            </a:r>
          </a:p>
          <a:p>
            <a:endParaRPr lang="en-GB" dirty="0" smtClean="0"/>
          </a:p>
          <a:p>
            <a:r>
              <a:rPr lang="en-GB" dirty="0" smtClean="0"/>
              <a:t>Use time and any resources appropriately and effectively </a:t>
            </a:r>
          </a:p>
          <a:p>
            <a:pPr lvl="1"/>
            <a:r>
              <a:rPr lang="en-GB" dirty="0" smtClean="0"/>
              <a:t>During the consultation period</a:t>
            </a:r>
          </a:p>
          <a:p>
            <a:pPr lvl="1"/>
            <a:r>
              <a:rPr lang="en-GB" dirty="0" smtClean="0"/>
              <a:t>In the long term with chronic conditions</a:t>
            </a:r>
          </a:p>
          <a:p>
            <a:pPr lvl="1"/>
            <a:endParaRPr lang="en-GB" dirty="0"/>
          </a:p>
          <a:p>
            <a:r>
              <a:rPr lang="en-GB" dirty="0" smtClean="0"/>
              <a:t>Establish and maintain a relationship with the patient, which helps to achieve other tasks</a:t>
            </a:r>
          </a:p>
          <a:p>
            <a:endParaRPr lang="en-GB" dirty="0"/>
          </a:p>
          <a:p>
            <a:endParaRPr lang="en-GB" dirty="0" smtClean="0"/>
          </a:p>
          <a:p>
            <a:endParaRPr lang="en-GB" dirty="0"/>
          </a:p>
          <a:p>
            <a:endParaRPr lang="en-GB" dirty="0" smtClean="0"/>
          </a:p>
          <a:p>
            <a:endParaRPr lang="en-GB" dirty="0"/>
          </a:p>
          <a:p>
            <a:endParaRPr lang="en-GB" dirty="0" smtClean="0"/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313157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Pro’s &amp; Con’s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Pro’s 					Con’s</a:t>
            </a:r>
          </a:p>
          <a:p>
            <a:r>
              <a:rPr lang="en-GB" dirty="0" smtClean="0"/>
              <a:t>Patient centred			Hard to achieve in the emergency setting </a:t>
            </a:r>
          </a:p>
          <a:p>
            <a:r>
              <a:rPr lang="en-GB" dirty="0" smtClean="0"/>
              <a:t>Ideas/concerns included</a:t>
            </a:r>
          </a:p>
          <a:p>
            <a:r>
              <a:rPr lang="en-GB" dirty="0" smtClean="0"/>
              <a:t>Encourage taking of </a:t>
            </a:r>
          </a:p>
          <a:p>
            <a:pPr marL="0" indent="0">
              <a:buNone/>
            </a:pPr>
            <a:r>
              <a:rPr lang="en-GB" dirty="0" smtClean="0"/>
              <a:t>   responsibility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102233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Calgary-Cambridge (1996+2002)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2800" u="sng" dirty="0" smtClean="0"/>
              <a:t>5 Tasks 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2800" dirty="0" smtClean="0"/>
              <a:t>Gathering information 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2800" dirty="0" smtClean="0"/>
              <a:t>Building the relationship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2800" dirty="0" smtClean="0"/>
              <a:t>Initiating the session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2800" dirty="0" smtClean="0"/>
              <a:t>Explaining and planning 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2800" dirty="0" smtClean="0"/>
              <a:t>Closing the session</a:t>
            </a:r>
          </a:p>
          <a:p>
            <a:endParaRPr lang="en-GB" dirty="0" smtClean="0"/>
          </a:p>
        </p:txBody>
      </p:sp>
    </p:spTree>
    <p:extLst>
      <p:ext uri="{BB962C8B-B14F-4D97-AF65-F5344CB8AC3E}">
        <p14:creationId xmlns:p14="http://schemas.microsoft.com/office/powerpoint/2010/main" val="31015824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Continued….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9848" y="1761565"/>
            <a:ext cx="10058400" cy="4410635"/>
          </a:xfrm>
        </p:spPr>
        <p:txBody>
          <a:bodyPr>
            <a:normAutofit fontScale="92500" lnSpcReduction="10000"/>
          </a:bodyPr>
          <a:lstStyle/>
          <a:p>
            <a:r>
              <a:rPr lang="en-GB" dirty="0" smtClean="0"/>
              <a:t>Initiating the session</a:t>
            </a:r>
          </a:p>
          <a:p>
            <a:pPr lvl="1"/>
            <a:r>
              <a:rPr lang="en-GB" dirty="0" smtClean="0"/>
              <a:t>Establishing initial rapport</a:t>
            </a:r>
          </a:p>
          <a:p>
            <a:pPr lvl="1"/>
            <a:r>
              <a:rPr lang="en-GB" dirty="0" smtClean="0"/>
              <a:t>Identifying the reasons for the consultation</a:t>
            </a:r>
            <a:endParaRPr lang="en-GB" dirty="0"/>
          </a:p>
          <a:p>
            <a:r>
              <a:rPr lang="en-GB" dirty="0" smtClean="0"/>
              <a:t>Gathering information</a:t>
            </a:r>
          </a:p>
          <a:p>
            <a:pPr lvl="1"/>
            <a:r>
              <a:rPr lang="en-GB" dirty="0" smtClean="0"/>
              <a:t>Exploring the problem</a:t>
            </a:r>
          </a:p>
          <a:p>
            <a:pPr lvl="1"/>
            <a:r>
              <a:rPr lang="en-GB" dirty="0" smtClean="0"/>
              <a:t>Understanding the patient’s perspective</a:t>
            </a:r>
            <a:endParaRPr lang="en-GB" dirty="0"/>
          </a:p>
          <a:p>
            <a:r>
              <a:rPr lang="en-GB" dirty="0" smtClean="0"/>
              <a:t>Building the relationship </a:t>
            </a:r>
          </a:p>
          <a:p>
            <a:pPr lvl="1"/>
            <a:r>
              <a:rPr lang="en-GB" dirty="0" smtClean="0"/>
              <a:t>Involving the patient throughout the stages of the consultation</a:t>
            </a:r>
            <a:endParaRPr lang="en-GB" dirty="0"/>
          </a:p>
          <a:p>
            <a:r>
              <a:rPr lang="en-GB" dirty="0" smtClean="0"/>
              <a:t>Explanation and planning </a:t>
            </a:r>
          </a:p>
          <a:p>
            <a:pPr lvl="1"/>
            <a:r>
              <a:rPr lang="en-GB" dirty="0" smtClean="0"/>
              <a:t>Providing appropriate amount and type of information </a:t>
            </a:r>
          </a:p>
          <a:p>
            <a:pPr lvl="1"/>
            <a:r>
              <a:rPr lang="en-GB" dirty="0" smtClean="0"/>
              <a:t>Aids accurate recall and ensures understanding </a:t>
            </a:r>
          </a:p>
          <a:p>
            <a:pPr lvl="1"/>
            <a:r>
              <a:rPr lang="en-GB" dirty="0" smtClean="0"/>
              <a:t>Achieve a shared understanding, incorporating the patient’s perspective </a:t>
            </a:r>
          </a:p>
          <a:p>
            <a:pPr lvl="1"/>
            <a:r>
              <a:rPr lang="en-GB" dirty="0" smtClean="0"/>
              <a:t>Planning -  Shared decision making and ownership/responsibility </a:t>
            </a:r>
            <a:endParaRPr lang="en-GB" dirty="0"/>
          </a:p>
          <a:p>
            <a:r>
              <a:rPr lang="en-GB" dirty="0" smtClean="0"/>
              <a:t>Closing the session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5279657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Recap 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Cornerstone of advanced practice </a:t>
            </a:r>
          </a:p>
          <a:p>
            <a:r>
              <a:rPr lang="en-GB" dirty="0" smtClean="0"/>
              <a:t>There are a multitude of models which can be used to shape the consultation</a:t>
            </a:r>
          </a:p>
          <a:p>
            <a:endParaRPr lang="en-GB" dirty="0" smtClean="0"/>
          </a:p>
          <a:p>
            <a:r>
              <a:rPr lang="en-GB" dirty="0" smtClean="0"/>
              <a:t>All have similar features </a:t>
            </a:r>
          </a:p>
          <a:p>
            <a:pPr lvl="1"/>
            <a:r>
              <a:rPr lang="en-GB" dirty="0"/>
              <a:t>Different models can be used in different situations </a:t>
            </a:r>
          </a:p>
          <a:p>
            <a:pPr lvl="1"/>
            <a:r>
              <a:rPr lang="en-GB" dirty="0" smtClean="0"/>
              <a:t>Try and read more about the various models </a:t>
            </a:r>
          </a:p>
          <a:p>
            <a:pPr lvl="1"/>
            <a:endParaRPr lang="en-GB" dirty="0"/>
          </a:p>
          <a:p>
            <a:endParaRPr lang="en-GB" dirty="0" smtClean="0"/>
          </a:p>
          <a:p>
            <a:r>
              <a:rPr lang="en-GB" dirty="0" smtClean="0"/>
              <a:t>The theory of being patient centred seems to improve </a:t>
            </a:r>
            <a:r>
              <a:rPr lang="en-GB" smtClean="0"/>
              <a:t>patient satisfaction.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5454649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TM03090434[[fn=Wood Type]]</Template>
  <TotalTime>75</TotalTime>
  <Words>712</Words>
  <Application>Microsoft Office PowerPoint</Application>
  <PresentationFormat>Widescreen</PresentationFormat>
  <Paragraphs>178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Rockwell</vt:lpstr>
      <vt:lpstr>Rockwell Condensed</vt:lpstr>
      <vt:lpstr>Wingdings</vt:lpstr>
      <vt:lpstr>Wood Type</vt:lpstr>
      <vt:lpstr>Consultation Models</vt:lpstr>
      <vt:lpstr>Aim</vt:lpstr>
      <vt:lpstr>Why examine consultation models? </vt:lpstr>
      <vt:lpstr>Aim of the consultation </vt:lpstr>
      <vt:lpstr>Barriers to Communication</vt:lpstr>
      <vt:lpstr>Consultation elements </vt:lpstr>
      <vt:lpstr>Continued….</vt:lpstr>
      <vt:lpstr>Continued….</vt:lpstr>
      <vt:lpstr>Medical Model </vt:lpstr>
      <vt:lpstr>Roger Neighbour The inner consulation (1987)</vt:lpstr>
      <vt:lpstr>Continued….</vt:lpstr>
      <vt:lpstr>Pro’s &amp; con’s</vt:lpstr>
      <vt:lpstr>Helman folk model (1981)</vt:lpstr>
      <vt:lpstr>Continued….</vt:lpstr>
      <vt:lpstr>Pro’s &amp; Con’s</vt:lpstr>
      <vt:lpstr>Pendleton et al (1984 + 2003)</vt:lpstr>
      <vt:lpstr>Continued….</vt:lpstr>
      <vt:lpstr>Pro’s &amp; Con’s</vt:lpstr>
      <vt:lpstr>Calgary-Cambridge (1996+2002)</vt:lpstr>
      <vt:lpstr>Continued….</vt:lpstr>
      <vt:lpstr>Recap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Consultation Models</dc:title>
  <dc:creator>keith cameron</dc:creator>
  <cp:lastModifiedBy>Cameron, Keith</cp:lastModifiedBy>
  <cp:revision>11</cp:revision>
  <dcterms:created xsi:type="dcterms:W3CDTF">2018-09-08T12:10:53Z</dcterms:created>
  <dcterms:modified xsi:type="dcterms:W3CDTF">2018-09-18T11:39:28Z</dcterms:modified>
</cp:coreProperties>
</file>