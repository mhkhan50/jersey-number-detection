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8"/>
  </p:notesMasterIdLst>
  <p:sldIdLst>
    <p:sldId id="256" r:id="rId2"/>
    <p:sldId id="385" r:id="rId3"/>
    <p:sldId id="386" r:id="rId4"/>
    <p:sldId id="384" r:id="rId5"/>
    <p:sldId id="416" r:id="rId6"/>
    <p:sldId id="370" r:id="rId7"/>
    <p:sldId id="257" r:id="rId8"/>
    <p:sldId id="388" r:id="rId9"/>
    <p:sldId id="389" r:id="rId10"/>
    <p:sldId id="390" r:id="rId11"/>
    <p:sldId id="393" r:id="rId12"/>
    <p:sldId id="417" r:id="rId13"/>
    <p:sldId id="395" r:id="rId14"/>
    <p:sldId id="396" r:id="rId15"/>
    <p:sldId id="397" r:id="rId16"/>
    <p:sldId id="409" r:id="rId17"/>
    <p:sldId id="399" r:id="rId18"/>
    <p:sldId id="400" r:id="rId19"/>
    <p:sldId id="408" r:id="rId20"/>
    <p:sldId id="402" r:id="rId21"/>
    <p:sldId id="403" r:id="rId22"/>
    <p:sldId id="404" r:id="rId23"/>
    <p:sldId id="405" r:id="rId24"/>
    <p:sldId id="406" r:id="rId25"/>
    <p:sldId id="407" r:id="rId26"/>
    <p:sldId id="307" r:id="rId27"/>
  </p:sldIdLst>
  <p:sldSz cx="9144000" cy="6858000" type="screen4x3"/>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6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169887-9F25-4114-A022-15A7E381F010}" type="doc">
      <dgm:prSet loTypeId="urn:microsoft.com/office/officeart/2005/8/layout/hProcess9" loCatId="process" qsTypeId="urn:microsoft.com/office/officeart/2005/8/quickstyle/simple1" qsCatId="simple" csTypeId="urn:microsoft.com/office/officeart/2005/8/colors/colorful5" csCatId="colorful" phldr="1"/>
      <dgm:spPr/>
      <dgm:t>
        <a:bodyPr/>
        <a:lstStyle/>
        <a:p>
          <a:endParaRPr lang="en-GB"/>
        </a:p>
      </dgm:t>
    </dgm:pt>
    <dgm:pt modelId="{F278476D-86F6-4BED-90E3-4C0C9ADB9E92}">
      <dgm:prSet/>
      <dgm:spPr/>
      <dgm:t>
        <a:bodyPr/>
        <a:lstStyle/>
        <a:p>
          <a:pPr rtl="0"/>
          <a:r>
            <a:rPr lang="en-GB" b="1" dirty="0" smtClean="0">
              <a:solidFill>
                <a:schemeClr val="tx1"/>
              </a:solidFill>
            </a:rPr>
            <a:t>Skim to get overall picture of what text is about. Be aware of themes/topics emerging</a:t>
          </a:r>
          <a:endParaRPr lang="en-GB" b="1" dirty="0">
            <a:solidFill>
              <a:schemeClr val="tx1"/>
            </a:solidFill>
          </a:endParaRPr>
        </a:p>
      </dgm:t>
    </dgm:pt>
    <dgm:pt modelId="{F9E41DF0-9D6C-4ECD-8E5F-C1E4D5B5CA86}" type="parTrans" cxnId="{3C538EDB-FE58-463E-92CD-A3B58711C6E2}">
      <dgm:prSet/>
      <dgm:spPr/>
      <dgm:t>
        <a:bodyPr/>
        <a:lstStyle/>
        <a:p>
          <a:endParaRPr lang="en-GB"/>
        </a:p>
      </dgm:t>
    </dgm:pt>
    <dgm:pt modelId="{965214D6-B563-44E5-871E-06DE4B090B35}" type="sibTrans" cxnId="{3C538EDB-FE58-463E-92CD-A3B58711C6E2}">
      <dgm:prSet/>
      <dgm:spPr/>
      <dgm:t>
        <a:bodyPr/>
        <a:lstStyle/>
        <a:p>
          <a:endParaRPr lang="en-GB"/>
        </a:p>
      </dgm:t>
    </dgm:pt>
    <dgm:pt modelId="{BEA54D99-3285-4ED8-A467-C040AF47E9F9}">
      <dgm:prSet/>
      <dgm:spPr/>
      <dgm:t>
        <a:bodyPr/>
        <a:lstStyle/>
        <a:p>
          <a:pPr rtl="0"/>
          <a:r>
            <a:rPr lang="en-GB" b="1" dirty="0" smtClean="0">
              <a:solidFill>
                <a:schemeClr val="tx1"/>
              </a:solidFill>
            </a:rPr>
            <a:t>Note down the themes/topics and allocate a ‘colour’ for each one</a:t>
          </a:r>
          <a:endParaRPr lang="en-GB" b="1" dirty="0">
            <a:solidFill>
              <a:schemeClr val="tx1"/>
            </a:solidFill>
          </a:endParaRPr>
        </a:p>
      </dgm:t>
    </dgm:pt>
    <dgm:pt modelId="{B155264C-3C72-4BF8-9EC5-99A251F47949}" type="parTrans" cxnId="{FC7E9373-DC79-4CAC-97AA-C8B91184DF34}">
      <dgm:prSet/>
      <dgm:spPr/>
      <dgm:t>
        <a:bodyPr/>
        <a:lstStyle/>
        <a:p>
          <a:endParaRPr lang="en-GB"/>
        </a:p>
      </dgm:t>
    </dgm:pt>
    <dgm:pt modelId="{3FAEE846-16AA-4449-8210-4CE48073DF16}" type="sibTrans" cxnId="{FC7E9373-DC79-4CAC-97AA-C8B91184DF34}">
      <dgm:prSet/>
      <dgm:spPr/>
      <dgm:t>
        <a:bodyPr/>
        <a:lstStyle/>
        <a:p>
          <a:endParaRPr lang="en-GB"/>
        </a:p>
      </dgm:t>
    </dgm:pt>
    <dgm:pt modelId="{5A81F3FE-79E0-440F-8BEF-CB3ED99FAAB7}">
      <dgm:prSet/>
      <dgm:spPr/>
      <dgm:t>
        <a:bodyPr/>
        <a:lstStyle/>
        <a:p>
          <a:pPr rtl="0"/>
          <a:r>
            <a:rPr lang="en-GB" b="1" dirty="0" smtClean="0">
              <a:solidFill>
                <a:schemeClr val="tx1"/>
              </a:solidFill>
            </a:rPr>
            <a:t>Take a highlighter the colour of your first theme and highlight any relevant information in journal articles/books in that colour</a:t>
          </a:r>
          <a:endParaRPr lang="en-GB" b="1" dirty="0">
            <a:solidFill>
              <a:schemeClr val="tx1"/>
            </a:solidFill>
          </a:endParaRPr>
        </a:p>
      </dgm:t>
    </dgm:pt>
    <dgm:pt modelId="{E2AE021E-E039-42E5-8342-BF4BD55A7A30}" type="parTrans" cxnId="{51FA950C-18B8-4D0E-AD9D-004E17613725}">
      <dgm:prSet/>
      <dgm:spPr/>
      <dgm:t>
        <a:bodyPr/>
        <a:lstStyle/>
        <a:p>
          <a:endParaRPr lang="en-GB"/>
        </a:p>
      </dgm:t>
    </dgm:pt>
    <dgm:pt modelId="{84C8C8D3-7F3B-46E9-8E61-FC8773826C15}" type="sibTrans" cxnId="{51FA950C-18B8-4D0E-AD9D-004E17613725}">
      <dgm:prSet/>
      <dgm:spPr/>
      <dgm:t>
        <a:bodyPr/>
        <a:lstStyle/>
        <a:p>
          <a:endParaRPr lang="en-GB"/>
        </a:p>
      </dgm:t>
    </dgm:pt>
    <dgm:pt modelId="{8BF4C490-A980-45EA-9EFD-59358DBB63F6}">
      <dgm:prSet/>
      <dgm:spPr/>
      <dgm:t>
        <a:bodyPr/>
        <a:lstStyle/>
        <a:p>
          <a:pPr rtl="0"/>
          <a:r>
            <a:rPr lang="en-GB" b="1" dirty="0" smtClean="0">
              <a:solidFill>
                <a:schemeClr val="tx1"/>
              </a:solidFill>
            </a:rPr>
            <a:t>Repeat for all themes/colours</a:t>
          </a:r>
          <a:endParaRPr lang="en-GB" b="1" dirty="0">
            <a:solidFill>
              <a:schemeClr val="tx1"/>
            </a:solidFill>
          </a:endParaRPr>
        </a:p>
      </dgm:t>
    </dgm:pt>
    <dgm:pt modelId="{6166DB47-7208-4403-861D-23B036CADC44}" type="parTrans" cxnId="{A2FAF34F-83B3-448C-8356-76D334F4FE34}">
      <dgm:prSet/>
      <dgm:spPr/>
      <dgm:t>
        <a:bodyPr/>
        <a:lstStyle/>
        <a:p>
          <a:endParaRPr lang="en-GB"/>
        </a:p>
      </dgm:t>
    </dgm:pt>
    <dgm:pt modelId="{F28FF971-2A10-4F20-AD07-99D7127B557E}" type="sibTrans" cxnId="{A2FAF34F-83B3-448C-8356-76D334F4FE34}">
      <dgm:prSet/>
      <dgm:spPr/>
      <dgm:t>
        <a:bodyPr/>
        <a:lstStyle/>
        <a:p>
          <a:endParaRPr lang="en-GB"/>
        </a:p>
      </dgm:t>
    </dgm:pt>
    <dgm:pt modelId="{B22CC64E-6CBA-4CA0-A17C-09E9FE39FE70}">
      <dgm:prSet/>
      <dgm:spPr/>
      <dgm:t>
        <a:bodyPr/>
        <a:lstStyle/>
        <a:p>
          <a:pPr rtl="0"/>
          <a:r>
            <a:rPr lang="en-GB" b="1" dirty="0" smtClean="0">
              <a:solidFill>
                <a:schemeClr val="tx1"/>
              </a:solidFill>
            </a:rPr>
            <a:t>Take each highlighted section in turn and compile notes into sections.  Look for gaps in knowledge.  Write up notes IN YOUR OWN WORDS</a:t>
          </a:r>
          <a:endParaRPr lang="en-GB" b="1" dirty="0">
            <a:solidFill>
              <a:schemeClr val="tx1"/>
            </a:solidFill>
          </a:endParaRPr>
        </a:p>
      </dgm:t>
    </dgm:pt>
    <dgm:pt modelId="{4C6ED5E1-E5EC-4656-B64E-068F226114A5}" type="parTrans" cxnId="{9FA8D59B-0E78-4DF0-AE59-5C9EC2300C92}">
      <dgm:prSet/>
      <dgm:spPr/>
      <dgm:t>
        <a:bodyPr/>
        <a:lstStyle/>
        <a:p>
          <a:endParaRPr lang="en-GB"/>
        </a:p>
      </dgm:t>
    </dgm:pt>
    <dgm:pt modelId="{ABE9317E-E5B0-45F5-8C66-43D723A4F831}" type="sibTrans" cxnId="{9FA8D59B-0E78-4DF0-AE59-5C9EC2300C92}">
      <dgm:prSet/>
      <dgm:spPr/>
      <dgm:t>
        <a:bodyPr/>
        <a:lstStyle/>
        <a:p>
          <a:endParaRPr lang="en-GB"/>
        </a:p>
      </dgm:t>
    </dgm:pt>
    <dgm:pt modelId="{FF79E878-B2D5-4D69-8C28-43555CE8C749}" type="pres">
      <dgm:prSet presAssocID="{7D169887-9F25-4114-A022-15A7E381F010}" presName="CompostProcess" presStyleCnt="0">
        <dgm:presLayoutVars>
          <dgm:dir/>
          <dgm:resizeHandles val="exact"/>
        </dgm:presLayoutVars>
      </dgm:prSet>
      <dgm:spPr/>
      <dgm:t>
        <a:bodyPr/>
        <a:lstStyle/>
        <a:p>
          <a:endParaRPr lang="en-GB"/>
        </a:p>
      </dgm:t>
    </dgm:pt>
    <dgm:pt modelId="{DB46871C-2864-4FAF-BBE9-9B17119E0B26}" type="pres">
      <dgm:prSet presAssocID="{7D169887-9F25-4114-A022-15A7E381F010}" presName="arrow" presStyleLbl="bgShp" presStyleIdx="0" presStyleCnt="1"/>
      <dgm:spPr/>
      <dgm:t>
        <a:bodyPr/>
        <a:lstStyle/>
        <a:p>
          <a:endParaRPr lang="en-GB"/>
        </a:p>
      </dgm:t>
    </dgm:pt>
    <dgm:pt modelId="{E9A36470-CA38-480C-A536-A1C0B1F9F9F1}" type="pres">
      <dgm:prSet presAssocID="{7D169887-9F25-4114-A022-15A7E381F010}" presName="linearProcess" presStyleCnt="0"/>
      <dgm:spPr/>
      <dgm:t>
        <a:bodyPr/>
        <a:lstStyle/>
        <a:p>
          <a:endParaRPr lang="en-GB"/>
        </a:p>
      </dgm:t>
    </dgm:pt>
    <dgm:pt modelId="{9E070017-6091-437B-9DBE-55484D8731E8}" type="pres">
      <dgm:prSet presAssocID="{F278476D-86F6-4BED-90E3-4C0C9ADB9E92}" presName="textNode" presStyleLbl="node1" presStyleIdx="0" presStyleCnt="5">
        <dgm:presLayoutVars>
          <dgm:bulletEnabled val="1"/>
        </dgm:presLayoutVars>
      </dgm:prSet>
      <dgm:spPr/>
      <dgm:t>
        <a:bodyPr/>
        <a:lstStyle/>
        <a:p>
          <a:endParaRPr lang="en-GB"/>
        </a:p>
      </dgm:t>
    </dgm:pt>
    <dgm:pt modelId="{7085E325-6C86-4089-9AB5-4FBA0D53C67F}" type="pres">
      <dgm:prSet presAssocID="{965214D6-B563-44E5-871E-06DE4B090B35}" presName="sibTrans" presStyleCnt="0"/>
      <dgm:spPr/>
      <dgm:t>
        <a:bodyPr/>
        <a:lstStyle/>
        <a:p>
          <a:endParaRPr lang="en-GB"/>
        </a:p>
      </dgm:t>
    </dgm:pt>
    <dgm:pt modelId="{B5302AD7-874D-4835-8422-F8D8E7D714CD}" type="pres">
      <dgm:prSet presAssocID="{BEA54D99-3285-4ED8-A467-C040AF47E9F9}" presName="textNode" presStyleLbl="node1" presStyleIdx="1" presStyleCnt="5">
        <dgm:presLayoutVars>
          <dgm:bulletEnabled val="1"/>
        </dgm:presLayoutVars>
      </dgm:prSet>
      <dgm:spPr/>
      <dgm:t>
        <a:bodyPr/>
        <a:lstStyle/>
        <a:p>
          <a:endParaRPr lang="en-GB"/>
        </a:p>
      </dgm:t>
    </dgm:pt>
    <dgm:pt modelId="{6B98C2B9-513C-4286-9F21-3DAF3C851A7D}" type="pres">
      <dgm:prSet presAssocID="{3FAEE846-16AA-4449-8210-4CE48073DF16}" presName="sibTrans" presStyleCnt="0"/>
      <dgm:spPr/>
      <dgm:t>
        <a:bodyPr/>
        <a:lstStyle/>
        <a:p>
          <a:endParaRPr lang="en-GB"/>
        </a:p>
      </dgm:t>
    </dgm:pt>
    <dgm:pt modelId="{8EA463F1-3EB8-480A-B360-64FA469A04EB}" type="pres">
      <dgm:prSet presAssocID="{5A81F3FE-79E0-440F-8BEF-CB3ED99FAAB7}" presName="textNode" presStyleLbl="node1" presStyleIdx="2" presStyleCnt="5" custLinFactNeighborY="311">
        <dgm:presLayoutVars>
          <dgm:bulletEnabled val="1"/>
        </dgm:presLayoutVars>
      </dgm:prSet>
      <dgm:spPr/>
      <dgm:t>
        <a:bodyPr/>
        <a:lstStyle/>
        <a:p>
          <a:endParaRPr lang="en-GB"/>
        </a:p>
      </dgm:t>
    </dgm:pt>
    <dgm:pt modelId="{1E06276F-C769-4A69-AA98-E603612112C0}" type="pres">
      <dgm:prSet presAssocID="{84C8C8D3-7F3B-46E9-8E61-FC8773826C15}" presName="sibTrans" presStyleCnt="0"/>
      <dgm:spPr/>
      <dgm:t>
        <a:bodyPr/>
        <a:lstStyle/>
        <a:p>
          <a:endParaRPr lang="en-GB"/>
        </a:p>
      </dgm:t>
    </dgm:pt>
    <dgm:pt modelId="{86E10624-F624-4269-A167-E77DD13AC8BD}" type="pres">
      <dgm:prSet presAssocID="{8BF4C490-A980-45EA-9EFD-59358DBB63F6}" presName="textNode" presStyleLbl="node1" presStyleIdx="3" presStyleCnt="5">
        <dgm:presLayoutVars>
          <dgm:bulletEnabled val="1"/>
        </dgm:presLayoutVars>
      </dgm:prSet>
      <dgm:spPr/>
      <dgm:t>
        <a:bodyPr/>
        <a:lstStyle/>
        <a:p>
          <a:endParaRPr lang="en-GB"/>
        </a:p>
      </dgm:t>
    </dgm:pt>
    <dgm:pt modelId="{BC652025-488D-4CB2-8F1D-3CF2C95BA579}" type="pres">
      <dgm:prSet presAssocID="{F28FF971-2A10-4F20-AD07-99D7127B557E}" presName="sibTrans" presStyleCnt="0"/>
      <dgm:spPr/>
      <dgm:t>
        <a:bodyPr/>
        <a:lstStyle/>
        <a:p>
          <a:endParaRPr lang="en-GB"/>
        </a:p>
      </dgm:t>
    </dgm:pt>
    <dgm:pt modelId="{95F863E3-012C-4765-8759-2D2654B8DB3F}" type="pres">
      <dgm:prSet presAssocID="{B22CC64E-6CBA-4CA0-A17C-09E9FE39FE70}" presName="textNode" presStyleLbl="node1" presStyleIdx="4" presStyleCnt="5">
        <dgm:presLayoutVars>
          <dgm:bulletEnabled val="1"/>
        </dgm:presLayoutVars>
      </dgm:prSet>
      <dgm:spPr/>
      <dgm:t>
        <a:bodyPr/>
        <a:lstStyle/>
        <a:p>
          <a:endParaRPr lang="en-GB"/>
        </a:p>
      </dgm:t>
    </dgm:pt>
  </dgm:ptLst>
  <dgm:cxnLst>
    <dgm:cxn modelId="{3C538EDB-FE58-463E-92CD-A3B58711C6E2}" srcId="{7D169887-9F25-4114-A022-15A7E381F010}" destId="{F278476D-86F6-4BED-90E3-4C0C9ADB9E92}" srcOrd="0" destOrd="0" parTransId="{F9E41DF0-9D6C-4ECD-8E5F-C1E4D5B5CA86}" sibTransId="{965214D6-B563-44E5-871E-06DE4B090B35}"/>
    <dgm:cxn modelId="{FC7E9373-DC79-4CAC-97AA-C8B91184DF34}" srcId="{7D169887-9F25-4114-A022-15A7E381F010}" destId="{BEA54D99-3285-4ED8-A467-C040AF47E9F9}" srcOrd="1" destOrd="0" parTransId="{B155264C-3C72-4BF8-9EC5-99A251F47949}" sibTransId="{3FAEE846-16AA-4449-8210-4CE48073DF16}"/>
    <dgm:cxn modelId="{1BADF9EE-1788-4BB6-9B70-5C9BB575AADB}" type="presOf" srcId="{F278476D-86F6-4BED-90E3-4C0C9ADB9E92}" destId="{9E070017-6091-437B-9DBE-55484D8731E8}" srcOrd="0" destOrd="0" presId="urn:microsoft.com/office/officeart/2005/8/layout/hProcess9"/>
    <dgm:cxn modelId="{A2FAF34F-83B3-448C-8356-76D334F4FE34}" srcId="{7D169887-9F25-4114-A022-15A7E381F010}" destId="{8BF4C490-A980-45EA-9EFD-59358DBB63F6}" srcOrd="3" destOrd="0" parTransId="{6166DB47-7208-4403-861D-23B036CADC44}" sibTransId="{F28FF971-2A10-4F20-AD07-99D7127B557E}"/>
    <dgm:cxn modelId="{9FA8D59B-0E78-4DF0-AE59-5C9EC2300C92}" srcId="{7D169887-9F25-4114-A022-15A7E381F010}" destId="{B22CC64E-6CBA-4CA0-A17C-09E9FE39FE70}" srcOrd="4" destOrd="0" parTransId="{4C6ED5E1-E5EC-4656-B64E-068F226114A5}" sibTransId="{ABE9317E-E5B0-45F5-8C66-43D723A4F831}"/>
    <dgm:cxn modelId="{51FA950C-18B8-4D0E-AD9D-004E17613725}" srcId="{7D169887-9F25-4114-A022-15A7E381F010}" destId="{5A81F3FE-79E0-440F-8BEF-CB3ED99FAAB7}" srcOrd="2" destOrd="0" parTransId="{E2AE021E-E039-42E5-8342-BF4BD55A7A30}" sibTransId="{84C8C8D3-7F3B-46E9-8E61-FC8773826C15}"/>
    <dgm:cxn modelId="{BA416AD4-53D9-4BD2-8F26-BE40C2CA2BEA}" type="presOf" srcId="{5A81F3FE-79E0-440F-8BEF-CB3ED99FAAB7}" destId="{8EA463F1-3EB8-480A-B360-64FA469A04EB}" srcOrd="0" destOrd="0" presId="urn:microsoft.com/office/officeart/2005/8/layout/hProcess9"/>
    <dgm:cxn modelId="{1CAE6B0E-D9C8-4AEA-BA36-0B931CFCFE09}" type="presOf" srcId="{7D169887-9F25-4114-A022-15A7E381F010}" destId="{FF79E878-B2D5-4D69-8C28-43555CE8C749}" srcOrd="0" destOrd="0" presId="urn:microsoft.com/office/officeart/2005/8/layout/hProcess9"/>
    <dgm:cxn modelId="{9CF69E62-A7A9-4FE6-8119-BB8A16BA509D}" type="presOf" srcId="{BEA54D99-3285-4ED8-A467-C040AF47E9F9}" destId="{B5302AD7-874D-4835-8422-F8D8E7D714CD}" srcOrd="0" destOrd="0" presId="urn:microsoft.com/office/officeart/2005/8/layout/hProcess9"/>
    <dgm:cxn modelId="{D848DF42-BC7E-4532-A094-BA2E62D2E5EA}" type="presOf" srcId="{8BF4C490-A980-45EA-9EFD-59358DBB63F6}" destId="{86E10624-F624-4269-A167-E77DD13AC8BD}" srcOrd="0" destOrd="0" presId="urn:microsoft.com/office/officeart/2005/8/layout/hProcess9"/>
    <dgm:cxn modelId="{2DFF7AB0-2CE7-42FF-A073-B8E619094A8D}" type="presOf" srcId="{B22CC64E-6CBA-4CA0-A17C-09E9FE39FE70}" destId="{95F863E3-012C-4765-8759-2D2654B8DB3F}" srcOrd="0" destOrd="0" presId="urn:microsoft.com/office/officeart/2005/8/layout/hProcess9"/>
    <dgm:cxn modelId="{6FECFE9C-4D02-4971-9609-3E78D204BB06}" type="presParOf" srcId="{FF79E878-B2D5-4D69-8C28-43555CE8C749}" destId="{DB46871C-2864-4FAF-BBE9-9B17119E0B26}" srcOrd="0" destOrd="0" presId="urn:microsoft.com/office/officeart/2005/8/layout/hProcess9"/>
    <dgm:cxn modelId="{5394E313-76FD-41C7-8EAB-80E8FADA2CB7}" type="presParOf" srcId="{FF79E878-B2D5-4D69-8C28-43555CE8C749}" destId="{E9A36470-CA38-480C-A536-A1C0B1F9F9F1}" srcOrd="1" destOrd="0" presId="urn:microsoft.com/office/officeart/2005/8/layout/hProcess9"/>
    <dgm:cxn modelId="{14BAB2F6-308B-4E2A-9729-EB1F7230795C}" type="presParOf" srcId="{E9A36470-CA38-480C-A536-A1C0B1F9F9F1}" destId="{9E070017-6091-437B-9DBE-55484D8731E8}" srcOrd="0" destOrd="0" presId="urn:microsoft.com/office/officeart/2005/8/layout/hProcess9"/>
    <dgm:cxn modelId="{D6D50F3F-8AAB-47E5-9704-1508692D6D27}" type="presParOf" srcId="{E9A36470-CA38-480C-A536-A1C0B1F9F9F1}" destId="{7085E325-6C86-4089-9AB5-4FBA0D53C67F}" srcOrd="1" destOrd="0" presId="urn:microsoft.com/office/officeart/2005/8/layout/hProcess9"/>
    <dgm:cxn modelId="{771041C5-92C1-4C88-A8FF-CC5904C934A4}" type="presParOf" srcId="{E9A36470-CA38-480C-A536-A1C0B1F9F9F1}" destId="{B5302AD7-874D-4835-8422-F8D8E7D714CD}" srcOrd="2" destOrd="0" presId="urn:microsoft.com/office/officeart/2005/8/layout/hProcess9"/>
    <dgm:cxn modelId="{232DF758-4F39-4058-99C4-C10731A91365}" type="presParOf" srcId="{E9A36470-CA38-480C-A536-A1C0B1F9F9F1}" destId="{6B98C2B9-513C-4286-9F21-3DAF3C851A7D}" srcOrd="3" destOrd="0" presId="urn:microsoft.com/office/officeart/2005/8/layout/hProcess9"/>
    <dgm:cxn modelId="{DE5AF7A4-739E-415B-A291-30DB489CEFD5}" type="presParOf" srcId="{E9A36470-CA38-480C-A536-A1C0B1F9F9F1}" destId="{8EA463F1-3EB8-480A-B360-64FA469A04EB}" srcOrd="4" destOrd="0" presId="urn:microsoft.com/office/officeart/2005/8/layout/hProcess9"/>
    <dgm:cxn modelId="{DFB860A5-602F-4340-BE5F-5D6DB6BF8E13}" type="presParOf" srcId="{E9A36470-CA38-480C-A536-A1C0B1F9F9F1}" destId="{1E06276F-C769-4A69-AA98-E603612112C0}" srcOrd="5" destOrd="0" presId="urn:microsoft.com/office/officeart/2005/8/layout/hProcess9"/>
    <dgm:cxn modelId="{8319EB1D-5000-4CB3-8A2C-ABD5C59429F9}" type="presParOf" srcId="{E9A36470-CA38-480C-A536-A1C0B1F9F9F1}" destId="{86E10624-F624-4269-A167-E77DD13AC8BD}" srcOrd="6" destOrd="0" presId="urn:microsoft.com/office/officeart/2005/8/layout/hProcess9"/>
    <dgm:cxn modelId="{64B1EA95-F165-4A17-A4FD-DD2A8ECB68BE}" type="presParOf" srcId="{E9A36470-CA38-480C-A536-A1C0B1F9F9F1}" destId="{BC652025-488D-4CB2-8F1D-3CF2C95BA579}" srcOrd="7" destOrd="0" presId="urn:microsoft.com/office/officeart/2005/8/layout/hProcess9"/>
    <dgm:cxn modelId="{2FDDEFE8-402D-4FDB-8A79-94629BCDB55B}" type="presParOf" srcId="{E9A36470-CA38-480C-A536-A1C0B1F9F9F1}" destId="{95F863E3-012C-4765-8759-2D2654B8DB3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5257E0-6023-4DA5-B8A2-B7F9D2C6F186}"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GB"/>
        </a:p>
      </dgm:t>
    </dgm:pt>
    <dgm:pt modelId="{8FA0E89F-C31C-435E-B427-43FB31F3913D}">
      <dgm:prSet/>
      <dgm:spPr/>
      <dgm:t>
        <a:bodyPr/>
        <a:lstStyle/>
        <a:p>
          <a:pPr rtl="0"/>
          <a:r>
            <a:rPr lang="en-GB" b="1" dirty="0" smtClean="0">
              <a:solidFill>
                <a:schemeClr val="tx1"/>
              </a:solidFill>
            </a:rPr>
            <a:t>1. Impersonal</a:t>
          </a:r>
          <a:endParaRPr lang="en-GB" dirty="0">
            <a:solidFill>
              <a:schemeClr val="tx1"/>
            </a:solidFill>
          </a:endParaRPr>
        </a:p>
      </dgm:t>
    </dgm:pt>
    <dgm:pt modelId="{9F4DFDE7-B6C3-4E47-A495-163EC60AC53F}" type="parTrans" cxnId="{2B7A6990-02A8-4F87-99AA-519AB948B835}">
      <dgm:prSet/>
      <dgm:spPr/>
      <dgm:t>
        <a:bodyPr/>
        <a:lstStyle/>
        <a:p>
          <a:endParaRPr lang="en-GB"/>
        </a:p>
      </dgm:t>
    </dgm:pt>
    <dgm:pt modelId="{9D7F5046-4930-4533-9E17-57FBB553B6F2}" type="sibTrans" cxnId="{2B7A6990-02A8-4F87-99AA-519AB948B835}">
      <dgm:prSet/>
      <dgm:spPr/>
      <dgm:t>
        <a:bodyPr/>
        <a:lstStyle/>
        <a:p>
          <a:endParaRPr lang="en-GB"/>
        </a:p>
      </dgm:t>
    </dgm:pt>
    <dgm:pt modelId="{DB71B18F-97E5-494F-942F-438180D417F6}">
      <dgm:prSet custT="1"/>
      <dgm:spPr/>
      <dgm:t>
        <a:bodyPr/>
        <a:lstStyle/>
        <a:p>
          <a:pPr rtl="0"/>
          <a:r>
            <a:rPr lang="en-GB" sz="2400" dirty="0" smtClean="0"/>
            <a:t>Avoid ‘I’, ‘we’ or ‘you’</a:t>
          </a:r>
          <a:endParaRPr lang="en-GB" sz="2400" dirty="0"/>
        </a:p>
      </dgm:t>
    </dgm:pt>
    <dgm:pt modelId="{25547DB5-B297-4B76-8019-E98518AC17E4}" type="parTrans" cxnId="{D388124F-0D6A-4CA6-BF3B-0E11614E310A}">
      <dgm:prSet/>
      <dgm:spPr/>
      <dgm:t>
        <a:bodyPr/>
        <a:lstStyle/>
        <a:p>
          <a:endParaRPr lang="en-GB"/>
        </a:p>
      </dgm:t>
    </dgm:pt>
    <dgm:pt modelId="{F5BC2011-A2D9-4CC6-8311-7B771103AC66}" type="sibTrans" cxnId="{D388124F-0D6A-4CA6-BF3B-0E11614E310A}">
      <dgm:prSet/>
      <dgm:spPr/>
      <dgm:t>
        <a:bodyPr/>
        <a:lstStyle/>
        <a:p>
          <a:endParaRPr lang="en-GB"/>
        </a:p>
      </dgm:t>
    </dgm:pt>
    <dgm:pt modelId="{E2603B98-E2BD-4214-9A1E-B62D9002D2A5}">
      <dgm:prSet/>
      <dgm:spPr/>
      <dgm:t>
        <a:bodyPr/>
        <a:lstStyle/>
        <a:p>
          <a:pPr rtl="0"/>
          <a:r>
            <a:rPr lang="en-GB" b="1" dirty="0" smtClean="0">
              <a:solidFill>
                <a:schemeClr val="tx1"/>
              </a:solidFill>
            </a:rPr>
            <a:t>2. Formal</a:t>
          </a:r>
          <a:endParaRPr lang="en-GB" dirty="0">
            <a:solidFill>
              <a:schemeClr val="tx1"/>
            </a:solidFill>
          </a:endParaRPr>
        </a:p>
      </dgm:t>
    </dgm:pt>
    <dgm:pt modelId="{3AB27EFC-6F7A-45FB-9D00-F39BFB833D78}" type="parTrans" cxnId="{A857CC8A-DCD2-491F-BF3F-B2F046EE5D0A}">
      <dgm:prSet/>
      <dgm:spPr/>
      <dgm:t>
        <a:bodyPr/>
        <a:lstStyle/>
        <a:p>
          <a:endParaRPr lang="en-GB"/>
        </a:p>
      </dgm:t>
    </dgm:pt>
    <dgm:pt modelId="{F1D769A8-A07B-4670-8AD9-71117783ECDD}" type="sibTrans" cxnId="{A857CC8A-DCD2-491F-BF3F-B2F046EE5D0A}">
      <dgm:prSet/>
      <dgm:spPr/>
      <dgm:t>
        <a:bodyPr/>
        <a:lstStyle/>
        <a:p>
          <a:endParaRPr lang="en-GB"/>
        </a:p>
      </dgm:t>
    </dgm:pt>
    <dgm:pt modelId="{E010FDA9-2EFB-4089-9CC7-94CD8B13B86A}">
      <dgm:prSet custT="1"/>
      <dgm:spPr/>
      <dgm:t>
        <a:bodyPr/>
        <a:lstStyle/>
        <a:p>
          <a:pPr rtl="0"/>
          <a:r>
            <a:rPr lang="en-GB" sz="2000" dirty="0" smtClean="0"/>
            <a:t>Avoid contractions, colloquialisms or slang</a:t>
          </a:r>
          <a:endParaRPr lang="en-GB" sz="2000" dirty="0"/>
        </a:p>
      </dgm:t>
    </dgm:pt>
    <dgm:pt modelId="{8FB97AE0-6318-4596-A83A-F9546A16FBE1}" type="parTrans" cxnId="{A1259ACA-0775-4370-9CEB-E6F73348F847}">
      <dgm:prSet/>
      <dgm:spPr/>
      <dgm:t>
        <a:bodyPr/>
        <a:lstStyle/>
        <a:p>
          <a:endParaRPr lang="en-GB"/>
        </a:p>
      </dgm:t>
    </dgm:pt>
    <dgm:pt modelId="{60119928-5924-44E2-A6E8-FBEC95303A6A}" type="sibTrans" cxnId="{A1259ACA-0775-4370-9CEB-E6F73348F847}">
      <dgm:prSet/>
      <dgm:spPr/>
      <dgm:t>
        <a:bodyPr/>
        <a:lstStyle/>
        <a:p>
          <a:endParaRPr lang="en-GB"/>
        </a:p>
      </dgm:t>
    </dgm:pt>
    <dgm:pt modelId="{24CF7766-C4B2-4E16-8AE9-B602DF76A3FE}">
      <dgm:prSet/>
      <dgm:spPr/>
      <dgm:t>
        <a:bodyPr/>
        <a:lstStyle/>
        <a:p>
          <a:pPr rtl="0"/>
          <a:r>
            <a:rPr lang="en-GB" b="1" dirty="0" smtClean="0">
              <a:solidFill>
                <a:schemeClr val="tx1"/>
              </a:solidFill>
            </a:rPr>
            <a:t>3. Clear and Concise</a:t>
          </a:r>
          <a:endParaRPr lang="en-GB" dirty="0">
            <a:solidFill>
              <a:schemeClr val="tx1"/>
            </a:solidFill>
          </a:endParaRPr>
        </a:p>
      </dgm:t>
    </dgm:pt>
    <dgm:pt modelId="{30A35087-FF3A-4E0D-9560-93BAEF885405}" type="parTrans" cxnId="{6ED659BD-B3C1-48B9-8545-119B4A5E4D73}">
      <dgm:prSet/>
      <dgm:spPr/>
      <dgm:t>
        <a:bodyPr/>
        <a:lstStyle/>
        <a:p>
          <a:endParaRPr lang="en-GB"/>
        </a:p>
      </dgm:t>
    </dgm:pt>
    <dgm:pt modelId="{9CFC4A96-E53D-4A5C-B147-89A0DF14876D}" type="sibTrans" cxnId="{6ED659BD-B3C1-48B9-8545-119B4A5E4D73}">
      <dgm:prSet/>
      <dgm:spPr/>
      <dgm:t>
        <a:bodyPr/>
        <a:lstStyle/>
        <a:p>
          <a:endParaRPr lang="en-GB"/>
        </a:p>
      </dgm:t>
    </dgm:pt>
    <dgm:pt modelId="{81998141-46D6-4415-9ECB-DD86060BABD8}">
      <dgm:prSet/>
      <dgm:spPr/>
      <dgm:t>
        <a:bodyPr/>
        <a:lstStyle/>
        <a:p>
          <a:pPr rtl="0"/>
          <a:r>
            <a:rPr lang="en-GB" b="1" dirty="0" smtClean="0">
              <a:solidFill>
                <a:schemeClr val="tx1"/>
              </a:solidFill>
            </a:rPr>
            <a:t>4. Provide Evidence </a:t>
          </a:r>
          <a:endParaRPr lang="en-GB" dirty="0">
            <a:solidFill>
              <a:schemeClr val="tx1"/>
            </a:solidFill>
          </a:endParaRPr>
        </a:p>
      </dgm:t>
    </dgm:pt>
    <dgm:pt modelId="{C4A8DC4C-7312-498B-AF83-07F8B2DBDC52}" type="parTrans" cxnId="{A43B08F6-2C8C-4BA8-A4D6-40E77B0FCA4E}">
      <dgm:prSet/>
      <dgm:spPr/>
      <dgm:t>
        <a:bodyPr/>
        <a:lstStyle/>
        <a:p>
          <a:endParaRPr lang="en-GB"/>
        </a:p>
      </dgm:t>
    </dgm:pt>
    <dgm:pt modelId="{7017EFB6-3AAC-4DE8-9D1E-6E5C1080FD4D}" type="sibTrans" cxnId="{A43B08F6-2C8C-4BA8-A4D6-40E77B0FCA4E}">
      <dgm:prSet/>
      <dgm:spPr/>
      <dgm:t>
        <a:bodyPr/>
        <a:lstStyle/>
        <a:p>
          <a:endParaRPr lang="en-GB"/>
        </a:p>
      </dgm:t>
    </dgm:pt>
    <dgm:pt modelId="{E5E04262-7F8C-4FA5-96D6-EB8BB0E29982}">
      <dgm:prSet custT="1"/>
      <dgm:spPr/>
      <dgm:t>
        <a:bodyPr/>
        <a:lstStyle/>
        <a:p>
          <a:pPr rtl="0"/>
          <a:r>
            <a:rPr lang="en-GB" sz="2400" dirty="0" smtClean="0"/>
            <a:t>back up statements, opinions, approaches taken</a:t>
          </a:r>
          <a:endParaRPr lang="en-GB" sz="2400" dirty="0"/>
        </a:p>
      </dgm:t>
    </dgm:pt>
    <dgm:pt modelId="{293D9107-7F3E-4E14-A69D-13F8D7AA3545}" type="parTrans" cxnId="{DE8151BE-F7AA-4E08-AD02-19F48778B9F3}">
      <dgm:prSet/>
      <dgm:spPr/>
      <dgm:t>
        <a:bodyPr/>
        <a:lstStyle/>
        <a:p>
          <a:endParaRPr lang="en-GB"/>
        </a:p>
      </dgm:t>
    </dgm:pt>
    <dgm:pt modelId="{5905104F-09A5-4AF2-85B0-1B25A8374BC5}" type="sibTrans" cxnId="{DE8151BE-F7AA-4E08-AD02-19F48778B9F3}">
      <dgm:prSet/>
      <dgm:spPr/>
      <dgm:t>
        <a:bodyPr/>
        <a:lstStyle/>
        <a:p>
          <a:endParaRPr lang="en-GB"/>
        </a:p>
      </dgm:t>
    </dgm:pt>
    <dgm:pt modelId="{FA58DB81-2394-41D6-8150-82BADF9A8B61}">
      <dgm:prSet custT="1"/>
      <dgm:spPr/>
      <dgm:t>
        <a:bodyPr/>
        <a:lstStyle/>
        <a:p>
          <a:pPr rtl="0"/>
          <a:r>
            <a:rPr lang="en-GB" sz="2400" dirty="0" smtClean="0"/>
            <a:t>Unless asked otherwise</a:t>
          </a:r>
          <a:endParaRPr lang="en-GB" sz="2400" dirty="0"/>
        </a:p>
      </dgm:t>
    </dgm:pt>
    <dgm:pt modelId="{53B631F0-9E85-4D28-997E-6757C68CC0AA}" type="parTrans" cxnId="{78AE504F-0558-4E1C-BB9F-FEB879ED67D5}">
      <dgm:prSet/>
      <dgm:spPr/>
      <dgm:t>
        <a:bodyPr/>
        <a:lstStyle/>
        <a:p>
          <a:endParaRPr lang="en-GB"/>
        </a:p>
      </dgm:t>
    </dgm:pt>
    <dgm:pt modelId="{03A35CD3-3EA8-498F-88EF-EFD373739EBE}" type="sibTrans" cxnId="{78AE504F-0558-4E1C-BB9F-FEB879ED67D5}">
      <dgm:prSet/>
      <dgm:spPr/>
      <dgm:t>
        <a:bodyPr/>
        <a:lstStyle/>
        <a:p>
          <a:endParaRPr lang="en-GB"/>
        </a:p>
      </dgm:t>
    </dgm:pt>
    <dgm:pt modelId="{A8C15FC5-7DF0-41AB-9297-15B5C94EFD81}">
      <dgm:prSet custT="1"/>
      <dgm:spPr/>
      <dgm:t>
        <a:bodyPr/>
        <a:lstStyle/>
        <a:p>
          <a:pPr rtl="0"/>
          <a:r>
            <a:rPr lang="en-GB" sz="2400" dirty="0" smtClean="0"/>
            <a:t>Avoid run on sentences</a:t>
          </a:r>
          <a:endParaRPr lang="en-GB" sz="2400" dirty="0"/>
        </a:p>
      </dgm:t>
    </dgm:pt>
    <dgm:pt modelId="{C52B5BF9-7532-4D9F-9F15-EAD84BAF3FA0}" type="parTrans" cxnId="{ECEDF697-F46B-49F3-A328-520377FDF889}">
      <dgm:prSet/>
      <dgm:spPr/>
      <dgm:t>
        <a:bodyPr/>
        <a:lstStyle/>
        <a:p>
          <a:endParaRPr lang="en-GB"/>
        </a:p>
      </dgm:t>
    </dgm:pt>
    <dgm:pt modelId="{A2C77D06-81DD-4529-9AA4-4FB54F7A18EA}" type="sibTrans" cxnId="{ECEDF697-F46B-49F3-A328-520377FDF889}">
      <dgm:prSet/>
      <dgm:spPr/>
      <dgm:t>
        <a:bodyPr/>
        <a:lstStyle/>
        <a:p>
          <a:endParaRPr lang="en-GB"/>
        </a:p>
      </dgm:t>
    </dgm:pt>
    <dgm:pt modelId="{A7B0796C-3C4F-4319-84C3-33CC612E0808}">
      <dgm:prSet custT="1"/>
      <dgm:spPr/>
      <dgm:t>
        <a:bodyPr/>
        <a:lstStyle/>
        <a:p>
          <a:pPr rtl="0"/>
          <a:r>
            <a:rPr lang="en-GB" sz="2400" dirty="0" smtClean="0"/>
            <a:t>State precisely what you mean</a:t>
          </a:r>
          <a:endParaRPr lang="en-GB" sz="2400" dirty="0"/>
        </a:p>
      </dgm:t>
    </dgm:pt>
    <dgm:pt modelId="{4AFB804F-78E7-4BDA-89AE-238CB2F01FDB}" type="parTrans" cxnId="{82510CEE-36FC-44A2-B393-BF8CBAD89506}">
      <dgm:prSet/>
      <dgm:spPr/>
      <dgm:t>
        <a:bodyPr/>
        <a:lstStyle/>
        <a:p>
          <a:endParaRPr lang="en-GB"/>
        </a:p>
      </dgm:t>
    </dgm:pt>
    <dgm:pt modelId="{1F9C74B4-7B96-4206-A455-F118BB28D95A}" type="sibTrans" cxnId="{82510CEE-36FC-44A2-B393-BF8CBAD89506}">
      <dgm:prSet/>
      <dgm:spPr/>
      <dgm:t>
        <a:bodyPr/>
        <a:lstStyle/>
        <a:p>
          <a:endParaRPr lang="en-GB"/>
        </a:p>
      </dgm:t>
    </dgm:pt>
    <dgm:pt modelId="{B471F5D3-E31E-4E73-B682-636DA36DB0D1}">
      <dgm:prSet custT="1"/>
      <dgm:spPr/>
      <dgm:t>
        <a:bodyPr/>
        <a:lstStyle/>
        <a:p>
          <a:pPr rtl="0"/>
          <a:r>
            <a:rPr lang="en-GB" sz="2000" dirty="0" smtClean="0"/>
            <a:t>Abbreviations written in full the first time you use them</a:t>
          </a:r>
          <a:endParaRPr lang="en-GB" sz="2000" dirty="0"/>
        </a:p>
      </dgm:t>
    </dgm:pt>
    <dgm:pt modelId="{34AA7B01-AFDC-402E-A2C5-A9BAFBB67533}" type="parTrans" cxnId="{AD2175F8-886A-41FC-8DE2-EA26D0E02430}">
      <dgm:prSet/>
      <dgm:spPr/>
      <dgm:t>
        <a:bodyPr/>
        <a:lstStyle/>
        <a:p>
          <a:endParaRPr lang="en-GB"/>
        </a:p>
      </dgm:t>
    </dgm:pt>
    <dgm:pt modelId="{98073B41-6080-4D77-9ED7-7414AA8F09F5}" type="sibTrans" cxnId="{AD2175F8-886A-41FC-8DE2-EA26D0E02430}">
      <dgm:prSet/>
      <dgm:spPr/>
      <dgm:t>
        <a:bodyPr/>
        <a:lstStyle/>
        <a:p>
          <a:endParaRPr lang="en-GB"/>
        </a:p>
      </dgm:t>
    </dgm:pt>
    <dgm:pt modelId="{C2A32BEB-8055-4F1E-8D80-64B45A9F42B4}">
      <dgm:prSet custT="1"/>
      <dgm:spPr/>
      <dgm:t>
        <a:bodyPr/>
        <a:lstStyle/>
        <a:p>
          <a:pPr rtl="0"/>
          <a:endParaRPr lang="en-GB" sz="1800" dirty="0"/>
        </a:p>
      </dgm:t>
    </dgm:pt>
    <dgm:pt modelId="{46C17FEB-CCAE-421D-BCBA-AE206B4FBD2C}" type="parTrans" cxnId="{E75CFCF2-71F3-4A6C-A0FD-CDCEFFE40092}">
      <dgm:prSet/>
      <dgm:spPr/>
      <dgm:t>
        <a:bodyPr/>
        <a:lstStyle/>
        <a:p>
          <a:endParaRPr lang="en-GB"/>
        </a:p>
      </dgm:t>
    </dgm:pt>
    <dgm:pt modelId="{FE30F813-DC78-4A61-A499-0E90FB6A93A0}" type="sibTrans" cxnId="{E75CFCF2-71F3-4A6C-A0FD-CDCEFFE40092}">
      <dgm:prSet/>
      <dgm:spPr/>
      <dgm:t>
        <a:bodyPr/>
        <a:lstStyle/>
        <a:p>
          <a:endParaRPr lang="en-GB"/>
        </a:p>
      </dgm:t>
    </dgm:pt>
    <dgm:pt modelId="{863EC3CC-B1D1-4BAB-818D-4FFB6873FA67}" type="pres">
      <dgm:prSet presAssocID="{ED5257E0-6023-4DA5-B8A2-B7F9D2C6F186}" presName="Name0" presStyleCnt="0">
        <dgm:presLayoutVars>
          <dgm:dir/>
          <dgm:animLvl val="lvl"/>
          <dgm:resizeHandles val="exact"/>
        </dgm:presLayoutVars>
      </dgm:prSet>
      <dgm:spPr/>
      <dgm:t>
        <a:bodyPr/>
        <a:lstStyle/>
        <a:p>
          <a:endParaRPr lang="en-GB"/>
        </a:p>
      </dgm:t>
    </dgm:pt>
    <dgm:pt modelId="{86887906-ABBE-495A-9C17-1EC065CFD2D5}" type="pres">
      <dgm:prSet presAssocID="{8FA0E89F-C31C-435E-B427-43FB31F3913D}" presName="linNode" presStyleCnt="0"/>
      <dgm:spPr/>
      <dgm:t>
        <a:bodyPr/>
        <a:lstStyle/>
        <a:p>
          <a:endParaRPr lang="en-GB"/>
        </a:p>
      </dgm:t>
    </dgm:pt>
    <dgm:pt modelId="{45C6D59A-EF72-4A57-88C7-6E1687C069D3}" type="pres">
      <dgm:prSet presAssocID="{8FA0E89F-C31C-435E-B427-43FB31F3913D}" presName="parentText" presStyleLbl="node1" presStyleIdx="0" presStyleCnt="4" custLinFactNeighborY="-208">
        <dgm:presLayoutVars>
          <dgm:chMax val="1"/>
          <dgm:bulletEnabled val="1"/>
        </dgm:presLayoutVars>
      </dgm:prSet>
      <dgm:spPr/>
      <dgm:t>
        <a:bodyPr/>
        <a:lstStyle/>
        <a:p>
          <a:endParaRPr lang="en-GB"/>
        </a:p>
      </dgm:t>
    </dgm:pt>
    <dgm:pt modelId="{66C532A5-57CA-4E7C-B526-06CF8A12DF59}" type="pres">
      <dgm:prSet presAssocID="{8FA0E89F-C31C-435E-B427-43FB31F3913D}" presName="descendantText" presStyleLbl="alignAccFollowNode1" presStyleIdx="0" presStyleCnt="4">
        <dgm:presLayoutVars>
          <dgm:bulletEnabled val="1"/>
        </dgm:presLayoutVars>
      </dgm:prSet>
      <dgm:spPr/>
      <dgm:t>
        <a:bodyPr/>
        <a:lstStyle/>
        <a:p>
          <a:endParaRPr lang="en-GB"/>
        </a:p>
      </dgm:t>
    </dgm:pt>
    <dgm:pt modelId="{C9C8BC1B-01F8-45B0-B703-25DB0589A105}" type="pres">
      <dgm:prSet presAssocID="{9D7F5046-4930-4533-9E17-57FBB553B6F2}" presName="sp" presStyleCnt="0"/>
      <dgm:spPr/>
      <dgm:t>
        <a:bodyPr/>
        <a:lstStyle/>
        <a:p>
          <a:endParaRPr lang="en-GB"/>
        </a:p>
      </dgm:t>
    </dgm:pt>
    <dgm:pt modelId="{CACCFD37-1E99-423C-9068-5F2BF070A1D3}" type="pres">
      <dgm:prSet presAssocID="{E2603B98-E2BD-4214-9A1E-B62D9002D2A5}" presName="linNode" presStyleCnt="0"/>
      <dgm:spPr/>
      <dgm:t>
        <a:bodyPr/>
        <a:lstStyle/>
        <a:p>
          <a:endParaRPr lang="en-GB"/>
        </a:p>
      </dgm:t>
    </dgm:pt>
    <dgm:pt modelId="{3E4745A6-A5C3-42BB-B3F6-E078F04A3B4D}" type="pres">
      <dgm:prSet presAssocID="{E2603B98-E2BD-4214-9A1E-B62D9002D2A5}" presName="parentText" presStyleLbl="node1" presStyleIdx="1" presStyleCnt="4">
        <dgm:presLayoutVars>
          <dgm:chMax val="1"/>
          <dgm:bulletEnabled val="1"/>
        </dgm:presLayoutVars>
      </dgm:prSet>
      <dgm:spPr/>
      <dgm:t>
        <a:bodyPr/>
        <a:lstStyle/>
        <a:p>
          <a:endParaRPr lang="en-GB"/>
        </a:p>
      </dgm:t>
    </dgm:pt>
    <dgm:pt modelId="{A84459D1-4C0E-42F9-B699-06620883A822}" type="pres">
      <dgm:prSet presAssocID="{E2603B98-E2BD-4214-9A1E-B62D9002D2A5}" presName="descendantText" presStyleLbl="alignAccFollowNode1" presStyleIdx="1" presStyleCnt="4" custScaleY="118308" custLinFactNeighborX="0" custLinFactNeighborY="-4802">
        <dgm:presLayoutVars>
          <dgm:bulletEnabled val="1"/>
        </dgm:presLayoutVars>
      </dgm:prSet>
      <dgm:spPr/>
      <dgm:t>
        <a:bodyPr/>
        <a:lstStyle/>
        <a:p>
          <a:endParaRPr lang="en-GB"/>
        </a:p>
      </dgm:t>
    </dgm:pt>
    <dgm:pt modelId="{31293866-B2DB-4152-8D53-005AB511A5FF}" type="pres">
      <dgm:prSet presAssocID="{F1D769A8-A07B-4670-8AD9-71117783ECDD}" presName="sp" presStyleCnt="0"/>
      <dgm:spPr/>
      <dgm:t>
        <a:bodyPr/>
        <a:lstStyle/>
        <a:p>
          <a:endParaRPr lang="en-GB"/>
        </a:p>
      </dgm:t>
    </dgm:pt>
    <dgm:pt modelId="{7F87F8B6-B81D-493A-80C0-484344B362E0}" type="pres">
      <dgm:prSet presAssocID="{24CF7766-C4B2-4E16-8AE9-B602DF76A3FE}" presName="linNode" presStyleCnt="0"/>
      <dgm:spPr/>
      <dgm:t>
        <a:bodyPr/>
        <a:lstStyle/>
        <a:p>
          <a:endParaRPr lang="en-GB"/>
        </a:p>
      </dgm:t>
    </dgm:pt>
    <dgm:pt modelId="{6F519D36-2E92-4DCB-BE0B-6D00AA67C639}" type="pres">
      <dgm:prSet presAssocID="{24CF7766-C4B2-4E16-8AE9-B602DF76A3FE}" presName="parentText" presStyleLbl="node1" presStyleIdx="2" presStyleCnt="4">
        <dgm:presLayoutVars>
          <dgm:chMax val="1"/>
          <dgm:bulletEnabled val="1"/>
        </dgm:presLayoutVars>
      </dgm:prSet>
      <dgm:spPr/>
      <dgm:t>
        <a:bodyPr/>
        <a:lstStyle/>
        <a:p>
          <a:endParaRPr lang="en-GB"/>
        </a:p>
      </dgm:t>
    </dgm:pt>
    <dgm:pt modelId="{E09E5A05-B596-4ADB-A0FB-90938A69676A}" type="pres">
      <dgm:prSet presAssocID="{24CF7766-C4B2-4E16-8AE9-B602DF76A3FE}" presName="descendantText" presStyleLbl="alignAccFollowNode1" presStyleIdx="2" presStyleCnt="4" custScaleY="125736" custLinFactNeighborX="3346" custLinFactNeighborY="10922">
        <dgm:presLayoutVars>
          <dgm:bulletEnabled val="1"/>
        </dgm:presLayoutVars>
      </dgm:prSet>
      <dgm:spPr/>
      <dgm:t>
        <a:bodyPr/>
        <a:lstStyle/>
        <a:p>
          <a:endParaRPr lang="en-GB"/>
        </a:p>
      </dgm:t>
    </dgm:pt>
    <dgm:pt modelId="{DFBA5A32-2B86-405F-A701-B288E96427B7}" type="pres">
      <dgm:prSet presAssocID="{9CFC4A96-E53D-4A5C-B147-89A0DF14876D}" presName="sp" presStyleCnt="0"/>
      <dgm:spPr/>
      <dgm:t>
        <a:bodyPr/>
        <a:lstStyle/>
        <a:p>
          <a:endParaRPr lang="en-GB"/>
        </a:p>
      </dgm:t>
    </dgm:pt>
    <dgm:pt modelId="{066105C7-C7A3-4C9C-8850-633253EEA057}" type="pres">
      <dgm:prSet presAssocID="{81998141-46D6-4415-9ECB-DD86060BABD8}" presName="linNode" presStyleCnt="0"/>
      <dgm:spPr/>
      <dgm:t>
        <a:bodyPr/>
        <a:lstStyle/>
        <a:p>
          <a:endParaRPr lang="en-GB"/>
        </a:p>
      </dgm:t>
    </dgm:pt>
    <dgm:pt modelId="{F8372B45-4763-4BFE-A0AD-522A3206FC08}" type="pres">
      <dgm:prSet presAssocID="{81998141-46D6-4415-9ECB-DD86060BABD8}" presName="parentText" presStyleLbl="node1" presStyleIdx="3" presStyleCnt="4">
        <dgm:presLayoutVars>
          <dgm:chMax val="1"/>
          <dgm:bulletEnabled val="1"/>
        </dgm:presLayoutVars>
      </dgm:prSet>
      <dgm:spPr/>
      <dgm:t>
        <a:bodyPr/>
        <a:lstStyle/>
        <a:p>
          <a:endParaRPr lang="en-GB"/>
        </a:p>
      </dgm:t>
    </dgm:pt>
    <dgm:pt modelId="{8AD2565E-C10E-4026-B00A-2F99486AB37C}" type="pres">
      <dgm:prSet presAssocID="{81998141-46D6-4415-9ECB-DD86060BABD8}" presName="descendantText" presStyleLbl="alignAccFollowNode1" presStyleIdx="3" presStyleCnt="4">
        <dgm:presLayoutVars>
          <dgm:bulletEnabled val="1"/>
        </dgm:presLayoutVars>
      </dgm:prSet>
      <dgm:spPr/>
      <dgm:t>
        <a:bodyPr/>
        <a:lstStyle/>
        <a:p>
          <a:endParaRPr lang="en-GB"/>
        </a:p>
      </dgm:t>
    </dgm:pt>
  </dgm:ptLst>
  <dgm:cxnLst>
    <dgm:cxn modelId="{A1259ACA-0775-4370-9CEB-E6F73348F847}" srcId="{E2603B98-E2BD-4214-9A1E-B62D9002D2A5}" destId="{E010FDA9-2EFB-4089-9CC7-94CD8B13B86A}" srcOrd="1" destOrd="0" parTransId="{8FB97AE0-6318-4596-A83A-F9546A16FBE1}" sibTransId="{60119928-5924-44E2-A6E8-FBEC95303A6A}"/>
    <dgm:cxn modelId="{3A44737B-E5BA-4F8A-8FF2-E33866FFECC4}" type="presOf" srcId="{24CF7766-C4B2-4E16-8AE9-B602DF76A3FE}" destId="{6F519D36-2E92-4DCB-BE0B-6D00AA67C639}" srcOrd="0" destOrd="0" presId="urn:microsoft.com/office/officeart/2005/8/layout/vList5"/>
    <dgm:cxn modelId="{E81C877C-472A-42DC-A1FF-2F7D5D2102A1}" type="presOf" srcId="{C2A32BEB-8055-4F1E-8D80-64B45A9F42B4}" destId="{A84459D1-4C0E-42F9-B699-06620883A822}" srcOrd="0" destOrd="0" presId="urn:microsoft.com/office/officeart/2005/8/layout/vList5"/>
    <dgm:cxn modelId="{0441037E-DA79-4D80-A82B-1DF9CEA5CC70}" type="presOf" srcId="{E5E04262-7F8C-4FA5-96D6-EB8BB0E29982}" destId="{8AD2565E-C10E-4026-B00A-2F99486AB37C}" srcOrd="0" destOrd="0" presId="urn:microsoft.com/office/officeart/2005/8/layout/vList5"/>
    <dgm:cxn modelId="{33230A4F-9DDD-4871-8832-51C676E84A3B}" type="presOf" srcId="{8FA0E89F-C31C-435E-B427-43FB31F3913D}" destId="{45C6D59A-EF72-4A57-88C7-6E1687C069D3}" srcOrd="0" destOrd="0" presId="urn:microsoft.com/office/officeart/2005/8/layout/vList5"/>
    <dgm:cxn modelId="{5B35D834-5DD3-4BF3-A737-29CB8F3791CB}" type="presOf" srcId="{FA58DB81-2394-41D6-8150-82BADF9A8B61}" destId="{66C532A5-57CA-4E7C-B526-06CF8A12DF59}" srcOrd="0" destOrd="1" presId="urn:microsoft.com/office/officeart/2005/8/layout/vList5"/>
    <dgm:cxn modelId="{ECEDF697-F46B-49F3-A328-520377FDF889}" srcId="{24CF7766-C4B2-4E16-8AE9-B602DF76A3FE}" destId="{A8C15FC5-7DF0-41AB-9297-15B5C94EFD81}" srcOrd="0" destOrd="0" parTransId="{C52B5BF9-7532-4D9F-9F15-EAD84BAF3FA0}" sibTransId="{A2C77D06-81DD-4529-9AA4-4FB54F7A18EA}"/>
    <dgm:cxn modelId="{AD2175F8-886A-41FC-8DE2-EA26D0E02430}" srcId="{E2603B98-E2BD-4214-9A1E-B62D9002D2A5}" destId="{B471F5D3-E31E-4E73-B682-636DA36DB0D1}" srcOrd="2" destOrd="0" parTransId="{34AA7B01-AFDC-402E-A2C5-A9BAFBB67533}" sibTransId="{98073B41-6080-4D77-9ED7-7414AA8F09F5}"/>
    <dgm:cxn modelId="{82510CEE-36FC-44A2-B393-BF8CBAD89506}" srcId="{24CF7766-C4B2-4E16-8AE9-B602DF76A3FE}" destId="{A7B0796C-3C4F-4319-84C3-33CC612E0808}" srcOrd="1" destOrd="0" parTransId="{4AFB804F-78E7-4BDA-89AE-238CB2F01FDB}" sibTransId="{1F9C74B4-7B96-4206-A455-F118BB28D95A}"/>
    <dgm:cxn modelId="{A43B08F6-2C8C-4BA8-A4D6-40E77B0FCA4E}" srcId="{ED5257E0-6023-4DA5-B8A2-B7F9D2C6F186}" destId="{81998141-46D6-4415-9ECB-DD86060BABD8}" srcOrd="3" destOrd="0" parTransId="{C4A8DC4C-7312-498B-AF83-07F8B2DBDC52}" sibTransId="{7017EFB6-3AAC-4DE8-9D1E-6E5C1080FD4D}"/>
    <dgm:cxn modelId="{DE8151BE-F7AA-4E08-AD02-19F48778B9F3}" srcId="{81998141-46D6-4415-9ECB-DD86060BABD8}" destId="{E5E04262-7F8C-4FA5-96D6-EB8BB0E29982}" srcOrd="0" destOrd="0" parTransId="{293D9107-7F3E-4E14-A69D-13F8D7AA3545}" sibTransId="{5905104F-09A5-4AF2-85B0-1B25A8374BC5}"/>
    <dgm:cxn modelId="{D388124F-0D6A-4CA6-BF3B-0E11614E310A}" srcId="{8FA0E89F-C31C-435E-B427-43FB31F3913D}" destId="{DB71B18F-97E5-494F-942F-438180D417F6}" srcOrd="0" destOrd="0" parTransId="{25547DB5-B297-4B76-8019-E98518AC17E4}" sibTransId="{F5BC2011-A2D9-4CC6-8311-7B771103AC66}"/>
    <dgm:cxn modelId="{03A397D0-54CB-4057-8152-2F94B6814613}" type="presOf" srcId="{E2603B98-E2BD-4214-9A1E-B62D9002D2A5}" destId="{3E4745A6-A5C3-42BB-B3F6-E078F04A3B4D}" srcOrd="0" destOrd="0" presId="urn:microsoft.com/office/officeart/2005/8/layout/vList5"/>
    <dgm:cxn modelId="{E75CFCF2-71F3-4A6C-A0FD-CDCEFFE40092}" srcId="{E2603B98-E2BD-4214-9A1E-B62D9002D2A5}" destId="{C2A32BEB-8055-4F1E-8D80-64B45A9F42B4}" srcOrd="0" destOrd="0" parTransId="{46C17FEB-CCAE-421D-BCBA-AE206B4FBD2C}" sibTransId="{FE30F813-DC78-4A61-A499-0E90FB6A93A0}"/>
    <dgm:cxn modelId="{777D0D72-81E7-420A-90D5-8C033A996345}" type="presOf" srcId="{ED5257E0-6023-4DA5-B8A2-B7F9D2C6F186}" destId="{863EC3CC-B1D1-4BAB-818D-4FFB6873FA67}" srcOrd="0" destOrd="0" presId="urn:microsoft.com/office/officeart/2005/8/layout/vList5"/>
    <dgm:cxn modelId="{A857CC8A-DCD2-491F-BF3F-B2F046EE5D0A}" srcId="{ED5257E0-6023-4DA5-B8A2-B7F9D2C6F186}" destId="{E2603B98-E2BD-4214-9A1E-B62D9002D2A5}" srcOrd="1" destOrd="0" parTransId="{3AB27EFC-6F7A-45FB-9D00-F39BFB833D78}" sibTransId="{F1D769A8-A07B-4670-8AD9-71117783ECDD}"/>
    <dgm:cxn modelId="{78D86C26-5598-4B82-9BBB-F4C0F72646D1}" type="presOf" srcId="{B471F5D3-E31E-4E73-B682-636DA36DB0D1}" destId="{A84459D1-4C0E-42F9-B699-06620883A822}" srcOrd="0" destOrd="2" presId="urn:microsoft.com/office/officeart/2005/8/layout/vList5"/>
    <dgm:cxn modelId="{ADACE412-0773-4FBA-99C1-C5F908D56FC2}" type="presOf" srcId="{DB71B18F-97E5-494F-942F-438180D417F6}" destId="{66C532A5-57CA-4E7C-B526-06CF8A12DF59}" srcOrd="0" destOrd="0" presId="urn:microsoft.com/office/officeart/2005/8/layout/vList5"/>
    <dgm:cxn modelId="{6ED659BD-B3C1-48B9-8545-119B4A5E4D73}" srcId="{ED5257E0-6023-4DA5-B8A2-B7F9D2C6F186}" destId="{24CF7766-C4B2-4E16-8AE9-B602DF76A3FE}" srcOrd="2" destOrd="0" parTransId="{30A35087-FF3A-4E0D-9560-93BAEF885405}" sibTransId="{9CFC4A96-E53D-4A5C-B147-89A0DF14876D}"/>
    <dgm:cxn modelId="{21CD8482-E397-47F4-AC65-201476A879A8}" type="presOf" srcId="{81998141-46D6-4415-9ECB-DD86060BABD8}" destId="{F8372B45-4763-4BFE-A0AD-522A3206FC08}" srcOrd="0" destOrd="0" presId="urn:microsoft.com/office/officeart/2005/8/layout/vList5"/>
    <dgm:cxn modelId="{2B7A6990-02A8-4F87-99AA-519AB948B835}" srcId="{ED5257E0-6023-4DA5-B8A2-B7F9D2C6F186}" destId="{8FA0E89F-C31C-435E-B427-43FB31F3913D}" srcOrd="0" destOrd="0" parTransId="{9F4DFDE7-B6C3-4E47-A495-163EC60AC53F}" sibTransId="{9D7F5046-4930-4533-9E17-57FBB553B6F2}"/>
    <dgm:cxn modelId="{85959649-63BF-4A49-A796-4EA61BCB2E31}" type="presOf" srcId="{A8C15FC5-7DF0-41AB-9297-15B5C94EFD81}" destId="{E09E5A05-B596-4ADB-A0FB-90938A69676A}" srcOrd="0" destOrd="0" presId="urn:microsoft.com/office/officeart/2005/8/layout/vList5"/>
    <dgm:cxn modelId="{479D3F14-7DBB-4C45-A963-3EA803B022C7}" type="presOf" srcId="{A7B0796C-3C4F-4319-84C3-33CC612E0808}" destId="{E09E5A05-B596-4ADB-A0FB-90938A69676A}" srcOrd="0" destOrd="1" presId="urn:microsoft.com/office/officeart/2005/8/layout/vList5"/>
    <dgm:cxn modelId="{71B0FC8E-B3B1-44A5-A496-1EAEA52C23F9}" type="presOf" srcId="{E010FDA9-2EFB-4089-9CC7-94CD8B13B86A}" destId="{A84459D1-4C0E-42F9-B699-06620883A822}" srcOrd="0" destOrd="1" presId="urn:microsoft.com/office/officeart/2005/8/layout/vList5"/>
    <dgm:cxn modelId="{78AE504F-0558-4E1C-BB9F-FEB879ED67D5}" srcId="{8FA0E89F-C31C-435E-B427-43FB31F3913D}" destId="{FA58DB81-2394-41D6-8150-82BADF9A8B61}" srcOrd="1" destOrd="0" parTransId="{53B631F0-9E85-4D28-997E-6757C68CC0AA}" sibTransId="{03A35CD3-3EA8-498F-88EF-EFD373739EBE}"/>
    <dgm:cxn modelId="{5BC5C6BE-B03B-431F-A8D8-3B809786E47B}" type="presParOf" srcId="{863EC3CC-B1D1-4BAB-818D-4FFB6873FA67}" destId="{86887906-ABBE-495A-9C17-1EC065CFD2D5}" srcOrd="0" destOrd="0" presId="urn:microsoft.com/office/officeart/2005/8/layout/vList5"/>
    <dgm:cxn modelId="{645A2077-B748-4FFF-818F-F4C8463AB6AB}" type="presParOf" srcId="{86887906-ABBE-495A-9C17-1EC065CFD2D5}" destId="{45C6D59A-EF72-4A57-88C7-6E1687C069D3}" srcOrd="0" destOrd="0" presId="urn:microsoft.com/office/officeart/2005/8/layout/vList5"/>
    <dgm:cxn modelId="{F2BEC3D0-F19D-482B-A36A-F293C5A69602}" type="presParOf" srcId="{86887906-ABBE-495A-9C17-1EC065CFD2D5}" destId="{66C532A5-57CA-4E7C-B526-06CF8A12DF59}" srcOrd="1" destOrd="0" presId="urn:microsoft.com/office/officeart/2005/8/layout/vList5"/>
    <dgm:cxn modelId="{4298508C-7D58-4552-A304-0578AE8D8743}" type="presParOf" srcId="{863EC3CC-B1D1-4BAB-818D-4FFB6873FA67}" destId="{C9C8BC1B-01F8-45B0-B703-25DB0589A105}" srcOrd="1" destOrd="0" presId="urn:microsoft.com/office/officeart/2005/8/layout/vList5"/>
    <dgm:cxn modelId="{920F714B-E46C-43CE-8912-A06D0173CB3A}" type="presParOf" srcId="{863EC3CC-B1D1-4BAB-818D-4FFB6873FA67}" destId="{CACCFD37-1E99-423C-9068-5F2BF070A1D3}" srcOrd="2" destOrd="0" presId="urn:microsoft.com/office/officeart/2005/8/layout/vList5"/>
    <dgm:cxn modelId="{BC9929CE-B07F-4DA0-8C22-AD7644DA5A2F}" type="presParOf" srcId="{CACCFD37-1E99-423C-9068-5F2BF070A1D3}" destId="{3E4745A6-A5C3-42BB-B3F6-E078F04A3B4D}" srcOrd="0" destOrd="0" presId="urn:microsoft.com/office/officeart/2005/8/layout/vList5"/>
    <dgm:cxn modelId="{A92CD9B4-5FC5-4BD8-BAE6-57A92FF9FC88}" type="presParOf" srcId="{CACCFD37-1E99-423C-9068-5F2BF070A1D3}" destId="{A84459D1-4C0E-42F9-B699-06620883A822}" srcOrd="1" destOrd="0" presId="urn:microsoft.com/office/officeart/2005/8/layout/vList5"/>
    <dgm:cxn modelId="{9F797D30-E9FC-478C-BCB1-50F9FDE977ED}" type="presParOf" srcId="{863EC3CC-B1D1-4BAB-818D-4FFB6873FA67}" destId="{31293866-B2DB-4152-8D53-005AB511A5FF}" srcOrd="3" destOrd="0" presId="urn:microsoft.com/office/officeart/2005/8/layout/vList5"/>
    <dgm:cxn modelId="{5BF8992A-C31D-4B0A-9FA1-6AE2AF3FECEE}" type="presParOf" srcId="{863EC3CC-B1D1-4BAB-818D-4FFB6873FA67}" destId="{7F87F8B6-B81D-493A-80C0-484344B362E0}" srcOrd="4" destOrd="0" presId="urn:microsoft.com/office/officeart/2005/8/layout/vList5"/>
    <dgm:cxn modelId="{8EDE8997-9EE2-4590-8508-770C14544813}" type="presParOf" srcId="{7F87F8B6-B81D-493A-80C0-484344B362E0}" destId="{6F519D36-2E92-4DCB-BE0B-6D00AA67C639}" srcOrd="0" destOrd="0" presId="urn:microsoft.com/office/officeart/2005/8/layout/vList5"/>
    <dgm:cxn modelId="{CA677205-3298-4432-8F9D-C6A07DAD7F7B}" type="presParOf" srcId="{7F87F8B6-B81D-493A-80C0-484344B362E0}" destId="{E09E5A05-B596-4ADB-A0FB-90938A69676A}" srcOrd="1" destOrd="0" presId="urn:microsoft.com/office/officeart/2005/8/layout/vList5"/>
    <dgm:cxn modelId="{F1E92DD0-75DD-4365-AB95-E31DEC0A7DA0}" type="presParOf" srcId="{863EC3CC-B1D1-4BAB-818D-4FFB6873FA67}" destId="{DFBA5A32-2B86-405F-A701-B288E96427B7}" srcOrd="5" destOrd="0" presId="urn:microsoft.com/office/officeart/2005/8/layout/vList5"/>
    <dgm:cxn modelId="{F9FBD0D2-60FA-4765-9C9C-510166CC6E95}" type="presParOf" srcId="{863EC3CC-B1D1-4BAB-818D-4FFB6873FA67}" destId="{066105C7-C7A3-4C9C-8850-633253EEA057}" srcOrd="6" destOrd="0" presId="urn:microsoft.com/office/officeart/2005/8/layout/vList5"/>
    <dgm:cxn modelId="{75346A44-7F81-4DE3-896C-47FAA2C9B811}" type="presParOf" srcId="{066105C7-C7A3-4C9C-8850-633253EEA057}" destId="{F8372B45-4763-4BFE-A0AD-522A3206FC08}" srcOrd="0" destOrd="0" presId="urn:microsoft.com/office/officeart/2005/8/layout/vList5"/>
    <dgm:cxn modelId="{A862F460-0CF8-4505-9A15-53C7094E453D}" type="presParOf" srcId="{066105C7-C7A3-4C9C-8850-633253EEA057}" destId="{8AD2565E-C10E-4026-B00A-2F99486AB37C}"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46871C-2864-4FAF-BBE9-9B17119E0B26}">
      <dsp:nvSpPr>
        <dsp:cNvPr id="0" name=""/>
        <dsp:cNvSpPr/>
      </dsp:nvSpPr>
      <dsp:spPr>
        <a:xfrm>
          <a:off x="666435" y="0"/>
          <a:ext cx="7552936" cy="5072061"/>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070017-6091-437B-9DBE-55484D8731E8}">
      <dsp:nvSpPr>
        <dsp:cNvPr id="0" name=""/>
        <dsp:cNvSpPr/>
      </dsp:nvSpPr>
      <dsp:spPr>
        <a:xfrm>
          <a:off x="3904" y="1521618"/>
          <a:ext cx="1707307" cy="202882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b="1" kern="1200" dirty="0" smtClean="0">
              <a:solidFill>
                <a:schemeClr val="tx1"/>
              </a:solidFill>
            </a:rPr>
            <a:t>Skim to get overall picture of what text is about. Be aware of themes/topics emerging</a:t>
          </a:r>
          <a:endParaRPr lang="en-GB" sz="1200" b="1" kern="1200" dirty="0">
            <a:solidFill>
              <a:schemeClr val="tx1"/>
            </a:solidFill>
          </a:endParaRPr>
        </a:p>
      </dsp:txBody>
      <dsp:txXfrm>
        <a:off x="87248" y="1604962"/>
        <a:ext cx="1540619" cy="1862136"/>
      </dsp:txXfrm>
    </dsp:sp>
    <dsp:sp modelId="{B5302AD7-874D-4835-8422-F8D8E7D714CD}">
      <dsp:nvSpPr>
        <dsp:cNvPr id="0" name=""/>
        <dsp:cNvSpPr/>
      </dsp:nvSpPr>
      <dsp:spPr>
        <a:xfrm>
          <a:off x="1796577" y="1521618"/>
          <a:ext cx="1707307" cy="2028824"/>
        </a:xfrm>
        <a:prstGeom prst="roundRect">
          <a:avLst/>
        </a:prstGeom>
        <a:solidFill>
          <a:schemeClr val="accent5">
            <a:hueOff val="2684729"/>
            <a:satOff val="-361"/>
            <a:lumOff val="357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b="1" kern="1200" dirty="0" smtClean="0">
              <a:solidFill>
                <a:schemeClr val="tx1"/>
              </a:solidFill>
            </a:rPr>
            <a:t>Note down the themes/topics and allocate a ‘colour’ for each one</a:t>
          </a:r>
          <a:endParaRPr lang="en-GB" sz="1200" b="1" kern="1200" dirty="0">
            <a:solidFill>
              <a:schemeClr val="tx1"/>
            </a:solidFill>
          </a:endParaRPr>
        </a:p>
      </dsp:txBody>
      <dsp:txXfrm>
        <a:off x="1879921" y="1604962"/>
        <a:ext cx="1540619" cy="1862136"/>
      </dsp:txXfrm>
    </dsp:sp>
    <dsp:sp modelId="{8EA463F1-3EB8-480A-B360-64FA469A04EB}">
      <dsp:nvSpPr>
        <dsp:cNvPr id="0" name=""/>
        <dsp:cNvSpPr/>
      </dsp:nvSpPr>
      <dsp:spPr>
        <a:xfrm>
          <a:off x="3589250" y="1527928"/>
          <a:ext cx="1707307" cy="2028824"/>
        </a:xfrm>
        <a:prstGeom prst="roundRect">
          <a:avLst/>
        </a:prstGeom>
        <a:solidFill>
          <a:schemeClr val="accent5">
            <a:hueOff val="5369458"/>
            <a:satOff val="-722"/>
            <a:lumOff val="715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b="1" kern="1200" dirty="0" smtClean="0">
              <a:solidFill>
                <a:schemeClr val="tx1"/>
              </a:solidFill>
            </a:rPr>
            <a:t>Take a highlighter the colour of your first theme and highlight any relevant information in journal articles/books in that colour</a:t>
          </a:r>
          <a:endParaRPr lang="en-GB" sz="1200" b="1" kern="1200" dirty="0">
            <a:solidFill>
              <a:schemeClr val="tx1"/>
            </a:solidFill>
          </a:endParaRPr>
        </a:p>
      </dsp:txBody>
      <dsp:txXfrm>
        <a:off x="3672594" y="1611272"/>
        <a:ext cx="1540619" cy="1862136"/>
      </dsp:txXfrm>
    </dsp:sp>
    <dsp:sp modelId="{86E10624-F624-4269-A167-E77DD13AC8BD}">
      <dsp:nvSpPr>
        <dsp:cNvPr id="0" name=""/>
        <dsp:cNvSpPr/>
      </dsp:nvSpPr>
      <dsp:spPr>
        <a:xfrm>
          <a:off x="5381923" y="1521618"/>
          <a:ext cx="1707307" cy="2028824"/>
        </a:xfrm>
        <a:prstGeom prst="roundRect">
          <a:avLst/>
        </a:prstGeom>
        <a:solidFill>
          <a:schemeClr val="accent5">
            <a:hueOff val="8054187"/>
            <a:satOff val="-1083"/>
            <a:lumOff val="1073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b="1" kern="1200" dirty="0" smtClean="0">
              <a:solidFill>
                <a:schemeClr val="tx1"/>
              </a:solidFill>
            </a:rPr>
            <a:t>Repeat for all themes/colours</a:t>
          </a:r>
          <a:endParaRPr lang="en-GB" sz="1200" b="1" kern="1200" dirty="0">
            <a:solidFill>
              <a:schemeClr val="tx1"/>
            </a:solidFill>
          </a:endParaRPr>
        </a:p>
      </dsp:txBody>
      <dsp:txXfrm>
        <a:off x="5465267" y="1604962"/>
        <a:ext cx="1540619" cy="1862136"/>
      </dsp:txXfrm>
    </dsp:sp>
    <dsp:sp modelId="{95F863E3-012C-4765-8759-2D2654B8DB3F}">
      <dsp:nvSpPr>
        <dsp:cNvPr id="0" name=""/>
        <dsp:cNvSpPr/>
      </dsp:nvSpPr>
      <dsp:spPr>
        <a:xfrm>
          <a:off x="7174595" y="1521618"/>
          <a:ext cx="1707307" cy="2028824"/>
        </a:xfrm>
        <a:prstGeom prst="roundRect">
          <a:avLst/>
        </a:prstGeom>
        <a:solidFill>
          <a:schemeClr val="accent5">
            <a:hueOff val="10738916"/>
            <a:satOff val="-1444"/>
            <a:lumOff val="1431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b="1" kern="1200" dirty="0" smtClean="0">
              <a:solidFill>
                <a:schemeClr val="tx1"/>
              </a:solidFill>
            </a:rPr>
            <a:t>Take each highlighted section in turn and compile notes into sections.  Look for gaps in knowledge.  Write up notes IN YOUR OWN WORDS</a:t>
          </a:r>
          <a:endParaRPr lang="en-GB" sz="1200" b="1" kern="1200" dirty="0">
            <a:solidFill>
              <a:schemeClr val="tx1"/>
            </a:solidFill>
          </a:endParaRPr>
        </a:p>
      </dsp:txBody>
      <dsp:txXfrm>
        <a:off x="7257939" y="1604962"/>
        <a:ext cx="1540619" cy="18621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C532A5-57CA-4E7C-B526-06CF8A12DF59}">
      <dsp:nvSpPr>
        <dsp:cNvPr id="0" name=""/>
        <dsp:cNvSpPr/>
      </dsp:nvSpPr>
      <dsp:spPr>
        <a:xfrm rot="5400000">
          <a:off x="5227610" y="-2067738"/>
          <a:ext cx="1002691" cy="5391959"/>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n-GB" sz="2400" kern="1200" dirty="0" smtClean="0"/>
            <a:t>Avoid ‘I’, ‘we’ or ‘you’</a:t>
          </a:r>
          <a:endParaRPr lang="en-GB" sz="2400" kern="1200" dirty="0"/>
        </a:p>
        <a:p>
          <a:pPr marL="228600" lvl="1" indent="-228600" algn="l" defTabSz="1066800" rtl="0">
            <a:lnSpc>
              <a:spcPct val="90000"/>
            </a:lnSpc>
            <a:spcBef>
              <a:spcPct val="0"/>
            </a:spcBef>
            <a:spcAft>
              <a:spcPct val="15000"/>
            </a:spcAft>
            <a:buChar char="••"/>
          </a:pPr>
          <a:r>
            <a:rPr lang="en-GB" sz="2400" kern="1200" dirty="0" smtClean="0"/>
            <a:t>Unless asked otherwise</a:t>
          </a:r>
          <a:endParaRPr lang="en-GB" sz="2400" kern="1200" dirty="0"/>
        </a:p>
      </dsp:txBody>
      <dsp:txXfrm rot="-5400000">
        <a:off x="3032977" y="175842"/>
        <a:ext cx="5343012" cy="904797"/>
      </dsp:txXfrm>
    </dsp:sp>
    <dsp:sp modelId="{45C6D59A-EF72-4A57-88C7-6E1687C069D3}">
      <dsp:nvSpPr>
        <dsp:cNvPr id="0" name=""/>
        <dsp:cNvSpPr/>
      </dsp:nvSpPr>
      <dsp:spPr>
        <a:xfrm>
          <a:off x="0" y="0"/>
          <a:ext cx="3032976" cy="125336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rtl="0">
            <a:lnSpc>
              <a:spcPct val="90000"/>
            </a:lnSpc>
            <a:spcBef>
              <a:spcPct val="0"/>
            </a:spcBef>
            <a:spcAft>
              <a:spcPct val="35000"/>
            </a:spcAft>
          </a:pPr>
          <a:r>
            <a:rPr lang="en-GB" sz="3200" b="1" kern="1200" dirty="0" smtClean="0">
              <a:solidFill>
                <a:schemeClr val="tx1"/>
              </a:solidFill>
            </a:rPr>
            <a:t>1. Impersonal</a:t>
          </a:r>
          <a:endParaRPr lang="en-GB" sz="3200" kern="1200" dirty="0">
            <a:solidFill>
              <a:schemeClr val="tx1"/>
            </a:solidFill>
          </a:endParaRPr>
        </a:p>
      </dsp:txBody>
      <dsp:txXfrm>
        <a:off x="61184" y="61184"/>
        <a:ext cx="2910608" cy="1130996"/>
      </dsp:txXfrm>
    </dsp:sp>
    <dsp:sp modelId="{A84459D1-4C0E-42F9-B699-06620883A822}">
      <dsp:nvSpPr>
        <dsp:cNvPr id="0" name=""/>
        <dsp:cNvSpPr/>
      </dsp:nvSpPr>
      <dsp:spPr>
        <a:xfrm rot="5400000">
          <a:off x="5135824" y="-799854"/>
          <a:ext cx="1186264" cy="5391959"/>
        </a:xfrm>
        <a:prstGeom prst="round2SameRect">
          <a:avLst/>
        </a:prstGeom>
        <a:solidFill>
          <a:schemeClr val="accent5">
            <a:tint val="40000"/>
            <a:alpha val="90000"/>
            <a:hueOff val="3807118"/>
            <a:satOff val="4392"/>
            <a:lumOff val="942"/>
            <a:alphaOff val="0"/>
          </a:schemeClr>
        </a:solidFill>
        <a:ln w="19050" cap="flat" cmpd="sng" algn="ctr">
          <a:solidFill>
            <a:schemeClr val="accent5">
              <a:tint val="40000"/>
              <a:alpha val="90000"/>
              <a:hueOff val="3807118"/>
              <a:satOff val="4392"/>
              <a:lumOff val="94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endParaRPr lang="en-GB" sz="1800" kern="1200" dirty="0"/>
        </a:p>
        <a:p>
          <a:pPr marL="228600" lvl="1" indent="-228600" algn="l" defTabSz="889000" rtl="0">
            <a:lnSpc>
              <a:spcPct val="90000"/>
            </a:lnSpc>
            <a:spcBef>
              <a:spcPct val="0"/>
            </a:spcBef>
            <a:spcAft>
              <a:spcPct val="15000"/>
            </a:spcAft>
            <a:buChar char="••"/>
          </a:pPr>
          <a:r>
            <a:rPr lang="en-GB" sz="2000" kern="1200" dirty="0" smtClean="0"/>
            <a:t>Avoid contractions, colloquialisms or slang</a:t>
          </a:r>
          <a:endParaRPr lang="en-GB" sz="2000" kern="1200" dirty="0"/>
        </a:p>
        <a:p>
          <a:pPr marL="228600" lvl="1" indent="-228600" algn="l" defTabSz="889000" rtl="0">
            <a:lnSpc>
              <a:spcPct val="90000"/>
            </a:lnSpc>
            <a:spcBef>
              <a:spcPct val="0"/>
            </a:spcBef>
            <a:spcAft>
              <a:spcPct val="15000"/>
            </a:spcAft>
            <a:buChar char="••"/>
          </a:pPr>
          <a:r>
            <a:rPr lang="en-GB" sz="2000" kern="1200" dirty="0" smtClean="0"/>
            <a:t>Abbreviations written in full the first time you use them</a:t>
          </a:r>
          <a:endParaRPr lang="en-GB" sz="2000" kern="1200" dirty="0"/>
        </a:p>
      </dsp:txBody>
      <dsp:txXfrm rot="-5400000">
        <a:off x="3032977" y="1360902"/>
        <a:ext cx="5334050" cy="1070446"/>
      </dsp:txXfrm>
    </dsp:sp>
    <dsp:sp modelId="{3E4745A6-A5C3-42BB-B3F6-E078F04A3B4D}">
      <dsp:nvSpPr>
        <dsp:cNvPr id="0" name=""/>
        <dsp:cNvSpPr/>
      </dsp:nvSpPr>
      <dsp:spPr>
        <a:xfrm>
          <a:off x="0" y="1317591"/>
          <a:ext cx="3032976" cy="1253364"/>
        </a:xfrm>
        <a:prstGeom prst="roundRect">
          <a:avLst/>
        </a:prstGeom>
        <a:solidFill>
          <a:schemeClr val="accent5">
            <a:hueOff val="3579639"/>
            <a:satOff val="-481"/>
            <a:lumOff val="477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rtl="0">
            <a:lnSpc>
              <a:spcPct val="90000"/>
            </a:lnSpc>
            <a:spcBef>
              <a:spcPct val="0"/>
            </a:spcBef>
            <a:spcAft>
              <a:spcPct val="35000"/>
            </a:spcAft>
          </a:pPr>
          <a:r>
            <a:rPr lang="en-GB" sz="3200" b="1" kern="1200" dirty="0" smtClean="0">
              <a:solidFill>
                <a:schemeClr val="tx1"/>
              </a:solidFill>
            </a:rPr>
            <a:t>2. Formal</a:t>
          </a:r>
          <a:endParaRPr lang="en-GB" sz="3200" kern="1200" dirty="0">
            <a:solidFill>
              <a:schemeClr val="tx1"/>
            </a:solidFill>
          </a:endParaRPr>
        </a:p>
      </dsp:txBody>
      <dsp:txXfrm>
        <a:off x="61184" y="1378775"/>
        <a:ext cx="2910608" cy="1130996"/>
      </dsp:txXfrm>
    </dsp:sp>
    <dsp:sp modelId="{E09E5A05-B596-4ADB-A0FB-90938A69676A}">
      <dsp:nvSpPr>
        <dsp:cNvPr id="0" name=""/>
        <dsp:cNvSpPr/>
      </dsp:nvSpPr>
      <dsp:spPr>
        <a:xfrm rot="5400000">
          <a:off x="5101217" y="680163"/>
          <a:ext cx="1260744" cy="5386693"/>
        </a:xfrm>
        <a:prstGeom prst="round2SameRect">
          <a:avLst/>
        </a:prstGeom>
        <a:solidFill>
          <a:schemeClr val="accent5">
            <a:tint val="40000"/>
            <a:alpha val="90000"/>
            <a:hueOff val="7614237"/>
            <a:satOff val="8783"/>
            <a:lumOff val="1884"/>
            <a:alphaOff val="0"/>
          </a:schemeClr>
        </a:solidFill>
        <a:ln w="19050" cap="flat" cmpd="sng" algn="ctr">
          <a:solidFill>
            <a:schemeClr val="accent5">
              <a:tint val="40000"/>
              <a:alpha val="90000"/>
              <a:hueOff val="7614237"/>
              <a:satOff val="8783"/>
              <a:lumOff val="18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n-GB" sz="2400" kern="1200" dirty="0" smtClean="0"/>
            <a:t>Avoid run on sentences</a:t>
          </a:r>
          <a:endParaRPr lang="en-GB" sz="2400" kern="1200" dirty="0"/>
        </a:p>
        <a:p>
          <a:pPr marL="228600" lvl="1" indent="-228600" algn="l" defTabSz="1066800" rtl="0">
            <a:lnSpc>
              <a:spcPct val="90000"/>
            </a:lnSpc>
            <a:spcBef>
              <a:spcPct val="0"/>
            </a:spcBef>
            <a:spcAft>
              <a:spcPct val="15000"/>
            </a:spcAft>
            <a:buChar char="••"/>
          </a:pPr>
          <a:r>
            <a:rPr lang="en-GB" sz="2400" kern="1200" dirty="0" smtClean="0"/>
            <a:t>State precisely what you mean</a:t>
          </a:r>
          <a:endParaRPr lang="en-GB" sz="2400" kern="1200" dirty="0"/>
        </a:p>
      </dsp:txBody>
      <dsp:txXfrm rot="-5400000">
        <a:off x="3038243" y="2804681"/>
        <a:ext cx="5325149" cy="1137656"/>
      </dsp:txXfrm>
    </dsp:sp>
    <dsp:sp modelId="{6F519D36-2E92-4DCB-BE0B-6D00AA67C639}">
      <dsp:nvSpPr>
        <dsp:cNvPr id="0" name=""/>
        <dsp:cNvSpPr/>
      </dsp:nvSpPr>
      <dsp:spPr>
        <a:xfrm>
          <a:off x="0" y="2637314"/>
          <a:ext cx="3030015" cy="1253364"/>
        </a:xfrm>
        <a:prstGeom prst="roundRect">
          <a:avLst/>
        </a:prstGeom>
        <a:solidFill>
          <a:schemeClr val="accent5">
            <a:hueOff val="7159277"/>
            <a:satOff val="-963"/>
            <a:lumOff val="954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rtl="0">
            <a:lnSpc>
              <a:spcPct val="90000"/>
            </a:lnSpc>
            <a:spcBef>
              <a:spcPct val="0"/>
            </a:spcBef>
            <a:spcAft>
              <a:spcPct val="35000"/>
            </a:spcAft>
          </a:pPr>
          <a:r>
            <a:rPr lang="en-GB" sz="3200" b="1" kern="1200" dirty="0" smtClean="0">
              <a:solidFill>
                <a:schemeClr val="tx1"/>
              </a:solidFill>
            </a:rPr>
            <a:t>3. Clear and Concise</a:t>
          </a:r>
          <a:endParaRPr lang="en-GB" sz="3200" kern="1200" dirty="0">
            <a:solidFill>
              <a:schemeClr val="tx1"/>
            </a:solidFill>
          </a:endParaRPr>
        </a:p>
      </dsp:txBody>
      <dsp:txXfrm>
        <a:off x="61184" y="2698498"/>
        <a:ext cx="2907647" cy="1130996"/>
      </dsp:txXfrm>
    </dsp:sp>
    <dsp:sp modelId="{8AD2565E-C10E-4026-B00A-2F99486AB37C}">
      <dsp:nvSpPr>
        <dsp:cNvPr id="0" name=""/>
        <dsp:cNvSpPr/>
      </dsp:nvSpPr>
      <dsp:spPr>
        <a:xfrm rot="5400000">
          <a:off x="5227610" y="1887739"/>
          <a:ext cx="1002691" cy="5391959"/>
        </a:xfrm>
        <a:prstGeom prst="round2SameRect">
          <a:avLst/>
        </a:prstGeom>
        <a:solidFill>
          <a:schemeClr val="accent5">
            <a:tint val="40000"/>
            <a:alpha val="90000"/>
            <a:hueOff val="11421355"/>
            <a:satOff val="13175"/>
            <a:lumOff val="2826"/>
            <a:alphaOff val="0"/>
          </a:schemeClr>
        </a:solidFill>
        <a:ln w="19050" cap="flat" cmpd="sng" algn="ctr">
          <a:solidFill>
            <a:schemeClr val="accent5">
              <a:tint val="40000"/>
              <a:alpha val="90000"/>
              <a:hueOff val="11421355"/>
              <a:satOff val="13175"/>
              <a:lumOff val="28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n-GB" sz="2400" kern="1200" dirty="0" smtClean="0"/>
            <a:t>back up statements, opinions, approaches taken</a:t>
          </a:r>
          <a:endParaRPr lang="en-GB" sz="2400" kern="1200" dirty="0"/>
        </a:p>
      </dsp:txBody>
      <dsp:txXfrm rot="-5400000">
        <a:off x="3032977" y="4131320"/>
        <a:ext cx="5343012" cy="904797"/>
      </dsp:txXfrm>
    </dsp:sp>
    <dsp:sp modelId="{F8372B45-4763-4BFE-A0AD-522A3206FC08}">
      <dsp:nvSpPr>
        <dsp:cNvPr id="0" name=""/>
        <dsp:cNvSpPr/>
      </dsp:nvSpPr>
      <dsp:spPr>
        <a:xfrm>
          <a:off x="0" y="3957036"/>
          <a:ext cx="3032976" cy="1253364"/>
        </a:xfrm>
        <a:prstGeom prst="roundRect">
          <a:avLst/>
        </a:prstGeom>
        <a:solidFill>
          <a:schemeClr val="accent5">
            <a:hueOff val="10738916"/>
            <a:satOff val="-1444"/>
            <a:lumOff val="1431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rtl="0">
            <a:lnSpc>
              <a:spcPct val="90000"/>
            </a:lnSpc>
            <a:spcBef>
              <a:spcPct val="0"/>
            </a:spcBef>
            <a:spcAft>
              <a:spcPct val="35000"/>
            </a:spcAft>
          </a:pPr>
          <a:r>
            <a:rPr lang="en-GB" sz="3200" b="1" kern="1200" dirty="0" smtClean="0">
              <a:solidFill>
                <a:schemeClr val="tx1"/>
              </a:solidFill>
            </a:rPr>
            <a:t>4. Provide Evidence </a:t>
          </a:r>
          <a:endParaRPr lang="en-GB" sz="3200" kern="1200" dirty="0">
            <a:solidFill>
              <a:schemeClr val="tx1"/>
            </a:solidFill>
          </a:endParaRPr>
        </a:p>
      </dsp:txBody>
      <dsp:txXfrm>
        <a:off x="61184" y="4018220"/>
        <a:ext cx="2910608" cy="113099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53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645" y="0"/>
            <a:ext cx="2944283" cy="495300"/>
          </a:xfrm>
          <a:prstGeom prst="rect">
            <a:avLst/>
          </a:prstGeom>
        </p:spPr>
        <p:txBody>
          <a:bodyPr vert="horz" lIns="91440" tIns="45720" rIns="91440" bIns="45720" rtlCol="0"/>
          <a:lstStyle>
            <a:lvl1pPr algn="r">
              <a:defRPr sz="1200"/>
            </a:lvl1pPr>
          </a:lstStyle>
          <a:p>
            <a:fld id="{418DA6CF-7107-47D2-9369-C4BE035A18CD}" type="datetimeFigureOut">
              <a:rPr lang="en-GB" smtClean="0"/>
              <a:t>16/10/2018</a:t>
            </a:fld>
            <a:endParaRPr lang="en-GB"/>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05350"/>
            <a:ext cx="5435600" cy="44577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08981"/>
            <a:ext cx="2944283" cy="4953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645" y="9408981"/>
            <a:ext cx="2944283" cy="495300"/>
          </a:xfrm>
          <a:prstGeom prst="rect">
            <a:avLst/>
          </a:prstGeom>
        </p:spPr>
        <p:txBody>
          <a:bodyPr vert="horz" lIns="91440" tIns="45720" rIns="91440" bIns="45720" rtlCol="0" anchor="b"/>
          <a:lstStyle>
            <a:lvl1pPr algn="r">
              <a:defRPr sz="1200"/>
            </a:lvl1pPr>
          </a:lstStyle>
          <a:p>
            <a:fld id="{647B1565-61AF-46AA-9B0D-197B4AD37A1B}" type="slidenum">
              <a:rPr lang="en-GB" smtClean="0"/>
              <a:t>‹#›</a:t>
            </a:fld>
            <a:endParaRPr lang="en-GB"/>
          </a:p>
        </p:txBody>
      </p:sp>
    </p:spTree>
    <p:extLst>
      <p:ext uri="{BB962C8B-B14F-4D97-AF65-F5344CB8AC3E}">
        <p14:creationId xmlns:p14="http://schemas.microsoft.com/office/powerpoint/2010/main" val="1172019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youtube.com/watch?v=9s0LqZMsfTQ&amp;gl=GB&amp;hl=en-GB"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dirty="0" smtClean="0"/>
              <a:t>So, given what we’ve just been discussing – how would you answer this question?? What is it actually asking you, think about all the different parts to the question.</a:t>
            </a:r>
          </a:p>
          <a:p>
            <a:endParaRPr lang="en-GB" altLang="en-US" dirty="0" smtClean="0"/>
          </a:p>
          <a:p>
            <a:r>
              <a:rPr lang="en-GB" altLang="en-US" dirty="0" smtClean="0"/>
              <a:t>I’m not looking for you to give me the content here, I just want you to think about what types of questions you would be asking…</a:t>
            </a:r>
          </a:p>
          <a:p>
            <a:endParaRPr lang="en-GB" altLang="en-US" dirty="0" smtClean="0"/>
          </a:p>
          <a:p>
            <a:endParaRPr lang="en-GB" altLang="en-US" dirty="0" smtClean="0"/>
          </a:p>
          <a:p>
            <a:r>
              <a:rPr lang="en-GB" altLang="en-US" dirty="0" smtClean="0"/>
              <a:t>Where people fall down with questions like this is that they just describe the causes – they would state, junk food, </a:t>
            </a:r>
            <a:r>
              <a:rPr lang="en-GB" altLang="en-US" dirty="0" err="1" smtClean="0"/>
              <a:t>tv</a:t>
            </a:r>
            <a:r>
              <a:rPr lang="en-GB" altLang="en-US" dirty="0" smtClean="0"/>
              <a:t> and not going out enough.</a:t>
            </a:r>
          </a:p>
          <a:p>
            <a:endParaRPr lang="en-GB" altLang="en-US" dirty="0" smtClean="0"/>
          </a:p>
          <a:p>
            <a:r>
              <a:rPr lang="en-GB" altLang="en-US" dirty="0" smtClean="0"/>
              <a:t>However you also have to be critical – you would evaluate each cause, how much impact does it actually have? Are there any statistics or pieces of research to say one is more of a cause than the others? Etc. </a:t>
            </a:r>
          </a:p>
          <a:p>
            <a:endParaRPr lang="en-GB" altLang="en-US" dirty="0" smtClean="0"/>
          </a:p>
          <a:p>
            <a:r>
              <a:rPr lang="en-GB" altLang="en-US" dirty="0" smtClean="0"/>
              <a:t>Any specific words in the question that give you a clue?</a:t>
            </a:r>
          </a:p>
        </p:txBody>
      </p:sp>
      <p:sp>
        <p:nvSpPr>
          <p:cNvPr id="4" name="Slide Number Placeholder 3"/>
          <p:cNvSpPr>
            <a:spLocks noGrp="1"/>
          </p:cNvSpPr>
          <p:nvPr>
            <p:ph type="sldNum" sz="quarter" idx="5"/>
          </p:nvPr>
        </p:nvSpPr>
        <p:spPr/>
        <p:txBody>
          <a:bodyPr/>
          <a:lstStyle/>
          <a:p>
            <a:pPr>
              <a:defRPr/>
            </a:pPr>
            <a:fld id="{F66D8572-FA89-4960-A2EF-0AE1ED7C7535}" type="slidenum">
              <a:rPr lang="en-GB" smtClean="0"/>
              <a:pPr>
                <a:defRPr/>
              </a:pPr>
              <a:t>10</a:t>
            </a:fld>
            <a:endParaRPr lang="en-GB"/>
          </a:p>
        </p:txBody>
      </p:sp>
    </p:spTree>
    <p:extLst>
      <p:ext uri="{BB962C8B-B14F-4D97-AF65-F5344CB8AC3E}">
        <p14:creationId xmlns:p14="http://schemas.microsoft.com/office/powerpoint/2010/main" val="1600555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mtClean="0"/>
              <a:t>Ok so where are you going to look for your information? What type of sources will you be using?</a:t>
            </a:r>
          </a:p>
          <a:p>
            <a:r>
              <a:rPr lang="en-GB" altLang="en-US" smtClean="0"/>
              <a:t>Then go through books, journals and websites.</a:t>
            </a:r>
          </a:p>
          <a:p>
            <a:endParaRPr lang="en-GB" altLang="en-US" smtClean="0"/>
          </a:p>
          <a:p>
            <a:r>
              <a:rPr lang="en-GB" altLang="en-US" smtClean="0"/>
              <a:t>Writing with no reference to course material is a big failing in assignments. Remember though, your lecture notes are only a starting point. </a:t>
            </a:r>
          </a:p>
          <a:p>
            <a:endParaRPr lang="en-GB" altLang="en-US" smtClean="0"/>
          </a:p>
          <a:p>
            <a:r>
              <a:rPr lang="en-GB" altLang="en-US" smtClean="0"/>
              <a:t>Why should you be careful of google? What about things like NHS24 for any medical information. Wikipedia etc. The thing to note about electronic resources is that you have to be careful – who are they aimed at? If it’s at Joe public then they may not be suitable.</a:t>
            </a:r>
          </a:p>
          <a:p>
            <a:endParaRPr lang="en-GB" altLang="en-US" smtClean="0"/>
          </a:p>
          <a:p>
            <a:r>
              <a:rPr lang="en-GB" altLang="en-US" smtClean="0"/>
              <a:t>If you can’t find an author then maybe not a good resource. </a:t>
            </a:r>
          </a:p>
        </p:txBody>
      </p:sp>
      <p:sp>
        <p:nvSpPr>
          <p:cNvPr id="4" name="Slide Number Placeholder 3"/>
          <p:cNvSpPr>
            <a:spLocks noGrp="1"/>
          </p:cNvSpPr>
          <p:nvPr>
            <p:ph type="sldNum" sz="quarter" idx="5"/>
          </p:nvPr>
        </p:nvSpPr>
        <p:spPr/>
        <p:txBody>
          <a:bodyPr/>
          <a:lstStyle/>
          <a:p>
            <a:pPr>
              <a:defRPr/>
            </a:pPr>
            <a:fld id="{FDAC1FF2-8DF1-45EF-B78B-735C3F330196}" type="slidenum">
              <a:rPr lang="en-GB" smtClean="0">
                <a:solidFill>
                  <a:prstClr val="black"/>
                </a:solidFill>
              </a:rPr>
              <a:pPr>
                <a:defRPr/>
              </a:pPr>
              <a:t>11</a:t>
            </a:fld>
            <a:endParaRPr lang="en-GB">
              <a:solidFill>
                <a:prstClr val="black"/>
              </a:solidFill>
            </a:endParaRPr>
          </a:p>
        </p:txBody>
      </p:sp>
    </p:spTree>
    <p:extLst>
      <p:ext uri="{BB962C8B-B14F-4D97-AF65-F5344CB8AC3E}">
        <p14:creationId xmlns:p14="http://schemas.microsoft.com/office/powerpoint/2010/main" val="2904126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mtClean="0"/>
              <a:t>Ok – so you’ve figured out what the question is asking you and you’ve located your information </a:t>
            </a:r>
            <a:r>
              <a:rPr lang="en-GB" altLang="en-US" b="1" smtClean="0"/>
              <a:t>- how do you take notes?</a:t>
            </a:r>
          </a:p>
          <a:p>
            <a:endParaRPr lang="en-GB" altLang="en-US" smtClean="0"/>
          </a:p>
          <a:p>
            <a:r>
              <a:rPr lang="en-GB" altLang="en-US" smtClean="0"/>
              <a:t>The key here is to get away from just copying out of a book word for word.</a:t>
            </a:r>
          </a:p>
          <a:p>
            <a:endParaRPr lang="en-GB" altLang="en-US" smtClean="0"/>
          </a:p>
          <a:p>
            <a:r>
              <a:rPr lang="en-GB" altLang="en-US" smtClean="0"/>
              <a:t>You want to write it in your own words not just for plagiarism purposes but it’s to make sure you understand what is there. If you can’t put it into your own words it probably means you don’t understand what it is saying and so will have to spend some time figuring out what that is.</a:t>
            </a:r>
          </a:p>
          <a:p>
            <a:endParaRPr lang="en-GB" altLang="en-US" smtClean="0"/>
          </a:p>
          <a:p>
            <a:r>
              <a:rPr lang="en-GB" altLang="en-US" smtClean="0"/>
              <a:t>So skim over the sections that you think might help you to pick out key points – this stops you reading things you don’t need to.</a:t>
            </a:r>
          </a:p>
          <a:p>
            <a:endParaRPr lang="en-GB" altLang="en-US" smtClean="0"/>
          </a:p>
          <a:p>
            <a:r>
              <a:rPr lang="en-GB" altLang="en-US" smtClean="0"/>
              <a:t>Take small parts at a time so it’s not overwhelming and then stop.</a:t>
            </a:r>
          </a:p>
          <a:p>
            <a:endParaRPr lang="en-GB" altLang="en-US" smtClean="0"/>
          </a:p>
          <a:p>
            <a:r>
              <a:rPr lang="en-GB" altLang="en-US" smtClean="0"/>
              <a:t>Ask yourself – what is the author actually trying to say here – what is their argument and does it feel valid to you? </a:t>
            </a:r>
          </a:p>
          <a:p>
            <a:endParaRPr lang="en-GB" altLang="en-US" smtClean="0"/>
          </a:p>
          <a:p>
            <a:r>
              <a:rPr lang="en-GB" altLang="en-US" b="1" smtClean="0"/>
              <a:t>Go back to the sub questions – does it help you answer them?</a:t>
            </a:r>
          </a:p>
          <a:p>
            <a:endParaRPr lang="en-GB" altLang="en-US" smtClean="0"/>
          </a:p>
          <a:p>
            <a:r>
              <a:rPr lang="en-GB" altLang="en-US" smtClean="0"/>
              <a:t>This part can be the tough part </a:t>
            </a:r>
            <a:r>
              <a:rPr lang="en-GB" altLang="en-US" b="1" smtClean="0"/>
              <a:t>but all the earlier steps will make this much easier and a lot quicker. </a:t>
            </a:r>
          </a:p>
          <a:p>
            <a:r>
              <a:rPr lang="en-GB" altLang="en-US" smtClean="0"/>
              <a:t>Make sure when you write it out you take the page number from where you got it from so you can go back and check if what you have written is right. </a:t>
            </a:r>
          </a:p>
          <a:p>
            <a:endParaRPr lang="en-GB" altLang="en-US" smtClean="0"/>
          </a:p>
          <a:p>
            <a:endParaRPr lang="en-GB" altLang="en-US" smtClean="0"/>
          </a:p>
          <a:p>
            <a:endParaRPr lang="en-GB" altLang="en-US" smtClean="0"/>
          </a:p>
        </p:txBody>
      </p:sp>
      <p:sp>
        <p:nvSpPr>
          <p:cNvPr id="4" name="Slide Number Placeholder 3"/>
          <p:cNvSpPr>
            <a:spLocks noGrp="1"/>
          </p:cNvSpPr>
          <p:nvPr>
            <p:ph type="sldNum" sz="quarter" idx="5"/>
          </p:nvPr>
        </p:nvSpPr>
        <p:spPr/>
        <p:txBody>
          <a:bodyPr/>
          <a:lstStyle/>
          <a:p>
            <a:pPr>
              <a:defRPr/>
            </a:pPr>
            <a:fld id="{93E82C27-892B-4445-B28D-453720A7FBCD}" type="slidenum">
              <a:rPr lang="en-GB" smtClean="0">
                <a:solidFill>
                  <a:prstClr val="black"/>
                </a:solidFill>
              </a:rPr>
              <a:pPr>
                <a:defRPr/>
              </a:pPr>
              <a:t>12</a:t>
            </a:fld>
            <a:endParaRPr lang="en-GB">
              <a:solidFill>
                <a:prstClr val="black"/>
              </a:solidFill>
            </a:endParaRPr>
          </a:p>
        </p:txBody>
      </p:sp>
    </p:spTree>
    <p:extLst>
      <p:ext uri="{BB962C8B-B14F-4D97-AF65-F5344CB8AC3E}">
        <p14:creationId xmlns:p14="http://schemas.microsoft.com/office/powerpoint/2010/main" val="3090882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mtClean="0"/>
              <a:t>If you have followed the process outlined in previous slides – this part should be so much easier. </a:t>
            </a:r>
          </a:p>
          <a:p>
            <a:endParaRPr lang="en-GB" altLang="en-US" smtClean="0"/>
          </a:p>
          <a:p>
            <a:r>
              <a:rPr lang="en-GB" altLang="en-US" smtClean="0"/>
              <a:t>The people who get stuck here maybe haven’t done as much prep but from time to time people still struggle at this point. </a:t>
            </a:r>
          </a:p>
          <a:p>
            <a:endParaRPr lang="en-GB" altLang="en-US" smtClean="0"/>
          </a:p>
          <a:p>
            <a:r>
              <a:rPr lang="en-GB" altLang="en-US" smtClean="0"/>
              <a:t>The preparation, making up sub questions and doing very focussed reading should make the structure much more obvious to you.</a:t>
            </a:r>
          </a:p>
          <a:p>
            <a:r>
              <a:rPr lang="en-GB" altLang="en-US" smtClean="0"/>
              <a:t>However briefly this is what a structure should look like.</a:t>
            </a:r>
          </a:p>
          <a:p>
            <a:endParaRPr lang="en-GB" altLang="en-US" smtClean="0"/>
          </a:p>
        </p:txBody>
      </p:sp>
      <p:sp>
        <p:nvSpPr>
          <p:cNvPr id="4" name="Slide Number Placeholder 3"/>
          <p:cNvSpPr>
            <a:spLocks noGrp="1"/>
          </p:cNvSpPr>
          <p:nvPr>
            <p:ph type="sldNum" sz="quarter" idx="5"/>
          </p:nvPr>
        </p:nvSpPr>
        <p:spPr/>
        <p:txBody>
          <a:bodyPr/>
          <a:lstStyle/>
          <a:p>
            <a:pPr>
              <a:defRPr/>
            </a:pPr>
            <a:fld id="{140805BE-6524-481A-9426-B55DDE9F39FE}" type="slidenum">
              <a:rPr lang="en-GB" smtClean="0">
                <a:solidFill>
                  <a:prstClr val="black"/>
                </a:solidFill>
              </a:rPr>
              <a:pPr>
                <a:defRPr/>
              </a:pPr>
              <a:t>13</a:t>
            </a:fld>
            <a:endParaRPr lang="en-GB">
              <a:solidFill>
                <a:prstClr val="black"/>
              </a:solidFill>
            </a:endParaRPr>
          </a:p>
        </p:txBody>
      </p:sp>
    </p:spTree>
    <p:extLst>
      <p:ext uri="{BB962C8B-B14F-4D97-AF65-F5344CB8AC3E}">
        <p14:creationId xmlns:p14="http://schemas.microsoft.com/office/powerpoint/2010/main" val="3866022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dirty="0" smtClean="0"/>
              <a:t>The maintaining momentum bit is key to bring out here. It’s better to write little bits of your essay each day than leave it for a week and then come back to it. If you do that you will spend lots of time trying to figure out where you where and it will take longer to get back into it. </a:t>
            </a:r>
          </a:p>
          <a:p>
            <a:endParaRPr lang="en-GB" altLang="en-US" dirty="0" smtClean="0"/>
          </a:p>
          <a:p>
            <a:r>
              <a:rPr lang="en-GB" altLang="en-US" dirty="0" smtClean="0"/>
              <a:t>Have you heard anyone say you should write the introduction last??  I would say that you could write the majority of the introduction first but check the detail at the end. We’ll go over this in more detail later. </a:t>
            </a:r>
          </a:p>
        </p:txBody>
      </p:sp>
      <p:sp>
        <p:nvSpPr>
          <p:cNvPr id="4" name="Slide Number Placeholder 3"/>
          <p:cNvSpPr>
            <a:spLocks noGrp="1"/>
          </p:cNvSpPr>
          <p:nvPr>
            <p:ph type="sldNum" sz="quarter" idx="5"/>
          </p:nvPr>
        </p:nvSpPr>
        <p:spPr/>
        <p:txBody>
          <a:bodyPr/>
          <a:lstStyle/>
          <a:p>
            <a:pPr>
              <a:defRPr/>
            </a:pPr>
            <a:fld id="{4CB48331-A68D-442E-B781-A1A472399FA7}" type="slidenum">
              <a:rPr lang="en-GB" smtClean="0">
                <a:solidFill>
                  <a:prstClr val="black"/>
                </a:solidFill>
              </a:rPr>
              <a:pPr>
                <a:defRPr/>
              </a:pPr>
              <a:t>17</a:t>
            </a:fld>
            <a:endParaRPr lang="en-GB">
              <a:solidFill>
                <a:prstClr val="black"/>
              </a:solidFill>
            </a:endParaRPr>
          </a:p>
        </p:txBody>
      </p:sp>
    </p:spTree>
    <p:extLst>
      <p:ext uri="{BB962C8B-B14F-4D97-AF65-F5344CB8AC3E}">
        <p14:creationId xmlns:p14="http://schemas.microsoft.com/office/powerpoint/2010/main" val="1262206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672620CE-55B5-4924-A4FF-46282B969E2B}" type="slidenum">
              <a:rPr lang="en-GB" smtClean="0">
                <a:solidFill>
                  <a:prstClr val="black"/>
                </a:solidFill>
              </a:rPr>
              <a:pPr>
                <a:defRPr/>
              </a:pPr>
              <a:t>18</a:t>
            </a:fld>
            <a:endParaRPr lang="en-GB">
              <a:solidFill>
                <a:prstClr val="black"/>
              </a:solidFill>
            </a:endParaRPr>
          </a:p>
        </p:txBody>
      </p:sp>
    </p:spTree>
    <p:extLst>
      <p:ext uri="{BB962C8B-B14F-4D97-AF65-F5344CB8AC3E}">
        <p14:creationId xmlns:p14="http://schemas.microsoft.com/office/powerpoint/2010/main" val="3789852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mtClean="0"/>
              <a:t>.</a:t>
            </a:r>
          </a:p>
        </p:txBody>
      </p:sp>
      <p:sp>
        <p:nvSpPr>
          <p:cNvPr id="4" name="Slide Number Placeholder 3"/>
          <p:cNvSpPr>
            <a:spLocks noGrp="1"/>
          </p:cNvSpPr>
          <p:nvPr>
            <p:ph type="sldNum" sz="quarter" idx="5"/>
          </p:nvPr>
        </p:nvSpPr>
        <p:spPr/>
        <p:txBody>
          <a:bodyPr/>
          <a:lstStyle/>
          <a:p>
            <a:pPr>
              <a:defRPr/>
            </a:pPr>
            <a:fld id="{A922F044-B8C2-467C-A18D-76F8E6F81434}" type="slidenum">
              <a:rPr lang="en-GB" smtClean="0"/>
              <a:pPr>
                <a:defRPr/>
              </a:pPr>
              <a:t>20</a:t>
            </a:fld>
            <a:endParaRPr lang="en-GB"/>
          </a:p>
        </p:txBody>
      </p:sp>
    </p:spTree>
    <p:extLst>
      <p:ext uri="{BB962C8B-B14F-4D97-AF65-F5344CB8AC3E}">
        <p14:creationId xmlns:p14="http://schemas.microsoft.com/office/powerpoint/2010/main" val="1347930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2612A415-FF5D-400F-B99A-70A1D6B463F6}" type="slidenum">
              <a:rPr lang="en-GB" smtClean="0"/>
              <a:pPr>
                <a:defRPr/>
              </a:pPr>
              <a:t>21</a:t>
            </a:fld>
            <a:endParaRPr lang="en-GB" dirty="0"/>
          </a:p>
        </p:txBody>
      </p:sp>
    </p:spTree>
    <p:extLst>
      <p:ext uri="{BB962C8B-B14F-4D97-AF65-F5344CB8AC3E}">
        <p14:creationId xmlns:p14="http://schemas.microsoft.com/office/powerpoint/2010/main" val="3050603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A1232AA7-3BF0-4913-9D60-EB12512777DF}" type="slidenum">
              <a:rPr lang="en-GB" smtClean="0"/>
              <a:pPr>
                <a:defRPr/>
              </a:pPr>
              <a:t>22</a:t>
            </a:fld>
            <a:endParaRPr lang="en-GB" dirty="0"/>
          </a:p>
        </p:txBody>
      </p:sp>
    </p:spTree>
    <p:extLst>
      <p:ext uri="{BB962C8B-B14F-4D97-AF65-F5344CB8AC3E}">
        <p14:creationId xmlns:p14="http://schemas.microsoft.com/office/powerpoint/2010/main" val="2856519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0593148B-EAC4-4A9A-8EEF-3742A94A2BEC}" type="slidenum">
              <a:rPr lang="en-GB" smtClean="0"/>
              <a:pPr>
                <a:defRPr/>
              </a:pPr>
              <a:t>23</a:t>
            </a:fld>
            <a:endParaRPr lang="en-GB" dirty="0"/>
          </a:p>
        </p:txBody>
      </p:sp>
    </p:spTree>
    <p:extLst>
      <p:ext uri="{BB962C8B-B14F-4D97-AF65-F5344CB8AC3E}">
        <p14:creationId xmlns:p14="http://schemas.microsoft.com/office/powerpoint/2010/main" val="3664117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mtClean="0">
                <a:hlinkClick r:id="rId3"/>
              </a:rPr>
              <a:t>http://www.youtube.com/watch?v=9s0LqZMsfTQ&amp;gl=GB&amp;hl=en-GB</a:t>
            </a:r>
            <a:r>
              <a:rPr lang="en-GB" altLang="en-US" smtClean="0"/>
              <a:t> </a:t>
            </a:r>
          </a:p>
        </p:txBody>
      </p:sp>
      <p:sp>
        <p:nvSpPr>
          <p:cNvPr id="4" name="Slide Number Placeholder 3"/>
          <p:cNvSpPr>
            <a:spLocks noGrp="1"/>
          </p:cNvSpPr>
          <p:nvPr>
            <p:ph type="sldNum" sz="quarter" idx="5"/>
          </p:nvPr>
        </p:nvSpPr>
        <p:spPr/>
        <p:txBody>
          <a:bodyPr/>
          <a:lstStyle/>
          <a:p>
            <a:pPr>
              <a:defRPr/>
            </a:pPr>
            <a:fld id="{455406FB-B92A-4517-A022-5D4B6ADFA69F}" type="slidenum">
              <a:rPr lang="en-GB" smtClean="0"/>
              <a:pPr>
                <a:defRPr/>
              </a:pPr>
              <a:t>25</a:t>
            </a:fld>
            <a:endParaRPr lang="en-GB" dirty="0"/>
          </a:p>
        </p:txBody>
      </p:sp>
    </p:spTree>
    <p:extLst>
      <p:ext uri="{BB962C8B-B14F-4D97-AF65-F5344CB8AC3E}">
        <p14:creationId xmlns:p14="http://schemas.microsoft.com/office/powerpoint/2010/main" val="554939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28" name="Date Placeholder 27"/>
          <p:cNvSpPr>
            <a:spLocks noGrp="1"/>
          </p:cNvSpPr>
          <p:nvPr>
            <p:ph type="dt" sz="half" idx="10"/>
          </p:nvPr>
        </p:nvSpPr>
        <p:spPr>
          <a:xfrm>
            <a:off x="6705600" y="4206240"/>
            <a:ext cx="960120" cy="457200"/>
          </a:xfrm>
        </p:spPr>
        <p:txBody>
          <a:bodyPr/>
          <a:lstStyle/>
          <a:p>
            <a:fld id="{B5730397-00AA-4B08-9BB2-18DFF2212D93}" type="datetimeFigureOut">
              <a:rPr lang="en-GB" smtClean="0"/>
              <a:t>16/10/2018</a:t>
            </a:fld>
            <a:endParaRPr lang="en-GB"/>
          </a:p>
        </p:txBody>
      </p:sp>
      <p:sp>
        <p:nvSpPr>
          <p:cNvPr id="17" name="Footer Placeholder 16"/>
          <p:cNvSpPr>
            <a:spLocks noGrp="1"/>
          </p:cNvSpPr>
          <p:nvPr>
            <p:ph type="ftr" sz="quarter" idx="11"/>
          </p:nvPr>
        </p:nvSpPr>
        <p:spPr>
          <a:xfrm>
            <a:off x="5410200" y="4205288"/>
            <a:ext cx="1295400" cy="457200"/>
          </a:xfrm>
        </p:spPr>
        <p:txBody>
          <a:bodyPr/>
          <a:lstStyle/>
          <a:p>
            <a:endParaRPr lang="en-GB"/>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3AD490CA-5B5D-4516-97F7-B6BAE6EA95AB}" type="slidenum">
              <a:rPr lang="en-GB" smtClean="0"/>
              <a:t>‹#›</a:t>
            </a:fld>
            <a:endParaRPr lang="en-GB"/>
          </a:p>
        </p:txBody>
      </p:sp>
      <p:pic>
        <p:nvPicPr>
          <p:cNvPr id="18" name="Picture 2" descr="http://www.gcu.ac.uk/library/SMIRK/images/gcu_200.gif">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79512" y="5445224"/>
            <a:ext cx="1440160" cy="891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16/10/2018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pic>
        <p:nvPicPr>
          <p:cNvPr id="8" name="Picture 2" descr="http://www.gcu.ac.uk/library/SMIRK/images/gcu_200.gif">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1520" y="5589240"/>
            <a:ext cx="1440160" cy="891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5730397-00AA-4B08-9BB2-18DFF2212D93}" type="datetimeFigureOut">
              <a:rPr lang="en-GB" smtClean="0"/>
              <a:t>16/10/2018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5730397-00AA-4B08-9BB2-18DFF2212D93}" type="datetimeFigureOut">
              <a:rPr lang="en-GB" smtClean="0"/>
              <a:t>16/10/2018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B5730397-00AA-4B08-9BB2-18DFF2212D93}" type="datetimeFigureOut">
              <a:rPr lang="en-GB" smtClean="0"/>
              <a:t>16/10/2018</a:t>
            </a:fld>
            <a:endParaRPr lang="en-GB"/>
          </a:p>
        </p:txBody>
      </p:sp>
      <p:sp>
        <p:nvSpPr>
          <p:cNvPr id="27" name="Slide Number Placeholder 26"/>
          <p:cNvSpPr>
            <a:spLocks noGrp="1"/>
          </p:cNvSpPr>
          <p:nvPr>
            <p:ph type="sldNum" sz="quarter" idx="11"/>
          </p:nvPr>
        </p:nvSpPr>
        <p:spPr/>
        <p:txBody>
          <a:bodyPr rtlCol="0"/>
          <a:lstStyle/>
          <a:p>
            <a:fld id="{3AD490CA-5B5D-4516-97F7-B6BAE6EA95AB}" type="slidenum">
              <a:rPr lang="en-GB" smtClean="0"/>
              <a:t>‹#›</a:t>
            </a:fld>
            <a:endParaRPr lang="en-GB"/>
          </a:p>
        </p:txBody>
      </p:sp>
      <p:sp>
        <p:nvSpPr>
          <p:cNvPr id="28" name="Footer Placeholder 27"/>
          <p:cNvSpPr>
            <a:spLocks noGrp="1"/>
          </p:cNvSpPr>
          <p:nvPr>
            <p:ph type="ftr" sz="quarter" idx="12"/>
          </p:nvPr>
        </p:nvSpPr>
        <p:spPr/>
        <p:txBody>
          <a:bodyPr rtlCol="0"/>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B5730397-00AA-4B08-9BB2-18DFF2212D93}" type="datetimeFigureOut">
              <a:rPr lang="en-GB" smtClean="0"/>
              <a:t>16/10/2018</a:t>
            </a:fld>
            <a:endParaRPr lang="en-GB"/>
          </a:p>
        </p:txBody>
      </p:sp>
      <p:sp>
        <p:nvSpPr>
          <p:cNvPr id="4" name="Footer Placeholder 3"/>
          <p:cNvSpPr>
            <a:spLocks noGrp="1"/>
          </p:cNvSpPr>
          <p:nvPr>
            <p:ph type="ftr" sz="quarter" idx="11"/>
          </p:nvPr>
        </p:nvSpPr>
        <p:spPr>
          <a:xfrm>
            <a:off x="5257800" y="612648"/>
            <a:ext cx="1325880" cy="457200"/>
          </a:xfrm>
        </p:spPr>
        <p:txBody>
          <a:bodyPr/>
          <a:lstStyle/>
          <a:p>
            <a:endParaRPr lang="en-GB"/>
          </a:p>
        </p:txBody>
      </p:sp>
      <p:sp>
        <p:nvSpPr>
          <p:cNvPr id="5" name="Slide Number Placeholder 4"/>
          <p:cNvSpPr>
            <a:spLocks noGrp="1"/>
          </p:cNvSpPr>
          <p:nvPr>
            <p:ph type="sldNum" sz="quarter" idx="12"/>
          </p:nvPr>
        </p:nvSpPr>
        <p:spPr>
          <a:xfrm>
            <a:off x="8174736" y="2272"/>
            <a:ext cx="762000" cy="365760"/>
          </a:xfrm>
        </p:spPr>
        <p:txBody>
          <a:bodyPr/>
          <a:lstStyle/>
          <a:p>
            <a:fld id="{3AD490CA-5B5D-4516-97F7-B6BAE6EA95AB}"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730397-00AA-4B08-9BB2-18DFF2212D93}" type="datetimeFigureOut">
              <a:rPr lang="en-GB" smtClean="0"/>
              <a:t>16/10/2018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5730397-00AA-4B08-9BB2-18DFF2212D93}" type="datetimeFigureOut">
              <a:rPr lang="en-GB" smtClean="0"/>
              <a:t>16/10/2018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5730397-00AA-4B08-9BB2-18DFF2212D93}" type="datetimeFigureOut">
              <a:rPr lang="en-GB" smtClean="0"/>
              <a:t>16/10/2018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16/10/2018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16/10/2018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Footer Placeholder 4"/>
          <p:cNvSpPr>
            <a:spLocks noGrp="1"/>
          </p:cNvSpPr>
          <p:nvPr>
            <p:ph type="ftr" sz="quarter" idx="10"/>
          </p:nvPr>
        </p:nvSpPr>
        <p:spPr>
          <a:xfrm>
            <a:off x="3124200" y="6356350"/>
            <a:ext cx="2895600" cy="365125"/>
          </a:xfrm>
          <a:prstGeom prst="rect">
            <a:avLst/>
          </a:prstGeom>
        </p:spPr>
        <p:txBody>
          <a:bodyPr/>
          <a:lstStyle>
            <a:lvl1pPr>
              <a:defRPr>
                <a:solidFill>
                  <a:prstClr val="black"/>
                </a:solidFill>
                <a:latin typeface="Arial" pitchFamily="34" charset="0"/>
              </a:defRPr>
            </a:lvl1pPr>
          </a:lstStyle>
          <a:p>
            <a:pPr>
              <a:defRPr/>
            </a:pPr>
            <a:endParaRPr lang="en-GB"/>
          </a:p>
        </p:txBody>
      </p:sp>
      <p:sp>
        <p:nvSpPr>
          <p:cNvPr id="5" name="Slide Number Placeholder 5"/>
          <p:cNvSpPr>
            <a:spLocks noGrp="1"/>
          </p:cNvSpPr>
          <p:nvPr>
            <p:ph type="sldNum" sz="quarter" idx="11"/>
          </p:nvPr>
        </p:nvSpPr>
        <p:spPr>
          <a:xfrm>
            <a:off x="392113" y="6308725"/>
            <a:ext cx="2133600" cy="365125"/>
          </a:xfrm>
          <a:prstGeom prst="rect">
            <a:avLst/>
          </a:prstGeom>
        </p:spPr>
        <p:txBody>
          <a:bodyPr/>
          <a:lstStyle>
            <a:lvl1pPr algn="l" fontAlgn="auto">
              <a:spcBef>
                <a:spcPts val="0"/>
              </a:spcBef>
              <a:spcAft>
                <a:spcPts val="0"/>
              </a:spcAft>
              <a:defRPr sz="1200">
                <a:solidFill>
                  <a:prstClr val="black">
                    <a:tint val="75000"/>
                  </a:prstClr>
                </a:solidFill>
                <a:latin typeface="+mn-lt"/>
              </a:defRPr>
            </a:lvl1pPr>
          </a:lstStyle>
          <a:p>
            <a:pPr>
              <a:defRPr/>
            </a:pPr>
            <a:r>
              <a:rPr lang="en-GB"/>
              <a:t>LDC_HLS@gcu.ac.uk </a:t>
            </a:r>
          </a:p>
        </p:txBody>
      </p:sp>
    </p:spTree>
    <p:extLst>
      <p:ext uri="{BB962C8B-B14F-4D97-AF65-F5344CB8AC3E}">
        <p14:creationId xmlns:p14="http://schemas.microsoft.com/office/powerpoint/2010/main" val="2684911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B5730397-00AA-4B08-9BB2-18DFF2212D93}" type="datetimeFigureOut">
              <a:rPr lang="en-GB" smtClean="0"/>
              <a:t>16/10/2018</a:t>
            </a:fld>
            <a:endParaRPr lang="en-GB"/>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GB"/>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3AD490CA-5B5D-4516-97F7-B6BAE6EA95AB}"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uk.youtube.com/watch?v=9s0LqZMsfTQ"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ites.google.com/site/ldcgculear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6436" y="2276872"/>
            <a:ext cx="8458200" cy="1470025"/>
          </a:xfrm>
        </p:spPr>
        <p:txBody>
          <a:bodyPr>
            <a:normAutofit/>
          </a:bodyPr>
          <a:lstStyle/>
          <a:p>
            <a:r>
              <a:rPr lang="en-GB" dirty="0" smtClean="0"/>
              <a:t>Academic Writing at Masters Level</a:t>
            </a:r>
            <a:endParaRPr lang="en-GB" dirty="0"/>
          </a:p>
        </p:txBody>
      </p:sp>
      <p:sp>
        <p:nvSpPr>
          <p:cNvPr id="3" name="Subtitle 2"/>
          <p:cNvSpPr>
            <a:spLocks noGrp="1"/>
          </p:cNvSpPr>
          <p:nvPr>
            <p:ph type="subTitle" idx="1"/>
          </p:nvPr>
        </p:nvSpPr>
        <p:spPr>
          <a:xfrm>
            <a:off x="162287" y="3853006"/>
            <a:ext cx="4953000" cy="1752600"/>
          </a:xfrm>
        </p:spPr>
        <p:txBody>
          <a:bodyPr>
            <a:normAutofit/>
          </a:bodyPr>
          <a:lstStyle/>
          <a:p>
            <a:r>
              <a:rPr lang="en-GB" sz="2800" dirty="0"/>
              <a:t>MSc Advanced Paramedic Practice </a:t>
            </a:r>
          </a:p>
        </p:txBody>
      </p:sp>
      <p:sp>
        <p:nvSpPr>
          <p:cNvPr id="4" name="Subtitle 2"/>
          <p:cNvSpPr txBox="1">
            <a:spLocks/>
          </p:cNvSpPr>
          <p:nvPr/>
        </p:nvSpPr>
        <p:spPr>
          <a:xfrm>
            <a:off x="2339752" y="5319312"/>
            <a:ext cx="4847632" cy="1040845"/>
          </a:xfrm>
          <a:prstGeom prst="rect">
            <a:avLst/>
          </a:prstGeom>
        </p:spPr>
        <p:txBody>
          <a:bodyPr vert="horz">
            <a:normAutofit/>
          </a:bodyPr>
          <a:lstStyle>
            <a:lvl1pPr marL="0" indent="0" algn="ctr" rtl="0" eaLnBrk="1" latinLnBrk="0" hangingPunct="1">
              <a:spcBef>
                <a:spcPct val="20000"/>
              </a:spcBef>
              <a:buClr>
                <a:schemeClr val="accent1"/>
              </a:buClr>
              <a:buSzPct val="85000"/>
              <a:buFont typeface="Wingdings 2"/>
              <a:buNone/>
              <a:defRPr kumimoji="0" sz="1600" b="1" kern="1200" cap="all" spc="250" baseline="0">
                <a:solidFill>
                  <a:schemeClr val="tx2"/>
                </a:solidFill>
                <a:latin typeface="+mn-lt"/>
                <a:ea typeface="+mn-ea"/>
                <a:cs typeface="+mn-cs"/>
              </a:defRPr>
            </a:lvl1pPr>
            <a:lvl2pPr marL="457200" indent="0" algn="ctr" rtl="0" eaLnBrk="1" latinLnBrk="0" hangingPunct="1">
              <a:spcBef>
                <a:spcPct val="20000"/>
              </a:spcBef>
              <a:buClr>
                <a:schemeClr val="accent2"/>
              </a:buClr>
              <a:buSzPct val="70000"/>
              <a:buFont typeface="Wingdings"/>
              <a:buNone/>
              <a:defRPr kumimoji="0" sz="2200" kern="1200">
                <a:solidFill>
                  <a:schemeClr val="tx2"/>
                </a:solidFill>
                <a:latin typeface="+mn-lt"/>
                <a:ea typeface="+mn-ea"/>
                <a:cs typeface="+mn-cs"/>
              </a:defRPr>
            </a:lvl2pPr>
            <a:lvl3pPr marL="914400" indent="0" algn="ctr" rtl="0" eaLnBrk="1" latinLnBrk="0" hangingPunct="1">
              <a:spcBef>
                <a:spcPct val="20000"/>
              </a:spcBef>
              <a:buClr>
                <a:schemeClr val="accent3"/>
              </a:buClr>
              <a:buSzPct val="75000"/>
              <a:buFont typeface="Wingdings 2"/>
              <a:buNone/>
              <a:defRPr kumimoji="0" sz="2000" kern="1200">
                <a:solidFill>
                  <a:schemeClr val="tx1"/>
                </a:solidFill>
                <a:latin typeface="+mn-lt"/>
                <a:ea typeface="+mn-ea"/>
                <a:cs typeface="+mn-cs"/>
              </a:defRPr>
            </a:lvl3pPr>
            <a:lvl4pPr marL="1371600" indent="0" algn="ctr" rtl="0" eaLnBrk="1" latinLnBrk="0" hangingPunct="1">
              <a:spcBef>
                <a:spcPct val="20000"/>
              </a:spcBef>
              <a:buClr>
                <a:schemeClr val="accent4"/>
              </a:buClr>
              <a:buSzPct val="70000"/>
              <a:buFont typeface="Wingdings"/>
              <a:buNone/>
              <a:defRPr kumimoji="0" sz="2000" kern="1200">
                <a:solidFill>
                  <a:schemeClr val="tx2"/>
                </a:solidFill>
                <a:latin typeface="+mn-lt"/>
                <a:ea typeface="+mn-ea"/>
                <a:cs typeface="+mn-cs"/>
              </a:defRPr>
            </a:lvl4pPr>
            <a:lvl5pPr marL="1828800" indent="0" algn="ctr" rtl="0" eaLnBrk="1" latinLnBrk="0" hangingPunct="1">
              <a:spcBef>
                <a:spcPct val="20000"/>
              </a:spcBef>
              <a:buClr>
                <a:schemeClr val="accent5"/>
              </a:buClr>
              <a:buFontTx/>
              <a:buNone/>
              <a:defRPr kumimoji="0" sz="1800" kern="1200">
                <a:solidFill>
                  <a:schemeClr val="tx1"/>
                </a:solidFill>
                <a:latin typeface="+mn-lt"/>
                <a:ea typeface="+mn-ea"/>
                <a:cs typeface="+mn-cs"/>
              </a:defRPr>
            </a:lvl5pPr>
            <a:lvl6pPr marL="2286000" indent="0" algn="ctr" rtl="0" eaLnBrk="1" latinLnBrk="0" hangingPunct="1">
              <a:spcBef>
                <a:spcPct val="20000"/>
              </a:spcBef>
              <a:buClr>
                <a:schemeClr val="accent6"/>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1">
                  <a:shade val="75000"/>
                </a:schemeClr>
              </a:buClr>
              <a:buSzPct val="90000"/>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accent4">
                  <a:shade val="75000"/>
                </a:schemeClr>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accent2">
                  <a:shade val="75000"/>
                </a:schemeClr>
              </a:buClr>
              <a:buSzPct val="90000"/>
              <a:buNone/>
              <a:defRPr kumimoji="0" sz="1400" kern="1200" cap="all" baseline="0">
                <a:solidFill>
                  <a:schemeClr val="tx1"/>
                </a:solidFill>
                <a:latin typeface="+mn-lt"/>
                <a:ea typeface="+mn-ea"/>
                <a:cs typeface="+mn-cs"/>
              </a:defRPr>
            </a:lvl9pPr>
          </a:lstStyle>
          <a:p>
            <a:r>
              <a:rPr lang="en-GB" sz="2000" dirty="0" smtClean="0">
                <a:latin typeface="Calibri" panose="020F0502020204030204" pitchFamily="34" charset="0"/>
              </a:rPr>
              <a:t>Learning Development Centre</a:t>
            </a:r>
          </a:p>
          <a:p>
            <a:r>
              <a:rPr lang="en-GB" dirty="0" smtClean="0">
                <a:latin typeface="Calibri" panose="020F0502020204030204" pitchFamily="34" charset="0"/>
              </a:rPr>
              <a:t>Kim Williams  </a:t>
            </a:r>
          </a:p>
          <a:p>
            <a:r>
              <a:rPr lang="en-GB" dirty="0" smtClean="0">
                <a:latin typeface="Calibri" panose="020F0502020204030204" pitchFamily="34" charset="0"/>
              </a:rPr>
              <a:t>Academic Development Tutor</a:t>
            </a:r>
            <a:endParaRPr lang="en-GB" dirty="0">
              <a:latin typeface="Calibri" panose="020F0502020204030204" pitchFamily="34" charset="0"/>
            </a:endParaRPr>
          </a:p>
        </p:txBody>
      </p:sp>
      <p:pic>
        <p:nvPicPr>
          <p:cNvPr id="5" name="Picture 2" descr="http://www.gcu.ac.uk/library/SMIRK/images/gcu_200.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5445224"/>
            <a:ext cx="1440160" cy="8912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762" t="19030" r="29365" b="20243"/>
          <a:stretch/>
        </p:blipFill>
        <p:spPr bwMode="auto">
          <a:xfrm>
            <a:off x="7308304" y="188640"/>
            <a:ext cx="1591469" cy="1335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856034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1066800"/>
          </a:xfrm>
        </p:spPr>
        <p:txBody>
          <a:bodyPr/>
          <a:lstStyle/>
          <a:p>
            <a:r>
              <a:rPr lang="en-GB" dirty="0" smtClean="0"/>
              <a:t>Your assignment…</a:t>
            </a:r>
            <a:endParaRPr lang="en-GB" dirty="0"/>
          </a:p>
        </p:txBody>
      </p:sp>
      <p:sp>
        <p:nvSpPr>
          <p:cNvPr id="3" name="Content Placeholder 2"/>
          <p:cNvSpPr>
            <a:spLocks noGrp="1"/>
          </p:cNvSpPr>
          <p:nvPr>
            <p:ph idx="1"/>
          </p:nvPr>
        </p:nvSpPr>
        <p:spPr>
          <a:xfrm>
            <a:off x="467544" y="1700808"/>
            <a:ext cx="8229600" cy="4325112"/>
          </a:xfrm>
        </p:spPr>
        <p:txBody>
          <a:bodyPr>
            <a:normAutofit/>
          </a:bodyPr>
          <a:lstStyle/>
          <a:p>
            <a:pPr marL="109728" indent="0">
              <a:buNone/>
            </a:pPr>
            <a:r>
              <a:rPr lang="en-GB" b="1" dirty="0"/>
              <a:t>Coursework of 2000 words in an essay based on a selected case study.</a:t>
            </a:r>
            <a:r>
              <a:rPr lang="en-GB" dirty="0"/>
              <a:t> This coursework will allow students to evaluate the anatomical and pathophysiological knowledge used to underpin safe and effective assessment and diagnosis, synthesis and critical evaluation of evidence to support the management of the selected case study, including any appropriate onward referral or safety netting.</a:t>
            </a:r>
          </a:p>
          <a:p>
            <a:endParaRPr lang="en-GB" dirty="0"/>
          </a:p>
        </p:txBody>
      </p:sp>
    </p:spTree>
    <p:extLst>
      <p:ext uri="{BB962C8B-B14F-4D97-AF65-F5344CB8AC3E}">
        <p14:creationId xmlns:p14="http://schemas.microsoft.com/office/powerpoint/2010/main" val="14279503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908720"/>
            <a:ext cx="8229600" cy="1066800"/>
          </a:xfrm>
        </p:spPr>
        <p:txBody>
          <a:bodyPr/>
          <a:lstStyle/>
          <a:p>
            <a:r>
              <a:rPr lang="en-GB" dirty="0" smtClean="0"/>
              <a:t>What your marker is looking for…</a:t>
            </a:r>
            <a:endParaRPr lang="en-GB" dirty="0"/>
          </a:p>
        </p:txBody>
      </p:sp>
      <p:sp>
        <p:nvSpPr>
          <p:cNvPr id="3" name="Content Placeholder 2"/>
          <p:cNvSpPr>
            <a:spLocks noGrp="1"/>
          </p:cNvSpPr>
          <p:nvPr>
            <p:ph idx="1"/>
          </p:nvPr>
        </p:nvSpPr>
        <p:spPr>
          <a:xfrm>
            <a:off x="539552" y="1628800"/>
            <a:ext cx="8229600" cy="4325112"/>
          </a:xfrm>
        </p:spPr>
        <p:txBody>
          <a:bodyPr>
            <a:normAutofit fontScale="85000" lnSpcReduction="20000"/>
          </a:bodyPr>
          <a:lstStyle/>
          <a:p>
            <a:pPr marL="109728" indent="0">
              <a:buNone/>
            </a:pPr>
            <a:endParaRPr lang="en-US" dirty="0"/>
          </a:p>
          <a:p>
            <a:pPr marL="109728" indent="0">
              <a:buNone/>
            </a:pPr>
            <a:r>
              <a:rPr lang="en-US" dirty="0"/>
              <a:t>Task	</a:t>
            </a:r>
          </a:p>
          <a:p>
            <a:pPr marL="109728" indent="0">
              <a:buNone/>
            </a:pPr>
            <a:r>
              <a:rPr lang="en-US" dirty="0"/>
              <a:t>Select one Case Study to focus on for the purposes of this coursework. </a:t>
            </a:r>
          </a:p>
          <a:p>
            <a:pPr marL="109728" indent="0">
              <a:buNone/>
            </a:pPr>
            <a:endParaRPr lang="en-US" dirty="0"/>
          </a:p>
          <a:p>
            <a:pPr marL="624078" indent="-514350">
              <a:buAutoNum type="arabicParenR"/>
            </a:pPr>
            <a:r>
              <a:rPr lang="en-US" dirty="0" smtClean="0"/>
              <a:t>Identify </a:t>
            </a:r>
            <a:r>
              <a:rPr lang="en-US" dirty="0"/>
              <a:t>and critically evaluate the anatomical and pathophysiological knowledge required to underpin safe and effective assessment and diagnosis. (LO 1) </a:t>
            </a:r>
            <a:endParaRPr lang="en-US" dirty="0" smtClean="0"/>
          </a:p>
          <a:p>
            <a:pPr marL="624078" indent="-514350">
              <a:buAutoNum type="arabicParenR"/>
            </a:pPr>
            <a:endParaRPr lang="en-US" dirty="0"/>
          </a:p>
          <a:p>
            <a:pPr marL="624078" indent="-514350">
              <a:buFont typeface="Georgia"/>
              <a:buAutoNum type="arabicParenR"/>
            </a:pPr>
            <a:r>
              <a:rPr lang="en-GB" dirty="0"/>
              <a:t>Synthesise and critically evaluate the evidence to support management in the context of advanced paramedic practice and primary care, including appropriate onward referral or safety netting. (LO 4) </a:t>
            </a:r>
          </a:p>
          <a:p>
            <a:pPr marL="624078" indent="-514350">
              <a:buAutoNum type="arabicParenR"/>
            </a:pPr>
            <a:endParaRPr lang="en-US" dirty="0"/>
          </a:p>
          <a:p>
            <a:pPr marL="109728" indent="0">
              <a:buNone/>
            </a:pPr>
            <a:endParaRPr lang="en-GB" dirty="0"/>
          </a:p>
        </p:txBody>
      </p:sp>
    </p:spTree>
    <p:extLst>
      <p:ext uri="{BB962C8B-B14F-4D97-AF65-F5344CB8AC3E}">
        <p14:creationId xmlns:p14="http://schemas.microsoft.com/office/powerpoint/2010/main" val="13078753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204" y="476672"/>
            <a:ext cx="8229600" cy="1066800"/>
          </a:xfrm>
        </p:spPr>
        <p:txBody>
          <a:bodyPr/>
          <a:lstStyle/>
          <a:p>
            <a:r>
              <a:rPr lang="en-GB" dirty="0" smtClean="0"/>
              <a:t>One of the biggest barriers…</a:t>
            </a:r>
            <a:endParaRPr lang="en-GB" dirty="0"/>
          </a:p>
        </p:txBody>
      </p:sp>
      <p:sp>
        <p:nvSpPr>
          <p:cNvPr id="3" name="Content Placeholder 2"/>
          <p:cNvSpPr>
            <a:spLocks noGrp="1"/>
          </p:cNvSpPr>
          <p:nvPr>
            <p:ph idx="1"/>
          </p:nvPr>
        </p:nvSpPr>
        <p:spPr/>
        <p:txBody>
          <a:bodyPr/>
          <a:lstStyle/>
          <a:p>
            <a:endParaRPr lang="en-GB" dirty="0"/>
          </a:p>
        </p:txBody>
      </p:sp>
      <p:sp>
        <p:nvSpPr>
          <p:cNvPr id="4" name="Oval 3"/>
          <p:cNvSpPr/>
          <p:nvPr/>
        </p:nvSpPr>
        <p:spPr>
          <a:xfrm>
            <a:off x="3635896" y="2852936"/>
            <a:ext cx="1944216" cy="16561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smtClean="0"/>
              <a:t>FEAR</a:t>
            </a:r>
            <a:endParaRPr lang="en-GB" sz="2800" b="1" dirty="0"/>
          </a:p>
        </p:txBody>
      </p:sp>
      <p:sp>
        <p:nvSpPr>
          <p:cNvPr id="5" name="Oval Callout 4"/>
          <p:cNvSpPr/>
          <p:nvPr/>
        </p:nvSpPr>
        <p:spPr>
          <a:xfrm>
            <a:off x="6300192" y="1268760"/>
            <a:ext cx="1944216" cy="1512168"/>
          </a:xfrm>
          <a:prstGeom prst="wedgeEllipseCallout">
            <a:avLst>
              <a:gd name="adj1" fmla="val -94740"/>
              <a:gd name="adj2" fmla="val 844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“I’m not academic”</a:t>
            </a:r>
            <a:endParaRPr lang="en-GB" dirty="0"/>
          </a:p>
        </p:txBody>
      </p:sp>
      <p:sp>
        <p:nvSpPr>
          <p:cNvPr id="6" name="Oval Callout 5"/>
          <p:cNvSpPr/>
          <p:nvPr/>
        </p:nvSpPr>
        <p:spPr>
          <a:xfrm>
            <a:off x="755576" y="1340768"/>
            <a:ext cx="2304256" cy="1512168"/>
          </a:xfrm>
          <a:prstGeom prst="wedgeEllipseCallout">
            <a:avLst>
              <a:gd name="adj1" fmla="val 74815"/>
              <a:gd name="adj2" fmla="val 750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 can’t write ‘academically’</a:t>
            </a:r>
            <a:endParaRPr lang="en-GB" dirty="0"/>
          </a:p>
        </p:txBody>
      </p:sp>
      <p:sp>
        <p:nvSpPr>
          <p:cNvPr id="7" name="TextBox 6"/>
          <p:cNvSpPr txBox="1"/>
          <p:nvPr/>
        </p:nvSpPr>
        <p:spPr>
          <a:xfrm>
            <a:off x="575556" y="4653136"/>
            <a:ext cx="8064896" cy="1815882"/>
          </a:xfrm>
          <a:prstGeom prst="rect">
            <a:avLst/>
          </a:prstGeom>
          <a:noFill/>
        </p:spPr>
        <p:txBody>
          <a:bodyPr wrap="square" rtlCol="0">
            <a:spAutoFit/>
          </a:bodyPr>
          <a:lstStyle/>
          <a:p>
            <a:pPr marL="285750" indent="-285750" algn="ctr">
              <a:buFont typeface="Arial" panose="020B0604020202020204" pitchFamily="34" charset="0"/>
              <a:buChar char="•"/>
            </a:pPr>
            <a:r>
              <a:rPr lang="en-GB" sz="2800" b="1" dirty="0" smtClean="0"/>
              <a:t>Academic writing is simply a learned skill </a:t>
            </a:r>
          </a:p>
          <a:p>
            <a:pPr marL="285750" indent="-285750" algn="ctr">
              <a:buFont typeface="Arial" panose="020B0604020202020204" pitchFamily="34" charset="0"/>
              <a:buChar char="•"/>
            </a:pPr>
            <a:endParaRPr lang="en-GB" sz="2800" b="1" dirty="0"/>
          </a:p>
          <a:p>
            <a:pPr marL="285750" indent="-285750" algn="ctr">
              <a:buFont typeface="Arial" panose="020B0604020202020204" pitchFamily="34" charset="0"/>
              <a:buChar char="•"/>
            </a:pPr>
            <a:r>
              <a:rPr lang="en-GB" sz="2800" b="1" dirty="0" smtClean="0"/>
              <a:t>It has rules and regulations – just like driving a car! </a:t>
            </a:r>
            <a:endParaRPr lang="en-GB" sz="2800" b="1" dirty="0"/>
          </a:p>
        </p:txBody>
      </p:sp>
    </p:spTree>
    <p:extLst>
      <p:ext uri="{BB962C8B-B14F-4D97-AF65-F5344CB8AC3E}">
        <p14:creationId xmlns:p14="http://schemas.microsoft.com/office/powerpoint/2010/main" val="183686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636" y="548680"/>
            <a:ext cx="8229600" cy="1066800"/>
          </a:xfrm>
        </p:spPr>
        <p:txBody>
          <a:bodyPr/>
          <a:lstStyle/>
          <a:p>
            <a:r>
              <a:rPr lang="en-GB" dirty="0" smtClean="0">
                <a:solidFill>
                  <a:schemeClr val="tx1"/>
                </a:solidFill>
              </a:rPr>
              <a:t>Keep your mind-set positive…</a:t>
            </a:r>
            <a:endParaRPr lang="en-GB" dirty="0">
              <a:solidFill>
                <a:schemeClr val="tx1"/>
              </a:solidFill>
            </a:endParaRPr>
          </a:p>
        </p:txBody>
      </p:sp>
      <p:sp>
        <p:nvSpPr>
          <p:cNvPr id="3" name="Content Placeholder 2"/>
          <p:cNvSpPr>
            <a:spLocks noGrp="1"/>
          </p:cNvSpPr>
          <p:nvPr>
            <p:ph idx="1"/>
          </p:nvPr>
        </p:nvSpPr>
        <p:spPr>
          <a:xfrm>
            <a:off x="486278" y="1368030"/>
            <a:ext cx="8229600" cy="4525963"/>
          </a:xfrm>
        </p:spPr>
        <p:txBody>
          <a:bodyPr/>
          <a:lstStyle/>
          <a:p>
            <a:pPr marL="0" indent="0">
              <a:buNone/>
            </a:pPr>
            <a:endParaRPr lang="en-US" dirty="0"/>
          </a:p>
          <a:p>
            <a:pPr marL="0" indent="0">
              <a:buNone/>
            </a:pPr>
            <a:r>
              <a:rPr lang="en-US" sz="4800" dirty="0" smtClean="0"/>
              <a:t>“It's </a:t>
            </a:r>
            <a:r>
              <a:rPr lang="en-US" sz="4800" dirty="0"/>
              <a:t>not that I'm so smart, it's just that I stay with problems </a:t>
            </a:r>
            <a:r>
              <a:rPr lang="en-US" sz="4800" dirty="0" smtClean="0"/>
              <a:t>longer" </a:t>
            </a:r>
            <a:endParaRPr lang="en-GB" sz="4800" dirty="0"/>
          </a:p>
        </p:txBody>
      </p:sp>
      <p:pic>
        <p:nvPicPr>
          <p:cNvPr id="2050" name="Picture 2" descr="Image result for albert einst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19713">
            <a:off x="5673432" y="3740414"/>
            <a:ext cx="1915476" cy="19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3441697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Discuss…</a:t>
            </a:r>
            <a:endParaRPr lang="en-GB" dirty="0"/>
          </a:p>
        </p:txBody>
      </p:sp>
      <p:sp>
        <p:nvSpPr>
          <p:cNvPr id="3" name="Content Placeholder 2"/>
          <p:cNvSpPr>
            <a:spLocks noGrp="1"/>
          </p:cNvSpPr>
          <p:nvPr>
            <p:ph idx="1"/>
          </p:nvPr>
        </p:nvSpPr>
        <p:spPr/>
        <p:txBody>
          <a:bodyPr/>
          <a:lstStyle/>
          <a:p>
            <a:pPr marL="109728" indent="0" algn="ctr">
              <a:buNone/>
            </a:pPr>
            <a:r>
              <a:rPr lang="en-GB" sz="4000" dirty="0" smtClean="0"/>
              <a:t>What are your concerns about academic writing at Masters level?</a:t>
            </a:r>
          </a:p>
          <a:p>
            <a:pPr marL="109728" indent="0">
              <a:buNone/>
            </a:pPr>
            <a:endParaRPr lang="en-GB" dirty="0"/>
          </a:p>
        </p:txBody>
      </p:sp>
      <p:pic>
        <p:nvPicPr>
          <p:cNvPr id="4" name="Picture 4" descr="O:\Images\Morph\question_mar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645024"/>
            <a:ext cx="2815974"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77969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908720"/>
            <a:ext cx="8229600" cy="1066800"/>
          </a:xfrm>
        </p:spPr>
        <p:txBody>
          <a:bodyPr/>
          <a:lstStyle/>
          <a:p>
            <a:r>
              <a:rPr lang="en-GB" dirty="0" smtClean="0"/>
              <a:t>Overall Learning Objective</a:t>
            </a:r>
            <a:endParaRPr lang="en-GB" dirty="0"/>
          </a:p>
        </p:txBody>
      </p:sp>
      <p:sp>
        <p:nvSpPr>
          <p:cNvPr id="3" name="Content Placeholder 2"/>
          <p:cNvSpPr>
            <a:spLocks noGrp="1"/>
          </p:cNvSpPr>
          <p:nvPr>
            <p:ph idx="1"/>
          </p:nvPr>
        </p:nvSpPr>
        <p:spPr>
          <a:xfrm>
            <a:off x="827584" y="1916832"/>
            <a:ext cx="7787208" cy="4325112"/>
          </a:xfrm>
        </p:spPr>
        <p:txBody>
          <a:bodyPr/>
          <a:lstStyle/>
          <a:p>
            <a:pPr marL="0" indent="0">
              <a:buNone/>
            </a:pPr>
            <a:r>
              <a:rPr lang="en-GB" dirty="0" smtClean="0"/>
              <a:t>By the end of today’s session we will be able to demonstrate our understanding of: </a:t>
            </a:r>
          </a:p>
          <a:p>
            <a:pPr marL="0" indent="0">
              <a:buNone/>
            </a:pPr>
            <a:endParaRPr lang="en-GB" dirty="0" smtClean="0"/>
          </a:p>
          <a:p>
            <a:pPr marL="457200" indent="-457200">
              <a:buFont typeface="Wingdings" panose="05000000000000000000" pitchFamily="2" charset="2"/>
              <a:buChar char="ü"/>
            </a:pPr>
            <a:r>
              <a:rPr lang="en-GB" dirty="0"/>
              <a:t>How to effectively plan for a piece of academic writing</a:t>
            </a:r>
          </a:p>
          <a:p>
            <a:pPr marL="0" indent="0">
              <a:buNone/>
            </a:pPr>
            <a:endParaRPr lang="en-GB" dirty="0" smtClean="0"/>
          </a:p>
          <a:p>
            <a:pPr marL="457200" indent="-457200">
              <a:buFont typeface="Wingdings" panose="05000000000000000000" pitchFamily="2" charset="2"/>
              <a:buChar char="ü"/>
            </a:pPr>
            <a:r>
              <a:rPr lang="en-GB" dirty="0" smtClean="0"/>
              <a:t>The conventions of academic writing</a:t>
            </a:r>
          </a:p>
          <a:p>
            <a:pPr marL="0" indent="0">
              <a:buNone/>
            </a:pPr>
            <a:endParaRPr lang="en-GB" dirty="0"/>
          </a:p>
          <a:p>
            <a:pPr marL="0" indent="0">
              <a:buNone/>
            </a:pPr>
            <a:r>
              <a:rPr lang="en-GB" dirty="0" smtClean="0"/>
              <a:t>Next session: Critical writing and Referencing</a:t>
            </a:r>
            <a:endParaRPr lang="en-GB" dirty="0"/>
          </a:p>
        </p:txBody>
      </p:sp>
    </p:spTree>
    <p:extLst>
      <p:ext uri="{BB962C8B-B14F-4D97-AF65-F5344CB8AC3E}">
        <p14:creationId xmlns:p14="http://schemas.microsoft.com/office/powerpoint/2010/main" val="76811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1700808"/>
            <a:ext cx="7520940" cy="3579849"/>
          </a:xfrm>
        </p:spPr>
        <p:txBody>
          <a:bodyPr>
            <a:noAutofit/>
          </a:bodyPr>
          <a:lstStyle/>
          <a:p>
            <a:pPr marL="109728" indent="0" algn="ctr">
              <a:buNone/>
            </a:pPr>
            <a:r>
              <a:rPr lang="en-GB" sz="7200" dirty="0" smtClean="0"/>
              <a:t>PLANNING FOR ACADEMIC WRITING</a:t>
            </a:r>
            <a:endParaRPr lang="en-GB" sz="7200" dirty="0"/>
          </a:p>
        </p:txBody>
      </p:sp>
    </p:spTree>
    <p:extLst>
      <p:ext uri="{BB962C8B-B14F-4D97-AF65-F5344CB8AC3E}">
        <p14:creationId xmlns:p14="http://schemas.microsoft.com/office/powerpoint/2010/main" val="12672422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Planning your case study</a:t>
            </a:r>
            <a:endParaRPr lang="en-GB" dirty="0"/>
          </a:p>
        </p:txBody>
      </p:sp>
      <p:sp>
        <p:nvSpPr>
          <p:cNvPr id="3" name="Content Placeholder 2"/>
          <p:cNvSpPr>
            <a:spLocks noGrp="1"/>
          </p:cNvSpPr>
          <p:nvPr>
            <p:ph idx="1"/>
          </p:nvPr>
        </p:nvSpPr>
        <p:spPr>
          <a:xfrm>
            <a:off x="899592" y="2060848"/>
            <a:ext cx="7520940" cy="3912548"/>
          </a:xfrm>
        </p:spPr>
        <p:txBody>
          <a:bodyPr>
            <a:normAutofit/>
          </a:bodyPr>
          <a:lstStyle/>
          <a:p>
            <a:pPr marL="514350" indent="-514350">
              <a:buFont typeface="+mj-lt"/>
              <a:buAutoNum type="arabicPeriod"/>
              <a:defRPr/>
            </a:pPr>
            <a:endParaRPr lang="en-GB" dirty="0" smtClean="0"/>
          </a:p>
          <a:p>
            <a:pPr marL="514350" indent="-514350">
              <a:buFont typeface="+mj-lt"/>
              <a:buAutoNum type="arabicPeriod"/>
              <a:defRPr/>
            </a:pPr>
            <a:r>
              <a:rPr lang="en-GB" sz="2400" b="0" dirty="0" smtClean="0"/>
              <a:t>Interpret </a:t>
            </a:r>
            <a:r>
              <a:rPr lang="en-GB" sz="2400" b="0" dirty="0"/>
              <a:t>the question</a:t>
            </a:r>
          </a:p>
          <a:p>
            <a:pPr marL="514350" indent="-514350">
              <a:buFont typeface="+mj-lt"/>
              <a:buAutoNum type="arabicPeriod"/>
              <a:defRPr/>
            </a:pPr>
            <a:r>
              <a:rPr lang="en-GB" sz="2400" b="0" dirty="0"/>
              <a:t>Locate the information</a:t>
            </a:r>
          </a:p>
          <a:p>
            <a:pPr marL="514350" indent="-514350">
              <a:buFont typeface="+mj-lt"/>
              <a:buAutoNum type="arabicPeriod"/>
              <a:defRPr/>
            </a:pPr>
            <a:r>
              <a:rPr lang="en-GB" sz="2400" b="0" dirty="0"/>
              <a:t>Read and take notes</a:t>
            </a:r>
          </a:p>
          <a:p>
            <a:pPr marL="514350" indent="-514350">
              <a:buFont typeface="+mj-lt"/>
              <a:buAutoNum type="arabicPeriod"/>
              <a:defRPr/>
            </a:pPr>
            <a:r>
              <a:rPr lang="en-GB" sz="2400" b="0" dirty="0"/>
              <a:t>Write a plan</a:t>
            </a:r>
          </a:p>
          <a:p>
            <a:pPr marL="514350" indent="-514350">
              <a:buFont typeface="+mj-lt"/>
              <a:buAutoNum type="arabicPeriod"/>
              <a:defRPr/>
            </a:pPr>
            <a:r>
              <a:rPr lang="en-GB" sz="2400" b="0" dirty="0"/>
              <a:t>Write </a:t>
            </a:r>
            <a:r>
              <a:rPr lang="en-GB" sz="2400" b="0" dirty="0" smtClean="0"/>
              <a:t>the introduction</a:t>
            </a:r>
          </a:p>
          <a:p>
            <a:pPr marL="514350" indent="-514350">
              <a:buFont typeface="+mj-lt"/>
              <a:buAutoNum type="arabicPeriod"/>
              <a:defRPr/>
            </a:pPr>
            <a:r>
              <a:rPr lang="en-GB" sz="2400" b="0" dirty="0" smtClean="0"/>
              <a:t>Write the main body and conclusion</a:t>
            </a:r>
            <a:endParaRPr lang="en-GB" sz="2400" b="0" dirty="0"/>
          </a:p>
          <a:p>
            <a:pPr marL="514350" indent="-514350">
              <a:buFont typeface="+mj-lt"/>
              <a:buAutoNum type="arabicPeriod"/>
              <a:defRPr/>
            </a:pPr>
            <a:r>
              <a:rPr lang="en-GB" sz="2400" b="0" dirty="0"/>
              <a:t>Review &amp; edit</a:t>
            </a:r>
          </a:p>
          <a:p>
            <a:endParaRPr lang="en-GB" sz="2400" b="0" dirty="0"/>
          </a:p>
        </p:txBody>
      </p:sp>
    </p:spTree>
    <p:extLst>
      <p:ext uri="{BB962C8B-B14F-4D97-AF65-F5344CB8AC3E}">
        <p14:creationId xmlns:p14="http://schemas.microsoft.com/office/powerpoint/2010/main" val="6435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44035" name="Content Placeholder 2"/>
          <p:cNvSpPr>
            <a:spLocks noGrp="1"/>
          </p:cNvSpPr>
          <p:nvPr>
            <p:ph idx="1"/>
          </p:nvPr>
        </p:nvSpPr>
        <p:spPr bwMode="auto">
          <a:xfrm>
            <a:off x="457200" y="1844675"/>
            <a:ext cx="8229600" cy="4584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buClr>
                <a:srgbClr val="002060"/>
              </a:buClr>
              <a:buFont typeface="Arial" pitchFamily="34" charset="0"/>
              <a:buNone/>
            </a:pPr>
            <a:r>
              <a:rPr lang="en-GB" altLang="en-US" i="1" dirty="0" smtClean="0">
                <a:solidFill>
                  <a:schemeClr val="bg1"/>
                </a:solidFill>
              </a:rPr>
              <a:t>dress patients?</a:t>
            </a:r>
          </a:p>
        </p:txBody>
      </p:sp>
      <p:sp>
        <p:nvSpPr>
          <p:cNvPr id="7" name="Title 5"/>
          <p:cNvSpPr txBox="1">
            <a:spLocks/>
          </p:cNvSpPr>
          <p:nvPr/>
        </p:nvSpPr>
        <p:spPr bwMode="auto">
          <a:xfrm>
            <a:off x="323528" y="188913"/>
            <a:ext cx="8229600" cy="936625"/>
          </a:xfrm>
          <a:prstGeom prst="rect">
            <a:avLst/>
          </a:prstGeom>
          <a:noFill/>
          <a:ln w="9525">
            <a:noFill/>
            <a:miter lim="800000"/>
            <a:headEnd/>
            <a:tailEnd/>
          </a:ln>
        </p:spPr>
        <p:txBody>
          <a:bodyPr anchor="ctr"/>
          <a:lstStyle/>
          <a:p>
            <a:pPr eaLnBrk="0" hangingPunct="0">
              <a:defRPr/>
            </a:pPr>
            <a:r>
              <a:rPr lang="en-GB" sz="4400" b="1" dirty="0" smtClean="0">
                <a:latin typeface="+mj-lt"/>
                <a:ea typeface="+mj-ea"/>
                <a:cs typeface="+mj-cs"/>
              </a:rPr>
              <a:t> </a:t>
            </a:r>
            <a:r>
              <a:rPr lang="en-GB" sz="2800" dirty="0" smtClean="0">
                <a:latin typeface="+mj-lt"/>
                <a:ea typeface="+mj-ea"/>
                <a:cs typeface="+mj-cs"/>
              </a:rPr>
              <a:t>STEP 1: INTERPRET THE QUESTION</a:t>
            </a:r>
            <a:endParaRPr lang="en-GB" sz="2800" dirty="0">
              <a:latin typeface="+mj-lt"/>
              <a:ea typeface="+mj-ea"/>
              <a:cs typeface="+mj-cs"/>
            </a:endParaRPr>
          </a:p>
        </p:txBody>
      </p:sp>
      <p:sp>
        <p:nvSpPr>
          <p:cNvPr id="8" name="Content Placeholder 2"/>
          <p:cNvSpPr txBox="1">
            <a:spLocks/>
          </p:cNvSpPr>
          <p:nvPr/>
        </p:nvSpPr>
        <p:spPr bwMode="auto">
          <a:xfrm>
            <a:off x="755576" y="1125535"/>
            <a:ext cx="8229600" cy="5000625"/>
          </a:xfrm>
          <a:prstGeom prst="rect">
            <a:avLst/>
          </a:prstGeom>
          <a:noFill/>
          <a:ln w="9525">
            <a:noFill/>
            <a:miter lim="800000"/>
            <a:headEnd/>
            <a:tailEnd/>
          </a:ln>
        </p:spPr>
        <p:txBody>
          <a:bodyPr/>
          <a:lstStyle/>
          <a:p>
            <a:pPr marL="109728" indent="0">
              <a:buNone/>
            </a:pPr>
            <a:r>
              <a:rPr lang="en-GB" sz="2800" b="1" dirty="0"/>
              <a:t>Coursework of 2000 words in an essay based on a selected case study.</a:t>
            </a:r>
            <a:r>
              <a:rPr lang="en-GB" sz="2800" dirty="0"/>
              <a:t> This coursework will allow students to evaluate the anatomical and pathophysiological knowledge used to underpin safe and effective assessment and diagnosis, synthesis and critical evaluation of evidence to support the management of the selected case study, including any appropriate onward referral or safety netting.</a:t>
            </a:r>
          </a:p>
          <a:p>
            <a:pPr algn="ctr">
              <a:spcBef>
                <a:spcPct val="20000"/>
              </a:spcBef>
              <a:buClr>
                <a:srgbClr val="002060"/>
              </a:buClr>
              <a:defRPr/>
            </a:pPr>
            <a:r>
              <a:rPr lang="en-GB" sz="2400" i="1" dirty="0" smtClean="0">
                <a:solidFill>
                  <a:srgbClr val="FF0000"/>
                </a:solidFill>
              </a:rPr>
              <a:t>It</a:t>
            </a:r>
            <a:r>
              <a:rPr lang="en-GB" sz="2400" dirty="0" smtClean="0">
                <a:solidFill>
                  <a:srgbClr val="FF0000"/>
                </a:solidFill>
              </a:rPr>
              <a:t> </a:t>
            </a:r>
            <a:r>
              <a:rPr lang="en-GB" sz="2400" i="1" dirty="0" smtClean="0">
                <a:solidFill>
                  <a:srgbClr val="FF0000"/>
                </a:solidFill>
              </a:rPr>
              <a:t>isn’t really a question! But you can break it down into its component parts and ensure you understand each of these…</a:t>
            </a:r>
            <a:endParaRPr lang="en-GB" sz="2000" i="1" dirty="0">
              <a:solidFill>
                <a:srgbClr val="FF0000"/>
              </a:solidFill>
            </a:endParaRPr>
          </a:p>
        </p:txBody>
      </p:sp>
    </p:spTree>
    <p:extLst>
      <p:ext uri="{BB962C8B-B14F-4D97-AF65-F5344CB8AC3E}">
        <p14:creationId xmlns:p14="http://schemas.microsoft.com/office/powerpoint/2010/main" val="306741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49155" name="Content Placeholder 2"/>
          <p:cNvSpPr>
            <a:spLocks noGrp="1"/>
          </p:cNvSpPr>
          <p:nvPr>
            <p:ph idx="1"/>
          </p:nvPr>
        </p:nvSpPr>
        <p:spPr bwMode="auto">
          <a:xfrm>
            <a:off x="457200" y="1844675"/>
            <a:ext cx="8229600" cy="4584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buClr>
                <a:srgbClr val="002060"/>
              </a:buClr>
              <a:buFont typeface="Arial" pitchFamily="34" charset="0"/>
              <a:buNone/>
            </a:pPr>
            <a:r>
              <a:rPr lang="en-GB" altLang="en-US" i="1" smtClean="0">
                <a:solidFill>
                  <a:schemeClr val="bg1"/>
                </a:solidFill>
              </a:rPr>
              <a:t>dress patients?</a:t>
            </a:r>
          </a:p>
        </p:txBody>
      </p:sp>
      <p:sp>
        <p:nvSpPr>
          <p:cNvPr id="49156" name="Title 5"/>
          <p:cNvSpPr txBox="1">
            <a:spLocks/>
          </p:cNvSpPr>
          <p:nvPr/>
        </p:nvSpPr>
        <p:spPr bwMode="auto">
          <a:xfrm>
            <a:off x="547688" y="188913"/>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r>
              <a:rPr lang="en-GB" altLang="en-US" sz="4400" b="1" dirty="0">
                <a:solidFill>
                  <a:srgbClr val="000000"/>
                </a:solidFill>
                <a:cs typeface="Arial" pitchFamily="34" charset="0"/>
              </a:rPr>
              <a:t> </a:t>
            </a:r>
            <a:r>
              <a:rPr lang="en-GB" altLang="en-US" sz="2800" dirty="0" smtClean="0">
                <a:latin typeface="+mj-lt"/>
                <a:cs typeface="Arial" pitchFamily="34" charset="0"/>
              </a:rPr>
              <a:t>STEP 2: LOCATE INFORMATION</a:t>
            </a:r>
            <a:endParaRPr lang="en-GB" altLang="en-US" sz="2800" dirty="0">
              <a:latin typeface="+mj-lt"/>
              <a:cs typeface="Arial" pitchFamily="34" charset="0"/>
            </a:endParaRPr>
          </a:p>
        </p:txBody>
      </p:sp>
      <p:sp>
        <p:nvSpPr>
          <p:cNvPr id="49157" name="Content Placeholder 2"/>
          <p:cNvSpPr txBox="1">
            <a:spLocks/>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Clr>
                <a:srgbClr val="002060"/>
              </a:buClr>
              <a:buFont typeface="Arial" pitchFamily="34" charset="0"/>
              <a:buChar char="•"/>
            </a:pPr>
            <a:endParaRPr lang="en-GB" altLang="en-US" sz="3200">
              <a:solidFill>
                <a:srgbClr val="000000"/>
              </a:solidFill>
              <a:cs typeface="Arial" pitchFamily="34" charset="0"/>
            </a:endParaRPr>
          </a:p>
        </p:txBody>
      </p:sp>
      <p:sp>
        <p:nvSpPr>
          <p:cNvPr id="49158" name="Content Placeholder 2"/>
          <p:cNvSpPr txBox="1">
            <a:spLocks/>
          </p:cNvSpPr>
          <p:nvPr/>
        </p:nvSpPr>
        <p:spPr bwMode="auto">
          <a:xfrm>
            <a:off x="457200" y="1428750"/>
            <a:ext cx="8229600" cy="502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marL="457200" indent="-457200" eaLnBrk="1" hangingPunct="1">
              <a:spcBef>
                <a:spcPct val="20000"/>
              </a:spcBef>
              <a:buClr>
                <a:srgbClr val="002060"/>
              </a:buClr>
              <a:buFont typeface="Wingdings" panose="05000000000000000000" pitchFamily="2" charset="2"/>
              <a:buChar char="ü"/>
            </a:pPr>
            <a:r>
              <a:rPr lang="en-GB" altLang="en-US" sz="3200" dirty="0">
                <a:solidFill>
                  <a:srgbClr val="000000"/>
                </a:solidFill>
                <a:latin typeface="+mn-lt"/>
                <a:cs typeface="Arial" pitchFamily="34" charset="0"/>
              </a:rPr>
              <a:t>Text books – general overview; journal articles – more specific</a:t>
            </a:r>
          </a:p>
          <a:p>
            <a:pPr marL="457200" indent="-457200" eaLnBrk="1" hangingPunct="1">
              <a:spcBef>
                <a:spcPct val="20000"/>
              </a:spcBef>
              <a:buClr>
                <a:srgbClr val="002060"/>
              </a:buClr>
              <a:buFont typeface="Wingdings" panose="05000000000000000000" pitchFamily="2" charset="2"/>
              <a:buChar char="ü"/>
            </a:pPr>
            <a:r>
              <a:rPr lang="en-GB" altLang="en-US" sz="3200" dirty="0">
                <a:solidFill>
                  <a:srgbClr val="000000"/>
                </a:solidFill>
                <a:latin typeface="+mn-lt"/>
                <a:cs typeface="Arial" pitchFamily="34" charset="0"/>
              </a:rPr>
              <a:t>Make sure include relevant material from lectures (but </a:t>
            </a:r>
            <a:r>
              <a:rPr lang="en-GB" altLang="en-US" sz="3200" dirty="0" smtClean="0">
                <a:solidFill>
                  <a:srgbClr val="000000"/>
                </a:solidFill>
                <a:latin typeface="+mn-lt"/>
                <a:cs typeface="Arial" pitchFamily="34" charset="0"/>
              </a:rPr>
              <a:t>do not </a:t>
            </a:r>
            <a:r>
              <a:rPr lang="en-GB" altLang="en-US" sz="3200" dirty="0">
                <a:solidFill>
                  <a:srgbClr val="000000"/>
                </a:solidFill>
                <a:latin typeface="+mn-lt"/>
                <a:cs typeface="Arial" pitchFamily="34" charset="0"/>
              </a:rPr>
              <a:t>reference lecture notes)</a:t>
            </a:r>
          </a:p>
          <a:p>
            <a:pPr marL="457200" indent="-457200" eaLnBrk="1" hangingPunct="1">
              <a:spcBef>
                <a:spcPct val="20000"/>
              </a:spcBef>
              <a:buClr>
                <a:srgbClr val="002060"/>
              </a:buClr>
              <a:buFont typeface="Wingdings" panose="05000000000000000000" pitchFamily="2" charset="2"/>
              <a:buChar char="ü"/>
            </a:pPr>
            <a:r>
              <a:rPr lang="en-GB" altLang="en-US" sz="3200" dirty="0">
                <a:solidFill>
                  <a:srgbClr val="000000"/>
                </a:solidFill>
                <a:latin typeface="+mn-lt"/>
                <a:cs typeface="Arial" pitchFamily="34" charset="0"/>
              </a:rPr>
              <a:t>Use recommended reading list and beyond</a:t>
            </a:r>
          </a:p>
          <a:p>
            <a:pPr marL="457200" indent="-457200" eaLnBrk="1" hangingPunct="1">
              <a:spcBef>
                <a:spcPct val="20000"/>
              </a:spcBef>
              <a:buClr>
                <a:srgbClr val="002060"/>
              </a:buClr>
              <a:buFont typeface="Wingdings" panose="05000000000000000000" pitchFamily="2" charset="2"/>
              <a:buChar char="ü"/>
            </a:pPr>
            <a:r>
              <a:rPr lang="en-GB" altLang="en-US" sz="3200" dirty="0">
                <a:solidFill>
                  <a:srgbClr val="000000"/>
                </a:solidFill>
                <a:latin typeface="+mn-lt"/>
                <a:cs typeface="Arial" pitchFamily="34" charset="0"/>
              </a:rPr>
              <a:t>Use electronic databases</a:t>
            </a:r>
          </a:p>
          <a:p>
            <a:pPr marL="914400" lvl="1" indent="-457200" eaLnBrk="1" hangingPunct="1">
              <a:spcBef>
                <a:spcPct val="20000"/>
              </a:spcBef>
              <a:buClr>
                <a:srgbClr val="7030A0"/>
              </a:buClr>
              <a:buFont typeface="Wingdings" panose="05000000000000000000" pitchFamily="2" charset="2"/>
              <a:buChar char="ü"/>
            </a:pPr>
            <a:endParaRPr lang="en-GB" altLang="en-US" sz="3200" dirty="0">
              <a:solidFill>
                <a:srgbClr val="FFFFFF"/>
              </a:solidFill>
              <a:cs typeface="Arial" pitchFamily="34" charset="0"/>
            </a:endParaRPr>
          </a:p>
        </p:txBody>
      </p:sp>
    </p:spTree>
    <p:extLst>
      <p:ext uri="{BB962C8B-B14F-4D97-AF65-F5344CB8AC3E}">
        <p14:creationId xmlns:p14="http://schemas.microsoft.com/office/powerpoint/2010/main" val="398846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158">
                                            <p:txEl>
                                              <p:pRg st="0" end="0"/>
                                            </p:txEl>
                                          </p:spTgt>
                                        </p:tgtEl>
                                        <p:attrNameLst>
                                          <p:attrName>style.visibility</p:attrName>
                                        </p:attrNameLst>
                                      </p:cBhvr>
                                      <p:to>
                                        <p:strVal val="visible"/>
                                      </p:to>
                                    </p:set>
                                    <p:animEffect transition="in" filter="fade">
                                      <p:cBhvr>
                                        <p:cTn id="7" dur="500"/>
                                        <p:tgtEl>
                                          <p:spTgt spid="49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158">
                                            <p:txEl>
                                              <p:pRg st="1" end="1"/>
                                            </p:txEl>
                                          </p:spTgt>
                                        </p:tgtEl>
                                        <p:attrNameLst>
                                          <p:attrName>style.visibility</p:attrName>
                                        </p:attrNameLst>
                                      </p:cBhvr>
                                      <p:to>
                                        <p:strVal val="visible"/>
                                      </p:to>
                                    </p:set>
                                    <p:animEffect transition="in" filter="fade">
                                      <p:cBhvr>
                                        <p:cTn id="12" dur="500"/>
                                        <p:tgtEl>
                                          <p:spTgt spid="491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158">
                                            <p:txEl>
                                              <p:pRg st="2" end="2"/>
                                            </p:txEl>
                                          </p:spTgt>
                                        </p:tgtEl>
                                        <p:attrNameLst>
                                          <p:attrName>style.visibility</p:attrName>
                                        </p:attrNameLst>
                                      </p:cBhvr>
                                      <p:to>
                                        <p:strVal val="visible"/>
                                      </p:to>
                                    </p:set>
                                    <p:animEffect transition="in" filter="fade">
                                      <p:cBhvr>
                                        <p:cTn id="17" dur="500"/>
                                        <p:tgtEl>
                                          <p:spTgt spid="491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158">
                                            <p:txEl>
                                              <p:pRg st="3" end="3"/>
                                            </p:txEl>
                                          </p:spTgt>
                                        </p:tgtEl>
                                        <p:attrNameLst>
                                          <p:attrName>style.visibility</p:attrName>
                                        </p:attrNameLst>
                                      </p:cBhvr>
                                      <p:to>
                                        <p:strVal val="visible"/>
                                      </p:to>
                                    </p:set>
                                    <p:animEffect transition="in" filter="fade">
                                      <p:cBhvr>
                                        <p:cTn id="22" dur="500"/>
                                        <p:tgtEl>
                                          <p:spTgt spid="491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50179" name="Content Placeholder 2"/>
          <p:cNvSpPr>
            <a:spLocks noGrp="1"/>
          </p:cNvSpPr>
          <p:nvPr>
            <p:ph idx="1"/>
          </p:nvPr>
        </p:nvSpPr>
        <p:spPr bwMode="auto">
          <a:xfrm>
            <a:off x="457200" y="1844675"/>
            <a:ext cx="8229600" cy="4584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buClr>
                <a:srgbClr val="002060"/>
              </a:buClr>
              <a:buFont typeface="Arial" pitchFamily="34" charset="0"/>
              <a:buNone/>
            </a:pPr>
            <a:r>
              <a:rPr lang="en-GB" altLang="en-US" i="1" smtClean="0">
                <a:solidFill>
                  <a:schemeClr val="bg1"/>
                </a:solidFill>
              </a:rPr>
              <a:t>dress patients?</a:t>
            </a:r>
          </a:p>
        </p:txBody>
      </p:sp>
      <p:sp>
        <p:nvSpPr>
          <p:cNvPr id="50180" name="Title 5"/>
          <p:cNvSpPr txBox="1">
            <a:spLocks/>
          </p:cNvSpPr>
          <p:nvPr/>
        </p:nvSpPr>
        <p:spPr bwMode="auto">
          <a:xfrm>
            <a:off x="323528" y="188913"/>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r>
              <a:rPr lang="en-GB" altLang="en-US" sz="2800" dirty="0" smtClean="0">
                <a:latin typeface="+mj-lt"/>
                <a:cs typeface="Arial" pitchFamily="34" charset="0"/>
              </a:rPr>
              <a:t>STEP 3: READ AND TAKE NOTES</a:t>
            </a:r>
            <a:endParaRPr lang="en-GB" altLang="en-US" sz="2800" dirty="0">
              <a:latin typeface="+mj-lt"/>
              <a:cs typeface="Arial" pitchFamily="34" charset="0"/>
            </a:endParaRPr>
          </a:p>
        </p:txBody>
      </p:sp>
      <p:sp>
        <p:nvSpPr>
          <p:cNvPr id="50181" name="Content Placeholder 2"/>
          <p:cNvSpPr txBox="1">
            <a:spLocks/>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Clr>
                <a:srgbClr val="002060"/>
              </a:buClr>
              <a:buFont typeface="Arial" pitchFamily="34" charset="0"/>
              <a:buChar char="•"/>
            </a:pPr>
            <a:endParaRPr lang="en-GB" altLang="en-US" sz="3200">
              <a:solidFill>
                <a:srgbClr val="000000"/>
              </a:solidFill>
              <a:cs typeface="Arial" pitchFamily="34" charset="0"/>
            </a:endParaRPr>
          </a:p>
        </p:txBody>
      </p:sp>
      <p:graphicFrame>
        <p:nvGraphicFramePr>
          <p:cNvPr id="16" name="Diagram 15"/>
          <p:cNvGraphicFramePr/>
          <p:nvPr>
            <p:extLst/>
          </p:nvPr>
        </p:nvGraphicFramePr>
        <p:xfrm>
          <a:off x="129096" y="892969"/>
          <a:ext cx="8885808" cy="5072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09555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51203" name="Content Placeholder 2"/>
          <p:cNvSpPr>
            <a:spLocks noGrp="1"/>
          </p:cNvSpPr>
          <p:nvPr>
            <p:ph idx="1"/>
          </p:nvPr>
        </p:nvSpPr>
        <p:spPr bwMode="auto">
          <a:xfrm>
            <a:off x="457200" y="1844675"/>
            <a:ext cx="8229600" cy="4584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buClr>
                <a:srgbClr val="002060"/>
              </a:buClr>
              <a:buFont typeface="Arial" pitchFamily="34" charset="0"/>
              <a:buNone/>
            </a:pPr>
            <a:r>
              <a:rPr lang="en-GB" altLang="en-US" i="1" smtClean="0">
                <a:solidFill>
                  <a:schemeClr val="bg1"/>
                </a:solidFill>
              </a:rPr>
              <a:t>dress patients?</a:t>
            </a:r>
          </a:p>
        </p:txBody>
      </p:sp>
      <p:sp>
        <p:nvSpPr>
          <p:cNvPr id="51204" name="Title 5"/>
          <p:cNvSpPr txBox="1">
            <a:spLocks/>
          </p:cNvSpPr>
          <p:nvPr/>
        </p:nvSpPr>
        <p:spPr bwMode="auto">
          <a:xfrm>
            <a:off x="547688" y="185039"/>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r>
              <a:rPr lang="en-GB" altLang="en-US" sz="2800" b="1" dirty="0" smtClean="0">
                <a:latin typeface="+mj-lt"/>
                <a:cs typeface="Arial" pitchFamily="34" charset="0"/>
              </a:rPr>
              <a:t>STEP 4: WRITE A PLAN</a:t>
            </a:r>
            <a:endParaRPr lang="en-GB" altLang="en-US" sz="2800" b="1" dirty="0">
              <a:latin typeface="+mj-lt"/>
              <a:cs typeface="Arial" pitchFamily="34" charset="0"/>
            </a:endParaRPr>
          </a:p>
        </p:txBody>
      </p:sp>
      <p:sp>
        <p:nvSpPr>
          <p:cNvPr id="51205" name="Content Placeholder 2"/>
          <p:cNvSpPr txBox="1">
            <a:spLocks/>
          </p:cNvSpPr>
          <p:nvPr/>
        </p:nvSpPr>
        <p:spPr bwMode="auto">
          <a:xfrm>
            <a:off x="457200" y="1268760"/>
            <a:ext cx="82296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marL="0" indent="0" algn="ctr" eaLnBrk="1" hangingPunct="1">
              <a:spcBef>
                <a:spcPct val="20000"/>
              </a:spcBef>
              <a:buClr>
                <a:srgbClr val="0070C0"/>
              </a:buClr>
            </a:pPr>
            <a:r>
              <a:rPr lang="en-GB" altLang="en-US" sz="3200" b="1" dirty="0">
                <a:solidFill>
                  <a:srgbClr val="000000"/>
                </a:solidFill>
                <a:latin typeface="+mn-lt"/>
                <a:cs typeface="Arial" pitchFamily="34" charset="0"/>
              </a:rPr>
              <a:t>Develop a </a:t>
            </a:r>
            <a:r>
              <a:rPr lang="en-GB" altLang="en-US" sz="3200" b="1" u="sng" dirty="0">
                <a:solidFill>
                  <a:srgbClr val="000000"/>
                </a:solidFill>
                <a:latin typeface="+mn-lt"/>
                <a:cs typeface="Arial" pitchFamily="34" charset="0"/>
              </a:rPr>
              <a:t>structure</a:t>
            </a:r>
            <a:r>
              <a:rPr lang="en-GB" altLang="en-US" sz="3200" b="1" dirty="0">
                <a:solidFill>
                  <a:srgbClr val="000000"/>
                </a:solidFill>
                <a:latin typeface="+mn-lt"/>
                <a:cs typeface="Arial" pitchFamily="34" charset="0"/>
              </a:rPr>
              <a:t> from your </a:t>
            </a:r>
            <a:r>
              <a:rPr lang="en-GB" altLang="en-US" sz="3200" b="1" dirty="0" smtClean="0">
                <a:solidFill>
                  <a:srgbClr val="000000"/>
                </a:solidFill>
                <a:latin typeface="+mn-lt"/>
                <a:cs typeface="Arial" pitchFamily="34" charset="0"/>
              </a:rPr>
              <a:t>notes</a:t>
            </a:r>
            <a:endParaRPr lang="en-GB" altLang="en-US" sz="3200" b="1" dirty="0">
              <a:solidFill>
                <a:srgbClr val="000000"/>
              </a:solidFill>
              <a:latin typeface="+mn-lt"/>
              <a:cs typeface="Arial" pitchFamily="34" charset="0"/>
            </a:endParaRPr>
          </a:p>
          <a:p>
            <a:pPr marL="0" indent="0" eaLnBrk="1" hangingPunct="1">
              <a:spcBef>
                <a:spcPct val="20000"/>
              </a:spcBef>
              <a:buClr>
                <a:srgbClr val="0070C0"/>
              </a:buClr>
            </a:pPr>
            <a:endParaRPr lang="en-GB" altLang="en-US" sz="3200" b="1" dirty="0" smtClean="0">
              <a:solidFill>
                <a:srgbClr val="000000"/>
              </a:solidFill>
              <a:latin typeface="+mn-lt"/>
              <a:cs typeface="Arial" pitchFamily="34" charset="0"/>
            </a:endParaRPr>
          </a:p>
          <a:p>
            <a:pPr marL="457200" indent="-457200" eaLnBrk="1" hangingPunct="1">
              <a:spcBef>
                <a:spcPct val="20000"/>
              </a:spcBef>
              <a:buClr>
                <a:srgbClr val="0070C0"/>
              </a:buClr>
              <a:buFont typeface="Wingdings" panose="05000000000000000000" pitchFamily="2" charset="2"/>
              <a:buChar char="ü"/>
            </a:pPr>
            <a:r>
              <a:rPr lang="en-GB" altLang="en-US" sz="2800" dirty="0" smtClean="0">
                <a:solidFill>
                  <a:srgbClr val="000000"/>
                </a:solidFill>
                <a:latin typeface="+mn-lt"/>
                <a:cs typeface="Arial" pitchFamily="34" charset="0"/>
              </a:rPr>
              <a:t>Outline </a:t>
            </a:r>
            <a:r>
              <a:rPr lang="en-GB" altLang="en-US" sz="2800" dirty="0">
                <a:solidFill>
                  <a:srgbClr val="000000"/>
                </a:solidFill>
                <a:latin typeface="+mn-lt"/>
                <a:cs typeface="Arial" pitchFamily="34" charset="0"/>
              </a:rPr>
              <a:t>of main arguments on </a:t>
            </a:r>
            <a:r>
              <a:rPr lang="en-GB" altLang="en-US" sz="2800" dirty="0" smtClean="0">
                <a:solidFill>
                  <a:srgbClr val="000000"/>
                </a:solidFill>
                <a:latin typeface="+mn-lt"/>
                <a:cs typeface="Arial" pitchFamily="34" charset="0"/>
              </a:rPr>
              <a:t>topic – you should find they fit into logical sections</a:t>
            </a:r>
          </a:p>
          <a:p>
            <a:pPr marL="457200" indent="-457200" eaLnBrk="1" hangingPunct="1">
              <a:spcBef>
                <a:spcPct val="20000"/>
              </a:spcBef>
              <a:buClr>
                <a:srgbClr val="0070C0"/>
              </a:buClr>
              <a:buFont typeface="Wingdings" panose="05000000000000000000" pitchFamily="2" charset="2"/>
              <a:buChar char="ü"/>
            </a:pPr>
            <a:endParaRPr lang="en-GB" altLang="en-US" sz="2800" dirty="0">
              <a:solidFill>
                <a:srgbClr val="000000"/>
              </a:solidFill>
              <a:latin typeface="+mn-lt"/>
              <a:cs typeface="Arial" pitchFamily="34" charset="0"/>
            </a:endParaRPr>
          </a:p>
          <a:p>
            <a:pPr marL="457200" indent="-457200" eaLnBrk="1" hangingPunct="1">
              <a:spcBef>
                <a:spcPct val="20000"/>
              </a:spcBef>
              <a:buClr>
                <a:srgbClr val="0070C0"/>
              </a:buClr>
              <a:buFont typeface="Wingdings" panose="05000000000000000000" pitchFamily="2" charset="2"/>
              <a:buChar char="ü"/>
            </a:pPr>
            <a:r>
              <a:rPr lang="en-GB" altLang="en-US" sz="2800" dirty="0" smtClean="0">
                <a:solidFill>
                  <a:srgbClr val="000000"/>
                </a:solidFill>
                <a:latin typeface="+mn-lt"/>
                <a:cs typeface="Arial" pitchFamily="34" charset="0"/>
              </a:rPr>
              <a:t> Consider order – paragraphs should be </a:t>
            </a:r>
            <a:r>
              <a:rPr lang="en-GB" altLang="en-US" sz="2800" dirty="0">
                <a:solidFill>
                  <a:srgbClr val="000000"/>
                </a:solidFill>
                <a:latin typeface="+mn-lt"/>
                <a:cs typeface="Arial" pitchFamily="34" charset="0"/>
              </a:rPr>
              <a:t>logically </a:t>
            </a:r>
            <a:r>
              <a:rPr lang="en-GB" altLang="en-US" sz="2800" dirty="0" smtClean="0">
                <a:solidFill>
                  <a:srgbClr val="000000"/>
                </a:solidFill>
                <a:latin typeface="+mn-lt"/>
                <a:cs typeface="Arial" pitchFamily="34" charset="0"/>
              </a:rPr>
              <a:t>connected</a:t>
            </a:r>
            <a:endParaRPr lang="en-GB" altLang="en-US" sz="2800" dirty="0">
              <a:solidFill>
                <a:srgbClr val="000000"/>
              </a:solidFill>
              <a:latin typeface="+mn-lt"/>
              <a:cs typeface="Arial" pitchFamily="34" charset="0"/>
            </a:endParaRPr>
          </a:p>
        </p:txBody>
      </p:sp>
    </p:spTree>
    <p:extLst>
      <p:ext uri="{BB962C8B-B14F-4D97-AF65-F5344CB8AC3E}">
        <p14:creationId xmlns:p14="http://schemas.microsoft.com/office/powerpoint/2010/main" val="86610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05">
                                            <p:txEl>
                                              <p:pRg st="2" end="2"/>
                                            </p:txEl>
                                          </p:spTgt>
                                        </p:tgtEl>
                                        <p:attrNameLst>
                                          <p:attrName>style.visibility</p:attrName>
                                        </p:attrNameLst>
                                      </p:cBhvr>
                                      <p:to>
                                        <p:strVal val="visible"/>
                                      </p:to>
                                    </p:set>
                                    <p:animEffect transition="in" filter="fade">
                                      <p:cBhvr>
                                        <p:cTn id="7" dur="500"/>
                                        <p:tgtEl>
                                          <p:spTgt spid="5120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05">
                                            <p:txEl>
                                              <p:pRg st="4" end="4"/>
                                            </p:txEl>
                                          </p:spTgt>
                                        </p:tgtEl>
                                        <p:attrNameLst>
                                          <p:attrName>style.visibility</p:attrName>
                                        </p:attrNameLst>
                                      </p:cBhvr>
                                      <p:to>
                                        <p:strVal val="visible"/>
                                      </p:to>
                                    </p:set>
                                    <p:animEffect transition="in" filter="fade">
                                      <p:cBhvr>
                                        <p:cTn id="12" dur="500"/>
                                        <p:tgtEl>
                                          <p:spTgt spid="512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1762" y="1710649"/>
            <a:ext cx="3890238" cy="4401205"/>
          </a:xfrm>
          <a:prstGeom prst="rect">
            <a:avLst/>
          </a:prstGeom>
          <a:noFill/>
        </p:spPr>
        <p:txBody>
          <a:bodyPr wrap="square" rtlCol="0">
            <a:spAutoFit/>
          </a:bodyPr>
          <a:lstStyle/>
          <a:p>
            <a:r>
              <a:rPr lang="en-GB" sz="1400" b="1" u="sng" dirty="0" smtClean="0"/>
              <a:t>Introduction</a:t>
            </a:r>
            <a:r>
              <a:rPr lang="en-GB" sz="1400" u="sng" dirty="0" smtClean="0"/>
              <a:t> </a:t>
            </a:r>
            <a:endParaRPr lang="en-GB" sz="1400" dirty="0"/>
          </a:p>
          <a:p>
            <a:pPr marL="285750" indent="-285750">
              <a:buFont typeface="Arial" panose="020B0604020202020204" pitchFamily="34" charset="0"/>
              <a:buChar char="•"/>
            </a:pPr>
            <a:r>
              <a:rPr lang="en-GB" sz="1400" dirty="0" smtClean="0"/>
              <a:t>the importance of hamburgers and their components</a:t>
            </a:r>
          </a:p>
          <a:p>
            <a:pPr marL="285750" indent="-285750">
              <a:buFont typeface="Arial" panose="020B0604020202020204" pitchFamily="34" charset="0"/>
              <a:buChar char="•"/>
            </a:pPr>
            <a:r>
              <a:rPr lang="en-GB" sz="1400" dirty="0" smtClean="0"/>
              <a:t>the aims of this essay</a:t>
            </a:r>
          </a:p>
          <a:p>
            <a:endParaRPr lang="en-GB" sz="1400" dirty="0"/>
          </a:p>
          <a:p>
            <a:r>
              <a:rPr lang="en-GB" sz="1400" b="1" u="sng" dirty="0" smtClean="0"/>
              <a:t>Main Body</a:t>
            </a:r>
          </a:p>
          <a:p>
            <a:endParaRPr lang="en-GB" sz="1400" dirty="0"/>
          </a:p>
          <a:p>
            <a:endParaRPr lang="en-GB" sz="1400" dirty="0" smtClean="0"/>
          </a:p>
          <a:p>
            <a:endParaRPr lang="en-GB" sz="1400" dirty="0"/>
          </a:p>
          <a:p>
            <a:endParaRPr lang="en-GB" sz="1400" dirty="0" smtClean="0"/>
          </a:p>
          <a:p>
            <a:endParaRPr lang="en-GB" sz="1400" dirty="0"/>
          </a:p>
          <a:p>
            <a:endParaRPr lang="en-GB" sz="1400" dirty="0" smtClean="0"/>
          </a:p>
          <a:p>
            <a:endParaRPr lang="en-GB" sz="1400" dirty="0"/>
          </a:p>
          <a:p>
            <a:endParaRPr lang="en-GB" sz="1400" dirty="0" smtClean="0"/>
          </a:p>
          <a:p>
            <a:endParaRPr lang="en-GB" sz="1400" dirty="0"/>
          </a:p>
          <a:p>
            <a:endParaRPr lang="en-GB" sz="1400" dirty="0"/>
          </a:p>
          <a:p>
            <a:r>
              <a:rPr lang="en-GB" sz="1400" b="1" u="sng" dirty="0" smtClean="0"/>
              <a:t>Conclusion</a:t>
            </a:r>
          </a:p>
          <a:p>
            <a:endParaRPr lang="en-GB" sz="1400" b="1" u="sng" dirty="0"/>
          </a:p>
          <a:p>
            <a:pPr marL="285750" indent="-285750">
              <a:buFont typeface="Arial" panose="020B0604020202020204" pitchFamily="34" charset="0"/>
              <a:buChar char="•"/>
            </a:pPr>
            <a:r>
              <a:rPr lang="en-GB" sz="1400" dirty="0" smtClean="0"/>
              <a:t>Summary of findings</a:t>
            </a:r>
          </a:p>
          <a:p>
            <a:pPr marL="285750" indent="-285750">
              <a:buFont typeface="Arial" panose="020B0604020202020204" pitchFamily="34" charset="0"/>
              <a:buChar char="•"/>
            </a:pPr>
            <a:r>
              <a:rPr lang="en-GB" sz="1400" dirty="0" smtClean="0"/>
              <a:t>Conclusion I have drawn</a:t>
            </a:r>
            <a:endParaRPr lang="en-GB" sz="1400" dirty="0"/>
          </a:p>
        </p:txBody>
      </p:sp>
      <p:sp>
        <p:nvSpPr>
          <p:cNvPr id="3" name="Title 2"/>
          <p:cNvSpPr>
            <a:spLocks noGrp="1"/>
          </p:cNvSpPr>
          <p:nvPr>
            <p:ph type="title"/>
          </p:nvPr>
        </p:nvSpPr>
        <p:spPr>
          <a:xfrm>
            <a:off x="380885" y="628562"/>
            <a:ext cx="8229600" cy="1066800"/>
          </a:xfrm>
        </p:spPr>
        <p:txBody>
          <a:bodyPr>
            <a:normAutofit fontScale="90000"/>
          </a:bodyPr>
          <a:lstStyle/>
          <a:p>
            <a:r>
              <a:rPr lang="en-GB" sz="3600" dirty="0" smtClean="0"/>
              <a:t>Critically evaluate the components of a hamburger</a:t>
            </a:r>
            <a:endParaRPr lang="en-GB" sz="3600" dirty="0"/>
          </a:p>
        </p:txBody>
      </p:sp>
      <p:sp>
        <p:nvSpPr>
          <p:cNvPr id="6" name="Rectangle 5"/>
          <p:cNvSpPr/>
          <p:nvPr/>
        </p:nvSpPr>
        <p:spPr>
          <a:xfrm>
            <a:off x="971600" y="3108767"/>
            <a:ext cx="936104" cy="3600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t>Lettuce</a:t>
            </a:r>
            <a:endParaRPr lang="en-GB" sz="1600" dirty="0"/>
          </a:p>
        </p:txBody>
      </p:sp>
      <p:sp>
        <p:nvSpPr>
          <p:cNvPr id="7" name="Rectangle 6"/>
          <p:cNvSpPr/>
          <p:nvPr/>
        </p:nvSpPr>
        <p:spPr>
          <a:xfrm>
            <a:off x="971600" y="3573016"/>
            <a:ext cx="936104" cy="360040"/>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solidFill>
                  <a:schemeClr val="tx1"/>
                </a:solidFill>
              </a:rPr>
              <a:t>Bun</a:t>
            </a:r>
            <a:endParaRPr lang="en-GB" sz="1600" dirty="0">
              <a:solidFill>
                <a:schemeClr val="tx1"/>
              </a:solidFill>
            </a:endParaRPr>
          </a:p>
        </p:txBody>
      </p:sp>
      <p:sp>
        <p:nvSpPr>
          <p:cNvPr id="8" name="Rectangle 7"/>
          <p:cNvSpPr/>
          <p:nvPr/>
        </p:nvSpPr>
        <p:spPr>
          <a:xfrm>
            <a:off x="971600" y="4005064"/>
            <a:ext cx="936104" cy="36004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t>Beef</a:t>
            </a:r>
            <a:endParaRPr lang="en-GB" sz="1600" dirty="0"/>
          </a:p>
        </p:txBody>
      </p:sp>
      <p:sp>
        <p:nvSpPr>
          <p:cNvPr id="9" name="Rectangle 8"/>
          <p:cNvSpPr/>
          <p:nvPr/>
        </p:nvSpPr>
        <p:spPr>
          <a:xfrm>
            <a:off x="971600" y="4470183"/>
            <a:ext cx="936104" cy="36004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Gherkin</a:t>
            </a:r>
            <a:endParaRPr lang="en-GB" sz="1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0841" y="1452434"/>
            <a:ext cx="1747997" cy="1182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Straight Arrow Connector 10"/>
          <p:cNvCxnSpPr/>
          <p:nvPr/>
        </p:nvCxnSpPr>
        <p:spPr>
          <a:xfrm flipV="1">
            <a:off x="2123728" y="2924944"/>
            <a:ext cx="2376264" cy="39604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2123728" y="3601622"/>
            <a:ext cx="2376264" cy="19802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115115" y="4234589"/>
            <a:ext cx="2384877" cy="4950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19421" y="4830223"/>
            <a:ext cx="2376264" cy="11094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572000" y="2641460"/>
            <a:ext cx="2304256" cy="48150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smtClean="0"/>
              <a:t>Smith (2009) lettuce is…</a:t>
            </a:r>
          </a:p>
          <a:p>
            <a:pPr algn="ctr"/>
            <a:r>
              <a:rPr lang="en-GB" sz="900" dirty="0" smtClean="0"/>
              <a:t>Jones (2012) found iceberg…</a:t>
            </a:r>
          </a:p>
          <a:p>
            <a:pPr algn="ctr"/>
            <a:r>
              <a:rPr lang="en-GB" sz="900" dirty="0" smtClean="0"/>
              <a:t>Wilson (2015) rocket lettuce…</a:t>
            </a:r>
            <a:endParaRPr lang="en-GB" sz="900" dirty="0"/>
          </a:p>
        </p:txBody>
      </p:sp>
      <p:sp>
        <p:nvSpPr>
          <p:cNvPr id="23" name="Rectangle 22"/>
          <p:cNvSpPr/>
          <p:nvPr/>
        </p:nvSpPr>
        <p:spPr>
          <a:xfrm>
            <a:off x="4572000" y="3360869"/>
            <a:ext cx="2304256" cy="481506"/>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smtClean="0">
                <a:solidFill>
                  <a:schemeClr val="tx1"/>
                </a:solidFill>
              </a:rPr>
              <a:t>Dixon (2012) the baking time..</a:t>
            </a:r>
          </a:p>
          <a:p>
            <a:pPr algn="ctr"/>
            <a:r>
              <a:rPr lang="en-GB" sz="900" dirty="0" smtClean="0">
                <a:solidFill>
                  <a:schemeClr val="tx1"/>
                </a:solidFill>
              </a:rPr>
              <a:t>Scott (2010) sesame seeds…</a:t>
            </a:r>
          </a:p>
          <a:p>
            <a:pPr algn="ctr"/>
            <a:r>
              <a:rPr lang="en-GB" sz="900" dirty="0" smtClean="0">
                <a:solidFill>
                  <a:schemeClr val="tx1"/>
                </a:solidFill>
              </a:rPr>
              <a:t>Smith (2009) the gluten content… </a:t>
            </a:r>
            <a:endParaRPr lang="en-GB" sz="900" dirty="0">
              <a:solidFill>
                <a:schemeClr val="tx1"/>
              </a:solidFill>
            </a:endParaRPr>
          </a:p>
        </p:txBody>
      </p:sp>
      <p:sp>
        <p:nvSpPr>
          <p:cNvPr id="24" name="Rectangle 23"/>
          <p:cNvSpPr/>
          <p:nvPr/>
        </p:nvSpPr>
        <p:spPr>
          <a:xfrm>
            <a:off x="4572000" y="4043343"/>
            <a:ext cx="2304256" cy="48150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smtClean="0">
                <a:solidFill>
                  <a:schemeClr val="bg1"/>
                </a:solidFill>
              </a:rPr>
              <a:t>A study by McDonald (2014) found Scotch beef…</a:t>
            </a:r>
          </a:p>
          <a:p>
            <a:pPr algn="ctr"/>
            <a:r>
              <a:rPr lang="en-GB" sz="900" dirty="0" smtClean="0">
                <a:solidFill>
                  <a:schemeClr val="bg1"/>
                </a:solidFill>
              </a:rPr>
              <a:t>Sanders (2011) argues that…</a:t>
            </a:r>
            <a:endParaRPr lang="en-GB" sz="900" dirty="0">
              <a:solidFill>
                <a:schemeClr val="bg1"/>
              </a:solidFill>
            </a:endParaRPr>
          </a:p>
        </p:txBody>
      </p:sp>
      <p:sp>
        <p:nvSpPr>
          <p:cNvPr id="25" name="Rectangle 24"/>
          <p:cNvSpPr/>
          <p:nvPr/>
        </p:nvSpPr>
        <p:spPr>
          <a:xfrm>
            <a:off x="4572000" y="4700415"/>
            <a:ext cx="2304256" cy="481506"/>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smtClean="0">
                <a:solidFill>
                  <a:schemeClr val="bg1"/>
                </a:solidFill>
              </a:rPr>
              <a:t>Wilson (2015) found the majority of consumers…</a:t>
            </a:r>
          </a:p>
          <a:p>
            <a:pPr algn="ctr"/>
            <a:r>
              <a:rPr lang="en-GB" sz="900" dirty="0" smtClean="0">
                <a:solidFill>
                  <a:schemeClr val="bg1"/>
                </a:solidFill>
              </a:rPr>
              <a:t>Major (2014) argues that gherkins…</a:t>
            </a:r>
            <a:endParaRPr lang="en-GB" sz="900" dirty="0">
              <a:solidFill>
                <a:schemeClr val="bg1"/>
              </a:solidFill>
            </a:endParaRPr>
          </a:p>
        </p:txBody>
      </p:sp>
    </p:spTree>
    <p:extLst>
      <p:ext uri="{BB962C8B-B14F-4D97-AF65-F5344CB8AC3E}">
        <p14:creationId xmlns:p14="http://schemas.microsoft.com/office/powerpoint/2010/main" val="65690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fad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500"/>
                                        <p:tgtEl>
                                          <p:spTgt spid="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nodeType="withEffect">
                                  <p:stCondLst>
                                    <p:cond delay="0"/>
                                  </p:stCondLst>
                                  <p:childTnLst>
                                    <p:set>
                                      <p:cBhvr>
                                        <p:cTn id="45" dur="1" fill="hold">
                                          <p:stCondLst>
                                            <p:cond delay="0"/>
                                          </p:stCondLst>
                                        </p:cTn>
                                        <p:tgtEl>
                                          <p:spTgt spid="8">
                                            <p:txEl>
                                              <p:pRg st="0" end="0"/>
                                            </p:txEl>
                                          </p:spTgt>
                                        </p:tgtEl>
                                        <p:attrNameLst>
                                          <p:attrName>style.visibility</p:attrName>
                                        </p:attrNameLst>
                                      </p:cBhvr>
                                      <p:to>
                                        <p:strVal val="visible"/>
                                      </p:to>
                                    </p:set>
                                    <p:animEffect transition="in" filter="fade">
                                      <p:cBhvr>
                                        <p:cTn id="46" dur="500"/>
                                        <p:tgtEl>
                                          <p:spTgt spid="8">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par>
                                <p:cTn id="52" presetID="10" presetClass="entr" presetSubtype="0" fill="hold" nodeType="withEffect">
                                  <p:stCondLst>
                                    <p:cond delay="0"/>
                                  </p:stCondLst>
                                  <p:childTnLst>
                                    <p:set>
                                      <p:cBhvr>
                                        <p:cTn id="53" dur="1" fill="hold">
                                          <p:stCondLst>
                                            <p:cond delay="0"/>
                                          </p:stCondLst>
                                        </p:cTn>
                                        <p:tgtEl>
                                          <p:spTgt spid="9">
                                            <p:txEl>
                                              <p:pRg st="0" end="0"/>
                                            </p:txEl>
                                          </p:spTgt>
                                        </p:tgtEl>
                                        <p:attrNameLst>
                                          <p:attrName>style.visibility</p:attrName>
                                        </p:attrNameLst>
                                      </p:cBhvr>
                                      <p:to>
                                        <p:strVal val="visible"/>
                                      </p:to>
                                    </p:set>
                                    <p:animEffect transition="in" filter="fade">
                                      <p:cBhvr>
                                        <p:cTn id="54" dur="500"/>
                                        <p:tgtEl>
                                          <p:spTgt spid="9">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
                                            <p:txEl>
                                              <p:pRg st="15" end="15"/>
                                            </p:txEl>
                                          </p:spTgt>
                                        </p:tgtEl>
                                        <p:attrNameLst>
                                          <p:attrName>style.visibility</p:attrName>
                                        </p:attrNameLst>
                                      </p:cBhvr>
                                      <p:to>
                                        <p:strVal val="visible"/>
                                      </p:to>
                                    </p:set>
                                    <p:animEffect transition="in" filter="fade">
                                      <p:cBhvr>
                                        <p:cTn id="59" dur="500"/>
                                        <p:tgtEl>
                                          <p:spTgt spid="5">
                                            <p:txEl>
                                              <p:pRg st="15" end="1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
                                            <p:txEl>
                                              <p:pRg st="17" end="17"/>
                                            </p:txEl>
                                          </p:spTgt>
                                        </p:tgtEl>
                                        <p:attrNameLst>
                                          <p:attrName>style.visibility</p:attrName>
                                        </p:attrNameLst>
                                      </p:cBhvr>
                                      <p:to>
                                        <p:strVal val="visible"/>
                                      </p:to>
                                    </p:set>
                                    <p:animEffect transition="in" filter="fade">
                                      <p:cBhvr>
                                        <p:cTn id="64" dur="500"/>
                                        <p:tgtEl>
                                          <p:spTgt spid="5">
                                            <p:txEl>
                                              <p:pRg st="17" end="17"/>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
                                            <p:txEl>
                                              <p:pRg st="18" end="18"/>
                                            </p:txEl>
                                          </p:spTgt>
                                        </p:tgtEl>
                                        <p:attrNameLst>
                                          <p:attrName>style.visibility</p:attrName>
                                        </p:attrNameLst>
                                      </p:cBhvr>
                                      <p:to>
                                        <p:strVal val="visible"/>
                                      </p:to>
                                    </p:set>
                                    <p:animEffect transition="in" filter="fade">
                                      <p:cBhvr>
                                        <p:cTn id="69" dur="500"/>
                                        <p:tgtEl>
                                          <p:spTgt spid="5">
                                            <p:txEl>
                                              <p:pRg st="18" end="18"/>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5"/>
                                        </p:tgtEl>
                                        <p:attrNameLst>
                                          <p:attrName>style.visibility</p:attrName>
                                        </p:attrNameLst>
                                      </p:cBhvr>
                                      <p:to>
                                        <p:strVal val="visible"/>
                                      </p:to>
                                    </p:set>
                                    <p:animEffect transition="in" filter="fade">
                                      <p:cBhvr>
                                        <p:cTn id="90" dur="500"/>
                                        <p:tgtEl>
                                          <p:spTgt spid="1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500"/>
                                        <p:tgtEl>
                                          <p:spTgt spid="1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22" grpId="0" animBg="1"/>
      <p:bldP spid="23" grpId="0" animBg="1"/>
      <p:bldP spid="24"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0372" y="2094536"/>
            <a:ext cx="8229600" cy="4325112"/>
          </a:xfrm>
        </p:spPr>
        <p:txBody>
          <a:bodyPr>
            <a:normAutofit fontScale="92500"/>
          </a:bodyPr>
          <a:lstStyle/>
          <a:p>
            <a:pPr marL="742950" indent="-742950" algn="ctr">
              <a:buAutoNum type="arabicParenR"/>
            </a:pPr>
            <a:r>
              <a:rPr lang="en-GB" sz="3900" dirty="0" smtClean="0">
                <a:solidFill>
                  <a:srgbClr val="FF0000"/>
                </a:solidFill>
              </a:rPr>
              <a:t>Brief background to the topic</a:t>
            </a:r>
            <a:endParaRPr lang="en-GB" sz="4800" dirty="0">
              <a:solidFill>
                <a:srgbClr val="FF0000"/>
              </a:solidFill>
            </a:endParaRPr>
          </a:p>
          <a:p>
            <a:pPr marL="914400" indent="-914400" algn="ctr">
              <a:buAutoNum type="arabicParenR"/>
            </a:pPr>
            <a:endParaRPr lang="en-GB" sz="5200" dirty="0" smtClean="0"/>
          </a:p>
          <a:p>
            <a:pPr marL="914400" indent="-914400" algn="ctr">
              <a:buAutoNum type="arabicParenR"/>
            </a:pPr>
            <a:r>
              <a:rPr lang="en-GB" sz="5200" dirty="0" smtClean="0"/>
              <a:t>  </a:t>
            </a:r>
            <a:r>
              <a:rPr lang="en-GB" sz="3900" dirty="0" smtClean="0">
                <a:solidFill>
                  <a:srgbClr val="0070C0"/>
                </a:solidFill>
              </a:rPr>
              <a:t>State why the topic is important</a:t>
            </a:r>
          </a:p>
          <a:p>
            <a:pPr marL="914400" indent="-914400" algn="ctr">
              <a:buAutoNum type="arabicParenR"/>
            </a:pPr>
            <a:endParaRPr lang="en-GB" sz="3900" dirty="0"/>
          </a:p>
          <a:p>
            <a:pPr marL="914400" indent="-914400" algn="ctr">
              <a:buAutoNum type="arabicParenR"/>
            </a:pPr>
            <a:r>
              <a:rPr lang="en-GB" sz="3900" dirty="0" smtClean="0">
                <a:solidFill>
                  <a:srgbClr val="00B050"/>
                </a:solidFill>
              </a:rPr>
              <a:t>The assignment aim “This </a:t>
            </a:r>
            <a:r>
              <a:rPr lang="en-GB" sz="3900" smtClean="0">
                <a:solidFill>
                  <a:srgbClr val="00B050"/>
                </a:solidFill>
              </a:rPr>
              <a:t>essay will…”</a:t>
            </a:r>
            <a:endParaRPr lang="en-GB" sz="3900" dirty="0">
              <a:solidFill>
                <a:srgbClr val="00B050"/>
              </a:solidFill>
            </a:endParaRPr>
          </a:p>
          <a:p>
            <a:pPr marL="0" indent="0" algn="ctr">
              <a:buNone/>
            </a:pPr>
            <a:endParaRPr lang="en-GB" sz="3900" dirty="0" smtClean="0"/>
          </a:p>
        </p:txBody>
      </p:sp>
      <p:sp>
        <p:nvSpPr>
          <p:cNvPr id="3" name="Title 2"/>
          <p:cNvSpPr>
            <a:spLocks noGrp="1"/>
          </p:cNvSpPr>
          <p:nvPr>
            <p:ph type="title"/>
          </p:nvPr>
        </p:nvSpPr>
        <p:spPr>
          <a:xfrm>
            <a:off x="601216" y="548680"/>
            <a:ext cx="8229600" cy="1066800"/>
          </a:xfrm>
        </p:spPr>
        <p:txBody>
          <a:bodyPr>
            <a:normAutofit/>
          </a:bodyPr>
          <a:lstStyle/>
          <a:p>
            <a:r>
              <a:rPr lang="en-GB" sz="2800" b="1" dirty="0" smtClean="0"/>
              <a:t>STEP 5: WRITE THE INTRODUCTION</a:t>
            </a:r>
            <a:endParaRPr lang="en-GB" sz="2800" b="1" dirty="0"/>
          </a:p>
        </p:txBody>
      </p:sp>
      <p:sp>
        <p:nvSpPr>
          <p:cNvPr id="4" name="Down Arrow 3"/>
          <p:cNvSpPr/>
          <p:nvPr/>
        </p:nvSpPr>
        <p:spPr>
          <a:xfrm>
            <a:off x="4716016" y="4437112"/>
            <a:ext cx="498426"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Down Arrow 4"/>
          <p:cNvSpPr/>
          <p:nvPr/>
        </p:nvSpPr>
        <p:spPr>
          <a:xfrm>
            <a:off x="4717359" y="2905759"/>
            <a:ext cx="498426" cy="5751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4573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95288" y="188913"/>
            <a:ext cx="8229600" cy="1143000"/>
          </a:xfrm>
        </p:spPr>
        <p:txBody>
          <a:bodyPr/>
          <a:lstStyle/>
          <a:p>
            <a:pPr eaLnBrk="1" hangingPunct="1"/>
            <a:r>
              <a:rPr lang="en-GB" altLang="en-US" dirty="0" smtClean="0"/>
              <a:t>Introduction</a:t>
            </a:r>
          </a:p>
        </p:txBody>
      </p:sp>
      <p:sp>
        <p:nvSpPr>
          <p:cNvPr id="10243" name="Rectangle 3"/>
          <p:cNvSpPr>
            <a:spLocks noGrp="1" noChangeArrowheads="1"/>
          </p:cNvSpPr>
          <p:nvPr>
            <p:ph idx="1"/>
          </p:nvPr>
        </p:nvSpPr>
        <p:spPr>
          <a:xfrm>
            <a:off x="683568" y="1412776"/>
            <a:ext cx="7643813" cy="4676775"/>
          </a:xfrm>
          <a:extLst/>
        </p:spPr>
        <p:txBody>
          <a:bodyPr>
            <a:normAutofit/>
          </a:bodyPr>
          <a:lstStyle/>
          <a:p>
            <a:pPr marL="0" indent="0" eaLnBrk="1" fontAlgn="auto" hangingPunct="1">
              <a:lnSpc>
                <a:spcPct val="80000"/>
              </a:lnSpc>
              <a:spcAft>
                <a:spcPts val="0"/>
              </a:spcAft>
              <a:buClr>
                <a:schemeClr val="accent3"/>
              </a:buClr>
              <a:buFont typeface="Wingdings 2" pitchFamily="18" charset="2"/>
              <a:buNone/>
              <a:defRPr/>
            </a:pPr>
            <a:endParaRPr lang="en-GB" sz="2000" dirty="0" smtClean="0">
              <a:solidFill>
                <a:srgbClr val="FFFF00"/>
              </a:solidFill>
              <a:latin typeface="+mj-lt"/>
            </a:endParaRPr>
          </a:p>
          <a:p>
            <a:pPr marL="0" indent="0">
              <a:buFont typeface="Wingdings 2" pitchFamily="18" charset="2"/>
              <a:buNone/>
              <a:defRPr/>
            </a:pPr>
            <a:endParaRPr lang="en-GB" sz="2000" dirty="0" smtClean="0"/>
          </a:p>
          <a:p>
            <a:pPr marL="0" indent="0" eaLnBrk="1" fontAlgn="auto" hangingPunct="1">
              <a:lnSpc>
                <a:spcPct val="80000"/>
              </a:lnSpc>
              <a:spcAft>
                <a:spcPts val="0"/>
              </a:spcAft>
              <a:buClr>
                <a:schemeClr val="accent3"/>
              </a:buClr>
              <a:buFont typeface="Wingdings 2" pitchFamily="18" charset="2"/>
              <a:buNone/>
              <a:defRPr/>
            </a:pPr>
            <a:endParaRPr lang="en-GB" sz="2000" b="1" dirty="0" smtClean="0"/>
          </a:p>
        </p:txBody>
      </p:sp>
      <p:sp>
        <p:nvSpPr>
          <p:cNvPr id="4" name="Content Placeholder 2"/>
          <p:cNvSpPr txBox="1">
            <a:spLocks/>
          </p:cNvSpPr>
          <p:nvPr/>
        </p:nvSpPr>
        <p:spPr>
          <a:xfrm>
            <a:off x="621656" y="1423944"/>
            <a:ext cx="8003232" cy="4325112"/>
          </a:xfrm>
          <a:prstGeom prst="rect">
            <a:avLst/>
          </a:prstGeom>
        </p:spPr>
        <p:txBody>
          <a:bodyPr vert="horz">
            <a:normAutofit lnSpcReduction="1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r>
              <a:rPr lang="en-GB" sz="2400" smtClean="0">
                <a:solidFill>
                  <a:srgbClr val="FF0000"/>
                </a:solidFill>
              </a:rPr>
              <a:t>Gorham's disease is a very rare skeletal condition of unknown cause.  It is characterized by the uncontrolled proliferation of distended, thin-walled vascular  or lymphatic channels within bone, which leads to resorption and replacement of bone with angiomas and/or fibrosis (Smith, 2015). </a:t>
            </a:r>
            <a:r>
              <a:rPr lang="en-GB" sz="2400" smtClean="0">
                <a:solidFill>
                  <a:srgbClr val="0070C0"/>
                </a:solidFill>
              </a:rPr>
              <a:t>The etiology is still very speculative, the prognosis unpredictable, and any effective therapy still unknown (Jones, 2016).</a:t>
            </a:r>
            <a:r>
              <a:rPr lang="en-GB" sz="2400" smtClean="0"/>
              <a:t> </a:t>
            </a:r>
            <a:r>
              <a:rPr lang="en-GB" sz="2400" smtClean="0">
                <a:solidFill>
                  <a:srgbClr val="00B050"/>
                </a:solidFill>
              </a:rPr>
              <a:t>This assignment will presents a critical review of the literature and two case reports of suspected Gorham's disease of the bones of the foot.</a:t>
            </a:r>
          </a:p>
          <a:p>
            <a:pPr marL="109728" indent="0">
              <a:buFont typeface="Georgia"/>
              <a:buNone/>
            </a:pPr>
            <a:endParaRPr lang="en-GB" sz="1800" smtClean="0"/>
          </a:p>
          <a:p>
            <a:pPr marL="109728" indent="0">
              <a:buFont typeface="Georgia"/>
              <a:buNone/>
            </a:pPr>
            <a:r>
              <a:rPr lang="en-GB" sz="1800" smtClean="0"/>
              <a:t>                             *</a:t>
            </a:r>
            <a:r>
              <a:rPr lang="en-GB" sz="1800" i="1" smtClean="0"/>
              <a:t>References are fictitious and for illustrative purposes only</a:t>
            </a:r>
            <a:endParaRPr lang="en-GB" sz="2400" i="1" dirty="0"/>
          </a:p>
        </p:txBody>
      </p:sp>
    </p:spTree>
    <p:extLst>
      <p:ext uri="{BB962C8B-B14F-4D97-AF65-F5344CB8AC3E}">
        <p14:creationId xmlns:p14="http://schemas.microsoft.com/office/powerpoint/2010/main" val="9465558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52227" name="Content Placeholder 2"/>
          <p:cNvSpPr>
            <a:spLocks noGrp="1"/>
          </p:cNvSpPr>
          <p:nvPr>
            <p:ph idx="1"/>
          </p:nvPr>
        </p:nvSpPr>
        <p:spPr bwMode="auto">
          <a:xfrm>
            <a:off x="457200" y="1844824"/>
            <a:ext cx="8229600" cy="4584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457200" indent="-457200">
              <a:buClr>
                <a:srgbClr val="002060"/>
              </a:buClr>
              <a:buFont typeface="Wingdings" panose="05000000000000000000" pitchFamily="2" charset="2"/>
              <a:buChar char="ü"/>
            </a:pPr>
            <a:r>
              <a:rPr lang="en-GB" altLang="en-US" sz="2800" b="0" dirty="0" smtClean="0"/>
              <a:t>Maintain momentum – write steadily</a:t>
            </a:r>
          </a:p>
          <a:p>
            <a:pPr marL="457200" indent="-457200">
              <a:buClr>
                <a:srgbClr val="002060"/>
              </a:buClr>
              <a:buFont typeface="Wingdings" panose="05000000000000000000" pitchFamily="2" charset="2"/>
              <a:buChar char="ü"/>
            </a:pPr>
            <a:endParaRPr lang="en-GB" altLang="en-US" sz="2800" b="0" dirty="0" smtClean="0"/>
          </a:p>
          <a:p>
            <a:pPr marL="457200" indent="-457200">
              <a:buClr>
                <a:srgbClr val="002060"/>
              </a:buClr>
              <a:buFont typeface="Wingdings" panose="05000000000000000000" pitchFamily="2" charset="2"/>
              <a:buChar char="ü"/>
            </a:pPr>
            <a:r>
              <a:rPr lang="en-GB" altLang="en-US" sz="2800" b="0" dirty="0" smtClean="0"/>
              <a:t>Ensure all concepts/theories/definitions are backed up with </a:t>
            </a:r>
            <a:r>
              <a:rPr lang="en-GB" altLang="en-US" sz="2800" b="0" u="sng" dirty="0" smtClean="0"/>
              <a:t>references</a:t>
            </a:r>
          </a:p>
          <a:p>
            <a:pPr marL="0" indent="0">
              <a:buClr>
                <a:srgbClr val="002060"/>
              </a:buClr>
            </a:pPr>
            <a:endParaRPr lang="en-GB" altLang="en-US" sz="2800" b="0" u="sng" dirty="0"/>
          </a:p>
          <a:p>
            <a:pPr marL="457200" indent="-457200">
              <a:buClr>
                <a:srgbClr val="002060"/>
              </a:buClr>
              <a:buFont typeface="Wingdings" panose="05000000000000000000" pitchFamily="2" charset="2"/>
              <a:buChar char="ü"/>
            </a:pPr>
            <a:r>
              <a:rPr lang="en-GB" altLang="en-US" sz="2800" b="0" dirty="0" smtClean="0"/>
              <a:t>Ensure there is a clear line of argument flowing through your writing (logical)</a:t>
            </a:r>
          </a:p>
          <a:p>
            <a:pPr marL="457200" indent="-457200">
              <a:buClr>
                <a:srgbClr val="002060"/>
              </a:buClr>
              <a:buFont typeface="Wingdings" panose="05000000000000000000" pitchFamily="2" charset="2"/>
              <a:buChar char="ü"/>
            </a:pPr>
            <a:endParaRPr lang="en-GB" altLang="en-US" sz="3200" u="sng" dirty="0" smtClean="0"/>
          </a:p>
        </p:txBody>
      </p:sp>
      <p:sp>
        <p:nvSpPr>
          <p:cNvPr id="52228" name="Title 5"/>
          <p:cNvSpPr txBox="1">
            <a:spLocks/>
          </p:cNvSpPr>
          <p:nvPr/>
        </p:nvSpPr>
        <p:spPr bwMode="auto">
          <a:xfrm>
            <a:off x="547688" y="188913"/>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algn="ctr"/>
            <a:endParaRPr lang="en-GB" altLang="en-US" sz="4000" b="1">
              <a:solidFill>
                <a:srgbClr val="000000"/>
              </a:solidFill>
              <a:cs typeface="Arial" pitchFamily="34" charset="0"/>
            </a:endParaRPr>
          </a:p>
        </p:txBody>
      </p:sp>
      <p:sp>
        <p:nvSpPr>
          <p:cNvPr id="52229" name="Title 1"/>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r>
              <a:rPr lang="en-GB" altLang="en-US" sz="2800" dirty="0" smtClean="0">
                <a:latin typeface="+mj-lt"/>
                <a:cs typeface="Arial" pitchFamily="34" charset="0"/>
              </a:rPr>
              <a:t>STEP 6: WRITE A FIRST DRAFT</a:t>
            </a:r>
            <a:endParaRPr lang="en-GB" altLang="en-US" sz="2800" dirty="0">
              <a:latin typeface="+mj-lt"/>
              <a:cs typeface="Arial" pitchFamily="34" charset="0"/>
            </a:endParaRPr>
          </a:p>
        </p:txBody>
      </p:sp>
    </p:spTree>
    <p:extLst>
      <p:ext uri="{BB962C8B-B14F-4D97-AF65-F5344CB8AC3E}">
        <p14:creationId xmlns:p14="http://schemas.microsoft.com/office/powerpoint/2010/main" val="258926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fade">
                                      <p:cBhvr>
                                        <p:cTn id="7" dur="500"/>
                                        <p:tgtEl>
                                          <p:spTgt spid="52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fade">
                                      <p:cBhvr>
                                        <p:cTn id="12" dur="500"/>
                                        <p:tgtEl>
                                          <p:spTgt spid="522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227">
                                            <p:txEl>
                                              <p:pRg st="4" end="4"/>
                                            </p:txEl>
                                          </p:spTgt>
                                        </p:tgtEl>
                                        <p:attrNameLst>
                                          <p:attrName>style.visibility</p:attrName>
                                        </p:attrNameLst>
                                      </p:cBhvr>
                                      <p:to>
                                        <p:strVal val="visible"/>
                                      </p:to>
                                    </p:set>
                                    <p:animEffect transition="in" filter="fade">
                                      <p:cBhvr>
                                        <p:cTn id="17" dur="500"/>
                                        <p:tgtEl>
                                          <p:spTgt spid="52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5"/>
          <p:cNvSpPr>
            <a:spLocks noGrp="1"/>
          </p:cNvSpPr>
          <p:nvPr>
            <p:ph type="title"/>
          </p:nvPr>
        </p:nvSpPr>
        <p:spPr bwMode="auto">
          <a:xfrm>
            <a:off x="395288" y="260350"/>
            <a:ext cx="82296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b="1" smtClean="0"/>
              <a:t> </a:t>
            </a:r>
          </a:p>
        </p:txBody>
      </p:sp>
      <p:sp>
        <p:nvSpPr>
          <p:cNvPr id="53251" name="Title 5"/>
          <p:cNvSpPr txBox="1">
            <a:spLocks/>
          </p:cNvSpPr>
          <p:nvPr/>
        </p:nvSpPr>
        <p:spPr bwMode="auto">
          <a:xfrm>
            <a:off x="547688" y="188913"/>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algn="ctr"/>
            <a:endParaRPr lang="en-GB" altLang="en-US" sz="4000" b="1">
              <a:solidFill>
                <a:srgbClr val="000000"/>
              </a:solidFill>
              <a:cs typeface="Arial" pitchFamily="34" charset="0"/>
            </a:endParaRPr>
          </a:p>
        </p:txBody>
      </p:sp>
      <p:sp>
        <p:nvSpPr>
          <p:cNvPr id="53252" name="Title 1"/>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algn="ctr"/>
            <a:endParaRPr lang="en-GB" altLang="en-US" sz="4400">
              <a:solidFill>
                <a:srgbClr val="000000"/>
              </a:solidFill>
              <a:cs typeface="Arial" pitchFamily="34" charset="0"/>
            </a:endParaRPr>
          </a:p>
        </p:txBody>
      </p:sp>
      <p:sp>
        <p:nvSpPr>
          <p:cNvPr id="53253" name="Content Placeholder 2"/>
          <p:cNvSpPr>
            <a:spLocks noGrp="1"/>
          </p:cNvSpPr>
          <p:nvPr>
            <p:ph idx="1"/>
          </p:nvPr>
        </p:nvSpPr>
        <p:spPr bwMode="auto">
          <a:xfrm>
            <a:off x="457200" y="1196975"/>
            <a:ext cx="8229600" cy="523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buClr>
                <a:srgbClr val="0070C0"/>
              </a:buClr>
              <a:buFont typeface="Wingdings" panose="05000000000000000000" pitchFamily="2" charset="2"/>
              <a:buChar char="ü"/>
            </a:pPr>
            <a:r>
              <a:rPr lang="en-GB" altLang="en-US" sz="3000" b="0" dirty="0" smtClean="0"/>
              <a:t>Leave essay for a few days</a:t>
            </a:r>
          </a:p>
          <a:p>
            <a:pPr marL="457200" indent="-457200" eaLnBrk="1" hangingPunct="1">
              <a:buClr>
                <a:srgbClr val="0070C0"/>
              </a:buClr>
              <a:buFont typeface="Wingdings" panose="05000000000000000000" pitchFamily="2" charset="2"/>
              <a:buChar char="ü"/>
            </a:pPr>
            <a:r>
              <a:rPr lang="en-GB" altLang="en-US" sz="3000" b="0" dirty="0" smtClean="0"/>
              <a:t>Review and ask:</a:t>
            </a:r>
          </a:p>
          <a:p>
            <a:pPr lvl="1" eaLnBrk="1" hangingPunct="1">
              <a:buClr>
                <a:srgbClr val="0070C0"/>
              </a:buClr>
            </a:pPr>
            <a:r>
              <a:rPr lang="en-GB" altLang="en-US" dirty="0" smtClean="0"/>
              <a:t>Has it answered the question?</a:t>
            </a:r>
          </a:p>
          <a:p>
            <a:pPr lvl="1" eaLnBrk="1" hangingPunct="1">
              <a:buClr>
                <a:srgbClr val="0070C0"/>
              </a:buClr>
            </a:pPr>
            <a:r>
              <a:rPr lang="en-GB" altLang="en-US" dirty="0" smtClean="0"/>
              <a:t>Have I included references for key ideas?</a:t>
            </a:r>
          </a:p>
          <a:p>
            <a:pPr lvl="1" eaLnBrk="1" hangingPunct="1">
              <a:buClr>
                <a:srgbClr val="0070C0"/>
              </a:buClr>
            </a:pPr>
            <a:r>
              <a:rPr lang="en-GB" altLang="en-US" dirty="0" smtClean="0"/>
              <a:t>Have I used an appropriate writing style</a:t>
            </a:r>
          </a:p>
          <a:p>
            <a:pPr marL="457200" indent="-457200" eaLnBrk="1" hangingPunct="1">
              <a:buClr>
                <a:srgbClr val="0070C0"/>
              </a:buClr>
              <a:buFont typeface="Wingdings" panose="05000000000000000000" pitchFamily="2" charset="2"/>
              <a:buChar char="ü"/>
            </a:pPr>
            <a:r>
              <a:rPr lang="en-GB" altLang="en-US" sz="3000" b="0" dirty="0" smtClean="0"/>
              <a:t>Proof-read – pay attention to detail; don’t throw away marks due to sloppiness </a:t>
            </a:r>
          </a:p>
          <a:p>
            <a:pPr marL="457200" indent="-457200" eaLnBrk="1" hangingPunct="1">
              <a:buClr>
                <a:srgbClr val="0070C0"/>
              </a:buClr>
              <a:buFont typeface="Wingdings" panose="05000000000000000000" pitchFamily="2" charset="2"/>
              <a:buChar char="ü"/>
            </a:pPr>
            <a:r>
              <a:rPr lang="en-GB" altLang="en-US" sz="3000" b="0" dirty="0" smtClean="0"/>
              <a:t>Make sure presented according to guidelines in assessment handbook</a:t>
            </a:r>
          </a:p>
        </p:txBody>
      </p:sp>
      <p:sp>
        <p:nvSpPr>
          <p:cNvPr id="53254" name="Title 1"/>
          <p:cNvSpPr txBox="1">
            <a:spLocks/>
          </p:cNvSpPr>
          <p:nvPr/>
        </p:nvSpPr>
        <p:spPr bwMode="auto">
          <a:xfrm>
            <a:off x="457200" y="274638"/>
            <a:ext cx="8229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GB" altLang="en-US" sz="2800" dirty="0" smtClean="0">
                <a:latin typeface="+mj-lt"/>
                <a:cs typeface="Arial" pitchFamily="34" charset="0"/>
              </a:rPr>
              <a:t>STEP 7: REVIEW &amp; EDIT</a:t>
            </a:r>
            <a:endParaRPr lang="en-GB" altLang="en-US" sz="2800" dirty="0">
              <a:latin typeface="+mj-lt"/>
              <a:cs typeface="Arial" pitchFamily="34" charset="0"/>
            </a:endParaRPr>
          </a:p>
        </p:txBody>
      </p:sp>
    </p:spTree>
    <p:extLst>
      <p:ext uri="{BB962C8B-B14F-4D97-AF65-F5344CB8AC3E}">
        <p14:creationId xmlns:p14="http://schemas.microsoft.com/office/powerpoint/2010/main" val="426143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53">
                                            <p:txEl>
                                              <p:pRg st="0" end="0"/>
                                            </p:txEl>
                                          </p:spTgt>
                                        </p:tgtEl>
                                        <p:attrNameLst>
                                          <p:attrName>style.visibility</p:attrName>
                                        </p:attrNameLst>
                                      </p:cBhvr>
                                      <p:to>
                                        <p:strVal val="visible"/>
                                      </p:to>
                                    </p:set>
                                    <p:animEffect transition="in" filter="fade">
                                      <p:cBhvr>
                                        <p:cTn id="7" dur="500"/>
                                        <p:tgtEl>
                                          <p:spTgt spid="532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253">
                                            <p:txEl>
                                              <p:pRg st="1" end="1"/>
                                            </p:txEl>
                                          </p:spTgt>
                                        </p:tgtEl>
                                        <p:attrNameLst>
                                          <p:attrName>style.visibility</p:attrName>
                                        </p:attrNameLst>
                                      </p:cBhvr>
                                      <p:to>
                                        <p:strVal val="visible"/>
                                      </p:to>
                                    </p:set>
                                    <p:animEffect transition="in" filter="fade">
                                      <p:cBhvr>
                                        <p:cTn id="12" dur="500"/>
                                        <p:tgtEl>
                                          <p:spTgt spid="532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253">
                                            <p:txEl>
                                              <p:pRg st="2" end="2"/>
                                            </p:txEl>
                                          </p:spTgt>
                                        </p:tgtEl>
                                        <p:attrNameLst>
                                          <p:attrName>style.visibility</p:attrName>
                                        </p:attrNameLst>
                                      </p:cBhvr>
                                      <p:to>
                                        <p:strVal val="visible"/>
                                      </p:to>
                                    </p:set>
                                    <p:animEffect transition="in" filter="fade">
                                      <p:cBhvr>
                                        <p:cTn id="17" dur="500"/>
                                        <p:tgtEl>
                                          <p:spTgt spid="532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253">
                                            <p:txEl>
                                              <p:pRg st="3" end="3"/>
                                            </p:txEl>
                                          </p:spTgt>
                                        </p:tgtEl>
                                        <p:attrNameLst>
                                          <p:attrName>style.visibility</p:attrName>
                                        </p:attrNameLst>
                                      </p:cBhvr>
                                      <p:to>
                                        <p:strVal val="visible"/>
                                      </p:to>
                                    </p:set>
                                    <p:animEffect transition="in" filter="fade">
                                      <p:cBhvr>
                                        <p:cTn id="22" dur="500"/>
                                        <p:tgtEl>
                                          <p:spTgt spid="532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253">
                                            <p:txEl>
                                              <p:pRg st="4" end="4"/>
                                            </p:txEl>
                                          </p:spTgt>
                                        </p:tgtEl>
                                        <p:attrNameLst>
                                          <p:attrName>style.visibility</p:attrName>
                                        </p:attrNameLst>
                                      </p:cBhvr>
                                      <p:to>
                                        <p:strVal val="visible"/>
                                      </p:to>
                                    </p:set>
                                    <p:animEffect transition="in" filter="fade">
                                      <p:cBhvr>
                                        <p:cTn id="27" dur="500"/>
                                        <p:tgtEl>
                                          <p:spTgt spid="5325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253">
                                            <p:txEl>
                                              <p:pRg st="5" end="5"/>
                                            </p:txEl>
                                          </p:spTgt>
                                        </p:tgtEl>
                                        <p:attrNameLst>
                                          <p:attrName>style.visibility</p:attrName>
                                        </p:attrNameLst>
                                      </p:cBhvr>
                                      <p:to>
                                        <p:strVal val="visible"/>
                                      </p:to>
                                    </p:set>
                                    <p:animEffect transition="in" filter="fade">
                                      <p:cBhvr>
                                        <p:cTn id="32" dur="500"/>
                                        <p:tgtEl>
                                          <p:spTgt spid="5325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253">
                                            <p:txEl>
                                              <p:pRg st="6" end="6"/>
                                            </p:txEl>
                                          </p:spTgt>
                                        </p:tgtEl>
                                        <p:attrNameLst>
                                          <p:attrName>style.visibility</p:attrName>
                                        </p:attrNameLst>
                                      </p:cBhvr>
                                      <p:to>
                                        <p:strVal val="visible"/>
                                      </p:to>
                                    </p:set>
                                    <p:animEffect transition="in" filter="fade">
                                      <p:cBhvr>
                                        <p:cTn id="37" dur="500"/>
                                        <p:tgtEl>
                                          <p:spTgt spid="5325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1196752"/>
            <a:ext cx="7520940" cy="3579849"/>
          </a:xfrm>
        </p:spPr>
        <p:txBody>
          <a:bodyPr>
            <a:noAutofit/>
          </a:bodyPr>
          <a:lstStyle/>
          <a:p>
            <a:pPr marL="109728" indent="0" algn="ctr">
              <a:buNone/>
            </a:pPr>
            <a:r>
              <a:rPr lang="en-GB" sz="7200" dirty="0" smtClean="0"/>
              <a:t>THE CONVENTIONS OF ACADEMIC WRITING</a:t>
            </a:r>
            <a:endParaRPr lang="en-GB" sz="7200" dirty="0"/>
          </a:p>
        </p:txBody>
      </p:sp>
    </p:spTree>
    <p:extLst>
      <p:ext uri="{BB962C8B-B14F-4D97-AF65-F5344CB8AC3E}">
        <p14:creationId xmlns:p14="http://schemas.microsoft.com/office/powerpoint/2010/main" val="8138516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066800"/>
          </a:xfrm>
        </p:spPr>
        <p:txBody>
          <a:bodyPr>
            <a:normAutofit/>
          </a:bodyPr>
          <a:lstStyle/>
          <a:p>
            <a:pPr>
              <a:defRPr/>
            </a:pPr>
            <a:r>
              <a:rPr lang="en-GB" dirty="0"/>
              <a:t>Conventions of Academic </a:t>
            </a:r>
            <a:r>
              <a:rPr lang="en-GB" dirty="0" smtClean="0"/>
              <a:t>Writing</a:t>
            </a:r>
            <a:endParaRPr lang="en-GB" dirty="0"/>
          </a:p>
        </p:txBody>
      </p:sp>
      <p:graphicFrame>
        <p:nvGraphicFramePr>
          <p:cNvPr id="7" name="Diagram 6"/>
          <p:cNvGraphicFramePr/>
          <p:nvPr>
            <p:extLst>
              <p:ext uri="{D42A27DB-BD31-4B8C-83A1-F6EECF244321}">
                <p14:modId xmlns:p14="http://schemas.microsoft.com/office/powerpoint/2010/main" val="3881280792"/>
              </p:ext>
            </p:extLst>
          </p:nvPr>
        </p:nvGraphicFramePr>
        <p:xfrm>
          <a:off x="251520" y="1385392"/>
          <a:ext cx="8424936" cy="52119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5650029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xfrm>
            <a:off x="251520" y="548680"/>
            <a:ext cx="5040684"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r>
              <a:rPr lang="en-GB" altLang="en-US" dirty="0" smtClean="0">
                <a:cs typeface="Arial" pitchFamily="34" charset="0"/>
              </a:rPr>
              <a:t>Impersonal tone</a:t>
            </a:r>
          </a:p>
        </p:txBody>
      </p:sp>
      <p:sp>
        <p:nvSpPr>
          <p:cNvPr id="27651" name="Content Placeholder 2"/>
          <p:cNvSpPr>
            <a:spLocks noGrp="1"/>
          </p:cNvSpPr>
          <p:nvPr>
            <p:ph idx="1"/>
          </p:nvPr>
        </p:nvSpPr>
        <p:spPr bwMode="auto">
          <a:xfrm>
            <a:off x="467544" y="1844824"/>
            <a:ext cx="8282081" cy="4464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109728" indent="0" algn="ctr" eaLnBrk="1" hangingPunct="1">
              <a:buClr>
                <a:srgbClr val="C00000"/>
              </a:buClr>
              <a:buNone/>
            </a:pPr>
            <a:r>
              <a:rPr lang="en-GB" altLang="en-US" sz="2800" dirty="0" smtClean="0">
                <a:cs typeface="Arial" pitchFamily="34" charset="0"/>
              </a:rPr>
              <a:t>Avoid using the first person (‘I’, ‘you’ or ‘we’)</a:t>
            </a:r>
          </a:p>
          <a:p>
            <a:pPr algn="ctr" eaLnBrk="1" hangingPunct="1">
              <a:buClr>
                <a:srgbClr val="C00000"/>
              </a:buClr>
            </a:pPr>
            <a:endParaRPr lang="en-GB" altLang="en-US" sz="2800" i="1" dirty="0" smtClean="0">
              <a:cs typeface="Arial" pitchFamily="34" charset="0"/>
              <a:sym typeface="Wingdings" pitchFamily="2" charset="2"/>
            </a:endParaRPr>
          </a:p>
          <a:p>
            <a:pPr lvl="1" eaLnBrk="1" hangingPunct="1">
              <a:buClr>
                <a:srgbClr val="C00000"/>
              </a:buClr>
              <a:buFont typeface="Wingdings" pitchFamily="2" charset="2"/>
              <a:buChar char=""/>
            </a:pPr>
            <a:r>
              <a:rPr lang="en-GB" altLang="en-US" sz="2400" i="1" dirty="0" smtClean="0">
                <a:cs typeface="Arial" pitchFamily="34" charset="0"/>
              </a:rPr>
              <a:t>In this essay I will investigate…</a:t>
            </a:r>
          </a:p>
          <a:p>
            <a:pPr lvl="1" eaLnBrk="1" hangingPunct="1">
              <a:buClr>
                <a:srgbClr val="C00000"/>
              </a:buClr>
              <a:buFont typeface="Wingdings" pitchFamily="2" charset="2"/>
              <a:buChar char=""/>
            </a:pPr>
            <a:r>
              <a:rPr lang="en-GB" altLang="en-US" sz="2400" i="1" dirty="0" smtClean="0">
                <a:cs typeface="Arial" pitchFamily="34" charset="0"/>
              </a:rPr>
              <a:t>This essay investigates…</a:t>
            </a:r>
          </a:p>
          <a:p>
            <a:pPr lvl="1" eaLnBrk="1" hangingPunct="1">
              <a:buClr>
                <a:srgbClr val="C00000"/>
              </a:buClr>
              <a:buFont typeface="Wingdings" pitchFamily="2" charset="2"/>
              <a:buChar char=""/>
            </a:pPr>
            <a:endParaRPr lang="en-GB" altLang="en-US" sz="1800" i="1" dirty="0" smtClean="0">
              <a:cs typeface="Arial" pitchFamily="34" charset="0"/>
              <a:sym typeface="Wingdings" pitchFamily="2" charset="2"/>
            </a:endParaRPr>
          </a:p>
          <a:p>
            <a:pPr lvl="1" eaLnBrk="1" hangingPunct="1">
              <a:buClr>
                <a:srgbClr val="C00000"/>
              </a:buClr>
              <a:buFont typeface="Wingdings" pitchFamily="2" charset="2"/>
              <a:buChar char="û"/>
            </a:pPr>
            <a:r>
              <a:rPr lang="en-GB" altLang="en-US" sz="2400" i="1" dirty="0" smtClean="0">
                <a:cs typeface="Arial" pitchFamily="34" charset="0"/>
              </a:rPr>
              <a:t>You could say consent is an important issue because…</a:t>
            </a:r>
          </a:p>
          <a:p>
            <a:pPr lvl="1" eaLnBrk="1" hangingPunct="1">
              <a:buClr>
                <a:srgbClr val="C00000"/>
              </a:buClr>
              <a:buFont typeface="Wingdings" pitchFamily="2" charset="2"/>
              <a:buChar char=""/>
            </a:pPr>
            <a:r>
              <a:rPr lang="en-GB" altLang="en-US" sz="2400" i="1" dirty="0" smtClean="0">
                <a:cs typeface="Arial" pitchFamily="34" charset="0"/>
              </a:rPr>
              <a:t>Consent is an important issue because…</a:t>
            </a:r>
          </a:p>
          <a:p>
            <a:pPr lvl="1" eaLnBrk="1" hangingPunct="1">
              <a:buClr>
                <a:srgbClr val="C00000"/>
              </a:buClr>
              <a:buFont typeface="Wingdings" pitchFamily="2" charset="2"/>
              <a:buChar char=""/>
            </a:pPr>
            <a:endParaRPr lang="en-GB" altLang="en-US" sz="1800" i="1" dirty="0" smtClean="0">
              <a:cs typeface="Arial" pitchFamily="34" charset="0"/>
            </a:endParaRPr>
          </a:p>
          <a:p>
            <a:pPr lvl="1" eaLnBrk="1" hangingPunct="1">
              <a:buClr>
                <a:srgbClr val="C00000"/>
              </a:buClr>
              <a:buFont typeface="Wingdings" pitchFamily="2" charset="2"/>
              <a:buChar char="û"/>
            </a:pPr>
            <a:r>
              <a:rPr lang="en-GB" altLang="en-US" sz="2400" i="1" dirty="0" smtClean="0">
                <a:cs typeface="Arial" pitchFamily="34" charset="0"/>
                <a:sym typeface="Wingdings" pitchFamily="2" charset="2"/>
              </a:rPr>
              <a:t>We can assume from the evidence</a:t>
            </a:r>
            <a:r>
              <a:rPr lang="en-GB" altLang="en-US" sz="2400" i="1" dirty="0" smtClean="0">
                <a:cs typeface="Arial" pitchFamily="34" charset="0"/>
              </a:rPr>
              <a:t>… </a:t>
            </a:r>
          </a:p>
          <a:p>
            <a:pPr lvl="1" eaLnBrk="1" hangingPunct="1">
              <a:buClr>
                <a:srgbClr val="C00000"/>
              </a:buClr>
              <a:buFont typeface="Wingdings" pitchFamily="2" charset="2"/>
              <a:buChar char=""/>
            </a:pPr>
            <a:r>
              <a:rPr lang="en-GB" altLang="en-US" sz="2400" i="1" dirty="0" smtClean="0">
                <a:cs typeface="Arial" pitchFamily="34" charset="0"/>
              </a:rPr>
              <a:t>This evidence suggests that…..</a:t>
            </a:r>
          </a:p>
          <a:p>
            <a:pPr lvl="1" eaLnBrk="1" hangingPunct="1">
              <a:buClr>
                <a:srgbClr val="C00000"/>
              </a:buClr>
              <a:buFont typeface="Wingdings" pitchFamily="2" charset="2"/>
              <a:buChar char=""/>
            </a:pPr>
            <a:endParaRPr lang="en-GB" altLang="en-US" sz="2400" i="1" dirty="0" smtClean="0">
              <a:cs typeface="Arial" pitchFamily="34" charset="0"/>
            </a:endParaRPr>
          </a:p>
          <a:p>
            <a:pPr lvl="1" eaLnBrk="1" hangingPunct="1">
              <a:buClr>
                <a:srgbClr val="C00000"/>
              </a:buClr>
              <a:buFont typeface="Wingdings" pitchFamily="2" charset="2"/>
              <a:buChar char=""/>
            </a:pPr>
            <a:endParaRPr lang="en-GB" altLang="en-US" sz="2400" i="1" dirty="0" smtClean="0">
              <a:cs typeface="Arial" pitchFamily="34" charset="0"/>
            </a:endParaRPr>
          </a:p>
          <a:p>
            <a:pPr lvl="1" eaLnBrk="1" hangingPunct="1">
              <a:buClr>
                <a:srgbClr val="C00000"/>
              </a:buClr>
              <a:buFont typeface="Arial" pitchFamily="34" charset="0"/>
              <a:buNone/>
            </a:pPr>
            <a:endParaRPr lang="en-GB" altLang="en-US" sz="2400" i="1" dirty="0" smtClean="0">
              <a:cs typeface="Arial" pitchFamily="34" charset="0"/>
            </a:endParaRPr>
          </a:p>
          <a:p>
            <a:pPr lvl="1" eaLnBrk="1" hangingPunct="1">
              <a:buClr>
                <a:srgbClr val="C00000"/>
              </a:buClr>
              <a:buFont typeface="Wingdings" pitchFamily="2" charset="2"/>
              <a:buChar char=""/>
            </a:pPr>
            <a:endParaRPr lang="en-GB" altLang="en-US" sz="2400" i="1" dirty="0" smtClean="0">
              <a:cs typeface="Arial" pitchFamily="34" charset="0"/>
            </a:endParaRPr>
          </a:p>
          <a:p>
            <a:pPr eaLnBrk="1" hangingPunct="1">
              <a:buClr>
                <a:srgbClr val="C00000"/>
              </a:buClr>
            </a:pPr>
            <a:endParaRPr lang="en-GB" altLang="en-US" sz="2800" dirty="0" smtClean="0">
              <a:cs typeface="Arial" pitchFamily="34" charset="0"/>
            </a:endParaRPr>
          </a:p>
        </p:txBody>
      </p:sp>
    </p:spTree>
    <p:extLst>
      <p:ext uri="{BB962C8B-B14F-4D97-AF65-F5344CB8AC3E}">
        <p14:creationId xmlns:p14="http://schemas.microsoft.com/office/powerpoint/2010/main" val="2551793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Effect transition="in" filter="fade">
                                      <p:cBhvr>
                                        <p:cTn id="7" dur="500"/>
                                        <p:tgtEl>
                                          <p:spTgt spid="276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51">
                                            <p:txEl>
                                              <p:pRg st="3" end="3"/>
                                            </p:txEl>
                                          </p:spTgt>
                                        </p:tgtEl>
                                        <p:attrNameLst>
                                          <p:attrName>style.visibility</p:attrName>
                                        </p:attrNameLst>
                                      </p:cBhvr>
                                      <p:to>
                                        <p:strVal val="visible"/>
                                      </p:to>
                                    </p:set>
                                    <p:animEffect transition="in" filter="fade">
                                      <p:cBhvr>
                                        <p:cTn id="12" dur="500"/>
                                        <p:tgtEl>
                                          <p:spTgt spid="2765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651">
                                            <p:txEl>
                                              <p:pRg st="5" end="5"/>
                                            </p:txEl>
                                          </p:spTgt>
                                        </p:tgtEl>
                                        <p:attrNameLst>
                                          <p:attrName>style.visibility</p:attrName>
                                        </p:attrNameLst>
                                      </p:cBhvr>
                                      <p:to>
                                        <p:strVal val="visible"/>
                                      </p:to>
                                    </p:set>
                                    <p:animEffect transition="in" filter="fade">
                                      <p:cBhvr>
                                        <p:cTn id="17" dur="500"/>
                                        <p:tgtEl>
                                          <p:spTgt spid="27651">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651">
                                            <p:txEl>
                                              <p:pRg st="6" end="6"/>
                                            </p:txEl>
                                          </p:spTgt>
                                        </p:tgtEl>
                                        <p:attrNameLst>
                                          <p:attrName>style.visibility</p:attrName>
                                        </p:attrNameLst>
                                      </p:cBhvr>
                                      <p:to>
                                        <p:strVal val="visible"/>
                                      </p:to>
                                    </p:set>
                                    <p:animEffect transition="in" filter="fade">
                                      <p:cBhvr>
                                        <p:cTn id="22" dur="500"/>
                                        <p:tgtEl>
                                          <p:spTgt spid="2765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651">
                                            <p:txEl>
                                              <p:pRg st="8" end="8"/>
                                            </p:txEl>
                                          </p:spTgt>
                                        </p:tgtEl>
                                        <p:attrNameLst>
                                          <p:attrName>style.visibility</p:attrName>
                                        </p:attrNameLst>
                                      </p:cBhvr>
                                      <p:to>
                                        <p:strVal val="visible"/>
                                      </p:to>
                                    </p:set>
                                    <p:animEffect transition="in" filter="fade">
                                      <p:cBhvr>
                                        <p:cTn id="27" dur="500"/>
                                        <p:tgtEl>
                                          <p:spTgt spid="2765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651">
                                            <p:txEl>
                                              <p:pRg st="9" end="9"/>
                                            </p:txEl>
                                          </p:spTgt>
                                        </p:tgtEl>
                                        <p:attrNameLst>
                                          <p:attrName>style.visibility</p:attrName>
                                        </p:attrNameLst>
                                      </p:cBhvr>
                                      <p:to>
                                        <p:strVal val="visible"/>
                                      </p:to>
                                    </p:set>
                                    <p:animEffect transition="in" filter="fade">
                                      <p:cBhvr>
                                        <p:cTn id="32" dur="500"/>
                                        <p:tgtEl>
                                          <p:spTgt spid="276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bwMode="auto">
          <a:xfrm>
            <a:off x="179388" y="765175"/>
            <a:ext cx="374454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algn="l" eaLnBrk="1" hangingPunct="1"/>
            <a:r>
              <a:rPr lang="en-GB" altLang="en-US" dirty="0" smtClean="0">
                <a:cs typeface="Arial" pitchFamily="34" charset="0"/>
              </a:rPr>
              <a:t>Impersonal tone</a:t>
            </a:r>
          </a:p>
        </p:txBody>
      </p:sp>
      <p:sp>
        <p:nvSpPr>
          <p:cNvPr id="28675" name="Content Placeholder 2"/>
          <p:cNvSpPr>
            <a:spLocks noGrp="1"/>
          </p:cNvSpPr>
          <p:nvPr>
            <p:ph idx="1"/>
          </p:nvPr>
        </p:nvSpPr>
        <p:spPr bwMode="auto">
          <a:xfrm>
            <a:off x="611560" y="1772816"/>
            <a:ext cx="7777237" cy="47418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109728" indent="0">
              <a:buClr>
                <a:srgbClr val="C00000"/>
              </a:buClr>
              <a:buNone/>
            </a:pPr>
            <a:r>
              <a:rPr lang="en-GB" altLang="en-US" sz="2400" dirty="0" smtClean="0">
                <a:cs typeface="Arial" pitchFamily="34" charset="0"/>
              </a:rPr>
              <a:t> Neutral/objective –back up your points with evidence not just experience </a:t>
            </a:r>
          </a:p>
          <a:p>
            <a:pPr>
              <a:buClr>
                <a:srgbClr val="C00000"/>
              </a:buClr>
              <a:buFont typeface="Arial" pitchFamily="34" charset="0"/>
              <a:buNone/>
            </a:pPr>
            <a:r>
              <a:rPr lang="en-GB" altLang="en-US" sz="1800" i="1" dirty="0" smtClean="0">
                <a:cs typeface="Arial" pitchFamily="34" charset="0"/>
              </a:rPr>
              <a:t/>
            </a:r>
            <a:br>
              <a:rPr lang="en-GB" altLang="en-US" sz="1800" i="1" dirty="0" smtClean="0">
                <a:cs typeface="Arial" pitchFamily="34" charset="0"/>
              </a:rPr>
            </a:br>
            <a:r>
              <a:rPr lang="en-GB" altLang="en-US" sz="2400" i="1" dirty="0" smtClean="0">
                <a:cs typeface="Arial" pitchFamily="34" charset="0"/>
                <a:sym typeface="Wingdings" pitchFamily="2" charset="2"/>
              </a:rPr>
              <a:t> </a:t>
            </a:r>
            <a:r>
              <a:rPr lang="en-GB" altLang="en-US" sz="2400" i="1" dirty="0" smtClean="0">
                <a:solidFill>
                  <a:srgbClr val="C00000"/>
                </a:solidFill>
                <a:cs typeface="Arial" pitchFamily="34" charset="0"/>
                <a:sym typeface="Wingdings" pitchFamily="2" charset="2"/>
              </a:rPr>
              <a:t>  </a:t>
            </a:r>
            <a:r>
              <a:rPr lang="en-GB" altLang="en-US" sz="2400" i="1" dirty="0" smtClean="0">
                <a:cs typeface="Arial" pitchFamily="34" charset="0"/>
                <a:sym typeface="Wingdings" pitchFamily="2" charset="2"/>
              </a:rPr>
              <a:t>   The most important thing to consider when dealing with a patient with Parkinson’s Disease…..</a:t>
            </a:r>
            <a:r>
              <a:rPr lang="en-GB" altLang="en-US" sz="2400" i="1" dirty="0" smtClean="0">
                <a:cs typeface="Arial" pitchFamily="34" charset="0"/>
              </a:rPr>
              <a:t>.</a:t>
            </a:r>
          </a:p>
          <a:p>
            <a:pPr>
              <a:buClr>
                <a:srgbClr val="C00000"/>
              </a:buClr>
              <a:buFont typeface="Arial" pitchFamily="34" charset="0"/>
              <a:buNone/>
            </a:pPr>
            <a:endParaRPr lang="en-GB" altLang="en-US" sz="1800" dirty="0" smtClean="0">
              <a:cs typeface="Arial" pitchFamily="34" charset="0"/>
            </a:endParaRPr>
          </a:p>
          <a:p>
            <a:pPr>
              <a:buClr>
                <a:srgbClr val="C00000"/>
              </a:buClr>
              <a:buFont typeface="Arial" pitchFamily="34" charset="0"/>
              <a:buNone/>
            </a:pPr>
            <a:r>
              <a:rPr lang="en-GB" altLang="en-US" sz="2400" i="1" dirty="0" smtClean="0">
                <a:cs typeface="Arial" pitchFamily="34" charset="0"/>
              </a:rPr>
              <a:t>	</a:t>
            </a:r>
            <a:r>
              <a:rPr lang="en-GB" altLang="en-US" sz="2400" i="1" dirty="0" smtClean="0">
                <a:cs typeface="Arial" pitchFamily="34" charset="0"/>
                <a:sym typeface="Wingdings" pitchFamily="2" charset="2"/>
              </a:rPr>
              <a:t> </a:t>
            </a:r>
            <a:r>
              <a:rPr lang="en-GB" altLang="en-US" sz="2400" i="1" dirty="0" smtClean="0">
                <a:solidFill>
                  <a:srgbClr val="C00000"/>
                </a:solidFill>
                <a:cs typeface="Arial" pitchFamily="34" charset="0"/>
                <a:sym typeface="Wingdings" pitchFamily="2" charset="2"/>
              </a:rPr>
              <a:t> </a:t>
            </a:r>
            <a:r>
              <a:rPr lang="en-GB" altLang="en-US" sz="2400" i="1" dirty="0" smtClean="0">
                <a:cs typeface="Arial" pitchFamily="34" charset="0"/>
                <a:sym typeface="Wingdings" pitchFamily="2" charset="2"/>
              </a:rPr>
              <a:t>Neville (2004) and  Simpson (2006) found that the a key benefit for dealing with patients with Parkinson’s Disease is …Conversely, however, Jones</a:t>
            </a:r>
            <a:r>
              <a:rPr lang="en-GB" altLang="en-US" sz="2400" i="1" dirty="0" smtClean="0">
                <a:cs typeface="Arial" pitchFamily="34" charset="0"/>
              </a:rPr>
              <a:t> (2009) and Smith (2013) both argue that the most important consideration is …</a:t>
            </a:r>
            <a:endParaRPr lang="en-GB" altLang="en-US" sz="2400" dirty="0" smtClean="0">
              <a:cs typeface="Arial" pitchFamily="34" charset="0"/>
            </a:endParaRPr>
          </a:p>
          <a:p>
            <a:endParaRPr lang="en-GB" altLang="en-US" sz="2400" dirty="0" smtClean="0">
              <a:cs typeface="Arial" pitchFamily="34" charset="0"/>
            </a:endParaRPr>
          </a:p>
        </p:txBody>
      </p:sp>
    </p:spTree>
    <p:extLst>
      <p:ext uri="{BB962C8B-B14F-4D97-AF65-F5344CB8AC3E}">
        <p14:creationId xmlns:p14="http://schemas.microsoft.com/office/powerpoint/2010/main" val="9521541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fade">
                                      <p:cBhvr>
                                        <p:cTn id="12" dur="500"/>
                                        <p:tgtEl>
                                          <p:spTgt spid="28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675">
                                            <p:txEl>
                                              <p:pRg st="3" end="3"/>
                                            </p:txEl>
                                          </p:spTgt>
                                        </p:tgtEl>
                                        <p:attrNameLst>
                                          <p:attrName>style.visibility</p:attrName>
                                        </p:attrNameLst>
                                      </p:cBhvr>
                                      <p:to>
                                        <p:strVal val="visible"/>
                                      </p:to>
                                    </p:set>
                                    <p:animEffect transition="in" filter="fade">
                                      <p:cBhvr>
                                        <p:cTn id="17" dur="500"/>
                                        <p:tgtEl>
                                          <p:spTgt spid="28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xfrm>
            <a:off x="467544" y="764704"/>
            <a:ext cx="5040560" cy="792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dirty="0" smtClean="0">
                <a:cs typeface="Arial" pitchFamily="34" charset="0"/>
              </a:rPr>
              <a:t>Formal Tone</a:t>
            </a:r>
          </a:p>
        </p:txBody>
      </p:sp>
      <p:sp>
        <p:nvSpPr>
          <p:cNvPr id="29699" name="Content Placeholder 2"/>
          <p:cNvSpPr>
            <a:spLocks noGrp="1"/>
          </p:cNvSpPr>
          <p:nvPr>
            <p:ph idx="1"/>
          </p:nvPr>
        </p:nvSpPr>
        <p:spPr bwMode="auto">
          <a:xfrm>
            <a:off x="971600" y="1340768"/>
            <a:ext cx="7509396" cy="46805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ctr"/>
            <a:endParaRPr lang="en-GB" altLang="en-US" sz="2800" b="1" dirty="0" smtClean="0">
              <a:cs typeface="Arial" pitchFamily="34" charset="0"/>
            </a:endParaRPr>
          </a:p>
          <a:p>
            <a:pPr marL="457200" indent="-457200">
              <a:spcAft>
                <a:spcPct val="20000"/>
              </a:spcAft>
              <a:buFont typeface="Wingdings" panose="05000000000000000000" pitchFamily="2" charset="2"/>
              <a:buChar char="ü"/>
            </a:pPr>
            <a:r>
              <a:rPr lang="en-GB" altLang="en-US" sz="2800" b="0" dirty="0" smtClean="0">
                <a:cs typeface="Arial" pitchFamily="34" charset="0"/>
              </a:rPr>
              <a:t>Avoid abbreviations or contractions such as ‘didn’t’ – use ‘did not’.</a:t>
            </a:r>
          </a:p>
          <a:p>
            <a:pPr marL="457200" lvl="0" indent="-457200">
              <a:buFont typeface="Wingdings" panose="05000000000000000000" pitchFamily="2" charset="2"/>
              <a:buChar char="ü"/>
            </a:pPr>
            <a:r>
              <a:rPr lang="en-GB" altLang="en-US" sz="2800" b="0" dirty="0" smtClean="0">
                <a:cs typeface="Arial" pitchFamily="34" charset="0"/>
              </a:rPr>
              <a:t> Spell out any acronyms that you use the first time that you use them e.g. </a:t>
            </a:r>
            <a:r>
              <a:rPr lang="en-GB" sz="2800" b="0" dirty="0"/>
              <a:t>World Health Organisation (WHO)</a:t>
            </a:r>
          </a:p>
          <a:p>
            <a:pPr marL="457200" indent="-457200">
              <a:spcAft>
                <a:spcPct val="20000"/>
              </a:spcAft>
              <a:buFont typeface="Wingdings" panose="05000000000000000000" pitchFamily="2" charset="2"/>
              <a:buChar char="ü"/>
            </a:pPr>
            <a:r>
              <a:rPr lang="en-GB" altLang="en-US" sz="2800" b="0" dirty="0" smtClean="0">
                <a:cs typeface="Arial" pitchFamily="34" charset="0"/>
              </a:rPr>
              <a:t>Avoid colloquialisms/slang– “keeping the patient in the loop”/ “helped him come out of his shell”</a:t>
            </a:r>
          </a:p>
          <a:p>
            <a:pPr marL="0" indent="0">
              <a:spcAft>
                <a:spcPct val="20000"/>
              </a:spcAft>
            </a:pPr>
            <a:endParaRPr lang="en-GB" altLang="en-US" sz="2800" b="0" dirty="0" smtClean="0">
              <a:cs typeface="Arial" pitchFamily="34" charset="0"/>
            </a:endParaRPr>
          </a:p>
        </p:txBody>
      </p:sp>
    </p:spTree>
    <p:extLst>
      <p:ext uri="{BB962C8B-B14F-4D97-AF65-F5344CB8AC3E}">
        <p14:creationId xmlns:p14="http://schemas.microsoft.com/office/powerpoint/2010/main" val="31809474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500"/>
                                        <p:tgtEl>
                                          <p:spTgt spid="296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699">
                                            <p:txEl>
                                              <p:pRg st="2" end="2"/>
                                            </p:txEl>
                                          </p:spTgt>
                                        </p:tgtEl>
                                        <p:attrNameLst>
                                          <p:attrName>style.visibility</p:attrName>
                                        </p:attrNameLst>
                                      </p:cBhvr>
                                      <p:to>
                                        <p:strVal val="visible"/>
                                      </p:to>
                                    </p:set>
                                    <p:animEffect transition="in" filter="fade">
                                      <p:cBhvr>
                                        <p:cTn id="12" dur="500"/>
                                        <p:tgtEl>
                                          <p:spTgt spid="296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699">
                                            <p:txEl>
                                              <p:pRg st="3" end="3"/>
                                            </p:txEl>
                                          </p:spTgt>
                                        </p:tgtEl>
                                        <p:attrNameLst>
                                          <p:attrName>style.visibility</p:attrName>
                                        </p:attrNameLst>
                                      </p:cBhvr>
                                      <p:to>
                                        <p:strVal val="visible"/>
                                      </p:to>
                                    </p:set>
                                    <p:animEffect transition="in" filter="fade">
                                      <p:cBhvr>
                                        <p:cTn id="17" dur="500"/>
                                        <p:tgtEl>
                                          <p:spTgt spid="29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135" y="692696"/>
            <a:ext cx="8229600" cy="1066800"/>
          </a:xfrm>
        </p:spPr>
        <p:txBody>
          <a:bodyPr/>
          <a:lstStyle/>
          <a:p>
            <a:r>
              <a:rPr lang="en-GB" dirty="0" smtClean="0"/>
              <a:t>Clear and concise</a:t>
            </a:r>
            <a:endParaRPr lang="en-GB" dirty="0"/>
          </a:p>
        </p:txBody>
      </p:sp>
      <p:sp>
        <p:nvSpPr>
          <p:cNvPr id="3" name="Content Placeholder 2"/>
          <p:cNvSpPr>
            <a:spLocks noGrp="1"/>
          </p:cNvSpPr>
          <p:nvPr>
            <p:ph idx="1"/>
          </p:nvPr>
        </p:nvSpPr>
        <p:spPr>
          <a:xfrm>
            <a:off x="467544" y="1844824"/>
            <a:ext cx="8229600" cy="4325112"/>
          </a:xfrm>
        </p:spPr>
        <p:txBody>
          <a:bodyPr>
            <a:normAutofit lnSpcReduction="10000"/>
          </a:bodyPr>
          <a:lstStyle/>
          <a:p>
            <a:pPr>
              <a:buFont typeface="Wingdings" panose="05000000000000000000" pitchFamily="2" charset="2"/>
              <a:buChar char="ü"/>
            </a:pPr>
            <a:r>
              <a:rPr lang="en-GB" dirty="0" smtClean="0"/>
              <a:t>Academic writing is not about making your writing sound unnecessarily ‘fancy’</a:t>
            </a:r>
          </a:p>
          <a:p>
            <a:pPr>
              <a:buFont typeface="Wingdings" panose="05000000000000000000" pitchFamily="2" charset="2"/>
              <a:buChar char="ü"/>
            </a:pPr>
            <a:endParaRPr lang="en-GB" dirty="0"/>
          </a:p>
          <a:p>
            <a:pPr>
              <a:buFont typeface="Wingdings" panose="05000000000000000000" pitchFamily="2" charset="2"/>
              <a:buChar char="ü"/>
            </a:pPr>
            <a:r>
              <a:rPr lang="en-GB" dirty="0" smtClean="0"/>
              <a:t>Take care with spelling and punctuation – watch sentence length! </a:t>
            </a:r>
          </a:p>
          <a:p>
            <a:pPr>
              <a:buFont typeface="Wingdings" panose="05000000000000000000" pitchFamily="2" charset="2"/>
              <a:buChar char="ü"/>
            </a:pPr>
            <a:endParaRPr lang="en-GB" dirty="0"/>
          </a:p>
          <a:p>
            <a:pPr>
              <a:buFont typeface="Wingdings" panose="05000000000000000000" pitchFamily="2" charset="2"/>
              <a:buChar char="ü"/>
            </a:pPr>
            <a:r>
              <a:rPr lang="en-GB" dirty="0" smtClean="0"/>
              <a:t>A new paragraph should be taken for each new topic you cover.  The best way to ensure a clear structured approach is to NEVER EVER begin writing without first making a paragraph plan</a:t>
            </a:r>
          </a:p>
          <a:p>
            <a:pPr>
              <a:buFont typeface="Wingdings" panose="05000000000000000000" pitchFamily="2" charset="2"/>
              <a:buChar char="ü"/>
            </a:pPr>
            <a:endParaRPr lang="en-GB" dirty="0"/>
          </a:p>
          <a:p>
            <a:pPr marL="0" indent="0"/>
            <a:endParaRPr lang="en-GB" dirty="0" smtClean="0"/>
          </a:p>
          <a:p>
            <a:pPr>
              <a:buFont typeface="Wingdings" panose="05000000000000000000" pitchFamily="2" charset="2"/>
              <a:buChar char="ü"/>
            </a:pPr>
            <a:endParaRPr lang="en-GB" dirty="0"/>
          </a:p>
          <a:p>
            <a:pPr>
              <a:buFont typeface="Wingdings" panose="05000000000000000000" pitchFamily="2" charset="2"/>
              <a:buChar char="ü"/>
            </a:pPr>
            <a:endParaRPr lang="en-GB" dirty="0" smtClean="0"/>
          </a:p>
          <a:p>
            <a:pPr>
              <a:buFont typeface="Wingdings" panose="05000000000000000000" pitchFamily="2" charset="2"/>
              <a:buChar char="ü"/>
            </a:pPr>
            <a:endParaRPr lang="en-GB" dirty="0"/>
          </a:p>
          <a:p>
            <a:pPr>
              <a:buFont typeface="Wingdings" panose="05000000000000000000" pitchFamily="2" charset="2"/>
              <a:buChar char="ü"/>
            </a:pPr>
            <a:endParaRPr lang="en-GB" dirty="0" smtClean="0"/>
          </a:p>
          <a:p>
            <a:pPr>
              <a:buFont typeface="Wingdings" panose="05000000000000000000" pitchFamily="2" charset="2"/>
              <a:buChar char="ü"/>
            </a:pPr>
            <a:endParaRPr lang="en-GB" dirty="0"/>
          </a:p>
          <a:p>
            <a:pPr>
              <a:buFont typeface="Wingdings" panose="05000000000000000000" pitchFamily="2" charset="2"/>
              <a:buChar char="ü"/>
            </a:pPr>
            <a:endParaRPr lang="en-GB" dirty="0" smtClean="0"/>
          </a:p>
          <a:p>
            <a:pPr marL="0" indent="0"/>
            <a:endParaRPr lang="en-GB" dirty="0"/>
          </a:p>
        </p:txBody>
      </p:sp>
      <p:sp>
        <p:nvSpPr>
          <p:cNvPr id="4" name="Rectangle 3"/>
          <p:cNvSpPr/>
          <p:nvPr/>
        </p:nvSpPr>
        <p:spPr>
          <a:xfrm rot="355421">
            <a:off x="2762763" y="1927667"/>
            <a:ext cx="3217024" cy="41776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smtClean="0">
                <a:solidFill>
                  <a:schemeClr val="tx1"/>
                </a:solidFill>
                <a:latin typeface="Lucida Handwriting" panose="03010101010101010101" pitchFamily="66" charset="0"/>
              </a:rPr>
              <a:t>Title  - ‘Cats as Pets’</a:t>
            </a:r>
          </a:p>
          <a:p>
            <a:endParaRPr lang="en-GB" dirty="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1 - Introduction</a:t>
            </a:r>
          </a:p>
          <a:p>
            <a:endParaRPr lang="en-GB" dirty="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2 – Vet care</a:t>
            </a:r>
          </a:p>
          <a:p>
            <a:endParaRPr lang="en-GB" dirty="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3 – Grooming</a:t>
            </a:r>
          </a:p>
          <a:p>
            <a:endParaRPr lang="en-GB" dirty="0" smtClean="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4 – Food</a:t>
            </a:r>
          </a:p>
          <a:p>
            <a:endParaRPr lang="en-GB" dirty="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5 – Exercise</a:t>
            </a:r>
          </a:p>
          <a:p>
            <a:endParaRPr lang="en-GB" dirty="0">
              <a:solidFill>
                <a:schemeClr val="tx1"/>
              </a:solidFill>
              <a:latin typeface="Lucida Handwriting" panose="03010101010101010101" pitchFamily="66" charset="0"/>
            </a:endParaRPr>
          </a:p>
          <a:p>
            <a:r>
              <a:rPr lang="en-GB" dirty="0" smtClean="0">
                <a:solidFill>
                  <a:schemeClr val="tx1"/>
                </a:solidFill>
                <a:latin typeface="Lucida Handwriting" panose="03010101010101010101" pitchFamily="66" charset="0"/>
              </a:rPr>
              <a:t>Para 6 - Conclusion </a:t>
            </a:r>
            <a:endParaRPr lang="en-GB" dirty="0">
              <a:solidFill>
                <a:schemeClr val="tx1"/>
              </a:solidFill>
              <a:latin typeface="Lucida Handwriting" panose="03010101010101010101" pitchFamily="66" charset="0"/>
            </a:endParaRPr>
          </a:p>
        </p:txBody>
      </p:sp>
    </p:spTree>
    <p:extLst>
      <p:ext uri="{BB962C8B-B14F-4D97-AF65-F5344CB8AC3E}">
        <p14:creationId xmlns:p14="http://schemas.microsoft.com/office/powerpoint/2010/main" val="306833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l="6445" t="32292" r="47054" b="21463"/>
          <a:stretch>
            <a:fillRect/>
          </a:stretch>
        </p:blipFill>
        <p:spPr bwMode="auto">
          <a:xfrm>
            <a:off x="608013" y="1341438"/>
            <a:ext cx="7493000" cy="44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57464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2420888"/>
            <a:ext cx="8064896" cy="3939540"/>
          </a:xfrm>
          <a:prstGeom prst="rect">
            <a:avLst/>
          </a:prstGeom>
          <a:noFill/>
        </p:spPr>
        <p:txBody>
          <a:bodyPr wrap="square" rtlCol="0">
            <a:spAutoFit/>
          </a:bodyPr>
          <a:lstStyle/>
          <a:p>
            <a:r>
              <a:rPr lang="en-GB" sz="2000" dirty="0" smtClean="0"/>
              <a:t>For additional support one to one support on academic writing you can:</a:t>
            </a:r>
          </a:p>
          <a:p>
            <a:endParaRPr lang="en-GB" sz="2000" dirty="0"/>
          </a:p>
          <a:p>
            <a:pPr marL="285750" indent="-285750">
              <a:buFont typeface="Arial" panose="020B0604020202020204" pitchFamily="34" charset="0"/>
              <a:buChar char="•"/>
            </a:pPr>
            <a:r>
              <a:rPr lang="en-GB" sz="2000" dirty="0" smtClean="0"/>
              <a:t>Book </a:t>
            </a:r>
            <a:r>
              <a:rPr lang="en-GB" sz="2000" dirty="0"/>
              <a:t>an appointment with an ADT </a:t>
            </a:r>
            <a:r>
              <a:rPr lang="en-GB" sz="2000" dirty="0" smtClean="0"/>
              <a:t>on </a:t>
            </a:r>
            <a:r>
              <a:rPr lang="en-GB" sz="1600" dirty="0" smtClean="0">
                <a:hlinkClick r:id="rId2"/>
              </a:rPr>
              <a:t>https</a:t>
            </a:r>
            <a:r>
              <a:rPr lang="en-GB" sz="1600" dirty="0">
                <a:hlinkClick r:id="rId2"/>
              </a:rPr>
              <a:t>://sites.google.com/site/ldcgculearn</a:t>
            </a:r>
            <a:r>
              <a:rPr lang="en-GB" sz="1600" dirty="0" smtClean="0">
                <a:hlinkClick r:id="rId2"/>
              </a:rPr>
              <a:t>/</a:t>
            </a:r>
            <a:endParaRPr lang="en-GB" sz="1600" dirty="0" smtClean="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2000" dirty="0" smtClean="0"/>
              <a:t>Come along to our ‘drop-in session’ on Wednesdays 2-4pm  </a:t>
            </a:r>
          </a:p>
          <a:p>
            <a:pPr algn="ctr"/>
            <a:endParaRPr lang="en-GB" sz="2000" dirty="0" smtClean="0"/>
          </a:p>
          <a:p>
            <a:pPr algn="ctr"/>
            <a:endParaRPr lang="en-GB" sz="2000" dirty="0" smtClean="0"/>
          </a:p>
          <a:p>
            <a:pPr algn="ctr"/>
            <a:r>
              <a:rPr lang="en-GB" sz="2000" dirty="0" smtClean="0"/>
              <a:t>Kim Williams</a:t>
            </a:r>
          </a:p>
          <a:p>
            <a:pPr algn="ctr"/>
            <a:r>
              <a:rPr lang="en-GB" sz="2000" dirty="0" smtClean="0"/>
              <a:t>Academic Development Tutor</a:t>
            </a:r>
          </a:p>
          <a:p>
            <a:pPr algn="ctr"/>
            <a:r>
              <a:rPr lang="en-GB" sz="2000" b="1" dirty="0" smtClean="0"/>
              <a:t>Learning Development Centre</a:t>
            </a:r>
          </a:p>
          <a:p>
            <a:pPr algn="ctr"/>
            <a:r>
              <a:rPr lang="en-GB" sz="2000" b="1" dirty="0" smtClean="0"/>
              <a:t>Govan Mbeki Building – A107</a:t>
            </a:r>
            <a:endParaRPr lang="en-GB" sz="2000" b="1" dirty="0"/>
          </a:p>
        </p:txBody>
      </p:sp>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762" t="19030" r="29365" b="20243"/>
          <a:stretch/>
        </p:blipFill>
        <p:spPr bwMode="auto">
          <a:xfrm>
            <a:off x="3275856" y="554387"/>
            <a:ext cx="1951509" cy="16382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85365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500"/>
                                        <p:tgtEl>
                                          <p:spTgt spid="4">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Effect transition="in" filter="fade">
                                      <p:cBhvr>
                                        <p:cTn id="19" dur="500"/>
                                        <p:tgtEl>
                                          <p:spTgt spid="4">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Effect transition="in" filter="fade">
                                      <p:cBhvr>
                                        <p:cTn id="22" dur="500"/>
                                        <p:tgtEl>
                                          <p:spTgt spid="4">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Effect transition="in" filter="fade">
                                      <p:cBhvr>
                                        <p:cTn id="25"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2555</TotalTime>
  <Words>1892</Words>
  <Application>Microsoft Office PowerPoint</Application>
  <PresentationFormat>On-screen Show (4:3)</PresentationFormat>
  <Paragraphs>265</Paragraphs>
  <Slides>26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Georgia</vt:lpstr>
      <vt:lpstr>Lucida Handwriting</vt:lpstr>
      <vt:lpstr>Trebuchet MS</vt:lpstr>
      <vt:lpstr>Wingdings</vt:lpstr>
      <vt:lpstr>Wingdings 2</vt:lpstr>
      <vt:lpstr>Urban</vt:lpstr>
      <vt:lpstr>Academic Writing at Masters Level</vt:lpstr>
      <vt:lpstr>Your assignment…</vt:lpstr>
      <vt:lpstr>What your marker is looking for…</vt:lpstr>
      <vt:lpstr>One of the biggest barriers…</vt:lpstr>
      <vt:lpstr>Keep your mind-set positive…</vt:lpstr>
      <vt:lpstr>Discuss…</vt:lpstr>
      <vt:lpstr>Overall Learning Objective</vt:lpstr>
      <vt:lpstr>PowerPoint Presentation</vt:lpstr>
      <vt:lpstr>Planning your case study</vt:lpstr>
      <vt:lpstr> </vt:lpstr>
      <vt:lpstr> </vt:lpstr>
      <vt:lpstr> </vt:lpstr>
      <vt:lpstr> </vt:lpstr>
      <vt:lpstr>Critically evaluate the components of a hamburger</vt:lpstr>
      <vt:lpstr>STEP 5: WRITE THE INTRODUCTION</vt:lpstr>
      <vt:lpstr>Introduction</vt:lpstr>
      <vt:lpstr> </vt:lpstr>
      <vt:lpstr> </vt:lpstr>
      <vt:lpstr>PowerPoint Presentation</vt:lpstr>
      <vt:lpstr>Conventions of Academic Writing</vt:lpstr>
      <vt:lpstr>Impersonal tone</vt:lpstr>
      <vt:lpstr>Impersonal tone</vt:lpstr>
      <vt:lpstr>Formal Tone</vt:lpstr>
      <vt:lpstr>Clear and concise</vt:lpstr>
      <vt:lpstr>PowerPoint Presentation</vt:lpstr>
      <vt:lpstr>PowerPoint Presentation</vt:lpstr>
    </vt:vector>
  </TitlesOfParts>
  <Company>Glasgow Caledonian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Research Project</dc:title>
  <dc:creator>Setup</dc:creator>
  <cp:lastModifiedBy>Cameron, Keith</cp:lastModifiedBy>
  <cp:revision>175</cp:revision>
  <cp:lastPrinted>2016-01-22T11:49:54Z</cp:lastPrinted>
  <dcterms:created xsi:type="dcterms:W3CDTF">2015-12-03T10:09:27Z</dcterms:created>
  <dcterms:modified xsi:type="dcterms:W3CDTF">2018-10-16T15:12:31Z</dcterms:modified>
</cp:coreProperties>
</file>