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72" d="100"/>
          <a:sy n="72" d="100"/>
        </p:scale>
        <p:origin x="88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83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6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74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5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8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51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7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05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81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76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34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4A992-8332-45CC-8A11-31FD092A159D}" type="datetimeFigureOut">
              <a:rPr lang="en-GB" smtClean="0"/>
              <a:t>07/01/2019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104BB-5375-4FF6-8D4C-BFAE139878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43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Initial Phase of Medical Assessment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405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Nails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Examine fingers for clubbing </a:t>
            </a:r>
          </a:p>
          <a:p>
            <a:pPr lvl="1"/>
            <a:r>
              <a:rPr lang="en-GB" dirty="0"/>
              <a:t>Causes:	</a:t>
            </a:r>
            <a:r>
              <a:rPr lang="en-GB" sz="1800" dirty="0"/>
              <a:t>Bronchiectasis</a:t>
            </a:r>
          </a:p>
          <a:p>
            <a:pPr marL="1828800" lvl="4" indent="0">
              <a:buNone/>
            </a:pPr>
            <a:r>
              <a:rPr lang="en-GB" dirty="0"/>
              <a:t>Pulmonary Fibrosis</a:t>
            </a:r>
          </a:p>
          <a:p>
            <a:pPr marL="1828800" lvl="4" indent="0">
              <a:buNone/>
            </a:pPr>
            <a:r>
              <a:rPr lang="en-GB" dirty="0"/>
              <a:t>Cyanotic congenital heart disease</a:t>
            </a:r>
          </a:p>
          <a:p>
            <a:pPr marL="1828800" lvl="4" indent="0">
              <a:buNone/>
            </a:pPr>
            <a:r>
              <a:rPr lang="en-GB" dirty="0"/>
              <a:t>Infective endocarditis</a:t>
            </a:r>
          </a:p>
          <a:p>
            <a:pPr marL="1828800" lvl="4" indent="0">
              <a:buNone/>
            </a:pPr>
            <a:r>
              <a:rPr lang="en-GB" dirty="0"/>
              <a:t>Inflammatory bowel disease</a:t>
            </a:r>
          </a:p>
          <a:p>
            <a:pPr marL="1828800" lvl="4" indent="0">
              <a:buNone/>
            </a:pPr>
            <a:r>
              <a:rPr lang="en-GB" dirty="0"/>
              <a:t>Coeliac Disease</a:t>
            </a:r>
          </a:p>
          <a:p>
            <a:endParaRPr lang="en-GB" dirty="0"/>
          </a:p>
          <a:p>
            <a:r>
              <a:rPr lang="en-GB" dirty="0" smtClean="0"/>
              <a:t>Splinter Haemorrhages</a:t>
            </a:r>
          </a:p>
          <a:p>
            <a:pPr lvl="1"/>
            <a:r>
              <a:rPr lang="en-GB" dirty="0" smtClean="0"/>
              <a:t>Causes:	</a:t>
            </a:r>
            <a:r>
              <a:rPr lang="en-GB" sz="1800" dirty="0" smtClean="0"/>
              <a:t>Trauma</a:t>
            </a:r>
          </a:p>
          <a:p>
            <a:pPr marL="1828800" lvl="4" indent="0">
              <a:buNone/>
            </a:pPr>
            <a:r>
              <a:rPr lang="en-GB" dirty="0" smtClean="0"/>
              <a:t>Infective Endocarditis </a:t>
            </a:r>
          </a:p>
          <a:p>
            <a:endParaRPr lang="en-GB" dirty="0" smtClean="0"/>
          </a:p>
          <a:p>
            <a:pPr lvl="2"/>
            <a:endParaRPr lang="en-GB" dirty="0"/>
          </a:p>
        </p:txBody>
      </p:sp>
      <p:pic>
        <p:nvPicPr>
          <p:cNvPr id="1026" name="Picture 2" descr="Image result for finger clubb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" b="6605"/>
          <a:stretch/>
        </p:blipFill>
        <p:spPr bwMode="auto">
          <a:xfrm>
            <a:off x="8756871" y="1283184"/>
            <a:ext cx="2463903" cy="184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plinter hemorrhag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270" y="4457620"/>
            <a:ext cx="2463504" cy="13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64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The Hand 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Temperature 			</a:t>
            </a:r>
            <a:r>
              <a:rPr lang="en-GB" dirty="0" err="1" smtClean="0"/>
              <a:t>Janeway</a:t>
            </a:r>
            <a:r>
              <a:rPr lang="en-GB" dirty="0" smtClean="0"/>
              <a:t> Lesions </a:t>
            </a:r>
          </a:p>
          <a:p>
            <a:pPr marL="3657600" lvl="8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Non-Tender haemorrhagic,</a:t>
            </a:r>
            <a:endParaRPr lang="en-GB" dirty="0"/>
          </a:p>
          <a:p>
            <a:r>
              <a:rPr lang="en-GB" dirty="0" smtClean="0"/>
              <a:t>Sweating 				</a:t>
            </a:r>
            <a:r>
              <a:rPr lang="en-GB" sz="1800" dirty="0" smtClean="0"/>
              <a:t>Mostly Palmar surfaces</a:t>
            </a:r>
          </a:p>
          <a:p>
            <a:pPr marL="3657600" lvl="8" indent="0">
              <a:buNone/>
            </a:pPr>
            <a:r>
              <a:rPr lang="en-GB" dirty="0" smtClean="0"/>
              <a:t>	(Infective Endocarditis)</a:t>
            </a:r>
            <a:endParaRPr lang="en-GB" dirty="0"/>
          </a:p>
          <a:p>
            <a:r>
              <a:rPr lang="en-GB" dirty="0" smtClean="0"/>
              <a:t>Grip 				</a:t>
            </a:r>
            <a:r>
              <a:rPr lang="en-GB" dirty="0" err="1" smtClean="0"/>
              <a:t>Ostlers</a:t>
            </a:r>
            <a:r>
              <a:rPr lang="en-GB" dirty="0" smtClean="0"/>
              <a:t> Nodes </a:t>
            </a:r>
          </a:p>
          <a:p>
            <a:pPr marL="3657600" lvl="8" indent="0">
              <a:buNone/>
            </a:pPr>
            <a:r>
              <a:rPr lang="en-GB" dirty="0" smtClean="0"/>
              <a:t>             	(Tender Red/Purple raised </a:t>
            </a:r>
            <a:endParaRPr lang="en-GB" dirty="0"/>
          </a:p>
          <a:p>
            <a:r>
              <a:rPr lang="en-GB" dirty="0" smtClean="0"/>
              <a:t>Tremors				</a:t>
            </a:r>
            <a:r>
              <a:rPr lang="en-GB" sz="1800" dirty="0" smtClean="0"/>
              <a:t>lump)</a:t>
            </a:r>
          </a:p>
          <a:p>
            <a:pPr marL="3657600" lvl="8" indent="0">
              <a:buNone/>
            </a:pPr>
            <a:r>
              <a:rPr lang="en-GB" dirty="0" smtClean="0"/>
              <a:t>	(Infective Endocarditis)</a:t>
            </a:r>
          </a:p>
          <a:p>
            <a:r>
              <a:rPr lang="en-GB" dirty="0" smtClean="0"/>
              <a:t>Colour/Cyanosis			</a:t>
            </a:r>
            <a:endParaRPr lang="en-GB" dirty="0"/>
          </a:p>
        </p:txBody>
      </p:sp>
      <p:pic>
        <p:nvPicPr>
          <p:cNvPr id="2050" name="Picture 2" descr="Osler n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4001294"/>
            <a:ext cx="2790825" cy="210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janeway les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4" y="1766330"/>
            <a:ext cx="2790825" cy="17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3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Pulses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Radial Pulse </a:t>
            </a:r>
          </a:p>
          <a:p>
            <a:endParaRPr lang="en-GB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Presence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Rhythm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Compare Bilaterally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Collapsing Pulse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77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The Eye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58166" cy="4351338"/>
          </a:xfrm>
        </p:spPr>
        <p:txBody>
          <a:bodyPr/>
          <a:lstStyle/>
          <a:p>
            <a:r>
              <a:rPr lang="en-GB" dirty="0" smtClean="0"/>
              <a:t>Conjunctival Pallor</a:t>
            </a:r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Infected Conjunctiva</a:t>
            </a:r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Jaundice evident in sclera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3074" name="Picture 2" descr="Image result for conjunctival pal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651" y="1066974"/>
            <a:ext cx="2619375" cy="175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onjunctivit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338" y="2820692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Image result for jaundice in sclera of eyes"/>
          <p:cNvSpPr>
            <a:spLocks noChangeAspect="1" noChangeArrowheads="1"/>
          </p:cNvSpPr>
          <p:nvPr/>
        </p:nvSpPr>
        <p:spPr bwMode="auto">
          <a:xfrm>
            <a:off x="-691851" y="-991891"/>
            <a:ext cx="1152226" cy="115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8" descr="Image result for jaundice in sclera of eyes"/>
          <p:cNvSpPr>
            <a:spLocks noChangeAspect="1" noChangeArrowheads="1"/>
          </p:cNvSpPr>
          <p:nvPr/>
        </p:nvSpPr>
        <p:spPr bwMode="auto">
          <a:xfrm>
            <a:off x="155574" y="-144463"/>
            <a:ext cx="2965145" cy="29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82" name="Picture 10" descr="Image result for jaundice in sclera of ey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595" y="4563768"/>
            <a:ext cx="2593907" cy="172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38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Appearance of the nose</a:t>
            </a:r>
          </a:p>
          <a:p>
            <a:endParaRPr lang="en-GB" dirty="0" smtClean="0"/>
          </a:p>
          <a:p>
            <a:r>
              <a:rPr lang="en-GB" dirty="0" smtClean="0"/>
              <a:t>Discharge from nostrils</a:t>
            </a:r>
          </a:p>
          <a:p>
            <a:endParaRPr lang="en-GB" dirty="0" smtClean="0"/>
          </a:p>
          <a:p>
            <a:r>
              <a:rPr lang="en-GB" dirty="0" smtClean="0"/>
              <a:t>Evidence of congestion </a:t>
            </a:r>
          </a:p>
          <a:p>
            <a:endParaRPr lang="en-GB" dirty="0" smtClean="0"/>
          </a:p>
          <a:p>
            <a:r>
              <a:rPr lang="en-GB" dirty="0" smtClean="0"/>
              <a:t>Passageways</a:t>
            </a:r>
          </a:p>
        </p:txBody>
      </p:sp>
    </p:spTree>
    <p:extLst>
      <p:ext uri="{BB962C8B-B14F-4D97-AF65-F5344CB8AC3E}">
        <p14:creationId xmlns:p14="http://schemas.microsoft.com/office/powerpoint/2010/main" val="4442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Mouth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u="sng" dirty="0" smtClean="0"/>
              <a:t>Dentition</a:t>
            </a:r>
          </a:p>
          <a:p>
            <a:pPr lvl="1"/>
            <a:r>
              <a:rPr lang="en-GB" dirty="0"/>
              <a:t>Poor dentition increases risk of coronary heart disease </a:t>
            </a:r>
          </a:p>
          <a:p>
            <a:pPr marL="457200" lvl="1" indent="0">
              <a:buNone/>
            </a:pPr>
            <a:r>
              <a:rPr lang="en-GB" smtClean="0"/>
              <a:t>			(</a:t>
            </a:r>
            <a:r>
              <a:rPr lang="en-GB" sz="1800" dirty="0">
                <a:solidFill>
                  <a:srgbClr val="303030"/>
                </a:solidFill>
                <a:latin typeface="arial" panose="020B0604020202020204" pitchFamily="34" charset="0"/>
              </a:rPr>
              <a:t>NAJAFIPOUR</a:t>
            </a:r>
            <a:r>
              <a:rPr lang="en-GB" dirty="0"/>
              <a:t> et al, 2013) </a:t>
            </a:r>
          </a:p>
          <a:p>
            <a:r>
              <a:rPr lang="en-GB" u="sng" dirty="0"/>
              <a:t>Tongue </a:t>
            </a:r>
          </a:p>
          <a:p>
            <a:pPr lvl="1"/>
            <a:r>
              <a:rPr lang="en-GB" dirty="0"/>
              <a:t>Smooth red tongue – 			Iron deficiency</a:t>
            </a:r>
          </a:p>
          <a:p>
            <a:pPr lvl="1"/>
            <a:r>
              <a:rPr lang="en-GB" dirty="0"/>
              <a:t>Furring ( Can be scraped off) – 		Can be normal with heavy smoker</a:t>
            </a:r>
          </a:p>
          <a:p>
            <a:pPr lvl="1"/>
            <a:r>
              <a:rPr lang="en-GB" dirty="0"/>
              <a:t>White patches (cannot be scraped off) -	</a:t>
            </a:r>
            <a:r>
              <a:rPr lang="en-GB" dirty="0" smtClean="0"/>
              <a:t>Fungal </a:t>
            </a:r>
            <a:r>
              <a:rPr lang="en-GB" dirty="0"/>
              <a:t>Yeast – Candida (Oral thrush)</a:t>
            </a:r>
          </a:p>
          <a:p>
            <a:r>
              <a:rPr lang="en-GB" u="sng" dirty="0"/>
              <a:t>Tongue tremors</a:t>
            </a:r>
          </a:p>
          <a:p>
            <a:pPr lvl="1"/>
            <a:r>
              <a:rPr lang="en-GB" dirty="0"/>
              <a:t>Anxiety</a:t>
            </a:r>
          </a:p>
          <a:p>
            <a:pPr lvl="1"/>
            <a:r>
              <a:rPr lang="en-GB" dirty="0"/>
              <a:t>Thyrotoxicosis (Excess of a thyroid hormone)</a:t>
            </a:r>
          </a:p>
          <a:p>
            <a:pPr lvl="1"/>
            <a:r>
              <a:rPr lang="en-GB" dirty="0"/>
              <a:t>Parkinsonism </a:t>
            </a:r>
            <a:endParaRPr lang="en-GB" dirty="0" smtClean="0"/>
          </a:p>
          <a:p>
            <a:r>
              <a:rPr lang="en-GB" u="sng" dirty="0" err="1" smtClean="0"/>
              <a:t>Fasciculations</a:t>
            </a:r>
            <a:r>
              <a:rPr lang="en-GB" u="sng" dirty="0" smtClean="0"/>
              <a:t> </a:t>
            </a:r>
          </a:p>
          <a:p>
            <a:pPr lvl="1"/>
            <a:r>
              <a:rPr lang="en-GB" dirty="0" smtClean="0"/>
              <a:t>Irregular rippling or twitching – Lower motor Neurone Disease</a:t>
            </a:r>
            <a:endParaRPr lang="en-GB" dirty="0"/>
          </a:p>
          <a:p>
            <a:r>
              <a:rPr lang="en-GB" u="sng" dirty="0" smtClean="0"/>
              <a:t>Evidence of Lesions </a:t>
            </a:r>
          </a:p>
          <a:p>
            <a:pPr lvl="1"/>
            <a:r>
              <a:rPr lang="en-GB" dirty="0" smtClean="0"/>
              <a:t>Indicates oral hygiene</a:t>
            </a:r>
          </a:p>
          <a:p>
            <a:pPr lvl="1"/>
            <a:r>
              <a:rPr lang="en-GB" dirty="0" smtClean="0"/>
              <a:t>Risk of infective endocarditis</a:t>
            </a:r>
          </a:p>
          <a:p>
            <a:pPr lvl="1"/>
            <a:r>
              <a:rPr lang="en-GB" dirty="0" smtClean="0"/>
              <a:t>Possible indicator of oral cancers</a:t>
            </a:r>
          </a:p>
          <a:p>
            <a:pPr marL="457200" lvl="1" indent="0">
              <a:buNone/>
            </a:pPr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732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Lymph Nodes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Ideally assessed from behind the patient </a:t>
            </a:r>
          </a:p>
          <a:p>
            <a:endParaRPr lang="en-GB" dirty="0"/>
          </a:p>
          <a:p>
            <a:r>
              <a:rPr lang="en-GB" dirty="0" smtClean="0"/>
              <a:t>State name and location </a:t>
            </a:r>
          </a:p>
          <a:p>
            <a:endParaRPr lang="en-GB" dirty="0"/>
          </a:p>
          <a:p>
            <a:r>
              <a:rPr lang="en-GB" dirty="0" smtClean="0"/>
              <a:t>A different PowerPoint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561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38200" y="1825625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0" i="0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NAJAFIPOUR, H., MALEK MOHAMMADI, T., RAHIM, F., HAGHDOOST, A., SHADKAM, M., &amp; AFSHARI, M. 2013. </a:t>
            </a:r>
            <a:r>
              <a:rPr lang="en-GB" b="0" i="1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Association of Oral Health and Cardiovascular Disease Risk Factors “Results from a Community Based Study on 5900 Adult Subjects.”</a:t>
            </a:r>
            <a:r>
              <a:rPr lang="en-GB" b="0" i="0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b="0" i="1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ISRN Cardiology</a:t>
            </a:r>
            <a:r>
              <a:rPr lang="en-GB" b="0" i="0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0" i="1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2013</a:t>
            </a:r>
            <a:r>
              <a:rPr lang="en-GB" b="0" i="0" dirty="0" smtClean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, 782126. http://doi.org/10.1155/2013/782126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54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122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</vt:lpstr>
      <vt:lpstr>Calibri</vt:lpstr>
      <vt:lpstr>Calibri Light</vt:lpstr>
      <vt:lpstr>Courier New</vt:lpstr>
      <vt:lpstr>Office Theme</vt:lpstr>
      <vt:lpstr>Initial Phase of Medical Assessment </vt:lpstr>
      <vt:lpstr>Nails </vt:lpstr>
      <vt:lpstr>The Hand </vt:lpstr>
      <vt:lpstr>Pulses</vt:lpstr>
      <vt:lpstr>The Eye</vt:lpstr>
      <vt:lpstr>Nose</vt:lpstr>
      <vt:lpstr>Mouth </vt:lpstr>
      <vt:lpstr>Lymph Nodes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Phase of Medical Assessment</dc:title>
  <dc:creator>Cameron, Keith</dc:creator>
  <cp:lastModifiedBy>Cameron, Keith</cp:lastModifiedBy>
  <cp:revision>12</cp:revision>
  <dcterms:created xsi:type="dcterms:W3CDTF">2018-09-11T08:44:59Z</dcterms:created>
  <dcterms:modified xsi:type="dcterms:W3CDTF">2019-01-07T10:25:06Z</dcterms:modified>
</cp:coreProperties>
</file>