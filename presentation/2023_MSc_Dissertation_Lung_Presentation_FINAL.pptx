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84">
  <p:sldMasterIdLst>
    <p:sldMasterId id="2147483648" r:id="rId1"/>
  </p:sldMasterIdLst>
  <p:notesMasterIdLst>
    <p:notesMasterId r:id="rId25"/>
  </p:notesMasterIdLst>
  <p:sldIdLst>
    <p:sldId id="256" r:id="rId2"/>
    <p:sldId id="307" r:id="rId3"/>
    <p:sldId id="258" r:id="rId4"/>
    <p:sldId id="322" r:id="rId5"/>
    <p:sldId id="312" r:id="rId6"/>
    <p:sldId id="323" r:id="rId7"/>
    <p:sldId id="281" r:id="rId8"/>
    <p:sldId id="280" r:id="rId9"/>
    <p:sldId id="279" r:id="rId10"/>
    <p:sldId id="274" r:id="rId11"/>
    <p:sldId id="289" r:id="rId12"/>
    <p:sldId id="301" r:id="rId13"/>
    <p:sldId id="309" r:id="rId14"/>
    <p:sldId id="310" r:id="rId15"/>
    <p:sldId id="314" r:id="rId16"/>
    <p:sldId id="315" r:id="rId17"/>
    <p:sldId id="316" r:id="rId18"/>
    <p:sldId id="317" r:id="rId19"/>
    <p:sldId id="318" r:id="rId20"/>
    <p:sldId id="319" r:id="rId21"/>
    <p:sldId id="320" r:id="rId22"/>
    <p:sldId id="321" r:id="rId23"/>
    <p:sldId id="29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65734A5-7B7C-4DA9-9AD3-27FE831D382F}">
          <p14:sldIdLst>
            <p14:sldId id="256"/>
            <p14:sldId id="307"/>
          </p14:sldIdLst>
        </p14:section>
        <p14:section name="Introduction" id="{496749B0-19D0-4FF1-8142-B442AA87C7AA}">
          <p14:sldIdLst>
            <p14:sldId id="258"/>
            <p14:sldId id="322"/>
            <p14:sldId id="312"/>
            <p14:sldId id="323"/>
            <p14:sldId id="281"/>
            <p14:sldId id="280"/>
            <p14:sldId id="279"/>
            <p14:sldId id="274"/>
            <p14:sldId id="289"/>
            <p14:sldId id="301"/>
            <p14:sldId id="309"/>
            <p14:sldId id="310"/>
            <p14:sldId id="314"/>
            <p14:sldId id="315"/>
          </p14:sldIdLst>
        </p14:section>
        <p14:section name="Experimental detail" id="{A1E66528-C60E-46EF-8658-BAEAB4EC5361}">
          <p14:sldIdLst>
            <p14:sldId id="316"/>
            <p14:sldId id="317"/>
            <p14:sldId id="318"/>
            <p14:sldId id="319"/>
            <p14:sldId id="320"/>
            <p14:sldId id="321"/>
            <p14:sldId id="296"/>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HMAN, UBAID UR" initials="RUU" lastIdx="1" clrIdx="0">
    <p:extLst>
      <p:ext uri="{19B8F6BF-5375-455C-9EA6-DF929625EA0E}">
        <p15:presenceInfo xmlns:p15="http://schemas.microsoft.com/office/powerpoint/2012/main" userId="S-1-5-21-823518204-152049171-682003330-27695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8" autoAdjust="0"/>
    <p:restoredTop sz="93985" autoAdjust="0"/>
  </p:normalViewPr>
  <p:slideViewPr>
    <p:cSldViewPr snapToGrid="0">
      <p:cViewPr varScale="1">
        <p:scale>
          <a:sx n="82" d="100"/>
          <a:sy n="82" d="100"/>
        </p:scale>
        <p:origin x="74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 Umair" userId="c05bcc2c15d6ee32" providerId="LiveId" clId="{EBB5AADC-C766-4D5E-8483-AFC9356AD02A}"/>
    <pc:docChg chg="custSel delSld modSld modSection">
      <pc:chgData name="Muhammad Umair" userId="c05bcc2c15d6ee32" providerId="LiveId" clId="{EBB5AADC-C766-4D5E-8483-AFC9356AD02A}" dt="2023-01-12T17:02:05.992" v="155" actId="47"/>
      <pc:docMkLst>
        <pc:docMk/>
      </pc:docMkLst>
      <pc:sldChg chg="modSp mod">
        <pc:chgData name="Muhammad Umair" userId="c05bcc2c15d6ee32" providerId="LiveId" clId="{EBB5AADC-C766-4D5E-8483-AFC9356AD02A}" dt="2023-01-12T16:59:58.836" v="0" actId="21"/>
        <pc:sldMkLst>
          <pc:docMk/>
          <pc:sldMk cId="1257768918" sldId="258"/>
        </pc:sldMkLst>
        <pc:spChg chg="mod">
          <ac:chgData name="Muhammad Umair" userId="c05bcc2c15d6ee32" providerId="LiveId" clId="{EBB5AADC-C766-4D5E-8483-AFC9356AD02A}" dt="2023-01-12T16:59:58.836" v="0" actId="21"/>
          <ac:spMkLst>
            <pc:docMk/>
            <pc:sldMk cId="1257768918" sldId="258"/>
            <ac:spMk id="3" creationId="{E0F68E5D-B8EB-4B9D-954C-D482ADC9D311}"/>
          </ac:spMkLst>
        </pc:spChg>
      </pc:sldChg>
      <pc:sldChg chg="modSp mod">
        <pc:chgData name="Muhammad Umair" userId="c05bcc2c15d6ee32" providerId="LiveId" clId="{EBB5AADC-C766-4D5E-8483-AFC9356AD02A}" dt="2023-01-12T17:01:51.472" v="152" actId="20577"/>
        <pc:sldMkLst>
          <pc:docMk/>
          <pc:sldMk cId="293097782" sldId="279"/>
        </pc:sldMkLst>
        <pc:spChg chg="mod">
          <ac:chgData name="Muhammad Umair" userId="c05bcc2c15d6ee32" providerId="LiveId" clId="{EBB5AADC-C766-4D5E-8483-AFC9356AD02A}" dt="2023-01-12T17:01:51.472" v="152" actId="20577"/>
          <ac:spMkLst>
            <pc:docMk/>
            <pc:sldMk cId="293097782" sldId="279"/>
            <ac:spMk id="3" creationId="{BFAD4281-484D-43EF-9018-3E1D94A9DD24}"/>
          </ac:spMkLst>
        </pc:spChg>
      </pc:sldChg>
      <pc:sldChg chg="modSp del mod">
        <pc:chgData name="Muhammad Umair" userId="c05bcc2c15d6ee32" providerId="LiveId" clId="{EBB5AADC-C766-4D5E-8483-AFC9356AD02A}" dt="2023-01-12T17:02:05.992" v="155" actId="47"/>
        <pc:sldMkLst>
          <pc:docMk/>
          <pc:sldMk cId="2871310218" sldId="313"/>
        </pc:sldMkLst>
        <pc:spChg chg="mod">
          <ac:chgData name="Muhammad Umair" userId="c05bcc2c15d6ee32" providerId="LiveId" clId="{EBB5AADC-C766-4D5E-8483-AFC9356AD02A}" dt="2023-01-12T17:02:01.774" v="154" actId="27636"/>
          <ac:spMkLst>
            <pc:docMk/>
            <pc:sldMk cId="2871310218" sldId="313"/>
            <ac:spMk id="3" creationId="{43605DAF-41F7-4504-B795-0369C672706A}"/>
          </ac:spMkLst>
        </pc:spChg>
      </pc:sldChg>
      <pc:sldChg chg="modSp mod">
        <pc:chgData name="Muhammad Umair" userId="c05bcc2c15d6ee32" providerId="LiveId" clId="{EBB5AADC-C766-4D5E-8483-AFC9356AD02A}" dt="2023-01-12T17:00:36.775" v="21" actId="20577"/>
        <pc:sldMkLst>
          <pc:docMk/>
          <pc:sldMk cId="3426556374" sldId="322"/>
        </pc:sldMkLst>
        <pc:spChg chg="mod">
          <ac:chgData name="Muhammad Umair" userId="c05bcc2c15d6ee32" providerId="LiveId" clId="{EBB5AADC-C766-4D5E-8483-AFC9356AD02A}" dt="2023-01-12T17:00:36.775" v="21" actId="20577"/>
          <ac:spMkLst>
            <pc:docMk/>
            <pc:sldMk cId="3426556374" sldId="322"/>
            <ac:spMk id="3" creationId="{9EAD8941-FE5E-646C-B9A4-D923071677F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16AAD2-DFA6-4BB2-BE30-C4D4A42B6E24}"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US"/>
        </a:p>
      </dgm:t>
    </dgm:pt>
    <dgm:pt modelId="{148246C3-6341-43E2-81D3-2568AC273B6D}">
      <dgm:prSet/>
      <dgm:spPr/>
      <dgm:t>
        <a:bodyPr/>
        <a:lstStyle/>
        <a:p>
          <a:r>
            <a:rPr lang="en-US" b="1"/>
            <a:t>Hardware</a:t>
          </a:r>
          <a:endParaRPr lang="en-US"/>
        </a:p>
      </dgm:t>
    </dgm:pt>
    <dgm:pt modelId="{E4A1331F-4A01-4FE5-AEAA-759FD41974AC}" type="parTrans" cxnId="{0AEEB7D2-1AED-4FAD-9C03-9ADBEA9A13F6}">
      <dgm:prSet/>
      <dgm:spPr/>
      <dgm:t>
        <a:bodyPr/>
        <a:lstStyle/>
        <a:p>
          <a:endParaRPr lang="en-US"/>
        </a:p>
      </dgm:t>
    </dgm:pt>
    <dgm:pt modelId="{44AC3CB3-C5D8-4680-A9DB-E522EF82FA19}" type="sibTrans" cxnId="{0AEEB7D2-1AED-4FAD-9C03-9ADBEA9A13F6}">
      <dgm:prSet/>
      <dgm:spPr/>
      <dgm:t>
        <a:bodyPr/>
        <a:lstStyle/>
        <a:p>
          <a:endParaRPr lang="en-US"/>
        </a:p>
      </dgm:t>
    </dgm:pt>
    <dgm:pt modelId="{41664AC8-1F26-4E7F-A5E6-413774A31F7E}">
      <dgm:prSet/>
      <dgm:spPr/>
      <dgm:t>
        <a:bodyPr/>
        <a:lstStyle/>
        <a:p>
          <a:r>
            <a:rPr lang="en-US" b="0" dirty="0">
              <a:latin typeface="Times New Roman" panose="02020603050405020304" pitchFamily="18" charset="0"/>
              <a:cs typeface="Times New Roman" panose="02020603050405020304" pitchFamily="18" charset="0"/>
            </a:rPr>
            <a:t>Intel i5 CPU (8cores)</a:t>
          </a:r>
        </a:p>
      </dgm:t>
    </dgm:pt>
    <dgm:pt modelId="{83282F01-8B0A-48E9-971E-CB746AACA311}" type="parTrans" cxnId="{911B2DA6-BAEB-4909-8E1A-6276475D7411}">
      <dgm:prSet/>
      <dgm:spPr/>
      <dgm:t>
        <a:bodyPr/>
        <a:lstStyle/>
        <a:p>
          <a:endParaRPr lang="en-US"/>
        </a:p>
      </dgm:t>
    </dgm:pt>
    <dgm:pt modelId="{716802D3-E6C7-4BFD-921E-78E440F6ABD3}" type="sibTrans" cxnId="{911B2DA6-BAEB-4909-8E1A-6276475D7411}">
      <dgm:prSet/>
      <dgm:spPr/>
      <dgm:t>
        <a:bodyPr/>
        <a:lstStyle/>
        <a:p>
          <a:endParaRPr lang="en-US"/>
        </a:p>
      </dgm:t>
    </dgm:pt>
    <dgm:pt modelId="{2E21741D-377B-4553-9EC5-140BD1230126}">
      <dgm:prSet/>
      <dgm:spPr/>
      <dgm:t>
        <a:bodyPr/>
        <a:lstStyle/>
        <a:p>
          <a:r>
            <a:rPr lang="en-US" b="0" dirty="0">
              <a:latin typeface="Times New Roman" panose="02020603050405020304" pitchFamily="18" charset="0"/>
              <a:cs typeface="Times New Roman" panose="02020603050405020304" pitchFamily="18" charset="0"/>
            </a:rPr>
            <a:t>16 Gb Ram (DDR 4)</a:t>
          </a:r>
        </a:p>
      </dgm:t>
    </dgm:pt>
    <dgm:pt modelId="{6DF52367-9C7B-4E56-A9F8-2E30971C535A}" type="parTrans" cxnId="{FEC2BB8B-D7B4-45B6-AB95-7A8ECC7FB4CA}">
      <dgm:prSet/>
      <dgm:spPr/>
      <dgm:t>
        <a:bodyPr/>
        <a:lstStyle/>
        <a:p>
          <a:endParaRPr lang="en-US"/>
        </a:p>
      </dgm:t>
    </dgm:pt>
    <dgm:pt modelId="{FD334486-F1E6-45F0-A5F1-C9536CBB1590}" type="sibTrans" cxnId="{FEC2BB8B-D7B4-45B6-AB95-7A8ECC7FB4CA}">
      <dgm:prSet/>
      <dgm:spPr/>
      <dgm:t>
        <a:bodyPr/>
        <a:lstStyle/>
        <a:p>
          <a:endParaRPr lang="en-US"/>
        </a:p>
      </dgm:t>
    </dgm:pt>
    <dgm:pt modelId="{BF7A0370-C0F0-4A74-BB49-FD615329A43B}">
      <dgm:prSet/>
      <dgm:spPr/>
      <dgm:t>
        <a:bodyPr/>
        <a:lstStyle/>
        <a:p>
          <a:r>
            <a:rPr lang="en-US" b="1"/>
            <a:t>Software</a:t>
          </a:r>
          <a:endParaRPr lang="en-US"/>
        </a:p>
      </dgm:t>
    </dgm:pt>
    <dgm:pt modelId="{4CBD20C2-4CA0-4433-803A-92B8BE06A2E2}" type="parTrans" cxnId="{50E383FD-F46E-4F7A-B014-8113929FB99E}">
      <dgm:prSet/>
      <dgm:spPr/>
      <dgm:t>
        <a:bodyPr/>
        <a:lstStyle/>
        <a:p>
          <a:endParaRPr lang="en-US"/>
        </a:p>
      </dgm:t>
    </dgm:pt>
    <dgm:pt modelId="{5A24B8CC-DC16-4217-A80F-B2D5AE568CBB}" type="sibTrans" cxnId="{50E383FD-F46E-4F7A-B014-8113929FB99E}">
      <dgm:prSet/>
      <dgm:spPr/>
      <dgm:t>
        <a:bodyPr/>
        <a:lstStyle/>
        <a:p>
          <a:endParaRPr lang="en-US"/>
        </a:p>
      </dgm:t>
    </dgm:pt>
    <dgm:pt modelId="{4C1A6763-6A68-41DF-94CA-59C31D0A5293}">
      <dgm:prSet/>
      <dgm:spPr/>
      <dgm:t>
        <a:bodyPr/>
        <a:lstStyle/>
        <a:p>
          <a:r>
            <a:rPr lang="en-US" b="0" dirty="0">
              <a:latin typeface="Times New Roman" panose="02020603050405020304" pitchFamily="18" charset="0"/>
              <a:cs typeface="Times New Roman" panose="02020603050405020304" pitchFamily="18" charset="0"/>
            </a:rPr>
            <a:t>Google </a:t>
          </a:r>
          <a:r>
            <a:rPr lang="en-US" b="0" dirty="0" err="1">
              <a:latin typeface="Times New Roman" panose="02020603050405020304" pitchFamily="18" charset="0"/>
              <a:cs typeface="Times New Roman" panose="02020603050405020304" pitchFamily="18" charset="0"/>
            </a:rPr>
            <a:t>Colab</a:t>
          </a:r>
          <a:endParaRPr lang="en-US" b="0" dirty="0">
            <a:latin typeface="Times New Roman" panose="02020603050405020304" pitchFamily="18" charset="0"/>
            <a:cs typeface="Times New Roman" panose="02020603050405020304" pitchFamily="18" charset="0"/>
          </a:endParaRPr>
        </a:p>
      </dgm:t>
    </dgm:pt>
    <dgm:pt modelId="{5EC596F4-744F-4477-9C7A-21C2D7A6D235}" type="parTrans" cxnId="{489C7BDF-0912-4980-82C6-23B9DE46C121}">
      <dgm:prSet/>
      <dgm:spPr/>
      <dgm:t>
        <a:bodyPr/>
        <a:lstStyle/>
        <a:p>
          <a:endParaRPr lang="en-US"/>
        </a:p>
      </dgm:t>
    </dgm:pt>
    <dgm:pt modelId="{961F10F3-6062-4A56-BE1B-C7E8EC0966F6}" type="sibTrans" cxnId="{489C7BDF-0912-4980-82C6-23B9DE46C121}">
      <dgm:prSet/>
      <dgm:spPr/>
      <dgm:t>
        <a:bodyPr/>
        <a:lstStyle/>
        <a:p>
          <a:endParaRPr lang="en-US"/>
        </a:p>
      </dgm:t>
    </dgm:pt>
    <dgm:pt modelId="{93551BA3-DB83-4FB2-82B7-9F105A221F1B}">
      <dgm:prSet/>
      <dgm:spPr/>
      <dgm:t>
        <a:bodyPr/>
        <a:lstStyle/>
        <a:p>
          <a:r>
            <a:rPr lang="en-US" b="0" dirty="0">
              <a:latin typeface="Times New Roman" panose="02020603050405020304" pitchFamily="18" charset="0"/>
              <a:cs typeface="Times New Roman" panose="02020603050405020304" pitchFamily="18" charset="0"/>
            </a:rPr>
            <a:t>Tensor Flow</a:t>
          </a:r>
        </a:p>
      </dgm:t>
    </dgm:pt>
    <dgm:pt modelId="{DDBD3ECB-C909-4914-AEEA-6354261DEACA}" type="parTrans" cxnId="{F9AA3144-CDD9-4631-96FD-951CB81BF536}">
      <dgm:prSet/>
      <dgm:spPr/>
    </dgm:pt>
    <dgm:pt modelId="{184749BB-D69A-4763-A3B0-52805672285C}" type="sibTrans" cxnId="{F9AA3144-CDD9-4631-96FD-951CB81BF536}">
      <dgm:prSet/>
      <dgm:spPr/>
    </dgm:pt>
    <dgm:pt modelId="{F73D6A07-2003-4691-AC9F-635AB06DA073}">
      <dgm:prSet/>
      <dgm:spPr/>
      <dgm:t>
        <a:bodyPr/>
        <a:lstStyle/>
        <a:p>
          <a:r>
            <a:rPr lang="en-US" b="0" dirty="0">
              <a:latin typeface="Times New Roman" panose="02020603050405020304" pitchFamily="18" charset="0"/>
              <a:cs typeface="Times New Roman" panose="02020603050405020304" pitchFamily="18" charset="0"/>
            </a:rPr>
            <a:t>Python Libraries</a:t>
          </a:r>
        </a:p>
      </dgm:t>
    </dgm:pt>
    <dgm:pt modelId="{3D7797CA-E561-4487-95B3-5175F7EAFA45}" type="parTrans" cxnId="{6B98E0DA-8AEB-471F-B91D-AFA08E7DF6CF}">
      <dgm:prSet/>
      <dgm:spPr/>
    </dgm:pt>
    <dgm:pt modelId="{D41B156F-7282-43F6-8D3E-738BEE300F33}" type="sibTrans" cxnId="{6B98E0DA-8AEB-471F-B91D-AFA08E7DF6CF}">
      <dgm:prSet/>
      <dgm:spPr/>
    </dgm:pt>
    <dgm:pt modelId="{FAA2B2BB-07DC-422E-942E-8B7D0EABD830}">
      <dgm:prSet/>
      <dgm:spPr/>
      <dgm:t>
        <a:bodyPr/>
        <a:lstStyle/>
        <a:p>
          <a:r>
            <a:rPr lang="en-US" b="0" dirty="0">
              <a:latin typeface="Times New Roman" panose="02020603050405020304" pitchFamily="18" charset="0"/>
              <a:cs typeface="Times New Roman" panose="02020603050405020304" pitchFamily="18" charset="0"/>
            </a:rPr>
            <a:t>Good connection of Internet</a:t>
          </a:r>
        </a:p>
      </dgm:t>
    </dgm:pt>
    <dgm:pt modelId="{A4CDD04E-95FE-4580-827C-4A92F0D59A0E}" type="parTrans" cxnId="{A5AD52CC-71F7-4011-AB0A-608F87F8A165}">
      <dgm:prSet/>
      <dgm:spPr/>
    </dgm:pt>
    <dgm:pt modelId="{E051896C-407F-4317-B7E3-7C5DE1A234E7}" type="sibTrans" cxnId="{A5AD52CC-71F7-4011-AB0A-608F87F8A165}">
      <dgm:prSet/>
      <dgm:spPr/>
    </dgm:pt>
    <dgm:pt modelId="{0C2E9215-5ABF-4D81-BD00-66036839D414}">
      <dgm:prSet/>
      <dgm:spPr/>
      <dgm:t>
        <a:bodyPr/>
        <a:lstStyle/>
        <a:p>
          <a:r>
            <a:rPr lang="en-US" b="0" dirty="0">
              <a:latin typeface="Times New Roman" panose="02020603050405020304" pitchFamily="18" charset="0"/>
              <a:cs typeface="Times New Roman" panose="02020603050405020304" pitchFamily="18" charset="0"/>
            </a:rPr>
            <a:t>Google Derive</a:t>
          </a:r>
        </a:p>
      </dgm:t>
    </dgm:pt>
    <dgm:pt modelId="{851C51EB-11EB-4FE2-BA36-065D1AB4C487}" type="parTrans" cxnId="{D89FF0D7-96DD-41B8-A39B-A16BE7DD7D55}">
      <dgm:prSet/>
      <dgm:spPr/>
    </dgm:pt>
    <dgm:pt modelId="{30A32D22-1F7B-457A-B0A6-610FC7116883}" type="sibTrans" cxnId="{D89FF0D7-96DD-41B8-A39B-A16BE7DD7D55}">
      <dgm:prSet/>
      <dgm:spPr/>
    </dgm:pt>
    <dgm:pt modelId="{0B167EBD-35B4-4635-8DDE-A733E8BDDA51}" type="pres">
      <dgm:prSet presAssocID="{D516AAD2-DFA6-4BB2-BE30-C4D4A42B6E24}" presName="linear" presStyleCnt="0">
        <dgm:presLayoutVars>
          <dgm:dir/>
          <dgm:animLvl val="lvl"/>
          <dgm:resizeHandles val="exact"/>
        </dgm:presLayoutVars>
      </dgm:prSet>
      <dgm:spPr/>
    </dgm:pt>
    <dgm:pt modelId="{6CCEF20B-9761-4EAB-A7C8-8CCEEC21787F}" type="pres">
      <dgm:prSet presAssocID="{148246C3-6341-43E2-81D3-2568AC273B6D}" presName="parentLin" presStyleCnt="0"/>
      <dgm:spPr/>
    </dgm:pt>
    <dgm:pt modelId="{61455D97-5B9A-4232-945D-B40D710FFFE0}" type="pres">
      <dgm:prSet presAssocID="{148246C3-6341-43E2-81D3-2568AC273B6D}" presName="parentLeftMargin" presStyleLbl="node1" presStyleIdx="0" presStyleCnt="2"/>
      <dgm:spPr/>
    </dgm:pt>
    <dgm:pt modelId="{594C0C47-CC07-485C-B1B2-5E86C9DFD337}" type="pres">
      <dgm:prSet presAssocID="{148246C3-6341-43E2-81D3-2568AC273B6D}" presName="parentText" presStyleLbl="node1" presStyleIdx="0" presStyleCnt="2" custLinFactNeighborX="-4562" custLinFactNeighborY="4033">
        <dgm:presLayoutVars>
          <dgm:chMax val="0"/>
          <dgm:bulletEnabled val="1"/>
        </dgm:presLayoutVars>
      </dgm:prSet>
      <dgm:spPr/>
    </dgm:pt>
    <dgm:pt modelId="{ACAA8C70-542D-40CA-9EBD-4D512F7BA669}" type="pres">
      <dgm:prSet presAssocID="{148246C3-6341-43E2-81D3-2568AC273B6D}" presName="negativeSpace" presStyleCnt="0"/>
      <dgm:spPr/>
    </dgm:pt>
    <dgm:pt modelId="{16BD696A-9DD5-44F1-A7DA-4667DC528B19}" type="pres">
      <dgm:prSet presAssocID="{148246C3-6341-43E2-81D3-2568AC273B6D}" presName="childText" presStyleLbl="conFgAcc1" presStyleIdx="0" presStyleCnt="2">
        <dgm:presLayoutVars>
          <dgm:bulletEnabled val="1"/>
        </dgm:presLayoutVars>
      </dgm:prSet>
      <dgm:spPr/>
    </dgm:pt>
    <dgm:pt modelId="{632AE58A-7A54-4939-8FF7-E1E515319E0F}" type="pres">
      <dgm:prSet presAssocID="{44AC3CB3-C5D8-4680-A9DB-E522EF82FA19}" presName="spaceBetweenRectangles" presStyleCnt="0"/>
      <dgm:spPr/>
    </dgm:pt>
    <dgm:pt modelId="{F535DB93-F2C0-48CE-AFB3-31C0DBD4BA70}" type="pres">
      <dgm:prSet presAssocID="{BF7A0370-C0F0-4A74-BB49-FD615329A43B}" presName="parentLin" presStyleCnt="0"/>
      <dgm:spPr/>
    </dgm:pt>
    <dgm:pt modelId="{A6118244-A4FF-4DDC-9C83-1E6667F6AC40}" type="pres">
      <dgm:prSet presAssocID="{BF7A0370-C0F0-4A74-BB49-FD615329A43B}" presName="parentLeftMargin" presStyleLbl="node1" presStyleIdx="0" presStyleCnt="2"/>
      <dgm:spPr/>
    </dgm:pt>
    <dgm:pt modelId="{75D30F21-4D0B-4BE4-95BE-8DE097AA1A56}" type="pres">
      <dgm:prSet presAssocID="{BF7A0370-C0F0-4A74-BB49-FD615329A43B}" presName="parentText" presStyleLbl="node1" presStyleIdx="1" presStyleCnt="2">
        <dgm:presLayoutVars>
          <dgm:chMax val="0"/>
          <dgm:bulletEnabled val="1"/>
        </dgm:presLayoutVars>
      </dgm:prSet>
      <dgm:spPr/>
    </dgm:pt>
    <dgm:pt modelId="{327BBE36-0486-4606-9D4F-C826D61CDC42}" type="pres">
      <dgm:prSet presAssocID="{BF7A0370-C0F0-4A74-BB49-FD615329A43B}" presName="negativeSpace" presStyleCnt="0"/>
      <dgm:spPr/>
    </dgm:pt>
    <dgm:pt modelId="{1DFF3194-F3E5-4551-B349-67E728EB6088}" type="pres">
      <dgm:prSet presAssocID="{BF7A0370-C0F0-4A74-BB49-FD615329A43B}" presName="childText" presStyleLbl="conFgAcc1" presStyleIdx="1" presStyleCnt="2">
        <dgm:presLayoutVars>
          <dgm:bulletEnabled val="1"/>
        </dgm:presLayoutVars>
      </dgm:prSet>
      <dgm:spPr/>
    </dgm:pt>
  </dgm:ptLst>
  <dgm:cxnLst>
    <dgm:cxn modelId="{415F8702-7976-4DBB-BD2A-5FE7CB453717}" type="presOf" srcId="{148246C3-6341-43E2-81D3-2568AC273B6D}" destId="{594C0C47-CC07-485C-B1B2-5E86C9DFD337}" srcOrd="1" destOrd="0" presId="urn:microsoft.com/office/officeart/2005/8/layout/list1"/>
    <dgm:cxn modelId="{74333E17-A2C3-416F-B6E6-8612D5F4A21D}" type="presOf" srcId="{93551BA3-DB83-4FB2-82B7-9F105A221F1B}" destId="{1DFF3194-F3E5-4551-B349-67E728EB6088}" srcOrd="0" destOrd="1" presId="urn:microsoft.com/office/officeart/2005/8/layout/list1"/>
    <dgm:cxn modelId="{6FC0131B-7483-47EF-B379-B2F9131E250D}" type="presOf" srcId="{BF7A0370-C0F0-4A74-BB49-FD615329A43B}" destId="{A6118244-A4FF-4DDC-9C83-1E6667F6AC40}" srcOrd="0" destOrd="0" presId="urn:microsoft.com/office/officeart/2005/8/layout/list1"/>
    <dgm:cxn modelId="{CB48C01B-7C93-4C20-9989-027DD86904CC}" type="presOf" srcId="{148246C3-6341-43E2-81D3-2568AC273B6D}" destId="{61455D97-5B9A-4232-945D-B40D710FFFE0}" srcOrd="0" destOrd="0" presId="urn:microsoft.com/office/officeart/2005/8/layout/list1"/>
    <dgm:cxn modelId="{422B8C31-6D6B-4FD2-9AC2-79B959ACC95F}" type="presOf" srcId="{FAA2B2BB-07DC-422E-942E-8B7D0EABD830}" destId="{16BD696A-9DD5-44F1-A7DA-4667DC528B19}" srcOrd="0" destOrd="2" presId="urn:microsoft.com/office/officeart/2005/8/layout/list1"/>
    <dgm:cxn modelId="{FA79F032-9E59-4F3A-B3A6-0AF13BDE01FF}" type="presOf" srcId="{F73D6A07-2003-4691-AC9F-635AB06DA073}" destId="{1DFF3194-F3E5-4551-B349-67E728EB6088}" srcOrd="0" destOrd="2" presId="urn:microsoft.com/office/officeart/2005/8/layout/list1"/>
    <dgm:cxn modelId="{F9AA3144-CDD9-4631-96FD-951CB81BF536}" srcId="{BF7A0370-C0F0-4A74-BB49-FD615329A43B}" destId="{93551BA3-DB83-4FB2-82B7-9F105A221F1B}" srcOrd="1" destOrd="0" parTransId="{DDBD3ECB-C909-4914-AEEA-6354261DEACA}" sibTransId="{184749BB-D69A-4763-A3B0-52805672285C}"/>
    <dgm:cxn modelId="{9FB3D146-2A24-4A4B-ACF0-52CCED5632AC}" type="presOf" srcId="{4C1A6763-6A68-41DF-94CA-59C31D0A5293}" destId="{1DFF3194-F3E5-4551-B349-67E728EB6088}" srcOrd="0" destOrd="0" presId="urn:microsoft.com/office/officeart/2005/8/layout/list1"/>
    <dgm:cxn modelId="{9EEB4E4C-74E1-4EE5-ADC6-B6B46A4EE9E6}" type="presOf" srcId="{BF7A0370-C0F0-4A74-BB49-FD615329A43B}" destId="{75D30F21-4D0B-4BE4-95BE-8DE097AA1A56}" srcOrd="1" destOrd="0" presId="urn:microsoft.com/office/officeart/2005/8/layout/list1"/>
    <dgm:cxn modelId="{FEC2BB8B-D7B4-45B6-AB95-7A8ECC7FB4CA}" srcId="{148246C3-6341-43E2-81D3-2568AC273B6D}" destId="{2E21741D-377B-4553-9EC5-140BD1230126}" srcOrd="1" destOrd="0" parTransId="{6DF52367-9C7B-4E56-A9F8-2E30971C535A}" sibTransId="{FD334486-F1E6-45F0-A5F1-C9536CBB1590}"/>
    <dgm:cxn modelId="{41BD6899-6B76-4531-8350-C6F467151B56}" type="presOf" srcId="{41664AC8-1F26-4E7F-A5E6-413774A31F7E}" destId="{16BD696A-9DD5-44F1-A7DA-4667DC528B19}" srcOrd="0" destOrd="0" presId="urn:microsoft.com/office/officeart/2005/8/layout/list1"/>
    <dgm:cxn modelId="{911B2DA6-BAEB-4909-8E1A-6276475D7411}" srcId="{148246C3-6341-43E2-81D3-2568AC273B6D}" destId="{41664AC8-1F26-4E7F-A5E6-413774A31F7E}" srcOrd="0" destOrd="0" parTransId="{83282F01-8B0A-48E9-971E-CB746AACA311}" sibTransId="{716802D3-E6C7-4BFD-921E-78E440F6ABD3}"/>
    <dgm:cxn modelId="{A5AD52CC-71F7-4011-AB0A-608F87F8A165}" srcId="{148246C3-6341-43E2-81D3-2568AC273B6D}" destId="{FAA2B2BB-07DC-422E-942E-8B7D0EABD830}" srcOrd="2" destOrd="0" parTransId="{A4CDD04E-95FE-4580-827C-4A92F0D59A0E}" sibTransId="{E051896C-407F-4317-B7E3-7C5DE1A234E7}"/>
    <dgm:cxn modelId="{0AEEB7D2-1AED-4FAD-9C03-9ADBEA9A13F6}" srcId="{D516AAD2-DFA6-4BB2-BE30-C4D4A42B6E24}" destId="{148246C3-6341-43E2-81D3-2568AC273B6D}" srcOrd="0" destOrd="0" parTransId="{E4A1331F-4A01-4FE5-AEAA-759FD41974AC}" sibTransId="{44AC3CB3-C5D8-4680-A9DB-E522EF82FA19}"/>
    <dgm:cxn modelId="{D89FF0D7-96DD-41B8-A39B-A16BE7DD7D55}" srcId="{BF7A0370-C0F0-4A74-BB49-FD615329A43B}" destId="{0C2E9215-5ABF-4D81-BD00-66036839D414}" srcOrd="3" destOrd="0" parTransId="{851C51EB-11EB-4FE2-BA36-065D1AB4C487}" sibTransId="{30A32D22-1F7B-457A-B0A6-610FC7116883}"/>
    <dgm:cxn modelId="{6B98E0DA-8AEB-471F-B91D-AFA08E7DF6CF}" srcId="{BF7A0370-C0F0-4A74-BB49-FD615329A43B}" destId="{F73D6A07-2003-4691-AC9F-635AB06DA073}" srcOrd="2" destOrd="0" parTransId="{3D7797CA-E561-4487-95B3-5175F7EAFA45}" sibTransId="{D41B156F-7282-43F6-8D3E-738BEE300F33}"/>
    <dgm:cxn modelId="{477A45DD-E84E-4548-B6EC-7A4AFF8D26BC}" type="presOf" srcId="{0C2E9215-5ABF-4D81-BD00-66036839D414}" destId="{1DFF3194-F3E5-4551-B349-67E728EB6088}" srcOrd="0" destOrd="3" presId="urn:microsoft.com/office/officeart/2005/8/layout/list1"/>
    <dgm:cxn modelId="{489C7BDF-0912-4980-82C6-23B9DE46C121}" srcId="{BF7A0370-C0F0-4A74-BB49-FD615329A43B}" destId="{4C1A6763-6A68-41DF-94CA-59C31D0A5293}" srcOrd="0" destOrd="0" parTransId="{5EC596F4-744F-4477-9C7A-21C2D7A6D235}" sibTransId="{961F10F3-6062-4A56-BE1B-C7E8EC0966F6}"/>
    <dgm:cxn modelId="{A629C3E2-1EE1-42F6-AD8A-366D8A99A5E1}" type="presOf" srcId="{D516AAD2-DFA6-4BB2-BE30-C4D4A42B6E24}" destId="{0B167EBD-35B4-4635-8DDE-A733E8BDDA51}" srcOrd="0" destOrd="0" presId="urn:microsoft.com/office/officeart/2005/8/layout/list1"/>
    <dgm:cxn modelId="{0D0194E3-66BC-49BF-8F62-976DDAE06CBE}" type="presOf" srcId="{2E21741D-377B-4553-9EC5-140BD1230126}" destId="{16BD696A-9DD5-44F1-A7DA-4667DC528B19}" srcOrd="0" destOrd="1" presId="urn:microsoft.com/office/officeart/2005/8/layout/list1"/>
    <dgm:cxn modelId="{50E383FD-F46E-4F7A-B014-8113929FB99E}" srcId="{D516AAD2-DFA6-4BB2-BE30-C4D4A42B6E24}" destId="{BF7A0370-C0F0-4A74-BB49-FD615329A43B}" srcOrd="1" destOrd="0" parTransId="{4CBD20C2-4CA0-4433-803A-92B8BE06A2E2}" sibTransId="{5A24B8CC-DC16-4217-A80F-B2D5AE568CBB}"/>
    <dgm:cxn modelId="{1CEE2240-4D1A-438B-B475-AAD89758AED2}" type="presParOf" srcId="{0B167EBD-35B4-4635-8DDE-A733E8BDDA51}" destId="{6CCEF20B-9761-4EAB-A7C8-8CCEEC21787F}" srcOrd="0" destOrd="0" presId="urn:microsoft.com/office/officeart/2005/8/layout/list1"/>
    <dgm:cxn modelId="{2E296972-F02A-4BC3-9B21-96D0B2DC0631}" type="presParOf" srcId="{6CCEF20B-9761-4EAB-A7C8-8CCEEC21787F}" destId="{61455D97-5B9A-4232-945D-B40D710FFFE0}" srcOrd="0" destOrd="0" presId="urn:microsoft.com/office/officeart/2005/8/layout/list1"/>
    <dgm:cxn modelId="{E00FE97D-DE33-40F1-BC98-7E933EDD3114}" type="presParOf" srcId="{6CCEF20B-9761-4EAB-A7C8-8CCEEC21787F}" destId="{594C0C47-CC07-485C-B1B2-5E86C9DFD337}" srcOrd="1" destOrd="0" presId="urn:microsoft.com/office/officeart/2005/8/layout/list1"/>
    <dgm:cxn modelId="{00DE66E2-8813-4447-9A7C-0752E3D5484A}" type="presParOf" srcId="{0B167EBD-35B4-4635-8DDE-A733E8BDDA51}" destId="{ACAA8C70-542D-40CA-9EBD-4D512F7BA669}" srcOrd="1" destOrd="0" presId="urn:microsoft.com/office/officeart/2005/8/layout/list1"/>
    <dgm:cxn modelId="{4A3E7133-E900-4C28-A097-126546ABE1E7}" type="presParOf" srcId="{0B167EBD-35B4-4635-8DDE-A733E8BDDA51}" destId="{16BD696A-9DD5-44F1-A7DA-4667DC528B19}" srcOrd="2" destOrd="0" presId="urn:microsoft.com/office/officeart/2005/8/layout/list1"/>
    <dgm:cxn modelId="{A563EDF8-08D7-4F27-952E-3D4C1D07AC66}" type="presParOf" srcId="{0B167EBD-35B4-4635-8DDE-A733E8BDDA51}" destId="{632AE58A-7A54-4939-8FF7-E1E515319E0F}" srcOrd="3" destOrd="0" presId="urn:microsoft.com/office/officeart/2005/8/layout/list1"/>
    <dgm:cxn modelId="{5EC6D48E-5297-4C64-B404-7112061469C3}" type="presParOf" srcId="{0B167EBD-35B4-4635-8DDE-A733E8BDDA51}" destId="{F535DB93-F2C0-48CE-AFB3-31C0DBD4BA70}" srcOrd="4" destOrd="0" presId="urn:microsoft.com/office/officeart/2005/8/layout/list1"/>
    <dgm:cxn modelId="{0703B53F-3E47-4178-A333-49285F4F7DDE}" type="presParOf" srcId="{F535DB93-F2C0-48CE-AFB3-31C0DBD4BA70}" destId="{A6118244-A4FF-4DDC-9C83-1E6667F6AC40}" srcOrd="0" destOrd="0" presId="urn:microsoft.com/office/officeart/2005/8/layout/list1"/>
    <dgm:cxn modelId="{78874FE7-EDD5-489B-9036-4EA958B66DBB}" type="presParOf" srcId="{F535DB93-F2C0-48CE-AFB3-31C0DBD4BA70}" destId="{75D30F21-4D0B-4BE4-95BE-8DE097AA1A56}" srcOrd="1" destOrd="0" presId="urn:microsoft.com/office/officeart/2005/8/layout/list1"/>
    <dgm:cxn modelId="{05F689FD-29E3-4DEC-826E-1164E0CF673C}" type="presParOf" srcId="{0B167EBD-35B4-4635-8DDE-A733E8BDDA51}" destId="{327BBE36-0486-4606-9D4F-C826D61CDC42}" srcOrd="5" destOrd="0" presId="urn:microsoft.com/office/officeart/2005/8/layout/list1"/>
    <dgm:cxn modelId="{5A34A673-E012-4F92-9A48-D395DDEB7947}" type="presParOf" srcId="{0B167EBD-35B4-4635-8DDE-A733E8BDDA51}" destId="{1DFF3194-F3E5-4551-B349-67E728EB6088}" srcOrd="6" destOrd="0" presId="urn:microsoft.com/office/officeart/2005/8/layout/list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BD696A-9DD5-44F1-A7DA-4667DC528B19}">
      <dsp:nvSpPr>
        <dsp:cNvPr id="0" name=""/>
        <dsp:cNvSpPr/>
      </dsp:nvSpPr>
      <dsp:spPr>
        <a:xfrm>
          <a:off x="0" y="427643"/>
          <a:ext cx="6263640" cy="20286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6128" tIns="583184" rIns="486128" bIns="199136" numCol="1" spcCol="1270" anchor="t" anchorCtr="0">
          <a:noAutofit/>
        </a:bodyPr>
        <a:lstStyle/>
        <a:p>
          <a:pPr marL="285750" lvl="1" indent="-285750" algn="l" defTabSz="1244600">
            <a:lnSpc>
              <a:spcPct val="90000"/>
            </a:lnSpc>
            <a:spcBef>
              <a:spcPct val="0"/>
            </a:spcBef>
            <a:spcAft>
              <a:spcPct val="15000"/>
            </a:spcAft>
            <a:buChar char="•"/>
          </a:pPr>
          <a:r>
            <a:rPr lang="en-US" sz="2800" b="0" kern="1200" dirty="0">
              <a:latin typeface="Times New Roman" panose="02020603050405020304" pitchFamily="18" charset="0"/>
              <a:cs typeface="Times New Roman" panose="02020603050405020304" pitchFamily="18" charset="0"/>
            </a:rPr>
            <a:t>Intel i5 CPU (8cores)</a:t>
          </a:r>
        </a:p>
        <a:p>
          <a:pPr marL="285750" lvl="1" indent="-285750" algn="l" defTabSz="1244600">
            <a:lnSpc>
              <a:spcPct val="90000"/>
            </a:lnSpc>
            <a:spcBef>
              <a:spcPct val="0"/>
            </a:spcBef>
            <a:spcAft>
              <a:spcPct val="15000"/>
            </a:spcAft>
            <a:buChar char="•"/>
          </a:pPr>
          <a:r>
            <a:rPr lang="en-US" sz="2800" b="0" kern="1200" dirty="0">
              <a:latin typeface="Times New Roman" panose="02020603050405020304" pitchFamily="18" charset="0"/>
              <a:cs typeface="Times New Roman" panose="02020603050405020304" pitchFamily="18" charset="0"/>
            </a:rPr>
            <a:t>16 Gb Ram (DDR 4)</a:t>
          </a:r>
        </a:p>
        <a:p>
          <a:pPr marL="285750" lvl="1" indent="-285750" algn="l" defTabSz="1244600">
            <a:lnSpc>
              <a:spcPct val="90000"/>
            </a:lnSpc>
            <a:spcBef>
              <a:spcPct val="0"/>
            </a:spcBef>
            <a:spcAft>
              <a:spcPct val="15000"/>
            </a:spcAft>
            <a:buChar char="•"/>
          </a:pPr>
          <a:r>
            <a:rPr lang="en-US" sz="2800" b="0" kern="1200" dirty="0">
              <a:latin typeface="Times New Roman" panose="02020603050405020304" pitchFamily="18" charset="0"/>
              <a:cs typeface="Times New Roman" panose="02020603050405020304" pitchFamily="18" charset="0"/>
            </a:rPr>
            <a:t>Good connection of Internet</a:t>
          </a:r>
        </a:p>
      </dsp:txBody>
      <dsp:txXfrm>
        <a:off x="0" y="427643"/>
        <a:ext cx="6263640" cy="2028600"/>
      </dsp:txXfrm>
    </dsp:sp>
    <dsp:sp modelId="{594C0C47-CC07-485C-B1B2-5E86C9DFD337}">
      <dsp:nvSpPr>
        <dsp:cNvPr id="0" name=""/>
        <dsp:cNvSpPr/>
      </dsp:nvSpPr>
      <dsp:spPr>
        <a:xfrm>
          <a:off x="298894" y="47699"/>
          <a:ext cx="4384548" cy="8265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1244600">
            <a:lnSpc>
              <a:spcPct val="90000"/>
            </a:lnSpc>
            <a:spcBef>
              <a:spcPct val="0"/>
            </a:spcBef>
            <a:spcAft>
              <a:spcPct val="35000"/>
            </a:spcAft>
            <a:buNone/>
          </a:pPr>
          <a:r>
            <a:rPr lang="en-US" sz="2800" b="1" kern="1200"/>
            <a:t>Hardware</a:t>
          </a:r>
          <a:endParaRPr lang="en-US" sz="2800" kern="1200"/>
        </a:p>
      </dsp:txBody>
      <dsp:txXfrm>
        <a:off x="339243" y="88048"/>
        <a:ext cx="4303850" cy="745862"/>
      </dsp:txXfrm>
    </dsp:sp>
    <dsp:sp modelId="{1DFF3194-F3E5-4551-B349-67E728EB6088}">
      <dsp:nvSpPr>
        <dsp:cNvPr id="0" name=""/>
        <dsp:cNvSpPr/>
      </dsp:nvSpPr>
      <dsp:spPr>
        <a:xfrm>
          <a:off x="0" y="3020723"/>
          <a:ext cx="6263640" cy="24696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6128" tIns="583184" rIns="486128" bIns="199136" numCol="1" spcCol="1270" anchor="t" anchorCtr="0">
          <a:noAutofit/>
        </a:bodyPr>
        <a:lstStyle/>
        <a:p>
          <a:pPr marL="285750" lvl="1" indent="-285750" algn="l" defTabSz="1244600">
            <a:lnSpc>
              <a:spcPct val="90000"/>
            </a:lnSpc>
            <a:spcBef>
              <a:spcPct val="0"/>
            </a:spcBef>
            <a:spcAft>
              <a:spcPct val="15000"/>
            </a:spcAft>
            <a:buChar char="•"/>
          </a:pPr>
          <a:r>
            <a:rPr lang="en-US" sz="2800" b="0" kern="1200" dirty="0">
              <a:latin typeface="Times New Roman" panose="02020603050405020304" pitchFamily="18" charset="0"/>
              <a:cs typeface="Times New Roman" panose="02020603050405020304" pitchFamily="18" charset="0"/>
            </a:rPr>
            <a:t>Google </a:t>
          </a:r>
          <a:r>
            <a:rPr lang="en-US" sz="2800" b="0" kern="1200" dirty="0" err="1">
              <a:latin typeface="Times New Roman" panose="02020603050405020304" pitchFamily="18" charset="0"/>
              <a:cs typeface="Times New Roman" panose="02020603050405020304" pitchFamily="18" charset="0"/>
            </a:rPr>
            <a:t>Colab</a:t>
          </a:r>
          <a:endParaRPr lang="en-US" sz="2800" b="0" kern="1200" dirty="0">
            <a:latin typeface="Times New Roman" panose="02020603050405020304" pitchFamily="18" charset="0"/>
            <a:cs typeface="Times New Roman" panose="02020603050405020304" pitchFamily="18" charset="0"/>
          </a:endParaRPr>
        </a:p>
        <a:p>
          <a:pPr marL="285750" lvl="1" indent="-285750" algn="l" defTabSz="1244600">
            <a:lnSpc>
              <a:spcPct val="90000"/>
            </a:lnSpc>
            <a:spcBef>
              <a:spcPct val="0"/>
            </a:spcBef>
            <a:spcAft>
              <a:spcPct val="15000"/>
            </a:spcAft>
            <a:buChar char="•"/>
          </a:pPr>
          <a:r>
            <a:rPr lang="en-US" sz="2800" b="0" kern="1200" dirty="0">
              <a:latin typeface="Times New Roman" panose="02020603050405020304" pitchFamily="18" charset="0"/>
              <a:cs typeface="Times New Roman" panose="02020603050405020304" pitchFamily="18" charset="0"/>
            </a:rPr>
            <a:t>Tensor Flow</a:t>
          </a:r>
        </a:p>
        <a:p>
          <a:pPr marL="285750" lvl="1" indent="-285750" algn="l" defTabSz="1244600">
            <a:lnSpc>
              <a:spcPct val="90000"/>
            </a:lnSpc>
            <a:spcBef>
              <a:spcPct val="0"/>
            </a:spcBef>
            <a:spcAft>
              <a:spcPct val="15000"/>
            </a:spcAft>
            <a:buChar char="•"/>
          </a:pPr>
          <a:r>
            <a:rPr lang="en-US" sz="2800" b="0" kern="1200" dirty="0">
              <a:latin typeface="Times New Roman" panose="02020603050405020304" pitchFamily="18" charset="0"/>
              <a:cs typeface="Times New Roman" panose="02020603050405020304" pitchFamily="18" charset="0"/>
            </a:rPr>
            <a:t>Python Libraries</a:t>
          </a:r>
        </a:p>
        <a:p>
          <a:pPr marL="285750" lvl="1" indent="-285750" algn="l" defTabSz="1244600">
            <a:lnSpc>
              <a:spcPct val="90000"/>
            </a:lnSpc>
            <a:spcBef>
              <a:spcPct val="0"/>
            </a:spcBef>
            <a:spcAft>
              <a:spcPct val="15000"/>
            </a:spcAft>
            <a:buChar char="•"/>
          </a:pPr>
          <a:r>
            <a:rPr lang="en-US" sz="2800" b="0" kern="1200" dirty="0">
              <a:latin typeface="Times New Roman" panose="02020603050405020304" pitchFamily="18" charset="0"/>
              <a:cs typeface="Times New Roman" panose="02020603050405020304" pitchFamily="18" charset="0"/>
            </a:rPr>
            <a:t>Google Derive</a:t>
          </a:r>
        </a:p>
      </dsp:txBody>
      <dsp:txXfrm>
        <a:off x="0" y="3020723"/>
        <a:ext cx="6263640" cy="2469600"/>
      </dsp:txXfrm>
    </dsp:sp>
    <dsp:sp modelId="{75D30F21-4D0B-4BE4-95BE-8DE097AA1A56}">
      <dsp:nvSpPr>
        <dsp:cNvPr id="0" name=""/>
        <dsp:cNvSpPr/>
      </dsp:nvSpPr>
      <dsp:spPr>
        <a:xfrm>
          <a:off x="313182" y="2607443"/>
          <a:ext cx="4384548" cy="8265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1244600">
            <a:lnSpc>
              <a:spcPct val="90000"/>
            </a:lnSpc>
            <a:spcBef>
              <a:spcPct val="0"/>
            </a:spcBef>
            <a:spcAft>
              <a:spcPct val="35000"/>
            </a:spcAft>
            <a:buNone/>
          </a:pPr>
          <a:r>
            <a:rPr lang="en-US" sz="2800" b="1" kern="1200"/>
            <a:t>Software</a:t>
          </a:r>
          <a:endParaRPr lang="en-US" sz="2800" kern="1200"/>
        </a:p>
      </dsp:txBody>
      <dsp:txXfrm>
        <a:off x="353531" y="2647792"/>
        <a:ext cx="4303850" cy="74586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BF0B37-B269-417B-AD1D-B62F6A5370D1}" type="datetimeFigureOut">
              <a:rPr lang="en-US" smtClean="0"/>
              <a:t>1/13/2023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A3EE4B-C628-4FAF-AF23-4720D7481EE1}" type="slidenum">
              <a:rPr lang="en-US" smtClean="0"/>
              <a:t>‹#›</a:t>
            </a:fld>
            <a:endParaRPr lang="en-US"/>
          </a:p>
        </p:txBody>
      </p:sp>
    </p:spTree>
    <p:extLst>
      <p:ext uri="{BB962C8B-B14F-4D97-AF65-F5344CB8AC3E}">
        <p14:creationId xmlns:p14="http://schemas.microsoft.com/office/powerpoint/2010/main" val="1474299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80C6C-85A2-402B-B375-0204B52B4A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DA2F91-F232-46DA-A63E-ACDD82F379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4AE907-4011-49D6-9939-36AB0C2E2D36}"/>
              </a:ext>
            </a:extLst>
          </p:cNvPr>
          <p:cNvSpPr>
            <a:spLocks noGrp="1"/>
          </p:cNvSpPr>
          <p:nvPr>
            <p:ph type="dt" sz="half" idx="10"/>
          </p:nvPr>
        </p:nvSpPr>
        <p:spPr/>
        <p:txBody>
          <a:bodyPr/>
          <a:lstStyle/>
          <a:p>
            <a:fld id="{63019BE7-B33B-4AEB-8EA0-189B2FA94F99}" type="datetimeFigureOut">
              <a:rPr lang="en-US" smtClean="0"/>
              <a:t>1/13/2023</a:t>
            </a:fld>
            <a:endParaRPr lang="en-US"/>
          </a:p>
        </p:txBody>
      </p:sp>
      <p:sp>
        <p:nvSpPr>
          <p:cNvPr id="5" name="Footer Placeholder 4">
            <a:extLst>
              <a:ext uri="{FF2B5EF4-FFF2-40B4-BE49-F238E27FC236}">
                <a16:creationId xmlns:a16="http://schemas.microsoft.com/office/drawing/2014/main" id="{ADB206B7-67AC-4013-A016-C4B8BB61B5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A26981-2F15-4AA0-BAEC-CB28A381A19B}"/>
              </a:ext>
            </a:extLst>
          </p:cNvPr>
          <p:cNvSpPr>
            <a:spLocks noGrp="1"/>
          </p:cNvSpPr>
          <p:nvPr>
            <p:ph type="sldNum" sz="quarter" idx="12"/>
          </p:nvPr>
        </p:nvSpPr>
        <p:spPr/>
        <p:txBody>
          <a:bodyPr/>
          <a:lstStyle/>
          <a:p>
            <a:fld id="{3599D9F6-9DBA-4395-95C1-FF8010A33876}" type="slidenum">
              <a:rPr lang="en-US" smtClean="0"/>
              <a:t>‹#›</a:t>
            </a:fld>
            <a:endParaRPr lang="en-US"/>
          </a:p>
        </p:txBody>
      </p:sp>
    </p:spTree>
    <p:extLst>
      <p:ext uri="{BB962C8B-B14F-4D97-AF65-F5344CB8AC3E}">
        <p14:creationId xmlns:p14="http://schemas.microsoft.com/office/powerpoint/2010/main" val="1997780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BBE92-3F0F-4773-890B-C7D9D990A1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E6B8B7-1B31-419D-B5F4-77E57C1664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BE6A11-CFAC-4F15-9FAA-A7C8D9831CC2}"/>
              </a:ext>
            </a:extLst>
          </p:cNvPr>
          <p:cNvSpPr>
            <a:spLocks noGrp="1"/>
          </p:cNvSpPr>
          <p:nvPr>
            <p:ph type="dt" sz="half" idx="10"/>
          </p:nvPr>
        </p:nvSpPr>
        <p:spPr/>
        <p:txBody>
          <a:bodyPr/>
          <a:lstStyle/>
          <a:p>
            <a:fld id="{63019BE7-B33B-4AEB-8EA0-189B2FA94F99}" type="datetimeFigureOut">
              <a:rPr lang="en-US" smtClean="0"/>
              <a:t>1/13/2023</a:t>
            </a:fld>
            <a:endParaRPr lang="en-US"/>
          </a:p>
        </p:txBody>
      </p:sp>
      <p:sp>
        <p:nvSpPr>
          <p:cNvPr id="5" name="Footer Placeholder 4">
            <a:extLst>
              <a:ext uri="{FF2B5EF4-FFF2-40B4-BE49-F238E27FC236}">
                <a16:creationId xmlns:a16="http://schemas.microsoft.com/office/drawing/2014/main" id="{BCF84402-2178-4812-A1BD-F95763A820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47CB26-0E81-4532-859C-43D61E360EAA}"/>
              </a:ext>
            </a:extLst>
          </p:cNvPr>
          <p:cNvSpPr>
            <a:spLocks noGrp="1"/>
          </p:cNvSpPr>
          <p:nvPr>
            <p:ph type="sldNum" sz="quarter" idx="12"/>
          </p:nvPr>
        </p:nvSpPr>
        <p:spPr/>
        <p:txBody>
          <a:bodyPr/>
          <a:lstStyle/>
          <a:p>
            <a:fld id="{3599D9F6-9DBA-4395-95C1-FF8010A33876}" type="slidenum">
              <a:rPr lang="en-US" smtClean="0"/>
              <a:t>‹#›</a:t>
            </a:fld>
            <a:endParaRPr lang="en-US"/>
          </a:p>
        </p:txBody>
      </p:sp>
    </p:spTree>
    <p:extLst>
      <p:ext uri="{BB962C8B-B14F-4D97-AF65-F5344CB8AC3E}">
        <p14:creationId xmlns:p14="http://schemas.microsoft.com/office/powerpoint/2010/main" val="46461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4FC5A-7EE3-4FD6-A0A7-F0BC8A7E79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3E8026F-B5B6-4FE8-97DC-1F19C2096C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4337E8-468F-427F-A00A-01103C4A5576}"/>
              </a:ext>
            </a:extLst>
          </p:cNvPr>
          <p:cNvSpPr>
            <a:spLocks noGrp="1"/>
          </p:cNvSpPr>
          <p:nvPr>
            <p:ph type="dt" sz="half" idx="10"/>
          </p:nvPr>
        </p:nvSpPr>
        <p:spPr/>
        <p:txBody>
          <a:bodyPr/>
          <a:lstStyle/>
          <a:p>
            <a:fld id="{63019BE7-B33B-4AEB-8EA0-189B2FA94F99}" type="datetimeFigureOut">
              <a:rPr lang="en-US" smtClean="0"/>
              <a:t>1/13/2023</a:t>
            </a:fld>
            <a:endParaRPr lang="en-US"/>
          </a:p>
        </p:txBody>
      </p:sp>
      <p:sp>
        <p:nvSpPr>
          <p:cNvPr id="5" name="Footer Placeholder 4">
            <a:extLst>
              <a:ext uri="{FF2B5EF4-FFF2-40B4-BE49-F238E27FC236}">
                <a16:creationId xmlns:a16="http://schemas.microsoft.com/office/drawing/2014/main" id="{3DB7D54B-C80F-433A-B714-8BAFB4547B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4AE556-BD02-4434-949B-92DADFEF4979}"/>
              </a:ext>
            </a:extLst>
          </p:cNvPr>
          <p:cNvSpPr>
            <a:spLocks noGrp="1"/>
          </p:cNvSpPr>
          <p:nvPr>
            <p:ph type="sldNum" sz="quarter" idx="12"/>
          </p:nvPr>
        </p:nvSpPr>
        <p:spPr/>
        <p:txBody>
          <a:bodyPr/>
          <a:lstStyle/>
          <a:p>
            <a:fld id="{3599D9F6-9DBA-4395-95C1-FF8010A33876}" type="slidenum">
              <a:rPr lang="en-US" smtClean="0"/>
              <a:t>‹#›</a:t>
            </a:fld>
            <a:endParaRPr lang="en-US"/>
          </a:p>
        </p:txBody>
      </p:sp>
    </p:spTree>
    <p:extLst>
      <p:ext uri="{BB962C8B-B14F-4D97-AF65-F5344CB8AC3E}">
        <p14:creationId xmlns:p14="http://schemas.microsoft.com/office/powerpoint/2010/main" val="3752992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177DC-1D07-40DF-954B-4B35E59F31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1D1EF1-1599-4BD8-A148-4843FC1BF8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D91444-B0C6-4E3F-A17D-3A1E9B74A6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319DD8F-2401-43ED-86E5-5D7AA34239B1}"/>
              </a:ext>
            </a:extLst>
          </p:cNvPr>
          <p:cNvSpPr>
            <a:spLocks noGrp="1"/>
          </p:cNvSpPr>
          <p:nvPr>
            <p:ph type="dt" sz="half" idx="10"/>
          </p:nvPr>
        </p:nvSpPr>
        <p:spPr/>
        <p:txBody>
          <a:bodyPr/>
          <a:lstStyle/>
          <a:p>
            <a:fld id="{63019BE7-B33B-4AEB-8EA0-189B2FA94F99}" type="datetimeFigureOut">
              <a:rPr lang="en-US" smtClean="0"/>
              <a:t>1/13/2023</a:t>
            </a:fld>
            <a:endParaRPr lang="en-US"/>
          </a:p>
        </p:txBody>
      </p:sp>
      <p:sp>
        <p:nvSpPr>
          <p:cNvPr id="6" name="Footer Placeholder 5">
            <a:extLst>
              <a:ext uri="{FF2B5EF4-FFF2-40B4-BE49-F238E27FC236}">
                <a16:creationId xmlns:a16="http://schemas.microsoft.com/office/drawing/2014/main" id="{A3BB2E6B-BFF2-4B0D-97DE-CF1FFD94BB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E05F78-4ED4-4202-B8F0-8E39C3BC6540}"/>
              </a:ext>
            </a:extLst>
          </p:cNvPr>
          <p:cNvSpPr>
            <a:spLocks noGrp="1"/>
          </p:cNvSpPr>
          <p:nvPr>
            <p:ph type="sldNum" sz="quarter" idx="12"/>
          </p:nvPr>
        </p:nvSpPr>
        <p:spPr/>
        <p:txBody>
          <a:bodyPr/>
          <a:lstStyle/>
          <a:p>
            <a:fld id="{3599D9F6-9DBA-4395-95C1-FF8010A33876}" type="slidenum">
              <a:rPr lang="en-US" smtClean="0"/>
              <a:t>‹#›</a:t>
            </a:fld>
            <a:endParaRPr lang="en-US"/>
          </a:p>
        </p:txBody>
      </p:sp>
    </p:spTree>
    <p:extLst>
      <p:ext uri="{BB962C8B-B14F-4D97-AF65-F5344CB8AC3E}">
        <p14:creationId xmlns:p14="http://schemas.microsoft.com/office/powerpoint/2010/main" val="292694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139A1-E17D-4152-B291-58AEA5B5E6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F9F50E0-30D7-4091-8916-2A3C6A0BEC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6C2D7A-A38B-4617-A8D6-9A49F140B9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D6659D-BBD9-4E8C-96D7-FA3ECDD360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B3151E-7777-4838-9FD9-EA84EAA5CB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FEB1511-ACFF-413D-BDBD-5E6EC3E735A6}"/>
              </a:ext>
            </a:extLst>
          </p:cNvPr>
          <p:cNvSpPr>
            <a:spLocks noGrp="1"/>
          </p:cNvSpPr>
          <p:nvPr>
            <p:ph type="dt" sz="half" idx="10"/>
          </p:nvPr>
        </p:nvSpPr>
        <p:spPr/>
        <p:txBody>
          <a:bodyPr/>
          <a:lstStyle/>
          <a:p>
            <a:fld id="{63019BE7-B33B-4AEB-8EA0-189B2FA94F99}" type="datetimeFigureOut">
              <a:rPr lang="en-US" smtClean="0"/>
              <a:t>1/13/2023</a:t>
            </a:fld>
            <a:endParaRPr lang="en-US"/>
          </a:p>
        </p:txBody>
      </p:sp>
      <p:sp>
        <p:nvSpPr>
          <p:cNvPr id="8" name="Footer Placeholder 7">
            <a:extLst>
              <a:ext uri="{FF2B5EF4-FFF2-40B4-BE49-F238E27FC236}">
                <a16:creationId xmlns:a16="http://schemas.microsoft.com/office/drawing/2014/main" id="{C1A447F1-48EB-4548-A295-71FD020EDCD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E558F74-A7F7-47FC-AD30-0B91DEA4676E}"/>
              </a:ext>
            </a:extLst>
          </p:cNvPr>
          <p:cNvSpPr>
            <a:spLocks noGrp="1"/>
          </p:cNvSpPr>
          <p:nvPr>
            <p:ph type="sldNum" sz="quarter" idx="12"/>
          </p:nvPr>
        </p:nvSpPr>
        <p:spPr/>
        <p:txBody>
          <a:bodyPr/>
          <a:lstStyle/>
          <a:p>
            <a:fld id="{3599D9F6-9DBA-4395-95C1-FF8010A33876}" type="slidenum">
              <a:rPr lang="en-US" smtClean="0"/>
              <a:t>‹#›</a:t>
            </a:fld>
            <a:endParaRPr lang="en-US"/>
          </a:p>
        </p:txBody>
      </p:sp>
    </p:spTree>
    <p:extLst>
      <p:ext uri="{BB962C8B-B14F-4D97-AF65-F5344CB8AC3E}">
        <p14:creationId xmlns:p14="http://schemas.microsoft.com/office/powerpoint/2010/main" val="4192084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CED7C-904B-440D-A2C0-692AE8AB0D0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C7E349-AB2A-424A-BAE9-B8C530F6E8BC}"/>
              </a:ext>
            </a:extLst>
          </p:cNvPr>
          <p:cNvSpPr>
            <a:spLocks noGrp="1"/>
          </p:cNvSpPr>
          <p:nvPr>
            <p:ph type="dt" sz="half" idx="10"/>
          </p:nvPr>
        </p:nvSpPr>
        <p:spPr/>
        <p:txBody>
          <a:bodyPr/>
          <a:lstStyle/>
          <a:p>
            <a:fld id="{63019BE7-B33B-4AEB-8EA0-189B2FA94F99}" type="datetimeFigureOut">
              <a:rPr lang="en-US" smtClean="0"/>
              <a:t>1/13/2023</a:t>
            </a:fld>
            <a:endParaRPr lang="en-US"/>
          </a:p>
        </p:txBody>
      </p:sp>
      <p:sp>
        <p:nvSpPr>
          <p:cNvPr id="4" name="Footer Placeholder 3">
            <a:extLst>
              <a:ext uri="{FF2B5EF4-FFF2-40B4-BE49-F238E27FC236}">
                <a16:creationId xmlns:a16="http://schemas.microsoft.com/office/drawing/2014/main" id="{9AF55BB1-C35F-4086-8779-7BF8643F8C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D2EDC6-CC47-444D-A4F2-74F22261F115}"/>
              </a:ext>
            </a:extLst>
          </p:cNvPr>
          <p:cNvSpPr>
            <a:spLocks noGrp="1"/>
          </p:cNvSpPr>
          <p:nvPr>
            <p:ph type="sldNum" sz="quarter" idx="12"/>
          </p:nvPr>
        </p:nvSpPr>
        <p:spPr/>
        <p:txBody>
          <a:bodyPr/>
          <a:lstStyle/>
          <a:p>
            <a:fld id="{3599D9F6-9DBA-4395-95C1-FF8010A33876}" type="slidenum">
              <a:rPr lang="en-US" smtClean="0"/>
              <a:t>‹#›</a:t>
            </a:fld>
            <a:endParaRPr lang="en-US"/>
          </a:p>
        </p:txBody>
      </p:sp>
    </p:spTree>
    <p:extLst>
      <p:ext uri="{BB962C8B-B14F-4D97-AF65-F5344CB8AC3E}">
        <p14:creationId xmlns:p14="http://schemas.microsoft.com/office/powerpoint/2010/main" val="2011529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94DFB-87E1-4535-9401-A10675985E51}"/>
              </a:ext>
            </a:extLst>
          </p:cNvPr>
          <p:cNvSpPr>
            <a:spLocks noGrp="1"/>
          </p:cNvSpPr>
          <p:nvPr>
            <p:ph type="dt" sz="half" idx="10"/>
          </p:nvPr>
        </p:nvSpPr>
        <p:spPr/>
        <p:txBody>
          <a:bodyPr/>
          <a:lstStyle/>
          <a:p>
            <a:fld id="{63019BE7-B33B-4AEB-8EA0-189B2FA94F99}" type="datetimeFigureOut">
              <a:rPr lang="en-US" smtClean="0"/>
              <a:t>1/13/2023</a:t>
            </a:fld>
            <a:endParaRPr lang="en-US"/>
          </a:p>
        </p:txBody>
      </p:sp>
      <p:sp>
        <p:nvSpPr>
          <p:cNvPr id="3" name="Footer Placeholder 2">
            <a:extLst>
              <a:ext uri="{FF2B5EF4-FFF2-40B4-BE49-F238E27FC236}">
                <a16:creationId xmlns:a16="http://schemas.microsoft.com/office/drawing/2014/main" id="{CADFA48F-AA10-4B50-ADF3-FC521A645B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8FF43A-C392-45CC-A668-E143BAB14871}"/>
              </a:ext>
            </a:extLst>
          </p:cNvPr>
          <p:cNvSpPr>
            <a:spLocks noGrp="1"/>
          </p:cNvSpPr>
          <p:nvPr>
            <p:ph type="sldNum" sz="quarter" idx="12"/>
          </p:nvPr>
        </p:nvSpPr>
        <p:spPr/>
        <p:txBody>
          <a:bodyPr/>
          <a:lstStyle/>
          <a:p>
            <a:fld id="{3599D9F6-9DBA-4395-95C1-FF8010A33876}" type="slidenum">
              <a:rPr lang="en-US" smtClean="0"/>
              <a:t>‹#›</a:t>
            </a:fld>
            <a:endParaRPr lang="en-US"/>
          </a:p>
        </p:txBody>
      </p:sp>
    </p:spTree>
    <p:extLst>
      <p:ext uri="{BB962C8B-B14F-4D97-AF65-F5344CB8AC3E}">
        <p14:creationId xmlns:p14="http://schemas.microsoft.com/office/powerpoint/2010/main" val="4020291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0A7C3-74F0-4E0E-A5AA-296734F5F2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5B2BE5-6417-47BD-9706-3B8480BCCA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D67F5A-F45F-46CB-8B48-D22D0FB3F4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14BD47-97FB-499B-8E5B-BF9DCAFBD7AD}"/>
              </a:ext>
            </a:extLst>
          </p:cNvPr>
          <p:cNvSpPr>
            <a:spLocks noGrp="1"/>
          </p:cNvSpPr>
          <p:nvPr>
            <p:ph type="dt" sz="half" idx="10"/>
          </p:nvPr>
        </p:nvSpPr>
        <p:spPr/>
        <p:txBody>
          <a:bodyPr/>
          <a:lstStyle/>
          <a:p>
            <a:fld id="{63019BE7-B33B-4AEB-8EA0-189B2FA94F99}" type="datetimeFigureOut">
              <a:rPr lang="en-US" smtClean="0"/>
              <a:t>1/13/2023</a:t>
            </a:fld>
            <a:endParaRPr lang="en-US"/>
          </a:p>
        </p:txBody>
      </p:sp>
      <p:sp>
        <p:nvSpPr>
          <p:cNvPr id="6" name="Footer Placeholder 5">
            <a:extLst>
              <a:ext uri="{FF2B5EF4-FFF2-40B4-BE49-F238E27FC236}">
                <a16:creationId xmlns:a16="http://schemas.microsoft.com/office/drawing/2014/main" id="{82B89684-716E-4CF3-BF29-F31ADE3D99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5847F3-D68B-4D66-9A8E-DF12080A026D}"/>
              </a:ext>
            </a:extLst>
          </p:cNvPr>
          <p:cNvSpPr>
            <a:spLocks noGrp="1"/>
          </p:cNvSpPr>
          <p:nvPr>
            <p:ph type="sldNum" sz="quarter" idx="12"/>
          </p:nvPr>
        </p:nvSpPr>
        <p:spPr/>
        <p:txBody>
          <a:bodyPr/>
          <a:lstStyle/>
          <a:p>
            <a:fld id="{3599D9F6-9DBA-4395-95C1-FF8010A33876}" type="slidenum">
              <a:rPr lang="en-US" smtClean="0"/>
              <a:t>‹#›</a:t>
            </a:fld>
            <a:endParaRPr lang="en-US"/>
          </a:p>
        </p:txBody>
      </p:sp>
    </p:spTree>
    <p:extLst>
      <p:ext uri="{BB962C8B-B14F-4D97-AF65-F5344CB8AC3E}">
        <p14:creationId xmlns:p14="http://schemas.microsoft.com/office/powerpoint/2010/main" val="1180798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E90A5-0744-482D-BDF0-81D78703A9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902F3A-D016-4237-A412-8BAF25CA4E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C2C012-84F9-447E-9CF6-EC21D7613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403CD3-9579-4476-A744-805545239AC9}"/>
              </a:ext>
            </a:extLst>
          </p:cNvPr>
          <p:cNvSpPr>
            <a:spLocks noGrp="1"/>
          </p:cNvSpPr>
          <p:nvPr>
            <p:ph type="dt" sz="half" idx="10"/>
          </p:nvPr>
        </p:nvSpPr>
        <p:spPr/>
        <p:txBody>
          <a:bodyPr/>
          <a:lstStyle/>
          <a:p>
            <a:fld id="{63019BE7-B33B-4AEB-8EA0-189B2FA94F99}" type="datetimeFigureOut">
              <a:rPr lang="en-US" smtClean="0"/>
              <a:t>1/13/2023</a:t>
            </a:fld>
            <a:endParaRPr lang="en-US"/>
          </a:p>
        </p:txBody>
      </p:sp>
      <p:sp>
        <p:nvSpPr>
          <p:cNvPr id="6" name="Footer Placeholder 5">
            <a:extLst>
              <a:ext uri="{FF2B5EF4-FFF2-40B4-BE49-F238E27FC236}">
                <a16:creationId xmlns:a16="http://schemas.microsoft.com/office/drawing/2014/main" id="{5344F7B5-B0E5-4B39-B5EC-636FA9C294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670486-A588-415E-923D-D6D74D558A91}"/>
              </a:ext>
            </a:extLst>
          </p:cNvPr>
          <p:cNvSpPr>
            <a:spLocks noGrp="1"/>
          </p:cNvSpPr>
          <p:nvPr>
            <p:ph type="sldNum" sz="quarter" idx="12"/>
          </p:nvPr>
        </p:nvSpPr>
        <p:spPr/>
        <p:txBody>
          <a:bodyPr/>
          <a:lstStyle/>
          <a:p>
            <a:fld id="{3599D9F6-9DBA-4395-95C1-FF8010A33876}" type="slidenum">
              <a:rPr lang="en-US" smtClean="0"/>
              <a:t>‹#›</a:t>
            </a:fld>
            <a:endParaRPr lang="en-US"/>
          </a:p>
        </p:txBody>
      </p:sp>
    </p:spTree>
    <p:extLst>
      <p:ext uri="{BB962C8B-B14F-4D97-AF65-F5344CB8AC3E}">
        <p14:creationId xmlns:p14="http://schemas.microsoft.com/office/powerpoint/2010/main" val="1804246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7D660-61FC-4655-8954-3D87352350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BBCF771-24AD-4770-A030-1A6FAEFCAC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C4C527-CE39-486C-9750-2E7A417AFDD0}"/>
              </a:ext>
            </a:extLst>
          </p:cNvPr>
          <p:cNvSpPr>
            <a:spLocks noGrp="1"/>
          </p:cNvSpPr>
          <p:nvPr>
            <p:ph type="dt" sz="half" idx="10"/>
          </p:nvPr>
        </p:nvSpPr>
        <p:spPr/>
        <p:txBody>
          <a:bodyPr/>
          <a:lstStyle/>
          <a:p>
            <a:fld id="{63019BE7-B33B-4AEB-8EA0-189B2FA94F99}" type="datetimeFigureOut">
              <a:rPr lang="en-US" smtClean="0"/>
              <a:t>1/13/2023</a:t>
            </a:fld>
            <a:endParaRPr lang="en-US"/>
          </a:p>
        </p:txBody>
      </p:sp>
      <p:sp>
        <p:nvSpPr>
          <p:cNvPr id="5" name="Footer Placeholder 4">
            <a:extLst>
              <a:ext uri="{FF2B5EF4-FFF2-40B4-BE49-F238E27FC236}">
                <a16:creationId xmlns:a16="http://schemas.microsoft.com/office/drawing/2014/main" id="{F5C70C57-11DE-417C-BB11-FFC17ACDD7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0D2817-CF90-4FCF-AC63-FDB279B27400}"/>
              </a:ext>
            </a:extLst>
          </p:cNvPr>
          <p:cNvSpPr>
            <a:spLocks noGrp="1"/>
          </p:cNvSpPr>
          <p:nvPr>
            <p:ph type="sldNum" sz="quarter" idx="12"/>
          </p:nvPr>
        </p:nvSpPr>
        <p:spPr/>
        <p:txBody>
          <a:bodyPr/>
          <a:lstStyle/>
          <a:p>
            <a:fld id="{3599D9F6-9DBA-4395-95C1-FF8010A33876}" type="slidenum">
              <a:rPr lang="en-US" smtClean="0"/>
              <a:t>‹#›</a:t>
            </a:fld>
            <a:endParaRPr lang="en-US"/>
          </a:p>
        </p:txBody>
      </p:sp>
    </p:spTree>
    <p:extLst>
      <p:ext uri="{BB962C8B-B14F-4D97-AF65-F5344CB8AC3E}">
        <p14:creationId xmlns:p14="http://schemas.microsoft.com/office/powerpoint/2010/main" val="3995945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55DBF3-74B6-47E6-99A5-349AD2D469C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02CD59-75C5-4014-B776-A523213896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55BB3D-3E07-4BCF-A92D-D73C0C744F41}"/>
              </a:ext>
            </a:extLst>
          </p:cNvPr>
          <p:cNvSpPr>
            <a:spLocks noGrp="1"/>
          </p:cNvSpPr>
          <p:nvPr>
            <p:ph type="dt" sz="half" idx="10"/>
          </p:nvPr>
        </p:nvSpPr>
        <p:spPr/>
        <p:txBody>
          <a:bodyPr/>
          <a:lstStyle/>
          <a:p>
            <a:fld id="{63019BE7-B33B-4AEB-8EA0-189B2FA94F99}" type="datetimeFigureOut">
              <a:rPr lang="en-US" smtClean="0"/>
              <a:t>1/13/2023</a:t>
            </a:fld>
            <a:endParaRPr lang="en-US"/>
          </a:p>
        </p:txBody>
      </p:sp>
      <p:sp>
        <p:nvSpPr>
          <p:cNvPr id="5" name="Footer Placeholder 4">
            <a:extLst>
              <a:ext uri="{FF2B5EF4-FFF2-40B4-BE49-F238E27FC236}">
                <a16:creationId xmlns:a16="http://schemas.microsoft.com/office/drawing/2014/main" id="{C6D250A3-AB87-41A5-80C9-E5C618F64E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032B7D-0475-452B-8AC2-CFC3EBC6B028}"/>
              </a:ext>
            </a:extLst>
          </p:cNvPr>
          <p:cNvSpPr>
            <a:spLocks noGrp="1"/>
          </p:cNvSpPr>
          <p:nvPr>
            <p:ph type="sldNum" sz="quarter" idx="12"/>
          </p:nvPr>
        </p:nvSpPr>
        <p:spPr/>
        <p:txBody>
          <a:bodyPr/>
          <a:lstStyle/>
          <a:p>
            <a:fld id="{3599D9F6-9DBA-4395-95C1-FF8010A33876}" type="slidenum">
              <a:rPr lang="en-US" smtClean="0"/>
              <a:t>‹#›</a:t>
            </a:fld>
            <a:endParaRPr lang="en-US"/>
          </a:p>
        </p:txBody>
      </p:sp>
    </p:spTree>
    <p:extLst>
      <p:ext uri="{BB962C8B-B14F-4D97-AF65-F5344CB8AC3E}">
        <p14:creationId xmlns:p14="http://schemas.microsoft.com/office/powerpoint/2010/main" val="1922578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4F2F38-23FE-4D21-B4FD-9E7C2E9A61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C72B6D-BCDD-49EF-BEA8-C866491EAB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27E12C-2376-4E70-B816-D31BBCBCC3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019BE7-B33B-4AEB-8EA0-189B2FA94F99}" type="datetimeFigureOut">
              <a:rPr lang="en-US" smtClean="0"/>
              <a:t>1/13/2023</a:t>
            </a:fld>
            <a:endParaRPr lang="en-US"/>
          </a:p>
        </p:txBody>
      </p:sp>
      <p:sp>
        <p:nvSpPr>
          <p:cNvPr id="5" name="Footer Placeholder 4">
            <a:extLst>
              <a:ext uri="{FF2B5EF4-FFF2-40B4-BE49-F238E27FC236}">
                <a16:creationId xmlns:a16="http://schemas.microsoft.com/office/drawing/2014/main" id="{B8DD4E4F-B4AB-4C9F-808B-971F2207BA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C6E6A2B-3228-4A72-8237-2407B1B039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99D9F6-9DBA-4395-95C1-FF8010A33876}" type="slidenum">
              <a:rPr lang="en-US" smtClean="0"/>
              <a:t>‹#›</a:t>
            </a:fld>
            <a:endParaRPr lang="en-US"/>
          </a:p>
        </p:txBody>
      </p:sp>
    </p:spTree>
    <p:extLst>
      <p:ext uri="{BB962C8B-B14F-4D97-AF65-F5344CB8AC3E}">
        <p14:creationId xmlns:p14="http://schemas.microsoft.com/office/powerpoint/2010/main" val="21795784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4A0F208F-C978-4EC4-8A80-2D43ECC8C4DB}"/>
              </a:ext>
            </a:extLst>
          </p:cNvPr>
          <p:cNvSpPr>
            <a:spLocks noGrp="1"/>
          </p:cNvSpPr>
          <p:nvPr>
            <p:ph type="ctrTitle"/>
          </p:nvPr>
        </p:nvSpPr>
        <p:spPr>
          <a:xfrm>
            <a:off x="0" y="0"/>
            <a:ext cx="12192000" cy="6857999"/>
          </a:xfrm>
        </p:spPr>
        <p:txBody>
          <a:bodyPr>
            <a:noAutofit/>
          </a:bodyPr>
          <a:lstStyle/>
          <a:p>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School of Computing, Engineering, and Build Environment, Glasgow Caledonian University, Glasgow, United Kingdom</a:t>
            </a: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Dissertation Presentation</a:t>
            </a:r>
            <a:br>
              <a:rPr lang="en-US" sz="24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Alzheimer Detection Using Deep Learning Approach</a:t>
            </a: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Presented By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Ubaid Ur Rehman</a:t>
            </a:r>
            <a:br>
              <a:rPr lang="en-US" sz="2400">
                <a:latin typeface="Times New Roman" panose="02020603050405020304" pitchFamily="18" charset="0"/>
                <a:cs typeface="Times New Roman" panose="02020603050405020304" pitchFamily="18" charset="0"/>
              </a:rPr>
            </a:br>
            <a:r>
              <a:rPr lang="en-US" sz="240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Supervised</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By </a:t>
            </a:r>
            <a:br>
              <a:rPr lang="en-US" sz="2400">
                <a:latin typeface="Times New Roman" panose="02020603050405020304" pitchFamily="18" charset="0"/>
                <a:cs typeface="Times New Roman" panose="02020603050405020304" pitchFamily="18" charset="0"/>
              </a:rPr>
            </a:br>
            <a:r>
              <a:rPr lang="en-US" sz="2400">
                <a:latin typeface="Times New Roman" panose="02020603050405020304" pitchFamily="18" charset="0"/>
                <a:cs typeface="Times New Roman" panose="02020603050405020304" pitchFamily="18" charset="0"/>
              </a:rPr>
              <a:t>Professor</a:t>
            </a:r>
            <a:endParaRPr lang="en-US" sz="28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BAE6B162-D077-5210-46DF-7268E99E47EA}"/>
              </a:ext>
            </a:extLst>
          </p:cNvPr>
          <p:cNvPicPr>
            <a:picLocks noChangeAspect="1"/>
          </p:cNvPicPr>
          <p:nvPr/>
        </p:nvPicPr>
        <p:blipFill>
          <a:blip r:embed="rId2"/>
          <a:stretch>
            <a:fillRect/>
          </a:stretch>
        </p:blipFill>
        <p:spPr>
          <a:xfrm>
            <a:off x="4929809" y="871767"/>
            <a:ext cx="2743200" cy="2162981"/>
          </a:xfrm>
          <a:prstGeom prst="rect">
            <a:avLst/>
          </a:prstGeom>
        </p:spPr>
      </p:pic>
    </p:spTree>
    <p:extLst>
      <p:ext uri="{BB962C8B-B14F-4D97-AF65-F5344CB8AC3E}">
        <p14:creationId xmlns:p14="http://schemas.microsoft.com/office/powerpoint/2010/main" val="3983027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F94A0-02B0-D245-8589-DCF479F3C10C}"/>
              </a:ext>
            </a:extLst>
          </p:cNvPr>
          <p:cNvSpPr>
            <a:spLocks noGrp="1"/>
          </p:cNvSpPr>
          <p:nvPr>
            <p:ph type="title"/>
          </p:nvPr>
        </p:nvSpPr>
        <p:spPr>
          <a:xfrm>
            <a:off x="1087580" y="1"/>
            <a:ext cx="10266218" cy="914400"/>
          </a:xfrm>
        </p:spPr>
        <p:txBody>
          <a:bodyPr>
            <a:normAutofit/>
          </a:bodyPr>
          <a:lstStyle/>
          <a:p>
            <a:r>
              <a:rPr lang="en-US" b="1" dirty="0">
                <a:latin typeface="Times New Roman" panose="02020603050405020304" pitchFamily="18" charset="0"/>
                <a:cs typeface="Times New Roman" panose="02020603050405020304" pitchFamily="18" charset="0"/>
              </a:rPr>
              <a:t>Road Map</a:t>
            </a:r>
          </a:p>
        </p:txBody>
      </p:sp>
      <p:pic>
        <p:nvPicPr>
          <p:cNvPr id="7" name="Graphic 6" descr="Books">
            <a:extLst>
              <a:ext uri="{FF2B5EF4-FFF2-40B4-BE49-F238E27FC236}">
                <a16:creationId xmlns:a16="http://schemas.microsoft.com/office/drawing/2014/main" id="{87334FB6-130D-CE8B-E863-6E2CC7986CC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3180" y="176866"/>
            <a:ext cx="914400" cy="914400"/>
          </a:xfrm>
          <a:prstGeom prst="rect">
            <a:avLst/>
          </a:prstGeom>
        </p:spPr>
      </p:pic>
      <p:sp>
        <p:nvSpPr>
          <p:cNvPr id="3" name="Content Placeholder 2">
            <a:extLst>
              <a:ext uri="{FF2B5EF4-FFF2-40B4-BE49-F238E27FC236}">
                <a16:creationId xmlns:a16="http://schemas.microsoft.com/office/drawing/2014/main" id="{3FF81A15-D6F9-7276-55A0-796C18A65D73}"/>
              </a:ext>
            </a:extLst>
          </p:cNvPr>
          <p:cNvSpPr>
            <a:spLocks noGrp="1"/>
          </p:cNvSpPr>
          <p:nvPr>
            <p:ph idx="1"/>
          </p:nvPr>
        </p:nvSpPr>
        <p:spPr>
          <a:xfrm>
            <a:off x="1087580" y="914401"/>
            <a:ext cx="10266219" cy="5943599"/>
          </a:xfrm>
        </p:spPr>
        <p:txBody>
          <a:bodyPr>
            <a:normAutofit fontScale="47500" lnSpcReduction="20000"/>
          </a:bodyPr>
          <a:lstStyle/>
          <a:p>
            <a:pPr>
              <a:buFont typeface="Wingdings" panose="05000000000000000000" pitchFamily="2" charset="2"/>
              <a:buChar char="v"/>
            </a:pPr>
            <a:r>
              <a:rPr lang="en-US" sz="4500" b="1" dirty="0">
                <a:latin typeface="Times New Roman" panose="02020603050405020304" pitchFamily="18" charset="0"/>
                <a:cs typeface="Times New Roman" panose="02020603050405020304" pitchFamily="18" charset="0"/>
              </a:rPr>
              <a:t>Introduction</a:t>
            </a:r>
          </a:p>
          <a:p>
            <a:pPr lvl="4"/>
            <a:r>
              <a:rPr lang="en-US" sz="4000" dirty="0">
                <a:latin typeface="Times New Roman" panose="02020603050405020304" pitchFamily="18" charset="0"/>
                <a:cs typeface="Times New Roman" panose="02020603050405020304" pitchFamily="18" charset="0"/>
              </a:rPr>
              <a:t>Literature Review</a:t>
            </a:r>
          </a:p>
          <a:p>
            <a:pPr lvl="4"/>
            <a:r>
              <a:rPr lang="en-US" sz="4000" dirty="0">
                <a:latin typeface="Times New Roman" panose="02020603050405020304" pitchFamily="18" charset="0"/>
                <a:cs typeface="Times New Roman" panose="02020603050405020304" pitchFamily="18" charset="0"/>
              </a:rPr>
              <a:t>Problem Statement</a:t>
            </a:r>
          </a:p>
          <a:p>
            <a:pPr lvl="4"/>
            <a:r>
              <a:rPr lang="en-US" sz="4000" dirty="0">
                <a:latin typeface="Times New Roman" panose="02020603050405020304" pitchFamily="18" charset="0"/>
                <a:cs typeface="Times New Roman" panose="02020603050405020304" pitchFamily="18" charset="0"/>
              </a:rPr>
              <a:t>Research Objective</a:t>
            </a:r>
          </a:p>
          <a:p>
            <a:pPr lvl="4"/>
            <a:r>
              <a:rPr lang="en-US" sz="4000" dirty="0">
                <a:latin typeface="Times New Roman" panose="02020603050405020304" pitchFamily="18" charset="0"/>
                <a:cs typeface="Times New Roman" panose="02020603050405020304" pitchFamily="18" charset="0"/>
              </a:rPr>
              <a:t>Research Question </a:t>
            </a:r>
          </a:p>
          <a:p>
            <a:pPr marL="1828800" lvl="4" indent="0">
              <a:buNone/>
            </a:pPr>
            <a:endParaRPr lang="en-US" sz="4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4500" b="1" dirty="0">
                <a:latin typeface="Times New Roman" panose="02020603050405020304" pitchFamily="18" charset="0"/>
                <a:cs typeface="Times New Roman" panose="02020603050405020304" pitchFamily="18" charset="0"/>
              </a:rPr>
              <a:t>Methodology </a:t>
            </a:r>
          </a:p>
          <a:p>
            <a:pPr lvl="4"/>
            <a:r>
              <a:rPr lang="en-US" sz="4500" dirty="0">
                <a:latin typeface="Times New Roman" panose="02020603050405020304" pitchFamily="18" charset="0"/>
                <a:cs typeface="Times New Roman" panose="02020603050405020304" pitchFamily="18" charset="0"/>
              </a:rPr>
              <a:t>Tools</a:t>
            </a:r>
          </a:p>
          <a:p>
            <a:pPr lvl="4"/>
            <a:r>
              <a:rPr lang="en-US" sz="4500" dirty="0">
                <a:latin typeface="Times New Roman" panose="02020603050405020304" pitchFamily="18" charset="0"/>
                <a:cs typeface="Times New Roman" panose="02020603050405020304" pitchFamily="18" charset="0"/>
              </a:rPr>
              <a:t>Research Framework</a:t>
            </a:r>
          </a:p>
          <a:p>
            <a:pPr lvl="4"/>
            <a:r>
              <a:rPr lang="en-US" sz="4500" dirty="0">
                <a:latin typeface="Times New Roman" panose="02020603050405020304" pitchFamily="18" charset="0"/>
                <a:cs typeface="Times New Roman" panose="02020603050405020304" pitchFamily="18" charset="0"/>
              </a:rPr>
              <a:t>Algorithm Flow chart</a:t>
            </a:r>
          </a:p>
          <a:p>
            <a:pPr lvl="4"/>
            <a:r>
              <a:rPr lang="en-US" sz="4500" dirty="0">
                <a:latin typeface="Times New Roman" panose="02020603050405020304" pitchFamily="18" charset="0"/>
                <a:cs typeface="Times New Roman" panose="02020603050405020304" pitchFamily="18" charset="0"/>
              </a:rPr>
              <a:t>Pre-processing</a:t>
            </a:r>
          </a:p>
          <a:p>
            <a:pPr lvl="4"/>
            <a:r>
              <a:rPr lang="en-US" sz="4500" dirty="0">
                <a:latin typeface="Times New Roman" panose="02020603050405020304" pitchFamily="18" charset="0"/>
                <a:cs typeface="Times New Roman" panose="02020603050405020304" pitchFamily="18" charset="0"/>
              </a:rPr>
              <a:t>Transfer Learning Technique</a:t>
            </a:r>
          </a:p>
          <a:p>
            <a:pPr>
              <a:buFont typeface="Wingdings" panose="05000000000000000000" pitchFamily="2" charset="2"/>
              <a:buChar char="v"/>
            </a:pPr>
            <a:r>
              <a:rPr lang="en-US" sz="4500" b="1" dirty="0">
                <a:latin typeface="Times New Roman" panose="02020603050405020304" pitchFamily="18" charset="0"/>
                <a:cs typeface="Times New Roman" panose="02020603050405020304" pitchFamily="18" charset="0"/>
              </a:rPr>
              <a:t>Results </a:t>
            </a:r>
          </a:p>
          <a:p>
            <a:pPr lvl="4"/>
            <a:r>
              <a:rPr lang="en-US" sz="4500" dirty="0">
                <a:latin typeface="Times New Roman" panose="02020603050405020304" pitchFamily="18" charset="0"/>
                <a:cs typeface="Times New Roman" panose="02020603050405020304" pitchFamily="18" charset="0"/>
              </a:rPr>
              <a:t>Confusion Metric</a:t>
            </a:r>
          </a:p>
          <a:p>
            <a:pPr lvl="4"/>
            <a:r>
              <a:rPr lang="en-US" sz="4500" dirty="0">
                <a:latin typeface="Times New Roman" panose="02020603050405020304" pitchFamily="18" charset="0"/>
                <a:cs typeface="Times New Roman" panose="02020603050405020304" pitchFamily="18" charset="0"/>
              </a:rPr>
              <a:t>Accuracy and Loss graph</a:t>
            </a:r>
          </a:p>
          <a:p>
            <a:pPr>
              <a:buFont typeface="Wingdings" panose="05000000000000000000" pitchFamily="2" charset="2"/>
              <a:buChar char="v"/>
            </a:pPr>
            <a:r>
              <a:rPr lang="en-US" sz="4500" b="1" dirty="0">
                <a:latin typeface="Times New Roman" panose="02020603050405020304" pitchFamily="18" charset="0"/>
                <a:cs typeface="Times New Roman" panose="02020603050405020304" pitchFamily="18" charset="0"/>
              </a:rPr>
              <a:t>Discussion</a:t>
            </a:r>
          </a:p>
          <a:p>
            <a:pPr lvl="4"/>
            <a:r>
              <a:rPr lang="en-US" sz="4500" dirty="0">
                <a:latin typeface="Times New Roman" panose="02020603050405020304" pitchFamily="18" charset="0"/>
                <a:cs typeface="Times New Roman" panose="02020603050405020304" pitchFamily="18" charset="0"/>
              </a:rPr>
              <a:t>Limitation and Future Work </a:t>
            </a:r>
          </a:p>
          <a:p>
            <a:pPr lvl="4"/>
            <a:r>
              <a:rPr lang="en-US" sz="4500" dirty="0">
                <a:latin typeface="Times New Roman" panose="02020603050405020304" pitchFamily="18" charset="0"/>
                <a:cs typeface="Times New Roman" panose="02020603050405020304" pitchFamily="18" charset="0"/>
              </a:rPr>
              <a:t>Conclusion </a:t>
            </a:r>
          </a:p>
          <a:p>
            <a:pPr lvl="4"/>
            <a:endParaRPr lang="en-US" sz="1300" dirty="0"/>
          </a:p>
          <a:p>
            <a:endParaRPr lang="en-US" sz="1800" dirty="0"/>
          </a:p>
          <a:p>
            <a:endParaRPr lang="en-US" sz="1800" dirty="0"/>
          </a:p>
          <a:p>
            <a:endParaRPr lang="en-US" sz="1800" dirty="0"/>
          </a:p>
        </p:txBody>
      </p:sp>
    </p:spTree>
    <p:extLst>
      <p:ext uri="{BB962C8B-B14F-4D97-AF65-F5344CB8AC3E}">
        <p14:creationId xmlns:p14="http://schemas.microsoft.com/office/powerpoint/2010/main" val="1355605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C6C15-E0D8-411F-AE93-99B153531975}"/>
              </a:ext>
            </a:extLst>
          </p:cNvPr>
          <p:cNvSpPr>
            <a:spLocks noGrp="1"/>
          </p:cNvSpPr>
          <p:nvPr>
            <p:ph type="title"/>
          </p:nvPr>
        </p:nvSpPr>
        <p:spPr>
          <a:xfrm>
            <a:off x="155616" y="2"/>
            <a:ext cx="11198184" cy="1129552"/>
          </a:xfrm>
        </p:spPr>
        <p:txBody>
          <a:bodyPr/>
          <a:lstStyle/>
          <a:p>
            <a:r>
              <a:rPr lang="en-US" b="1" dirty="0">
                <a:latin typeface="Times New Roman" panose="02020603050405020304" pitchFamily="18" charset="0"/>
                <a:cs typeface="Times New Roman" panose="02020603050405020304" pitchFamily="18" charset="0"/>
              </a:rPr>
              <a:t>Alzheimer Disease </a:t>
            </a:r>
            <a:r>
              <a:rPr lang="en-US" dirty="0">
                <a:latin typeface="Times New Roman" panose="02020603050405020304" pitchFamily="18" charset="0"/>
                <a:cs typeface="Times New Roman" panose="02020603050405020304" pitchFamily="18" charset="0"/>
              </a:rPr>
              <a:t>(Intro...)</a:t>
            </a:r>
          </a:p>
        </p:txBody>
      </p:sp>
      <p:sp>
        <p:nvSpPr>
          <p:cNvPr id="3" name="Content Placeholder 2">
            <a:extLst>
              <a:ext uri="{FF2B5EF4-FFF2-40B4-BE49-F238E27FC236}">
                <a16:creationId xmlns:a16="http://schemas.microsoft.com/office/drawing/2014/main" id="{E0F68E5D-B8EB-4B9D-954C-D482ADC9D311}"/>
              </a:ext>
            </a:extLst>
          </p:cNvPr>
          <p:cNvSpPr>
            <a:spLocks noGrp="1"/>
          </p:cNvSpPr>
          <p:nvPr>
            <p:ph idx="1"/>
          </p:nvPr>
        </p:nvSpPr>
        <p:spPr>
          <a:xfrm>
            <a:off x="155616" y="821635"/>
            <a:ext cx="11880768" cy="6036365"/>
          </a:xfrm>
        </p:spPr>
        <p:txBody>
          <a:bodyPr>
            <a:normAutofit/>
          </a:bodyPr>
          <a:lstStyle/>
          <a:p>
            <a:pPr marL="0" lvl="0" indent="0" algn="just">
              <a:buNone/>
            </a:pPr>
            <a:r>
              <a:rPr lang="en-GB" sz="1800" dirty="0">
                <a:solidFill>
                  <a:srgbClr val="000000"/>
                </a:solidFill>
                <a:effectLst/>
                <a:latin typeface="Times New Roman" panose="02020603050405020304" pitchFamily="18" charset="0"/>
                <a:ea typeface="Calibri" panose="020F0502020204030204" pitchFamily="34" charset="0"/>
              </a:rPr>
              <a:t>Alzheimer’s disease is the major cause of dementia. In Alzheimer’s disease patient loss their memory and face other brain disorders. Doctors don't still completely know what cause AD in mostly people. But there are probably some major causes, including the environment, age factor, brain changes, genetics and lifestyle. The importance of these factors varies from person to person.</a:t>
            </a:r>
          </a:p>
          <a:p>
            <a:pPr marL="0" lvl="0" indent="0" algn="just">
              <a:buNone/>
            </a:pPr>
            <a:r>
              <a:rPr lang="en-GB" sz="1800" b="1" dirty="0">
                <a:solidFill>
                  <a:srgbClr val="000000"/>
                </a:solidFill>
                <a:latin typeface="Times New Roman" panose="02020603050405020304" pitchFamily="18" charset="0"/>
                <a:cs typeface="Times New Roman" panose="02020603050405020304" pitchFamily="18" charset="0"/>
              </a:rPr>
              <a:t>We distinguished Alzheimer’s disease in the following stages:-</a:t>
            </a:r>
          </a:p>
          <a:p>
            <a:pPr algn="just"/>
            <a:r>
              <a:rPr lang="en-GB" sz="1800" dirty="0">
                <a:solidFill>
                  <a:srgbClr val="000000"/>
                </a:solidFill>
                <a:latin typeface="Times New Roman" panose="02020603050405020304" pitchFamily="18" charset="0"/>
                <a:cs typeface="Times New Roman" panose="02020603050405020304" pitchFamily="18" charset="0"/>
              </a:rPr>
              <a:t>Pre-clinical AD</a:t>
            </a:r>
          </a:p>
          <a:p>
            <a:pPr algn="just"/>
            <a:r>
              <a:rPr lang="en-GB" sz="1800" dirty="0">
                <a:solidFill>
                  <a:srgbClr val="000000"/>
                </a:solidFill>
                <a:latin typeface="Times New Roman" panose="02020603050405020304" pitchFamily="18" charset="0"/>
                <a:cs typeface="Times New Roman" panose="02020603050405020304" pitchFamily="18" charset="0"/>
              </a:rPr>
              <a:t>Mild Cognitive Impairment</a:t>
            </a:r>
          </a:p>
          <a:p>
            <a:pPr algn="just"/>
            <a:r>
              <a:rPr lang="en-GB" sz="1800" dirty="0">
                <a:solidFill>
                  <a:srgbClr val="000000"/>
                </a:solidFill>
                <a:latin typeface="Times New Roman" panose="02020603050405020304" pitchFamily="18" charset="0"/>
                <a:cs typeface="Times New Roman" panose="02020603050405020304" pitchFamily="18" charset="0"/>
              </a:rPr>
              <a:t>Dementia due to Alzheimer’s</a:t>
            </a:r>
          </a:p>
          <a:p>
            <a:pPr marL="0" lvl="0" indent="0" algn="just">
              <a:buNone/>
            </a:pPr>
            <a:r>
              <a:rPr lang="en-GB" sz="1800" b="1" dirty="0">
                <a:solidFill>
                  <a:srgbClr val="000000"/>
                </a:solidFill>
                <a:latin typeface="Times New Roman" panose="02020603050405020304" pitchFamily="18" charset="0"/>
                <a:cs typeface="Times New Roman" panose="02020603050405020304" pitchFamily="18" charset="0"/>
              </a:rPr>
              <a:t>Major cause of AD And Symptom</a:t>
            </a:r>
          </a:p>
          <a:p>
            <a:pPr algn="just"/>
            <a:r>
              <a:rPr lang="en-GB" sz="1800" dirty="0">
                <a:solidFill>
                  <a:srgbClr val="000000"/>
                </a:solidFill>
                <a:latin typeface="Times New Roman" panose="02020603050405020304" pitchFamily="18" charset="0"/>
                <a:cs typeface="Times New Roman" panose="02020603050405020304" pitchFamily="18" charset="0"/>
              </a:rPr>
              <a:t>The major cause of Alzheimer’s is protein build-up around the brain cell. </a:t>
            </a:r>
          </a:p>
          <a:p>
            <a:pPr algn="just"/>
            <a:r>
              <a:rPr lang="en-GB" sz="1800" dirty="0">
                <a:solidFill>
                  <a:srgbClr val="000000"/>
                </a:solidFill>
                <a:latin typeface="Times New Roman" panose="02020603050405020304" pitchFamily="18" charset="0"/>
                <a:cs typeface="Times New Roman" panose="02020603050405020304" pitchFamily="18" charset="0"/>
              </a:rPr>
              <a:t>When the brain cell effect it also impacts on chemical messenger knowns as neurotransmitter.</a:t>
            </a:r>
          </a:p>
          <a:p>
            <a:pPr algn="just"/>
            <a:r>
              <a:rPr lang="en-GB" sz="1800" dirty="0">
                <a:solidFill>
                  <a:srgbClr val="000000"/>
                </a:solidFill>
                <a:latin typeface="Times New Roman" panose="02020603050405020304" pitchFamily="18" charset="0"/>
                <a:cs typeface="Times New Roman" panose="02020603050405020304" pitchFamily="18" charset="0"/>
              </a:rPr>
              <a:t> Due to AD different part of brain declines across the time. </a:t>
            </a:r>
          </a:p>
          <a:p>
            <a:pPr algn="just"/>
            <a:r>
              <a:rPr lang="en-GB" sz="1800" dirty="0">
                <a:solidFill>
                  <a:srgbClr val="000000"/>
                </a:solidFill>
                <a:latin typeface="Times New Roman" panose="02020603050405020304" pitchFamily="18" charset="0"/>
                <a:cs typeface="Times New Roman" panose="02020603050405020304" pitchFamily="18" charset="0"/>
              </a:rPr>
              <a:t>AD damages memory related part. so, the first symptom may be vision, language and memory problem.</a:t>
            </a:r>
          </a:p>
          <a:p>
            <a:pPr marL="0" lvl="0" indent="0" algn="just">
              <a:buNone/>
            </a:pPr>
            <a:endParaRPr lang="en-GB" sz="1800"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7768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1A6F8-885C-BFE5-A9A0-3D124481FC63}"/>
              </a:ext>
            </a:extLst>
          </p:cNvPr>
          <p:cNvSpPr>
            <a:spLocks noGrp="1"/>
          </p:cNvSpPr>
          <p:nvPr>
            <p:ph type="title"/>
          </p:nvPr>
        </p:nvSpPr>
        <p:spPr>
          <a:xfrm>
            <a:off x="838200" y="365126"/>
            <a:ext cx="10515600" cy="615536"/>
          </a:xfrm>
        </p:spPr>
        <p:txBody>
          <a:bodyPr>
            <a:normAutofit/>
          </a:bodyPr>
          <a:lstStyle/>
          <a:p>
            <a:r>
              <a:rPr lang="en-GB" sz="2800" b="1" dirty="0">
                <a:latin typeface="Times New Roman" panose="02020603050405020304" pitchFamily="18" charset="0"/>
                <a:cs typeface="Times New Roman" panose="02020603050405020304" pitchFamily="18" charset="0"/>
              </a:rPr>
              <a:t>Importance of Deep learning in Alzheimer’s Detection</a:t>
            </a:r>
          </a:p>
        </p:txBody>
      </p:sp>
      <p:sp>
        <p:nvSpPr>
          <p:cNvPr id="3" name="Content Placeholder 2">
            <a:extLst>
              <a:ext uri="{FF2B5EF4-FFF2-40B4-BE49-F238E27FC236}">
                <a16:creationId xmlns:a16="http://schemas.microsoft.com/office/drawing/2014/main" id="{9EAD8941-FE5E-646C-B9A4-D923071677F0}"/>
              </a:ext>
            </a:extLst>
          </p:cNvPr>
          <p:cNvSpPr>
            <a:spLocks noGrp="1"/>
          </p:cNvSpPr>
          <p:nvPr>
            <p:ph idx="1"/>
          </p:nvPr>
        </p:nvSpPr>
        <p:spPr>
          <a:xfrm>
            <a:off x="838200" y="980662"/>
            <a:ext cx="10515600" cy="5196301"/>
          </a:xfrm>
        </p:spPr>
        <p:txBody>
          <a:bodyPr>
            <a:normAutofit lnSpcReduction="10000"/>
          </a:bodyPr>
          <a:lstStyle/>
          <a:p>
            <a:r>
              <a:rPr lang="en-GB" sz="2800" b="1" dirty="0">
                <a:solidFill>
                  <a:srgbClr val="000000"/>
                </a:solidFill>
                <a:latin typeface="Times New Roman" panose="02020603050405020304" pitchFamily="18" charset="0"/>
                <a:cs typeface="Times New Roman" panose="02020603050405020304" pitchFamily="18" charset="0"/>
              </a:rPr>
              <a:t>Deep learning: </a:t>
            </a:r>
            <a:r>
              <a:rPr lang="en-GB" sz="2800" dirty="0">
                <a:latin typeface="Times New Roman" panose="02020603050405020304" pitchFamily="18" charset="0"/>
                <a:cs typeface="Times New Roman" panose="02020603050405020304" pitchFamily="18" charset="0"/>
              </a:rPr>
              <a:t>In artificial intelligence, deep learning is a subclass of machine learning that replicates how the human brain processes data and recognises patterns in order to address challenging decision-making issues. </a:t>
            </a:r>
            <a:endParaRPr lang="en-GB" b="0" i="0" dirty="0">
              <a:solidFill>
                <a:srgbClr val="222222"/>
              </a:solidFill>
              <a:effectLst/>
              <a:latin typeface="-apple-system"/>
            </a:endParaRPr>
          </a:p>
          <a:p>
            <a:r>
              <a:rPr lang="en-GB" b="0" i="0" dirty="0">
                <a:solidFill>
                  <a:srgbClr val="222222"/>
                </a:solidFill>
                <a:effectLst/>
                <a:latin typeface="-apple-system"/>
              </a:rPr>
              <a:t>Deep learning is the </a:t>
            </a:r>
            <a:r>
              <a:rPr lang="en-GB" dirty="0">
                <a:solidFill>
                  <a:srgbClr val="222222"/>
                </a:solidFill>
                <a:latin typeface="-apple-system"/>
              </a:rPr>
              <a:t>best technique </a:t>
            </a:r>
            <a:r>
              <a:rPr lang="en-GB" b="0" i="0" dirty="0">
                <a:solidFill>
                  <a:srgbClr val="222222"/>
                </a:solidFill>
                <a:effectLst/>
                <a:latin typeface="-apple-system"/>
              </a:rPr>
              <a:t>to perform automatic early detection of Alzheimer’s disease from MRI data.</a:t>
            </a:r>
          </a:p>
          <a:p>
            <a:r>
              <a:rPr lang="en-GB" dirty="0"/>
              <a:t>Modern deep learning techniques have a possible growth in the computing capacity of Graphics processing units (GPUs). </a:t>
            </a:r>
          </a:p>
          <a:p>
            <a:r>
              <a:rPr lang="en-GB" dirty="0"/>
              <a:t>Deep learning techniques have emergency performance in a variety of fields, including audio categorization, object identification, detection, and tracking.</a:t>
            </a:r>
          </a:p>
          <a:p>
            <a:r>
              <a:rPr lang="en-GB" dirty="0"/>
              <a:t>The deep learning studies in medicine have benefitted to successfully categorising 2D natural images.</a:t>
            </a:r>
          </a:p>
        </p:txBody>
      </p:sp>
    </p:spTree>
    <p:extLst>
      <p:ext uri="{BB962C8B-B14F-4D97-AF65-F5344CB8AC3E}">
        <p14:creationId xmlns:p14="http://schemas.microsoft.com/office/powerpoint/2010/main" val="3426556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E5F32-A9C0-A995-8DB2-4CC87C18A69A}"/>
              </a:ext>
            </a:extLst>
          </p:cNvPr>
          <p:cNvSpPr>
            <a:spLocks noGrp="1"/>
          </p:cNvSpPr>
          <p:nvPr>
            <p:ph type="title"/>
          </p:nvPr>
        </p:nvSpPr>
        <p:spPr>
          <a:xfrm>
            <a:off x="692091" y="126587"/>
            <a:ext cx="10515600" cy="315912"/>
          </a:xfrm>
        </p:spPr>
        <p:txBody>
          <a:bodyPr>
            <a:normAutofit fontScale="90000"/>
          </a:bodyPr>
          <a:lstStyle/>
          <a:p>
            <a:r>
              <a:rPr lang="en-GB" sz="2400" b="1" dirty="0">
                <a:latin typeface="Times New Roman" panose="02020603050405020304" pitchFamily="18" charset="0"/>
                <a:cs typeface="Times New Roman" panose="02020603050405020304" pitchFamily="18" charset="0"/>
              </a:rPr>
              <a:t>Literature of Review</a:t>
            </a:r>
          </a:p>
        </p:txBody>
      </p:sp>
      <p:graphicFrame>
        <p:nvGraphicFramePr>
          <p:cNvPr id="6" name="Content Placeholder 5">
            <a:extLst>
              <a:ext uri="{FF2B5EF4-FFF2-40B4-BE49-F238E27FC236}">
                <a16:creationId xmlns:a16="http://schemas.microsoft.com/office/drawing/2014/main" id="{2C92ABE5-BB4C-43FB-0CFE-B48DAE3F6BCE}"/>
              </a:ext>
            </a:extLst>
          </p:cNvPr>
          <p:cNvGraphicFramePr>
            <a:graphicFrameLocks noGrp="1"/>
          </p:cNvGraphicFramePr>
          <p:nvPr>
            <p:ph idx="1"/>
            <p:extLst>
              <p:ext uri="{D42A27DB-BD31-4B8C-83A1-F6EECF244321}">
                <p14:modId xmlns:p14="http://schemas.microsoft.com/office/powerpoint/2010/main" val="2547330229"/>
              </p:ext>
            </p:extLst>
          </p:nvPr>
        </p:nvGraphicFramePr>
        <p:xfrm>
          <a:off x="0" y="564536"/>
          <a:ext cx="12192001" cy="6243896"/>
        </p:xfrm>
        <a:graphic>
          <a:graphicData uri="http://schemas.openxmlformats.org/drawingml/2006/table">
            <a:tbl>
              <a:tblPr firstRow="1" firstCol="1" bandRow="1">
                <a:tableStyleId>{5C22544A-7EE6-4342-B048-85BDC9FD1C3A}</a:tableStyleId>
              </a:tblPr>
              <a:tblGrid>
                <a:gridCol w="1716022">
                  <a:extLst>
                    <a:ext uri="{9D8B030D-6E8A-4147-A177-3AD203B41FA5}">
                      <a16:colId xmlns:a16="http://schemas.microsoft.com/office/drawing/2014/main" val="3337969256"/>
                    </a:ext>
                  </a:extLst>
                </a:gridCol>
                <a:gridCol w="1754350">
                  <a:extLst>
                    <a:ext uri="{9D8B030D-6E8A-4147-A177-3AD203B41FA5}">
                      <a16:colId xmlns:a16="http://schemas.microsoft.com/office/drawing/2014/main" val="872257432"/>
                    </a:ext>
                  </a:extLst>
                </a:gridCol>
                <a:gridCol w="3806497">
                  <a:extLst>
                    <a:ext uri="{9D8B030D-6E8A-4147-A177-3AD203B41FA5}">
                      <a16:colId xmlns:a16="http://schemas.microsoft.com/office/drawing/2014/main" val="458564707"/>
                    </a:ext>
                  </a:extLst>
                </a:gridCol>
                <a:gridCol w="2519484">
                  <a:extLst>
                    <a:ext uri="{9D8B030D-6E8A-4147-A177-3AD203B41FA5}">
                      <a16:colId xmlns:a16="http://schemas.microsoft.com/office/drawing/2014/main" val="2554720124"/>
                    </a:ext>
                  </a:extLst>
                </a:gridCol>
                <a:gridCol w="2395648">
                  <a:extLst>
                    <a:ext uri="{9D8B030D-6E8A-4147-A177-3AD203B41FA5}">
                      <a16:colId xmlns:a16="http://schemas.microsoft.com/office/drawing/2014/main" val="3373372158"/>
                    </a:ext>
                  </a:extLst>
                </a:gridCol>
              </a:tblGrid>
              <a:tr h="315574">
                <a:tc>
                  <a:txBody>
                    <a:bodyPr/>
                    <a:lstStyle/>
                    <a:p>
                      <a:pPr algn="just">
                        <a:lnSpc>
                          <a:spcPct val="150000"/>
                        </a:lnSpc>
                        <a:spcAft>
                          <a:spcPts val="800"/>
                        </a:spcAft>
                      </a:pPr>
                      <a:r>
                        <a:rPr lang="en-GB" sz="1600" dirty="0">
                          <a:effectLst/>
                          <a:latin typeface="Times New Roman" panose="02020603050405020304" pitchFamily="18" charset="0"/>
                          <a:cs typeface="Times New Roman" panose="02020603050405020304" pitchFamily="18" charset="0"/>
                        </a:rPr>
                        <a:t>No. of images</a:t>
                      </a:r>
                      <a:endParaRPr lang="en-GB"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tc>
                  <a:txBody>
                    <a:bodyPr/>
                    <a:lstStyle/>
                    <a:p>
                      <a:pPr algn="just">
                        <a:lnSpc>
                          <a:spcPct val="150000"/>
                        </a:lnSpc>
                        <a:spcAft>
                          <a:spcPts val="800"/>
                        </a:spcAft>
                      </a:pPr>
                      <a:r>
                        <a:rPr lang="en-GB" sz="1600">
                          <a:effectLst/>
                          <a:latin typeface="Times New Roman" panose="02020603050405020304" pitchFamily="18" charset="0"/>
                          <a:cs typeface="Times New Roman" panose="02020603050405020304" pitchFamily="18" charset="0"/>
                        </a:rPr>
                        <a:t>Input method</a:t>
                      </a:r>
                      <a:endParaRPr lang="en-GB"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tc>
                  <a:txBody>
                    <a:bodyPr/>
                    <a:lstStyle/>
                    <a:p>
                      <a:pPr algn="just">
                        <a:lnSpc>
                          <a:spcPct val="150000"/>
                        </a:lnSpc>
                        <a:spcAft>
                          <a:spcPts val="800"/>
                        </a:spcAft>
                      </a:pPr>
                      <a:r>
                        <a:rPr lang="en-GB" sz="1600">
                          <a:effectLst/>
                          <a:latin typeface="Times New Roman" panose="02020603050405020304" pitchFamily="18" charset="0"/>
                          <a:cs typeface="Times New Roman" panose="02020603050405020304" pitchFamily="18" charset="0"/>
                        </a:rPr>
                        <a:t>Prediction and model</a:t>
                      </a:r>
                      <a:endParaRPr lang="en-GB"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tc>
                  <a:txBody>
                    <a:bodyPr/>
                    <a:lstStyle/>
                    <a:p>
                      <a:pPr algn="just">
                        <a:lnSpc>
                          <a:spcPct val="150000"/>
                        </a:lnSpc>
                        <a:spcAft>
                          <a:spcPts val="800"/>
                        </a:spcAft>
                      </a:pPr>
                      <a:r>
                        <a:rPr lang="en-GB" sz="1600">
                          <a:effectLst/>
                          <a:latin typeface="Times New Roman" panose="02020603050405020304" pitchFamily="18" charset="0"/>
                          <a:cs typeface="Times New Roman" panose="02020603050405020304" pitchFamily="18" charset="0"/>
                        </a:rPr>
                        <a:t>Accuracy</a:t>
                      </a:r>
                      <a:endParaRPr lang="en-GB"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tc>
                  <a:txBody>
                    <a:bodyPr/>
                    <a:lstStyle/>
                    <a:p>
                      <a:pPr algn="just">
                        <a:lnSpc>
                          <a:spcPct val="150000"/>
                        </a:lnSpc>
                        <a:spcAft>
                          <a:spcPts val="800"/>
                        </a:spcAft>
                      </a:pPr>
                      <a:r>
                        <a:rPr lang="en-GB" sz="1600">
                          <a:effectLst/>
                          <a:latin typeface="Times New Roman" panose="02020603050405020304" pitchFamily="18" charset="0"/>
                          <a:cs typeface="Times New Roman" panose="02020603050405020304" pitchFamily="18" charset="0"/>
                        </a:rPr>
                        <a:t>Remarks</a:t>
                      </a:r>
                      <a:endParaRPr lang="en-GB"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extLst>
                  <a:ext uri="{0D108BD9-81ED-4DB2-BD59-A6C34878D82A}">
                    <a16:rowId xmlns:a16="http://schemas.microsoft.com/office/drawing/2014/main" val="3329506792"/>
                  </a:ext>
                </a:extLst>
              </a:tr>
              <a:tr h="2108183">
                <a:tc>
                  <a:txBody>
                    <a:bodyPr/>
                    <a:lstStyle/>
                    <a:p>
                      <a:pPr algn="just">
                        <a:lnSpc>
                          <a:spcPct val="150000"/>
                        </a:lnSpc>
                        <a:spcAft>
                          <a:spcPts val="800"/>
                        </a:spcAft>
                      </a:pPr>
                      <a:r>
                        <a:rPr lang="en-GB" sz="1600" dirty="0">
                          <a:effectLst/>
                          <a:latin typeface="Times New Roman" panose="02020603050405020304" pitchFamily="18" charset="0"/>
                          <a:cs typeface="Times New Roman" panose="02020603050405020304" pitchFamily="18" charset="0"/>
                        </a:rPr>
                        <a:t>830</a:t>
                      </a:r>
                      <a:endParaRPr lang="en-GB"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tc>
                  <a:txBody>
                    <a:bodyPr/>
                    <a:lstStyle/>
                    <a:p>
                      <a:pPr algn="just">
                        <a:lnSpc>
                          <a:spcPct val="150000"/>
                        </a:lnSpc>
                        <a:spcAft>
                          <a:spcPts val="800"/>
                        </a:spcAft>
                      </a:pPr>
                      <a:r>
                        <a:rPr lang="en-GB" sz="1600" dirty="0">
                          <a:effectLst/>
                          <a:latin typeface="Times New Roman" panose="02020603050405020304" pitchFamily="18" charset="0"/>
                          <a:cs typeface="Times New Roman" panose="02020603050405020304" pitchFamily="18" charset="0"/>
                        </a:rPr>
                        <a:t>MRI</a:t>
                      </a:r>
                      <a:endParaRPr lang="en-GB"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tc>
                  <a:txBody>
                    <a:bodyPr/>
                    <a:lstStyle/>
                    <a:p>
                      <a:pPr algn="just">
                        <a:lnSpc>
                          <a:spcPct val="150000"/>
                        </a:lnSpc>
                        <a:spcAft>
                          <a:spcPts val="800"/>
                        </a:spcAft>
                      </a:pPr>
                      <a:r>
                        <a:rPr lang="en-GB" sz="1600">
                          <a:effectLst/>
                          <a:latin typeface="Times New Roman" panose="02020603050405020304" pitchFamily="18" charset="0"/>
                          <a:cs typeface="Times New Roman" panose="02020603050405020304" pitchFamily="18" charset="0"/>
                        </a:rPr>
                        <a:t>AD using CNN and RNN</a:t>
                      </a:r>
                      <a:endParaRPr lang="en-GB"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tc>
                  <a:txBody>
                    <a:bodyPr/>
                    <a:lstStyle/>
                    <a:p>
                      <a:pPr algn="just">
                        <a:lnSpc>
                          <a:spcPct val="150000"/>
                        </a:lnSpc>
                        <a:spcAft>
                          <a:spcPts val="800"/>
                        </a:spcAft>
                      </a:pPr>
                      <a:r>
                        <a:rPr lang="en-GB" sz="1600">
                          <a:effectLst/>
                          <a:latin typeface="Times New Roman" panose="02020603050405020304" pitchFamily="18" charset="0"/>
                          <a:cs typeface="Times New Roman" panose="02020603050405020304" pitchFamily="18" charset="0"/>
                        </a:rPr>
                        <a:t>92%</a:t>
                      </a:r>
                      <a:endParaRPr lang="en-GB"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tc>
                  <a:txBody>
                    <a:bodyPr/>
                    <a:lstStyle/>
                    <a:p>
                      <a:pPr algn="just">
                        <a:lnSpc>
                          <a:spcPct val="150000"/>
                        </a:lnSpc>
                        <a:spcAft>
                          <a:spcPts val="800"/>
                        </a:spcAft>
                      </a:pPr>
                      <a:r>
                        <a:rPr lang="en-GB" sz="1600">
                          <a:effectLst/>
                          <a:latin typeface="Times New Roman" panose="02020603050405020304" pitchFamily="18" charset="0"/>
                          <a:cs typeface="Times New Roman" panose="02020603050405020304" pitchFamily="18" charset="0"/>
                        </a:rPr>
                        <a:t>Deploying 3D CNN for each time and use GM density map for the classification of deep convolution Al neural network.</a:t>
                      </a:r>
                      <a:endParaRPr lang="en-GB"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extLst>
                  <a:ext uri="{0D108BD9-81ED-4DB2-BD59-A6C34878D82A}">
                    <a16:rowId xmlns:a16="http://schemas.microsoft.com/office/drawing/2014/main" val="683228443"/>
                  </a:ext>
                </a:extLst>
              </a:tr>
              <a:tr h="1391139">
                <a:tc>
                  <a:txBody>
                    <a:bodyPr/>
                    <a:lstStyle/>
                    <a:p>
                      <a:pPr algn="just">
                        <a:lnSpc>
                          <a:spcPct val="150000"/>
                        </a:lnSpc>
                        <a:spcAft>
                          <a:spcPts val="800"/>
                        </a:spcAft>
                      </a:pPr>
                      <a:r>
                        <a:rPr lang="en-GB" sz="1600">
                          <a:effectLst/>
                          <a:latin typeface="Times New Roman" panose="02020603050405020304" pitchFamily="18" charset="0"/>
                          <a:cs typeface="Times New Roman" panose="02020603050405020304" pitchFamily="18" charset="0"/>
                        </a:rPr>
                        <a:t>416</a:t>
                      </a:r>
                      <a:endParaRPr lang="en-GB"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tc>
                  <a:txBody>
                    <a:bodyPr/>
                    <a:lstStyle/>
                    <a:p>
                      <a:pPr algn="just">
                        <a:lnSpc>
                          <a:spcPct val="150000"/>
                        </a:lnSpc>
                        <a:spcAft>
                          <a:spcPts val="800"/>
                        </a:spcAft>
                      </a:pPr>
                      <a:r>
                        <a:rPr lang="en-GB" sz="1600" dirty="0">
                          <a:effectLst/>
                          <a:latin typeface="Times New Roman" panose="02020603050405020304" pitchFamily="18" charset="0"/>
                          <a:cs typeface="Times New Roman" panose="02020603050405020304" pitchFamily="18" charset="0"/>
                        </a:rPr>
                        <a:t>OASIS(MRI)</a:t>
                      </a:r>
                      <a:endParaRPr lang="en-GB"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tc>
                  <a:txBody>
                    <a:bodyPr/>
                    <a:lstStyle/>
                    <a:p>
                      <a:pPr algn="just">
                        <a:lnSpc>
                          <a:spcPct val="150000"/>
                        </a:lnSpc>
                        <a:spcAft>
                          <a:spcPts val="800"/>
                        </a:spcAft>
                      </a:pPr>
                      <a:r>
                        <a:rPr lang="en-GB" sz="1600" dirty="0">
                          <a:effectLst/>
                          <a:latin typeface="Times New Roman" panose="02020603050405020304" pitchFamily="18" charset="0"/>
                          <a:cs typeface="Times New Roman" panose="02020603050405020304" pitchFamily="18" charset="0"/>
                        </a:rPr>
                        <a:t>Resnet, CNN,inceptionv4,AD NET</a:t>
                      </a:r>
                      <a:endParaRPr lang="en-GB"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tc>
                  <a:txBody>
                    <a:bodyPr/>
                    <a:lstStyle/>
                    <a:p>
                      <a:pPr algn="just">
                        <a:lnSpc>
                          <a:spcPct val="150000"/>
                        </a:lnSpc>
                        <a:spcAft>
                          <a:spcPts val="800"/>
                        </a:spcAft>
                      </a:pPr>
                      <a:r>
                        <a:rPr lang="en-GB" sz="1600">
                          <a:effectLst/>
                          <a:latin typeface="Times New Roman" panose="02020603050405020304" pitchFamily="18" charset="0"/>
                          <a:cs typeface="Times New Roman" panose="02020603050405020304" pitchFamily="18" charset="0"/>
                        </a:rPr>
                        <a:t>93%</a:t>
                      </a:r>
                      <a:endParaRPr lang="en-GB"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tc>
                  <a:txBody>
                    <a:bodyPr/>
                    <a:lstStyle/>
                    <a:p>
                      <a:pPr algn="just">
                        <a:lnSpc>
                          <a:spcPct val="150000"/>
                        </a:lnSpc>
                        <a:spcAft>
                          <a:spcPts val="800"/>
                        </a:spcAft>
                      </a:pPr>
                      <a:r>
                        <a:rPr lang="en-GB" sz="1600">
                          <a:effectLst/>
                          <a:latin typeface="Times New Roman" panose="02020603050405020304" pitchFamily="18" charset="0"/>
                          <a:cs typeface="Times New Roman" panose="02020603050405020304" pitchFamily="18" charset="0"/>
                        </a:rPr>
                        <a:t>These models can distinguish between different stage of  Alzheimer</a:t>
                      </a:r>
                      <a:endParaRPr lang="en-GB"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extLst>
                  <a:ext uri="{0D108BD9-81ED-4DB2-BD59-A6C34878D82A}">
                    <a16:rowId xmlns:a16="http://schemas.microsoft.com/office/drawing/2014/main" val="1971821401"/>
                  </a:ext>
                </a:extLst>
              </a:tr>
              <a:tr h="2351981">
                <a:tc>
                  <a:txBody>
                    <a:bodyPr/>
                    <a:lstStyle/>
                    <a:p>
                      <a:pPr algn="just">
                        <a:lnSpc>
                          <a:spcPct val="150000"/>
                        </a:lnSpc>
                        <a:spcAft>
                          <a:spcPts val="800"/>
                        </a:spcAft>
                      </a:pPr>
                      <a:r>
                        <a:rPr lang="en-GB" sz="1600" dirty="0">
                          <a:effectLst/>
                          <a:latin typeface="Times New Roman" panose="02020603050405020304" pitchFamily="18" charset="0"/>
                          <a:cs typeface="Times New Roman" panose="02020603050405020304" pitchFamily="18" charset="0"/>
                        </a:rPr>
                        <a:t>Include 1800 subjects with both males and females in three databases (ADNI, ADNI GO, ADNI 2 and ADNI </a:t>
                      </a:r>
                      <a:endParaRPr lang="en-GB"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tc>
                  <a:txBody>
                    <a:bodyPr/>
                    <a:lstStyle/>
                    <a:p>
                      <a:pPr algn="just">
                        <a:lnSpc>
                          <a:spcPct val="150000"/>
                        </a:lnSpc>
                        <a:spcAft>
                          <a:spcPts val="800"/>
                        </a:spcAft>
                      </a:pPr>
                      <a:r>
                        <a:rPr lang="en-GB" sz="1600">
                          <a:effectLst/>
                          <a:latin typeface="Times New Roman" panose="02020603050405020304" pitchFamily="18" charset="0"/>
                          <a:cs typeface="Times New Roman" panose="02020603050405020304" pitchFamily="18" charset="0"/>
                        </a:rPr>
                        <a:t>MRI</a:t>
                      </a:r>
                      <a:endParaRPr lang="en-GB"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tc>
                  <a:txBody>
                    <a:bodyPr/>
                    <a:lstStyle/>
                    <a:p>
                      <a:pPr algn="just">
                        <a:lnSpc>
                          <a:spcPct val="150000"/>
                        </a:lnSpc>
                        <a:spcAft>
                          <a:spcPts val="800"/>
                        </a:spcAft>
                      </a:pPr>
                      <a:r>
                        <a:rPr lang="en-GB" sz="1600" dirty="0">
                          <a:effectLst/>
                          <a:latin typeface="Times New Roman" panose="02020603050405020304" pitchFamily="18" charset="0"/>
                          <a:cs typeface="Times New Roman" panose="02020603050405020304" pitchFamily="18" charset="0"/>
                        </a:rPr>
                        <a:t>convolutional neural networks and transfer learning using freeze weight. </a:t>
                      </a:r>
                      <a:endParaRPr lang="en-GB"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tc>
                  <a:txBody>
                    <a:bodyPr/>
                    <a:lstStyle/>
                    <a:p>
                      <a:pPr algn="just">
                        <a:lnSpc>
                          <a:spcPct val="150000"/>
                        </a:lnSpc>
                        <a:spcAft>
                          <a:spcPts val="800"/>
                        </a:spcAft>
                      </a:pPr>
                      <a:r>
                        <a:rPr lang="en-GB" sz="1600" dirty="0">
                          <a:effectLst/>
                          <a:latin typeface="Times New Roman" panose="02020603050405020304" pitchFamily="18" charset="0"/>
                          <a:cs typeface="Times New Roman" panose="02020603050405020304" pitchFamily="18" charset="0"/>
                        </a:rPr>
                        <a:t>VGG19- SVEM 99.27%,</a:t>
                      </a:r>
                    </a:p>
                    <a:p>
                      <a:pPr algn="just">
                        <a:lnSpc>
                          <a:spcPct val="150000"/>
                        </a:lnSpc>
                        <a:spcAft>
                          <a:spcPts val="800"/>
                        </a:spcAft>
                      </a:pPr>
                      <a:r>
                        <a:rPr lang="en-GB" sz="1600" dirty="0">
                          <a:effectLst/>
                          <a:latin typeface="Times New Roman" panose="02020603050405020304" pitchFamily="18" charset="0"/>
                          <a:cs typeface="Times New Roman" panose="02020603050405020304" pitchFamily="18" charset="0"/>
                        </a:rPr>
                        <a:t>VGG16 98.89%</a:t>
                      </a:r>
                      <a:endParaRPr lang="en-GB"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tc>
                  <a:txBody>
                    <a:bodyPr/>
                    <a:lstStyle/>
                    <a:p>
                      <a:pPr algn="just">
                        <a:lnSpc>
                          <a:spcPct val="150000"/>
                        </a:lnSpc>
                        <a:spcAft>
                          <a:spcPts val="800"/>
                        </a:spcAft>
                      </a:pPr>
                      <a:r>
                        <a:rPr lang="en-GB" sz="1600" dirty="0">
                          <a:effectLst/>
                          <a:latin typeface="Times New Roman" panose="02020603050405020304" pitchFamily="18" charset="0"/>
                          <a:cs typeface="Times New Roman" panose="02020603050405020304" pitchFamily="18" charset="0"/>
                        </a:rPr>
                        <a:t>Used pre-trained models i.e., </a:t>
                      </a:r>
                      <a:r>
                        <a:rPr lang="en-GB" sz="1600" dirty="0" err="1">
                          <a:effectLst/>
                          <a:latin typeface="Times New Roman" panose="02020603050405020304" pitchFamily="18" charset="0"/>
                          <a:cs typeface="Times New Roman" panose="02020603050405020304" pitchFamily="18" charset="0"/>
                        </a:rPr>
                        <a:t>AlexNet</a:t>
                      </a:r>
                      <a:r>
                        <a:rPr lang="en-GB" sz="1600" dirty="0">
                          <a:effectLst/>
                          <a:latin typeface="Times New Roman" panose="02020603050405020304" pitchFamily="18" charset="0"/>
                          <a:cs typeface="Times New Roman" panose="02020603050405020304" pitchFamily="18" charset="0"/>
                        </a:rPr>
                        <a:t>, </a:t>
                      </a:r>
                      <a:r>
                        <a:rPr lang="en-GB" sz="1600" dirty="0" err="1">
                          <a:effectLst/>
                          <a:latin typeface="Times New Roman" panose="02020603050405020304" pitchFamily="18" charset="0"/>
                          <a:cs typeface="Times New Roman" panose="02020603050405020304" pitchFamily="18" charset="0"/>
                        </a:rPr>
                        <a:t>GoogLeNet</a:t>
                      </a:r>
                      <a:r>
                        <a:rPr lang="en-GB" sz="1600" dirty="0">
                          <a:effectLst/>
                          <a:latin typeface="Times New Roman" panose="02020603050405020304" pitchFamily="18" charset="0"/>
                          <a:cs typeface="Times New Roman" panose="02020603050405020304" pitchFamily="18" charset="0"/>
                        </a:rPr>
                        <a:t>, ResNet,DenseNet,Inceptionv3 and </a:t>
                      </a:r>
                      <a:r>
                        <a:rPr lang="en-GB" sz="1600" dirty="0" err="1">
                          <a:effectLst/>
                          <a:latin typeface="Times New Roman" panose="02020603050405020304" pitchFamily="18" charset="0"/>
                          <a:cs typeface="Times New Roman" panose="02020603050405020304" pitchFamily="18" charset="0"/>
                        </a:rPr>
                        <a:t>InceptionResNet</a:t>
                      </a:r>
                      <a:r>
                        <a:rPr lang="en-GB" sz="1600" dirty="0">
                          <a:effectLst/>
                          <a:latin typeface="Times New Roman" panose="02020603050405020304" pitchFamily="18" charset="0"/>
                          <a:cs typeface="Times New Roman" panose="02020603050405020304" pitchFamily="18" charset="0"/>
                        </a:rPr>
                        <a:t> with the classification layer of SVM</a:t>
                      </a:r>
                      <a:endParaRPr lang="en-GB"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7539" marR="37539" marT="0" marB="0"/>
                </a:tc>
                <a:extLst>
                  <a:ext uri="{0D108BD9-81ED-4DB2-BD59-A6C34878D82A}">
                    <a16:rowId xmlns:a16="http://schemas.microsoft.com/office/drawing/2014/main" val="3826976922"/>
                  </a:ext>
                </a:extLst>
              </a:tr>
            </a:tbl>
          </a:graphicData>
        </a:graphic>
      </p:graphicFrame>
    </p:spTree>
    <p:extLst>
      <p:ext uri="{BB962C8B-B14F-4D97-AF65-F5344CB8AC3E}">
        <p14:creationId xmlns:p14="http://schemas.microsoft.com/office/powerpoint/2010/main" val="4192382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6361F-0AB6-7071-5982-0769079CDD74}"/>
              </a:ext>
            </a:extLst>
          </p:cNvPr>
          <p:cNvSpPr>
            <a:spLocks noGrp="1"/>
          </p:cNvSpPr>
          <p:nvPr>
            <p:ph type="title"/>
          </p:nvPr>
        </p:nvSpPr>
        <p:spPr>
          <a:xfrm>
            <a:off x="711459" y="262488"/>
            <a:ext cx="10515600" cy="586597"/>
          </a:xfrm>
        </p:spPr>
        <p:txBody>
          <a:bodyPr>
            <a:normAutofit fontScale="90000"/>
          </a:bodyPr>
          <a:lstStyle/>
          <a:p>
            <a:r>
              <a:rPr lang="en-GB" dirty="0"/>
              <a:t>Literature of Review</a:t>
            </a:r>
          </a:p>
        </p:txBody>
      </p:sp>
      <p:graphicFrame>
        <p:nvGraphicFramePr>
          <p:cNvPr id="4" name="Content Placeholder 3">
            <a:extLst>
              <a:ext uri="{FF2B5EF4-FFF2-40B4-BE49-F238E27FC236}">
                <a16:creationId xmlns:a16="http://schemas.microsoft.com/office/drawing/2014/main" id="{8797CD13-14E8-26CA-DA24-261C0014AD78}"/>
              </a:ext>
            </a:extLst>
          </p:cNvPr>
          <p:cNvGraphicFramePr>
            <a:graphicFrameLocks noGrp="1"/>
          </p:cNvGraphicFramePr>
          <p:nvPr>
            <p:ph idx="1"/>
            <p:extLst>
              <p:ext uri="{D42A27DB-BD31-4B8C-83A1-F6EECF244321}">
                <p14:modId xmlns:p14="http://schemas.microsoft.com/office/powerpoint/2010/main" val="4233194522"/>
              </p:ext>
            </p:extLst>
          </p:nvPr>
        </p:nvGraphicFramePr>
        <p:xfrm>
          <a:off x="0" y="818516"/>
          <a:ext cx="12192000" cy="6039485"/>
        </p:xfrm>
        <a:graphic>
          <a:graphicData uri="http://schemas.openxmlformats.org/drawingml/2006/table">
            <a:tbl>
              <a:tblPr firstRow="1" firstCol="1" bandRow="1">
                <a:tableStyleId>{5C22544A-7EE6-4342-B048-85BDC9FD1C3A}</a:tableStyleId>
              </a:tblPr>
              <a:tblGrid>
                <a:gridCol w="1306286">
                  <a:extLst>
                    <a:ext uri="{9D8B030D-6E8A-4147-A177-3AD203B41FA5}">
                      <a16:colId xmlns:a16="http://schemas.microsoft.com/office/drawing/2014/main" val="2078844616"/>
                    </a:ext>
                  </a:extLst>
                </a:gridCol>
                <a:gridCol w="1604865">
                  <a:extLst>
                    <a:ext uri="{9D8B030D-6E8A-4147-A177-3AD203B41FA5}">
                      <a16:colId xmlns:a16="http://schemas.microsoft.com/office/drawing/2014/main" val="734312761"/>
                    </a:ext>
                  </a:extLst>
                </a:gridCol>
                <a:gridCol w="3732350">
                  <a:extLst>
                    <a:ext uri="{9D8B030D-6E8A-4147-A177-3AD203B41FA5}">
                      <a16:colId xmlns:a16="http://schemas.microsoft.com/office/drawing/2014/main" val="1657676128"/>
                    </a:ext>
                  </a:extLst>
                </a:gridCol>
                <a:gridCol w="2844144">
                  <a:extLst>
                    <a:ext uri="{9D8B030D-6E8A-4147-A177-3AD203B41FA5}">
                      <a16:colId xmlns:a16="http://schemas.microsoft.com/office/drawing/2014/main" val="4098717146"/>
                    </a:ext>
                  </a:extLst>
                </a:gridCol>
                <a:gridCol w="2704355">
                  <a:extLst>
                    <a:ext uri="{9D8B030D-6E8A-4147-A177-3AD203B41FA5}">
                      <a16:colId xmlns:a16="http://schemas.microsoft.com/office/drawing/2014/main" val="2380050138"/>
                    </a:ext>
                  </a:extLst>
                </a:gridCol>
              </a:tblGrid>
              <a:tr h="2208036">
                <a:tc>
                  <a:txBody>
                    <a:bodyPr/>
                    <a:lstStyle/>
                    <a:p>
                      <a:pPr algn="just">
                        <a:lnSpc>
                          <a:spcPct val="150000"/>
                        </a:lnSpc>
                        <a:spcAft>
                          <a:spcPts val="800"/>
                        </a:spcAft>
                      </a:pPr>
                      <a:r>
                        <a:rPr lang="en-GB" sz="1800" dirty="0">
                          <a:effectLst/>
                          <a:latin typeface="Times New Roman" panose="02020603050405020304" pitchFamily="18" charset="0"/>
                          <a:cs typeface="Times New Roman" panose="02020603050405020304" pitchFamily="18" charset="0"/>
                        </a:rPr>
                        <a:t>ADNI</a:t>
                      </a:r>
                    </a:p>
                    <a:p>
                      <a:pPr algn="just">
                        <a:lnSpc>
                          <a:spcPct val="150000"/>
                        </a:lnSpc>
                        <a:spcAft>
                          <a:spcPts val="800"/>
                        </a:spcAft>
                      </a:pPr>
                      <a:r>
                        <a:rPr lang="en-GB" sz="1800" dirty="0">
                          <a:effectLst/>
                          <a:latin typeface="Times New Roman" panose="02020603050405020304" pitchFamily="18" charset="0"/>
                          <a:cs typeface="Times New Roman" panose="02020603050405020304" pitchFamily="18" charset="0"/>
                        </a:rPr>
                        <a:t>Dataset</a:t>
                      </a:r>
                      <a:endParaRPr lang="en-GB"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380" marR="46380" marT="0" marB="0"/>
                </a:tc>
                <a:tc>
                  <a:txBody>
                    <a:bodyPr/>
                    <a:lstStyle/>
                    <a:p>
                      <a:pPr algn="just">
                        <a:lnSpc>
                          <a:spcPct val="150000"/>
                        </a:lnSpc>
                        <a:spcAft>
                          <a:spcPts val="800"/>
                        </a:spcAft>
                      </a:pPr>
                      <a:r>
                        <a:rPr lang="en-GB" sz="1800" dirty="0">
                          <a:effectLst/>
                        </a:rPr>
                        <a:t>MRI</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6380" marR="46380" marT="0" marB="0"/>
                </a:tc>
                <a:tc>
                  <a:txBody>
                    <a:bodyPr/>
                    <a:lstStyle/>
                    <a:p>
                      <a:pPr algn="just">
                        <a:lnSpc>
                          <a:spcPct val="150000"/>
                        </a:lnSpc>
                        <a:spcAft>
                          <a:spcPts val="800"/>
                        </a:spcAft>
                      </a:pPr>
                      <a:r>
                        <a:rPr lang="en-GB" sz="1800" dirty="0">
                          <a:effectLst/>
                        </a:rPr>
                        <a:t>CNN (DEM NET)</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6380" marR="46380" marT="0" marB="0"/>
                </a:tc>
                <a:tc>
                  <a:txBody>
                    <a:bodyPr/>
                    <a:lstStyle/>
                    <a:p>
                      <a:pPr>
                        <a:lnSpc>
                          <a:spcPct val="150000"/>
                        </a:lnSpc>
                        <a:spcAft>
                          <a:spcPts val="800"/>
                        </a:spcAft>
                      </a:pPr>
                      <a:r>
                        <a:rPr lang="en-GB" sz="1800" dirty="0">
                          <a:effectLst/>
                        </a:rPr>
                        <a:t>Overall accuracy=91.85%</a:t>
                      </a:r>
                    </a:p>
                    <a:p>
                      <a:pPr>
                        <a:lnSpc>
                          <a:spcPct val="150000"/>
                        </a:lnSpc>
                        <a:spcAft>
                          <a:spcPts val="800"/>
                        </a:spcAft>
                      </a:pPr>
                      <a:r>
                        <a:rPr lang="en-GB" sz="1800" dirty="0">
                          <a:effectLst/>
                        </a:rPr>
                        <a:t>AD vs HC=98.33%</a:t>
                      </a:r>
                    </a:p>
                    <a:p>
                      <a:pPr>
                        <a:lnSpc>
                          <a:spcPct val="150000"/>
                        </a:lnSpc>
                        <a:spcAft>
                          <a:spcPts val="800"/>
                        </a:spcAft>
                      </a:pPr>
                      <a:r>
                        <a:rPr lang="en-GB" sz="1800" dirty="0">
                          <a:effectLst/>
                        </a:rPr>
                        <a:t>MCI vs HC=91.67%</a:t>
                      </a:r>
                    </a:p>
                    <a:p>
                      <a:pPr>
                        <a:lnSpc>
                          <a:spcPct val="150000"/>
                        </a:lnSpc>
                        <a:spcAft>
                          <a:spcPts val="800"/>
                        </a:spcAft>
                      </a:pPr>
                      <a:r>
                        <a:rPr lang="en-GB" sz="1800" dirty="0">
                          <a:effectLst/>
                        </a:rPr>
                        <a:t>AD vs MCI=93.89%</a:t>
                      </a:r>
                    </a:p>
                    <a:p>
                      <a:pPr>
                        <a:lnSpc>
                          <a:spcPct val="150000"/>
                        </a:lnSpc>
                        <a:spcAft>
                          <a:spcPts val="800"/>
                        </a:spcAft>
                      </a:pPr>
                      <a:r>
                        <a:rPr lang="en-GB" sz="1800" dirty="0">
                          <a:effectLst/>
                        </a:rPr>
                        <a:t>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6380" marR="46380" marT="0" marB="0"/>
                </a:tc>
                <a:tc>
                  <a:txBody>
                    <a:bodyPr/>
                    <a:lstStyle/>
                    <a:p>
                      <a:pPr algn="just">
                        <a:lnSpc>
                          <a:spcPct val="150000"/>
                        </a:lnSpc>
                        <a:spcAft>
                          <a:spcPts val="800"/>
                        </a:spcAft>
                      </a:pPr>
                      <a:r>
                        <a:rPr lang="en-GB" sz="1800">
                          <a:effectLst/>
                        </a:rPr>
                        <a:t>To create 2D convolutional network, called DemNet, based on VGGNet that accept slices as input.</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txBody>
                  <a:tcPr marL="46380" marR="46380" marT="0" marB="0"/>
                </a:tc>
                <a:extLst>
                  <a:ext uri="{0D108BD9-81ED-4DB2-BD59-A6C34878D82A}">
                    <a16:rowId xmlns:a16="http://schemas.microsoft.com/office/drawing/2014/main" val="552009924"/>
                  </a:ext>
                </a:extLst>
              </a:tr>
              <a:tr h="2212669">
                <a:tc>
                  <a:txBody>
                    <a:bodyPr/>
                    <a:lstStyle/>
                    <a:p>
                      <a:pPr algn="just">
                        <a:lnSpc>
                          <a:spcPct val="150000"/>
                        </a:lnSpc>
                        <a:spcAft>
                          <a:spcPts val="800"/>
                        </a:spcAft>
                      </a:pPr>
                      <a:r>
                        <a:rPr lang="en-GB" sz="1800" dirty="0">
                          <a:effectLst/>
                          <a:latin typeface="Times New Roman" panose="02020603050405020304" pitchFamily="18" charset="0"/>
                          <a:cs typeface="Times New Roman" panose="02020603050405020304" pitchFamily="18" charset="0"/>
                        </a:rPr>
                        <a:t>OASIS (150)</a:t>
                      </a:r>
                      <a:endParaRPr lang="en-GB"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380" marR="46380" marT="0" marB="0"/>
                </a:tc>
                <a:tc>
                  <a:txBody>
                    <a:bodyPr/>
                    <a:lstStyle/>
                    <a:p>
                      <a:pPr algn="just">
                        <a:lnSpc>
                          <a:spcPct val="150000"/>
                        </a:lnSpc>
                        <a:spcAft>
                          <a:spcPts val="800"/>
                        </a:spcAft>
                      </a:pPr>
                      <a:r>
                        <a:rPr lang="en-GB" sz="1800">
                          <a:effectLst/>
                        </a:rPr>
                        <a:t>Images</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txBody>
                  <a:tcPr marL="46380" marR="46380" marT="0" marB="0"/>
                </a:tc>
                <a:tc>
                  <a:txBody>
                    <a:bodyPr/>
                    <a:lstStyle/>
                    <a:p>
                      <a:pPr algn="just">
                        <a:lnSpc>
                          <a:spcPct val="150000"/>
                        </a:lnSpc>
                        <a:spcAft>
                          <a:spcPts val="800"/>
                        </a:spcAft>
                      </a:pPr>
                      <a:r>
                        <a:rPr lang="en-GB" sz="1800">
                          <a:effectLst/>
                        </a:rPr>
                        <a:t>Support vector</a:t>
                      </a:r>
                    </a:p>
                    <a:p>
                      <a:pPr algn="just">
                        <a:lnSpc>
                          <a:spcPct val="150000"/>
                        </a:lnSpc>
                        <a:spcAft>
                          <a:spcPts val="800"/>
                        </a:spcAft>
                      </a:pPr>
                      <a:r>
                        <a:rPr lang="en-GB" sz="1800">
                          <a:effectLst/>
                        </a:rPr>
                        <a:t>machine, Logistic</a:t>
                      </a:r>
                    </a:p>
                    <a:p>
                      <a:pPr algn="just">
                        <a:lnSpc>
                          <a:spcPct val="150000"/>
                        </a:lnSpc>
                        <a:spcAft>
                          <a:spcPts val="800"/>
                        </a:spcAft>
                      </a:pPr>
                      <a:r>
                        <a:rPr lang="en-GB" sz="1800">
                          <a:effectLst/>
                        </a:rPr>
                        <a:t>regression,</a:t>
                      </a:r>
                    </a:p>
                    <a:p>
                      <a:pPr algn="just">
                        <a:lnSpc>
                          <a:spcPct val="150000"/>
                        </a:lnSpc>
                        <a:spcAft>
                          <a:spcPts val="800"/>
                        </a:spcAft>
                      </a:pPr>
                      <a:r>
                        <a:rPr lang="en-GB" sz="1800">
                          <a:effectLst/>
                        </a:rPr>
                        <a:t>Random forest,</a:t>
                      </a:r>
                    </a:p>
                    <a:p>
                      <a:pPr algn="just">
                        <a:lnSpc>
                          <a:spcPct val="150000"/>
                        </a:lnSpc>
                        <a:spcAft>
                          <a:spcPts val="800"/>
                        </a:spcAft>
                      </a:pPr>
                      <a:r>
                        <a:rPr lang="en-GB" sz="1800">
                          <a:effectLst/>
                        </a:rPr>
                        <a:t>Ad Boosting,</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txBody>
                  <a:tcPr marL="46380" marR="46380" marT="0" marB="0"/>
                </a:tc>
                <a:tc>
                  <a:txBody>
                    <a:bodyPr/>
                    <a:lstStyle/>
                    <a:p>
                      <a:pPr algn="just">
                        <a:lnSpc>
                          <a:spcPct val="150000"/>
                        </a:lnSpc>
                        <a:spcAft>
                          <a:spcPts val="800"/>
                        </a:spcAft>
                      </a:pPr>
                      <a:r>
                        <a:rPr lang="en-GB" sz="1800">
                          <a:effectLst/>
                        </a:rPr>
                        <a:t>Accuracy=97.58%</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txBody>
                  <a:tcPr marL="46380" marR="46380" marT="0" marB="0"/>
                </a:tc>
                <a:tc>
                  <a:txBody>
                    <a:bodyPr/>
                    <a:lstStyle/>
                    <a:p>
                      <a:pPr algn="just">
                        <a:lnSpc>
                          <a:spcPct val="150000"/>
                        </a:lnSpc>
                        <a:spcAft>
                          <a:spcPts val="800"/>
                        </a:spcAft>
                      </a:pPr>
                      <a:r>
                        <a:rPr lang="en-GB" sz="1800">
                          <a:effectLst/>
                        </a:rPr>
                        <a:t>It isdatacentric classification technique by involving of both boosting and supervised models and comparing and detect best model.</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txBody>
                  <a:tcPr marL="46380" marR="46380" marT="0" marB="0"/>
                </a:tc>
                <a:extLst>
                  <a:ext uri="{0D108BD9-81ED-4DB2-BD59-A6C34878D82A}">
                    <a16:rowId xmlns:a16="http://schemas.microsoft.com/office/drawing/2014/main" val="690234147"/>
                  </a:ext>
                </a:extLst>
              </a:tr>
              <a:tr h="1086935">
                <a:tc>
                  <a:txBody>
                    <a:bodyPr/>
                    <a:lstStyle/>
                    <a:p>
                      <a:pPr algn="just">
                        <a:lnSpc>
                          <a:spcPct val="150000"/>
                        </a:lnSpc>
                        <a:spcAft>
                          <a:spcPts val="800"/>
                        </a:spcAft>
                      </a:pPr>
                      <a:r>
                        <a:rPr lang="en-GB" sz="1800" dirty="0">
                          <a:effectLst/>
                          <a:latin typeface="Times New Roman" panose="02020603050405020304" pitchFamily="18" charset="0"/>
                          <a:cs typeface="Times New Roman" panose="02020603050405020304" pitchFamily="18" charset="0"/>
                        </a:rPr>
                        <a:t>ADNI, OASIS</a:t>
                      </a:r>
                      <a:endParaRPr lang="en-GB"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380" marR="46380" marT="0" marB="0"/>
                </a:tc>
                <a:tc>
                  <a:txBody>
                    <a:bodyPr/>
                    <a:lstStyle/>
                    <a:p>
                      <a:pPr algn="just">
                        <a:lnSpc>
                          <a:spcPct val="150000"/>
                        </a:lnSpc>
                        <a:spcAft>
                          <a:spcPts val="800"/>
                        </a:spcAft>
                      </a:pPr>
                      <a:r>
                        <a:rPr lang="en-GB" sz="1800">
                          <a:effectLst/>
                        </a:rPr>
                        <a:t>MRI</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txBody>
                  <a:tcPr marL="46380" marR="46380" marT="0" marB="0"/>
                </a:tc>
                <a:tc>
                  <a:txBody>
                    <a:bodyPr/>
                    <a:lstStyle/>
                    <a:p>
                      <a:pPr algn="just">
                        <a:lnSpc>
                          <a:spcPct val="150000"/>
                        </a:lnSpc>
                        <a:spcAft>
                          <a:spcPts val="800"/>
                        </a:spcAft>
                      </a:pPr>
                      <a:r>
                        <a:rPr lang="en-GB" sz="1800" dirty="0">
                          <a:effectLst/>
                        </a:rPr>
                        <a:t>SVM</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6380" marR="46380" marT="0" marB="0"/>
                </a:tc>
                <a:tc>
                  <a:txBody>
                    <a:bodyPr/>
                    <a:lstStyle/>
                    <a:p>
                      <a:pPr algn="just">
                        <a:lnSpc>
                          <a:spcPct val="150000"/>
                        </a:lnSpc>
                        <a:spcAft>
                          <a:spcPts val="800"/>
                        </a:spcAft>
                      </a:pPr>
                      <a:r>
                        <a:rPr lang="en-GB" sz="1800">
                          <a:effectLst/>
                        </a:rPr>
                        <a:t>Accuracy=79.9%</a:t>
                      </a:r>
                    </a:p>
                    <a:p>
                      <a:pPr algn="just">
                        <a:lnSpc>
                          <a:spcPct val="150000"/>
                        </a:lnSpc>
                        <a:spcAft>
                          <a:spcPts val="800"/>
                        </a:spcAft>
                      </a:pPr>
                      <a:r>
                        <a:rPr lang="en-GB" sz="1800">
                          <a:effectLst/>
                        </a:rPr>
                        <a:t>Sensitivity=83.2%</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txBody>
                  <a:tcPr marL="46380" marR="46380" marT="0" marB="0"/>
                </a:tc>
                <a:tc>
                  <a:txBody>
                    <a:bodyPr/>
                    <a:lstStyle/>
                    <a:p>
                      <a:pPr algn="just">
                        <a:lnSpc>
                          <a:spcPct val="150000"/>
                        </a:lnSpc>
                        <a:spcAft>
                          <a:spcPts val="800"/>
                        </a:spcAft>
                      </a:pPr>
                      <a:r>
                        <a:rPr lang="en-GB" sz="1800" dirty="0">
                          <a:effectLst/>
                        </a:rPr>
                        <a:t>It can use for automatic detection of AD using EEG waves.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6380" marR="46380" marT="0" marB="0"/>
                </a:tc>
                <a:extLst>
                  <a:ext uri="{0D108BD9-81ED-4DB2-BD59-A6C34878D82A}">
                    <a16:rowId xmlns:a16="http://schemas.microsoft.com/office/drawing/2014/main" val="292813813"/>
                  </a:ext>
                </a:extLst>
              </a:tr>
            </a:tbl>
          </a:graphicData>
        </a:graphic>
      </p:graphicFrame>
    </p:spTree>
    <p:extLst>
      <p:ext uri="{BB962C8B-B14F-4D97-AF65-F5344CB8AC3E}">
        <p14:creationId xmlns:p14="http://schemas.microsoft.com/office/powerpoint/2010/main" val="315972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98A96-1D43-4D10-BD63-5FD0404F812C}"/>
              </a:ext>
            </a:extLst>
          </p:cNvPr>
          <p:cNvSpPr>
            <a:spLocks noGrp="1"/>
          </p:cNvSpPr>
          <p:nvPr>
            <p:ph type="title"/>
          </p:nvPr>
        </p:nvSpPr>
        <p:spPr>
          <a:xfrm>
            <a:off x="304800" y="1"/>
            <a:ext cx="11049000" cy="1427018"/>
          </a:xfrm>
        </p:spPr>
        <p:txBody>
          <a:bodyPr/>
          <a:lstStyle/>
          <a:p>
            <a:r>
              <a:rPr lang="en-US"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3A7E0CA3-D450-4236-BFC9-0546BE3D8B5B}"/>
              </a:ext>
            </a:extLst>
          </p:cNvPr>
          <p:cNvSpPr>
            <a:spLocks noGrp="1"/>
          </p:cNvSpPr>
          <p:nvPr>
            <p:ph idx="1"/>
          </p:nvPr>
        </p:nvSpPr>
        <p:spPr>
          <a:xfrm>
            <a:off x="353290" y="1427019"/>
            <a:ext cx="11533909" cy="3872769"/>
          </a:xfrm>
        </p:spPr>
        <p:txBody>
          <a:bodyPr>
            <a:normAutofit/>
          </a:bodyPr>
          <a:lstStyle/>
          <a:p>
            <a:pPr algn="just"/>
            <a:r>
              <a:rPr lang="en-GB" sz="3200" dirty="0">
                <a:latin typeface="Times New Roman" panose="02020603050405020304" pitchFamily="18" charset="0"/>
                <a:cs typeface="Times New Roman" panose="02020603050405020304" pitchFamily="18" charset="0"/>
              </a:rPr>
              <a:t> Alzheimer’s is a neurological disease that causes the gradual loss of cognitive functions over time. Therefore, the primary goal of the available treatments is to slow the disease's development to its later, more severe stages. Therefore, the early diagnosis of Alzheimer's disease is important for the purpose of improving patients' quality of life. Deep learning autonomous systems are required to precisely detect the symptoms of Alzheimer’s in its early birth stages.</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6315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75DAA-9212-4486-AC2D-458521D69727}"/>
              </a:ext>
            </a:extLst>
          </p:cNvPr>
          <p:cNvSpPr>
            <a:spLocks noGrp="1"/>
          </p:cNvSpPr>
          <p:nvPr>
            <p:ph type="title"/>
          </p:nvPr>
        </p:nvSpPr>
        <p:spPr>
          <a:xfrm>
            <a:off x="394447" y="18255"/>
            <a:ext cx="10515600" cy="1325563"/>
          </a:xfrm>
        </p:spPr>
        <p:txBody>
          <a:bodyPr/>
          <a:lstStyle/>
          <a:p>
            <a:r>
              <a:rPr lang="en-US" b="1" dirty="0">
                <a:latin typeface="Times New Roman" panose="02020603050405020304" pitchFamily="18" charset="0"/>
                <a:cs typeface="Times New Roman" panose="02020603050405020304" pitchFamily="18" charset="0"/>
              </a:rPr>
              <a:t>Research Objective</a:t>
            </a:r>
          </a:p>
        </p:txBody>
      </p:sp>
      <p:sp>
        <p:nvSpPr>
          <p:cNvPr id="3" name="Content Placeholder 2">
            <a:extLst>
              <a:ext uri="{FF2B5EF4-FFF2-40B4-BE49-F238E27FC236}">
                <a16:creationId xmlns:a16="http://schemas.microsoft.com/office/drawing/2014/main" id="{33EF2FFA-4E7F-47A4-9E58-BA041135FE09}"/>
              </a:ext>
            </a:extLst>
          </p:cNvPr>
          <p:cNvSpPr>
            <a:spLocks noGrp="1"/>
          </p:cNvSpPr>
          <p:nvPr>
            <p:ph idx="1"/>
          </p:nvPr>
        </p:nvSpPr>
        <p:spPr>
          <a:xfrm>
            <a:off x="394447" y="1082180"/>
            <a:ext cx="10959353" cy="5094783"/>
          </a:xfrm>
        </p:spPr>
        <p:txBody>
          <a:bodyPr>
            <a:normAutofit lnSpcReduction="10000"/>
          </a:bodyPr>
          <a:lstStyle/>
          <a:p>
            <a:pPr marL="0" indent="0" algn="just">
              <a:buNone/>
            </a:pPr>
            <a:r>
              <a:rPr lang="en-GB" dirty="0"/>
              <a:t>The aim of my report is to propose DL models that effectively detect Alzheimer’s disease on the base of MRI data using a deep learning approach. </a:t>
            </a:r>
            <a:endParaRPr lang="en-GB" sz="3200" dirty="0">
              <a:latin typeface="Times New Roman" panose="02020603050405020304" pitchFamily="18" charset="0"/>
              <a:cs typeface="Times New Roman" panose="02020603050405020304" pitchFamily="18" charset="0"/>
            </a:endParaRPr>
          </a:p>
          <a:p>
            <a:pPr marL="0" indent="0" algn="just">
              <a:buNone/>
            </a:pPr>
            <a:r>
              <a:rPr lang="en-GB" sz="3200" dirty="0">
                <a:latin typeface="Times New Roman" panose="02020603050405020304" pitchFamily="18" charset="0"/>
                <a:cs typeface="Times New Roman" panose="02020603050405020304" pitchFamily="18" charset="0"/>
              </a:rPr>
              <a:t> The main objectives of this study are as follows:</a:t>
            </a:r>
          </a:p>
          <a:p>
            <a:pPr marL="0" indent="0" algn="just">
              <a:buNone/>
            </a:pPr>
            <a:r>
              <a:rPr lang="en-GB" sz="3200" dirty="0">
                <a:latin typeface="Times New Roman" panose="02020603050405020304" pitchFamily="18" charset="0"/>
                <a:cs typeface="Times New Roman" panose="02020603050405020304" pitchFamily="18" charset="0"/>
              </a:rPr>
              <a:t>•Image classification for detecting Alzheimer’s disease on the base of MRI.</a:t>
            </a:r>
          </a:p>
          <a:p>
            <a:pPr marL="0" indent="0" algn="just">
              <a:buNone/>
            </a:pPr>
            <a:r>
              <a:rPr lang="en-GB" sz="3200" dirty="0">
                <a:latin typeface="Times New Roman" panose="02020603050405020304" pitchFamily="18" charset="0"/>
                <a:cs typeface="Times New Roman" panose="02020603050405020304" pitchFamily="18" charset="0"/>
              </a:rPr>
              <a:t>•Implementation of Transfer learning while using pre-trained models (i.e., VGG16, Mobile Net and DenseNet121)</a:t>
            </a:r>
          </a:p>
          <a:p>
            <a:pPr marL="0" indent="0" algn="just">
              <a:buNone/>
            </a:pPr>
            <a:r>
              <a:rPr lang="en-GB" sz="3200" dirty="0">
                <a:latin typeface="Times New Roman" panose="02020603050405020304" pitchFamily="18" charset="0"/>
                <a:cs typeface="Times New Roman" panose="02020603050405020304" pitchFamily="18" charset="0"/>
              </a:rPr>
              <a:t>•Implementation of a CNN model from scratch.</a:t>
            </a:r>
          </a:p>
          <a:p>
            <a:pPr marL="0" indent="0" algn="just">
              <a:buNone/>
            </a:pPr>
            <a:r>
              <a:rPr lang="en-GB" sz="3200" dirty="0">
                <a:latin typeface="Times New Roman" panose="02020603050405020304" pitchFamily="18" charset="0"/>
                <a:cs typeface="Times New Roman" panose="02020603050405020304" pitchFamily="18" charset="0"/>
              </a:rPr>
              <a:t>•Comprehensive study and comparison of results between all the models</a:t>
            </a:r>
          </a:p>
          <a:p>
            <a:pPr algn="just"/>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2526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F8126-FBCB-403C-87EE-0E0987A71EEB}"/>
              </a:ext>
            </a:extLst>
          </p:cNvPr>
          <p:cNvSpPr>
            <a:spLocks noGrp="1"/>
          </p:cNvSpPr>
          <p:nvPr>
            <p:ph type="title"/>
          </p:nvPr>
        </p:nvSpPr>
        <p:spPr>
          <a:xfrm>
            <a:off x="394447" y="18255"/>
            <a:ext cx="10515600" cy="1325563"/>
          </a:xfrm>
        </p:spPr>
        <p:txBody>
          <a:bodyPr/>
          <a:lstStyle/>
          <a:p>
            <a:r>
              <a:rPr lang="en-US" b="1" dirty="0">
                <a:latin typeface="Times New Roman" panose="02020603050405020304" pitchFamily="18" charset="0"/>
                <a:cs typeface="Times New Roman" panose="02020603050405020304" pitchFamily="18" charset="0"/>
              </a:rPr>
              <a:t>Research Question</a:t>
            </a:r>
          </a:p>
        </p:txBody>
      </p:sp>
      <p:sp>
        <p:nvSpPr>
          <p:cNvPr id="3" name="Content Placeholder 2">
            <a:extLst>
              <a:ext uri="{FF2B5EF4-FFF2-40B4-BE49-F238E27FC236}">
                <a16:creationId xmlns:a16="http://schemas.microsoft.com/office/drawing/2014/main" id="{BFAD4281-484D-43EF-9018-3E1D94A9DD24}"/>
              </a:ext>
            </a:extLst>
          </p:cNvPr>
          <p:cNvSpPr>
            <a:spLocks noGrp="1"/>
          </p:cNvSpPr>
          <p:nvPr>
            <p:ph idx="1"/>
          </p:nvPr>
        </p:nvSpPr>
        <p:spPr>
          <a:xfrm>
            <a:off x="394447" y="1573306"/>
            <a:ext cx="11257225" cy="5284694"/>
          </a:xfrm>
        </p:spPr>
        <p:txBody>
          <a:bodyPr>
            <a:normAutofit/>
          </a:bodyPr>
          <a:lstStyle/>
          <a:p>
            <a:pPr algn="just"/>
            <a:r>
              <a:rPr lang="en-US" sz="3200" b="1" dirty="0">
                <a:latin typeface="Times New Roman" panose="02020603050405020304" pitchFamily="18" charset="0"/>
                <a:cs typeface="Times New Roman" panose="02020603050405020304" pitchFamily="18" charset="0"/>
              </a:rPr>
              <a:t>R.Q.-</a:t>
            </a:r>
            <a:r>
              <a:rPr lang="en-GB" dirty="0"/>
              <a:t>How to achieve better performance of the deep learning models for detecting Alzheimer disease using MRI Images.</a:t>
            </a:r>
          </a:p>
          <a:p>
            <a:pPr algn="just"/>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a:p>
            <a:pPr lvl="0" algn="just"/>
            <a:r>
              <a:rPr lang="en-US" sz="3200" b="1" dirty="0">
                <a:latin typeface="Times New Roman" panose="02020603050405020304" pitchFamily="18" charset="0"/>
                <a:cs typeface="Times New Roman" panose="02020603050405020304" pitchFamily="18" charset="0"/>
              </a:rPr>
              <a:t>Answer : </a:t>
            </a:r>
            <a:r>
              <a:rPr lang="en-US" sz="3200" dirty="0">
                <a:latin typeface="Times New Roman" panose="02020603050405020304" pitchFamily="18" charset="0"/>
                <a:cs typeface="Times New Roman" panose="02020603050405020304" pitchFamily="18" charset="0"/>
              </a:rPr>
              <a:t>By using deep learning approach first I use pre-processing on dataset and using transfer learning with pre-trained model.</a:t>
            </a:r>
          </a:p>
          <a:p>
            <a:pPr algn="just"/>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097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0">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E7B955-D453-4EC0-8417-A425D00B4E27}"/>
              </a:ext>
            </a:extLst>
          </p:cNvPr>
          <p:cNvSpPr>
            <a:spLocks noGrp="1"/>
          </p:cNvSpPr>
          <p:nvPr>
            <p:ph type="title"/>
          </p:nvPr>
        </p:nvSpPr>
        <p:spPr>
          <a:xfrm>
            <a:off x="128588" y="557189"/>
            <a:ext cx="4964620" cy="5567891"/>
          </a:xfrm>
        </p:spPr>
        <p:txBody>
          <a:bodyPr>
            <a:normAutofit/>
          </a:bodyPr>
          <a:lstStyle/>
          <a:p>
            <a:pPr algn="ctr"/>
            <a:r>
              <a:rPr lang="en-US" b="1" dirty="0">
                <a:latin typeface="Times New Roman" panose="02020603050405020304" pitchFamily="18" charset="0"/>
                <a:cs typeface="Times New Roman" panose="02020603050405020304" pitchFamily="18" charset="0"/>
              </a:rPr>
              <a:t>Simulation Tools</a:t>
            </a:r>
            <a:br>
              <a:rPr lang="en-US"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(Hardware/ Software)</a:t>
            </a:r>
            <a:br>
              <a:rPr lang="en-US" sz="3200"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graphicFrame>
        <p:nvGraphicFramePr>
          <p:cNvPr id="16" name="Content Placeholder 2">
            <a:extLst>
              <a:ext uri="{FF2B5EF4-FFF2-40B4-BE49-F238E27FC236}">
                <a16:creationId xmlns:a16="http://schemas.microsoft.com/office/drawing/2014/main" id="{272A71CE-02E9-4C43-B7C8-429680124773}"/>
              </a:ext>
            </a:extLst>
          </p:cNvPr>
          <p:cNvGraphicFramePr>
            <a:graphicFrameLocks noGrp="1"/>
          </p:cNvGraphicFramePr>
          <p:nvPr>
            <p:ph idx="1"/>
            <p:extLst>
              <p:ext uri="{D42A27DB-BD31-4B8C-83A1-F6EECF244321}">
                <p14:modId xmlns:p14="http://schemas.microsoft.com/office/powerpoint/2010/main" val="518045037"/>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1670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22459-1746-4A17-97FA-3ACC5767CC2D}"/>
              </a:ext>
            </a:extLst>
          </p:cNvPr>
          <p:cNvSpPr>
            <a:spLocks noGrp="1"/>
          </p:cNvSpPr>
          <p:nvPr>
            <p:ph type="title"/>
          </p:nvPr>
        </p:nvSpPr>
        <p:spPr>
          <a:xfrm>
            <a:off x="0" y="160617"/>
            <a:ext cx="11416553" cy="786559"/>
          </a:xfrm>
          <a:solidFill>
            <a:schemeClr val="bg1"/>
          </a:solidFill>
        </p:spPr>
        <p:txBody>
          <a:bodyPr>
            <a:normAutofit/>
          </a:bodyPr>
          <a:lstStyle/>
          <a:p>
            <a:pPr algn="ctr"/>
            <a:r>
              <a:rPr lang="en-US" b="1" dirty="0">
                <a:solidFill>
                  <a:schemeClr val="tx1">
                    <a:lumMod val="95000"/>
                    <a:lumOff val="5000"/>
                  </a:schemeClr>
                </a:solidFill>
                <a:latin typeface="Times New Roman" panose="02020603050405020304" pitchFamily="18" charset="0"/>
                <a:cs typeface="Times New Roman" panose="02020603050405020304" pitchFamily="18" charset="0"/>
              </a:rPr>
              <a:t>Research Framework</a:t>
            </a:r>
          </a:p>
        </p:txBody>
      </p:sp>
      <p:sp>
        <p:nvSpPr>
          <p:cNvPr id="4" name="Rectangle 2">
            <a:extLst>
              <a:ext uri="{FF2B5EF4-FFF2-40B4-BE49-F238E27FC236}">
                <a16:creationId xmlns:a16="http://schemas.microsoft.com/office/drawing/2014/main" id="{457BF529-BFCD-4257-BCFB-75CECD489279}"/>
              </a:ext>
            </a:extLst>
          </p:cNvPr>
          <p:cNvSpPr>
            <a:spLocks noChangeArrowheads="1"/>
          </p:cNvSpPr>
          <p:nvPr/>
        </p:nvSpPr>
        <p:spPr bwMode="auto">
          <a:xfrm>
            <a:off x="1928813" y="14065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3" name="Picture 2">
            <a:extLst>
              <a:ext uri="{FF2B5EF4-FFF2-40B4-BE49-F238E27FC236}">
                <a16:creationId xmlns:a16="http://schemas.microsoft.com/office/drawing/2014/main" id="{CCF2FE44-0168-4DEB-BF3A-6B4458CF47BD}"/>
              </a:ext>
            </a:extLst>
          </p:cNvPr>
          <p:cNvPicPr>
            <a:picLocks noChangeAspect="1"/>
          </p:cNvPicPr>
          <p:nvPr/>
        </p:nvPicPr>
        <p:blipFill>
          <a:blip r:embed="rId2"/>
          <a:stretch>
            <a:fillRect/>
          </a:stretch>
        </p:blipFill>
        <p:spPr>
          <a:xfrm>
            <a:off x="494950" y="1325463"/>
            <a:ext cx="10746298" cy="4739759"/>
          </a:xfrm>
          <a:prstGeom prst="rect">
            <a:avLst/>
          </a:prstGeom>
        </p:spPr>
      </p:pic>
    </p:spTree>
    <p:extLst>
      <p:ext uri="{BB962C8B-B14F-4D97-AF65-F5344CB8AC3E}">
        <p14:creationId xmlns:p14="http://schemas.microsoft.com/office/powerpoint/2010/main" val="478103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C325D-AF5C-CF8C-0B06-FC11CD3FABF1}"/>
              </a:ext>
            </a:extLst>
          </p:cNvPr>
          <p:cNvSpPr>
            <a:spLocks noGrp="1"/>
          </p:cNvSpPr>
          <p:nvPr>
            <p:ph type="title"/>
          </p:nvPr>
        </p:nvSpPr>
        <p:spPr>
          <a:xfrm>
            <a:off x="0" y="1"/>
            <a:ext cx="12192000" cy="793376"/>
          </a:xfrm>
        </p:spPr>
        <p:txBody>
          <a:bodyPr/>
          <a:lstStyle/>
          <a:p>
            <a:pPr algn="ctr"/>
            <a:r>
              <a:rPr lang="en-US" b="1" dirty="0">
                <a:latin typeface="Times New Roman" panose="02020603050405020304" pitchFamily="18" charset="0"/>
                <a:cs typeface="Times New Roman" panose="02020603050405020304" pitchFamily="18" charset="0"/>
              </a:rPr>
              <a:t>Algorithm’s Flowchart</a:t>
            </a:r>
          </a:p>
        </p:txBody>
      </p:sp>
      <p:pic>
        <p:nvPicPr>
          <p:cNvPr id="10" name="Content Placeholder 9" descr="Diagram&#10;&#10;Description automatically generated">
            <a:extLst>
              <a:ext uri="{FF2B5EF4-FFF2-40B4-BE49-F238E27FC236}">
                <a16:creationId xmlns:a16="http://schemas.microsoft.com/office/drawing/2014/main" id="{920147A7-EC1A-2A02-2C69-5290CF4030B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257" y="793377"/>
            <a:ext cx="11402008" cy="5122231"/>
          </a:xfrm>
        </p:spPr>
      </p:pic>
    </p:spTree>
    <p:extLst>
      <p:ext uri="{BB962C8B-B14F-4D97-AF65-F5344CB8AC3E}">
        <p14:creationId xmlns:p14="http://schemas.microsoft.com/office/powerpoint/2010/main" val="662331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5325A-A653-426B-4EAE-014A244022EE}"/>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Data Pre-processing</a:t>
            </a:r>
          </a:p>
        </p:txBody>
      </p:sp>
      <p:sp>
        <p:nvSpPr>
          <p:cNvPr id="4" name="Content Placeholder 3">
            <a:extLst>
              <a:ext uri="{FF2B5EF4-FFF2-40B4-BE49-F238E27FC236}">
                <a16:creationId xmlns:a16="http://schemas.microsoft.com/office/drawing/2014/main" id="{0BEB9663-B4AB-44EE-A8BD-55494EB21ECE}"/>
              </a:ext>
            </a:extLst>
          </p:cNvPr>
          <p:cNvSpPr>
            <a:spLocks noGrp="1"/>
          </p:cNvSpPr>
          <p:nvPr>
            <p:ph sz="half" idx="4294967295"/>
          </p:nvPr>
        </p:nvSpPr>
        <p:spPr>
          <a:xfrm>
            <a:off x="251670" y="1971413"/>
            <a:ext cx="5735798" cy="4303552"/>
          </a:xfrm>
        </p:spPr>
        <p:txBody>
          <a:bodyPr>
            <a:normAutofit fontScale="85000" lnSpcReduction="20000"/>
          </a:bodyPr>
          <a:lstStyle/>
          <a:p>
            <a:pPr marL="0" indent="0" algn="just">
              <a:buNone/>
            </a:pPr>
            <a:r>
              <a:rPr lang="en-GB" dirty="0"/>
              <a:t>Data Pre-processing is the Preparing of data for activities like data mining, machine learning, deep learning, and other data science tasks that allows us to utilise it more quickly and efficiently to get correct results.</a:t>
            </a:r>
          </a:p>
          <a:p>
            <a:pPr marL="0" indent="0" algn="just">
              <a:buNone/>
            </a:pPr>
            <a:r>
              <a:rPr lang="en-GB" b="1" dirty="0"/>
              <a:t>Up Sampling: </a:t>
            </a:r>
            <a:r>
              <a:rPr lang="en-GB" dirty="0">
                <a:latin typeface="Times New Roman" panose="02020603050405020304" pitchFamily="18" charset="0"/>
                <a:cs typeface="Times New Roman" panose="02020603050405020304" pitchFamily="18" charset="0"/>
              </a:rPr>
              <a:t>The</a:t>
            </a:r>
            <a:r>
              <a:rPr lang="en-GB" b="1" dirty="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dataset was imbalanced thus, to overcome this issue we have used up sampling of the images to balance the number of images in each class. Up sampling injects artificially produce data point according to minority class in to dataset. After this the number of each group almost equal, and model don’t tend to favour of majority class. </a:t>
            </a:r>
          </a:p>
          <a:p>
            <a:pPr marL="0" indent="0">
              <a:buNone/>
            </a:pPr>
            <a:endParaRPr lang="en-GB" b="1"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507A39A6-3302-4A31-B73E-343EE199F0BF}"/>
              </a:ext>
            </a:extLst>
          </p:cNvPr>
          <p:cNvPicPr>
            <a:picLocks noGrp="1" noChangeAspect="1"/>
          </p:cNvPicPr>
          <p:nvPr>
            <p:ph sz="half" idx="4294967295"/>
          </p:nvPr>
        </p:nvPicPr>
        <p:blipFill>
          <a:blip r:embed="rId2"/>
          <a:stretch>
            <a:fillRect/>
          </a:stretch>
        </p:blipFill>
        <p:spPr>
          <a:xfrm>
            <a:off x="6414256" y="4395939"/>
            <a:ext cx="5057677" cy="1957300"/>
          </a:xfrm>
          <a:prstGeom prst="rect">
            <a:avLst/>
          </a:prstGeom>
        </p:spPr>
      </p:pic>
      <p:sp>
        <p:nvSpPr>
          <p:cNvPr id="8" name="TextBox 7">
            <a:extLst>
              <a:ext uri="{FF2B5EF4-FFF2-40B4-BE49-F238E27FC236}">
                <a16:creationId xmlns:a16="http://schemas.microsoft.com/office/drawing/2014/main" id="{466FBD34-DFB3-4081-80E1-029CA65A85B8}"/>
              </a:ext>
            </a:extLst>
          </p:cNvPr>
          <p:cNvSpPr txBox="1"/>
          <p:nvPr/>
        </p:nvSpPr>
        <p:spPr>
          <a:xfrm>
            <a:off x="7880621" y="4123189"/>
            <a:ext cx="3261915" cy="369332"/>
          </a:xfrm>
          <a:prstGeom prst="rect">
            <a:avLst/>
          </a:prstGeom>
          <a:noFill/>
        </p:spPr>
        <p:txBody>
          <a:bodyPr wrap="square" rtlCol="0">
            <a:spAutoFit/>
          </a:bodyPr>
          <a:lstStyle/>
          <a:p>
            <a:r>
              <a:rPr lang="en-GB" b="1" dirty="0">
                <a:latin typeface="Times New Roman" panose="02020603050405020304" pitchFamily="18" charset="0"/>
                <a:cs typeface="Times New Roman" panose="02020603050405020304" pitchFamily="18" charset="0"/>
              </a:rPr>
              <a:t>Dataset after Up Sampling</a:t>
            </a:r>
          </a:p>
        </p:txBody>
      </p:sp>
      <p:pic>
        <p:nvPicPr>
          <p:cNvPr id="5" name="Picture 4">
            <a:extLst>
              <a:ext uri="{FF2B5EF4-FFF2-40B4-BE49-F238E27FC236}">
                <a16:creationId xmlns:a16="http://schemas.microsoft.com/office/drawing/2014/main" id="{E6709EBC-EEF6-6C8D-3F63-5FE6628E5D0E}"/>
              </a:ext>
            </a:extLst>
          </p:cNvPr>
          <p:cNvPicPr>
            <a:picLocks noChangeAspect="1"/>
          </p:cNvPicPr>
          <p:nvPr/>
        </p:nvPicPr>
        <p:blipFill>
          <a:blip r:embed="rId3"/>
          <a:stretch>
            <a:fillRect/>
          </a:stretch>
        </p:blipFill>
        <p:spPr>
          <a:xfrm>
            <a:off x="6414257" y="2125803"/>
            <a:ext cx="5057678" cy="2066723"/>
          </a:xfrm>
          <a:prstGeom prst="rect">
            <a:avLst/>
          </a:prstGeom>
        </p:spPr>
      </p:pic>
      <p:sp>
        <p:nvSpPr>
          <p:cNvPr id="7" name="Rectangle 6">
            <a:extLst>
              <a:ext uri="{FF2B5EF4-FFF2-40B4-BE49-F238E27FC236}">
                <a16:creationId xmlns:a16="http://schemas.microsoft.com/office/drawing/2014/main" id="{BBFEEC57-5769-C7F6-CA88-F710738AB4CA}"/>
              </a:ext>
            </a:extLst>
          </p:cNvPr>
          <p:cNvSpPr/>
          <p:nvPr/>
        </p:nvSpPr>
        <p:spPr>
          <a:xfrm>
            <a:off x="7006211" y="1690688"/>
            <a:ext cx="4136325" cy="369332"/>
          </a:xfrm>
          <a:prstGeom prst="rect">
            <a:avLst/>
          </a:prstGeom>
          <a:noFill/>
        </p:spPr>
        <p:txBody>
          <a:bodyPr wrap="square" lIns="91440" tIns="45720" rIns="91440" bIns="45720">
            <a:spAutoFit/>
          </a:bodyPr>
          <a:lstStyle/>
          <a:p>
            <a:pPr algn="ctr"/>
            <a:r>
              <a:rPr lang="en-US" b="1" dirty="0">
                <a:ln w="0"/>
                <a:latin typeface="Times New Roman" panose="02020603050405020304" pitchFamily="18" charset="0"/>
                <a:cs typeface="Times New Roman" panose="02020603050405020304" pitchFamily="18" charset="0"/>
              </a:rPr>
              <a:t>Dataset before Up Sampling</a:t>
            </a:r>
            <a:endParaRPr lang="en-US" b="1" cap="none" spc="0" dirty="0">
              <a:ln w="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7482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2BA0F-F89A-68C9-00DA-33C28BD3D8F0}"/>
              </a:ext>
            </a:extLst>
          </p:cNvPr>
          <p:cNvSpPr>
            <a:spLocks noGrp="1"/>
          </p:cNvSpPr>
          <p:nvPr>
            <p:ph type="title"/>
          </p:nvPr>
        </p:nvSpPr>
        <p:spPr>
          <a:xfrm>
            <a:off x="528506" y="344192"/>
            <a:ext cx="10825294" cy="1276671"/>
          </a:xfrm>
        </p:spPr>
        <p:txBody>
          <a:bodyPr>
            <a:normAutofit/>
          </a:bodyPr>
          <a:lstStyle/>
          <a:p>
            <a:r>
              <a:rPr lang="en-US" sz="2400" b="1" dirty="0">
                <a:latin typeface="Times New Roman" panose="02020603050405020304" pitchFamily="18" charset="0"/>
                <a:cs typeface="Times New Roman" panose="02020603050405020304" pitchFamily="18" charset="0"/>
              </a:rPr>
              <a:t>Data Augmentation</a:t>
            </a:r>
          </a:p>
        </p:txBody>
      </p:sp>
      <p:sp>
        <p:nvSpPr>
          <p:cNvPr id="3" name="Content Placeholder 2">
            <a:extLst>
              <a:ext uri="{FF2B5EF4-FFF2-40B4-BE49-F238E27FC236}">
                <a16:creationId xmlns:a16="http://schemas.microsoft.com/office/drawing/2014/main" id="{6D771521-ECEC-87E4-ED9C-825664346E1E}"/>
              </a:ext>
            </a:extLst>
          </p:cNvPr>
          <p:cNvSpPr>
            <a:spLocks noGrp="1"/>
          </p:cNvSpPr>
          <p:nvPr>
            <p:ph idx="1"/>
          </p:nvPr>
        </p:nvSpPr>
        <p:spPr>
          <a:xfrm>
            <a:off x="528506" y="1240325"/>
            <a:ext cx="10825294" cy="5169527"/>
          </a:xfrm>
        </p:spPr>
        <p:txBody>
          <a:bodyPr>
            <a:normAutofit/>
          </a:bodyPr>
          <a:lstStyle/>
          <a:p>
            <a:pPr marL="0" indent="0" algn="just">
              <a:buNone/>
            </a:pPr>
            <a:r>
              <a:rPr lang="en-GB" sz="2000" dirty="0">
                <a:latin typeface="Times New Roman" panose="02020603050405020304" pitchFamily="18" charset="0"/>
                <a:cs typeface="Times New Roman" panose="02020603050405020304" pitchFamily="18" charset="0"/>
              </a:rPr>
              <a:t>Data augmentation is a process of transferring images to create same pattern of images for the purpose training ML models. It’s crucial phase in dataset construction because the modern ML algorithms are quite strong .</a:t>
            </a:r>
          </a:p>
          <a:p>
            <a:pPr marL="0" indent="0" algn="just">
              <a:buNone/>
            </a:pPr>
            <a:endParaRPr lang="en-US" sz="20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8E929571-D29B-466E-99EA-13BD58E3308F}"/>
              </a:ext>
            </a:extLst>
          </p:cNvPr>
          <p:cNvSpPr/>
          <p:nvPr/>
        </p:nvSpPr>
        <p:spPr>
          <a:xfrm>
            <a:off x="6003631" y="2967335"/>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9" name="Picture 8">
            <a:extLst>
              <a:ext uri="{FF2B5EF4-FFF2-40B4-BE49-F238E27FC236}">
                <a16:creationId xmlns:a16="http://schemas.microsoft.com/office/drawing/2014/main" id="{6A6720A4-EA72-481F-87FB-0BE4E7F5C104}"/>
              </a:ext>
            </a:extLst>
          </p:cNvPr>
          <p:cNvPicPr>
            <a:picLocks noChangeAspect="1"/>
          </p:cNvPicPr>
          <p:nvPr/>
        </p:nvPicPr>
        <p:blipFill>
          <a:blip r:embed="rId2"/>
          <a:stretch>
            <a:fillRect/>
          </a:stretch>
        </p:blipFill>
        <p:spPr>
          <a:xfrm>
            <a:off x="528506" y="2589291"/>
            <a:ext cx="9701910" cy="3820562"/>
          </a:xfrm>
          <a:prstGeom prst="rect">
            <a:avLst/>
          </a:prstGeom>
        </p:spPr>
      </p:pic>
      <p:sp>
        <p:nvSpPr>
          <p:cNvPr id="10" name="TextBox 9">
            <a:extLst>
              <a:ext uri="{FF2B5EF4-FFF2-40B4-BE49-F238E27FC236}">
                <a16:creationId xmlns:a16="http://schemas.microsoft.com/office/drawing/2014/main" id="{9B051570-619D-4E36-B29E-4C45F00BE871}"/>
              </a:ext>
            </a:extLst>
          </p:cNvPr>
          <p:cNvSpPr txBox="1"/>
          <p:nvPr/>
        </p:nvSpPr>
        <p:spPr>
          <a:xfrm>
            <a:off x="3858478" y="2149936"/>
            <a:ext cx="3041965" cy="369332"/>
          </a:xfrm>
          <a:prstGeom prst="rect">
            <a:avLst/>
          </a:prstGeom>
          <a:noFill/>
        </p:spPr>
        <p:txBody>
          <a:bodyPr wrap="square" rtlCol="0">
            <a:spAutoFit/>
          </a:bodyPr>
          <a:lstStyle/>
          <a:p>
            <a:r>
              <a:rPr lang="en-GB" dirty="0"/>
              <a:t>Dataset After Augmentation</a:t>
            </a:r>
          </a:p>
        </p:txBody>
      </p:sp>
    </p:spTree>
    <p:extLst>
      <p:ext uri="{BB962C8B-B14F-4D97-AF65-F5344CB8AC3E}">
        <p14:creationId xmlns:p14="http://schemas.microsoft.com/office/powerpoint/2010/main" val="318827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19BD8-A40B-4F89-B91E-643B42C304CB}"/>
              </a:ext>
            </a:extLst>
          </p:cNvPr>
          <p:cNvSpPr>
            <a:spLocks noGrp="1"/>
          </p:cNvSpPr>
          <p:nvPr>
            <p:ph type="title"/>
          </p:nvPr>
        </p:nvSpPr>
        <p:spPr>
          <a:xfrm>
            <a:off x="838200" y="365126"/>
            <a:ext cx="10515600" cy="838986"/>
          </a:xfrm>
        </p:spPr>
        <p:txBody>
          <a:bodyPr>
            <a:normAutofit/>
          </a:bodyPr>
          <a:lstStyle/>
          <a:p>
            <a:r>
              <a:rPr lang="en-GB" sz="2800" b="1" dirty="0">
                <a:latin typeface="Times New Roman" panose="02020603050405020304" pitchFamily="18" charset="0"/>
                <a:cs typeface="Times New Roman" panose="02020603050405020304" pitchFamily="18" charset="0"/>
              </a:rPr>
              <a:t>Data Splitting</a:t>
            </a:r>
          </a:p>
        </p:txBody>
      </p:sp>
      <p:sp>
        <p:nvSpPr>
          <p:cNvPr id="3" name="Content Placeholder 2">
            <a:extLst>
              <a:ext uri="{FF2B5EF4-FFF2-40B4-BE49-F238E27FC236}">
                <a16:creationId xmlns:a16="http://schemas.microsoft.com/office/drawing/2014/main" id="{F50D75C9-8CC2-4CFD-9900-7CE8652A9B0E}"/>
              </a:ext>
            </a:extLst>
          </p:cNvPr>
          <p:cNvSpPr>
            <a:spLocks noGrp="1"/>
          </p:cNvSpPr>
          <p:nvPr>
            <p:ph idx="1"/>
          </p:nvPr>
        </p:nvSpPr>
        <p:spPr>
          <a:xfrm>
            <a:off x="838200" y="1095469"/>
            <a:ext cx="10515600" cy="5081494"/>
          </a:xfrm>
        </p:spPr>
        <p:txBody>
          <a:bodyPr/>
          <a:lstStyle/>
          <a:p>
            <a:pPr marL="0" indent="0">
              <a:buNone/>
            </a:pPr>
            <a:r>
              <a:rPr lang="en-GB" dirty="0"/>
              <a:t>In machine learning the data splitting is widely used to divide data in to test, train and validation. When the dataset split in two or more subset, the two part topically use to analyse test data and other use for train the model. In data science the data splitting especially use to construct data driven models.</a:t>
            </a:r>
          </a:p>
          <a:p>
            <a:pPr marL="0" indent="0">
              <a:buNone/>
            </a:pPr>
            <a:endParaRPr lang="en-GB" dirty="0"/>
          </a:p>
        </p:txBody>
      </p:sp>
      <p:graphicFrame>
        <p:nvGraphicFramePr>
          <p:cNvPr id="6" name="Table 5">
            <a:extLst>
              <a:ext uri="{FF2B5EF4-FFF2-40B4-BE49-F238E27FC236}">
                <a16:creationId xmlns:a16="http://schemas.microsoft.com/office/drawing/2014/main" id="{06D9693E-1A65-43EE-92CB-038D61D7FF50}"/>
              </a:ext>
            </a:extLst>
          </p:cNvPr>
          <p:cNvGraphicFramePr>
            <a:graphicFrameLocks noGrp="1"/>
          </p:cNvGraphicFramePr>
          <p:nvPr>
            <p:extLst>
              <p:ext uri="{D42A27DB-BD31-4B8C-83A1-F6EECF244321}">
                <p14:modId xmlns:p14="http://schemas.microsoft.com/office/powerpoint/2010/main" val="2740951319"/>
              </p:ext>
            </p:extLst>
          </p:nvPr>
        </p:nvGraphicFramePr>
        <p:xfrm>
          <a:off x="946673" y="3202866"/>
          <a:ext cx="8455510" cy="3090360"/>
        </p:xfrm>
        <a:graphic>
          <a:graphicData uri="http://schemas.openxmlformats.org/drawingml/2006/table">
            <a:tbl>
              <a:tblPr firstRow="1" firstCol="1" bandRow="1">
                <a:tableStyleId>{5C22544A-7EE6-4342-B048-85BDC9FD1C3A}</a:tableStyleId>
              </a:tblPr>
              <a:tblGrid>
                <a:gridCol w="2113425">
                  <a:extLst>
                    <a:ext uri="{9D8B030D-6E8A-4147-A177-3AD203B41FA5}">
                      <a16:colId xmlns:a16="http://schemas.microsoft.com/office/drawing/2014/main" val="3189675510"/>
                    </a:ext>
                  </a:extLst>
                </a:gridCol>
                <a:gridCol w="2113425">
                  <a:extLst>
                    <a:ext uri="{9D8B030D-6E8A-4147-A177-3AD203B41FA5}">
                      <a16:colId xmlns:a16="http://schemas.microsoft.com/office/drawing/2014/main" val="1660374313"/>
                    </a:ext>
                  </a:extLst>
                </a:gridCol>
                <a:gridCol w="2114330">
                  <a:extLst>
                    <a:ext uri="{9D8B030D-6E8A-4147-A177-3AD203B41FA5}">
                      <a16:colId xmlns:a16="http://schemas.microsoft.com/office/drawing/2014/main" val="2791776811"/>
                    </a:ext>
                  </a:extLst>
                </a:gridCol>
                <a:gridCol w="2114330">
                  <a:extLst>
                    <a:ext uri="{9D8B030D-6E8A-4147-A177-3AD203B41FA5}">
                      <a16:colId xmlns:a16="http://schemas.microsoft.com/office/drawing/2014/main" val="3810012966"/>
                    </a:ext>
                  </a:extLst>
                </a:gridCol>
              </a:tblGrid>
              <a:tr h="618072">
                <a:tc>
                  <a:txBody>
                    <a:bodyPr/>
                    <a:lstStyle/>
                    <a:p>
                      <a:pPr algn="just">
                        <a:lnSpc>
                          <a:spcPct val="150000"/>
                        </a:lnSpc>
                        <a:spcBef>
                          <a:spcPts val="600"/>
                        </a:spcBef>
                        <a:spcAft>
                          <a:spcPts val="1200"/>
                        </a:spcAft>
                      </a:pPr>
                      <a:r>
                        <a:rPr lang="en-GB" sz="1200">
                          <a:effectLst/>
                        </a:rPr>
                        <a:t>Classes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Train</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Valid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Test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9752411"/>
                  </a:ext>
                </a:extLst>
              </a:tr>
              <a:tr h="618072">
                <a:tc>
                  <a:txBody>
                    <a:bodyPr/>
                    <a:lstStyle/>
                    <a:p>
                      <a:pPr algn="just">
                        <a:lnSpc>
                          <a:spcPct val="150000"/>
                        </a:lnSpc>
                        <a:spcBef>
                          <a:spcPts val="600"/>
                        </a:spcBef>
                        <a:spcAft>
                          <a:spcPts val="1200"/>
                        </a:spcAft>
                      </a:pPr>
                      <a:r>
                        <a:rPr lang="en-US" sz="1200">
                          <a:effectLst/>
                        </a:rPr>
                        <a:t>Mild Demented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1920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640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640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34903899"/>
                  </a:ext>
                </a:extLst>
              </a:tr>
              <a:tr h="618072">
                <a:tc>
                  <a:txBody>
                    <a:bodyPr/>
                    <a:lstStyle/>
                    <a:p>
                      <a:pPr algn="just">
                        <a:lnSpc>
                          <a:spcPct val="150000"/>
                        </a:lnSpc>
                        <a:spcBef>
                          <a:spcPts val="600"/>
                        </a:spcBef>
                        <a:spcAft>
                          <a:spcPts val="1200"/>
                        </a:spcAft>
                      </a:pPr>
                      <a:r>
                        <a:rPr lang="en-US" sz="1200">
                          <a:effectLst/>
                        </a:rPr>
                        <a:t>Moderate Demented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1920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640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dirty="0">
                          <a:effectLst/>
                        </a:rPr>
                        <a:t>640</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8077516"/>
                  </a:ext>
                </a:extLst>
              </a:tr>
              <a:tr h="618072">
                <a:tc>
                  <a:txBody>
                    <a:bodyPr/>
                    <a:lstStyle/>
                    <a:p>
                      <a:pPr algn="just">
                        <a:lnSpc>
                          <a:spcPct val="150000"/>
                        </a:lnSpc>
                        <a:spcBef>
                          <a:spcPts val="600"/>
                        </a:spcBef>
                        <a:spcAft>
                          <a:spcPts val="1200"/>
                        </a:spcAft>
                      </a:pPr>
                      <a:r>
                        <a:rPr lang="en-US" sz="1200">
                          <a:effectLst/>
                        </a:rPr>
                        <a:t>Non-Demented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1920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640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640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68786264"/>
                  </a:ext>
                </a:extLst>
              </a:tr>
              <a:tr h="618072">
                <a:tc>
                  <a:txBody>
                    <a:bodyPr/>
                    <a:lstStyle/>
                    <a:p>
                      <a:pPr algn="just">
                        <a:lnSpc>
                          <a:spcPct val="150000"/>
                        </a:lnSpc>
                        <a:spcBef>
                          <a:spcPts val="600"/>
                        </a:spcBef>
                        <a:spcAft>
                          <a:spcPts val="1200"/>
                        </a:spcAft>
                      </a:pPr>
                      <a:r>
                        <a:rPr lang="en-US" sz="1200">
                          <a:effectLst/>
                        </a:rPr>
                        <a:t>Very Mild Demented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dirty="0">
                          <a:effectLst/>
                        </a:rPr>
                        <a:t>1920</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640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dirty="0">
                          <a:effectLst/>
                        </a:rPr>
                        <a:t>640</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004582"/>
                  </a:ext>
                </a:extLst>
              </a:tr>
            </a:tbl>
          </a:graphicData>
        </a:graphic>
      </p:graphicFrame>
      <p:sp>
        <p:nvSpPr>
          <p:cNvPr id="7" name="Rectangle 1">
            <a:extLst>
              <a:ext uri="{FF2B5EF4-FFF2-40B4-BE49-F238E27FC236}">
                <a16:creationId xmlns:a16="http://schemas.microsoft.com/office/drawing/2014/main" id="{EAE5565F-4E92-48E6-9A03-8427199BB9FD}"/>
              </a:ext>
            </a:extLst>
          </p:cNvPr>
          <p:cNvSpPr>
            <a:spLocks noChangeArrowheads="1"/>
          </p:cNvSpPr>
          <p:nvPr/>
        </p:nvSpPr>
        <p:spPr bwMode="auto">
          <a:xfrm>
            <a:off x="3127375" y="33893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8" name="TextBox 7">
            <a:extLst>
              <a:ext uri="{FF2B5EF4-FFF2-40B4-BE49-F238E27FC236}">
                <a16:creationId xmlns:a16="http://schemas.microsoft.com/office/drawing/2014/main" id="{AD2BDA80-3604-4A89-BD7D-2CDDB7D9E2D7}"/>
              </a:ext>
            </a:extLst>
          </p:cNvPr>
          <p:cNvSpPr txBox="1"/>
          <p:nvPr/>
        </p:nvSpPr>
        <p:spPr>
          <a:xfrm>
            <a:off x="2789817" y="6293226"/>
            <a:ext cx="3775934" cy="369332"/>
          </a:xfrm>
          <a:prstGeom prst="rect">
            <a:avLst/>
          </a:prstGeom>
          <a:noFill/>
        </p:spPr>
        <p:txBody>
          <a:bodyPr wrap="square" rtlCol="0">
            <a:spAutoFit/>
          </a:bodyPr>
          <a:lstStyle/>
          <a:p>
            <a:r>
              <a:rPr lang="en-GB" b="1" dirty="0"/>
              <a:t>            Dataset After Splitting</a:t>
            </a:r>
          </a:p>
        </p:txBody>
      </p:sp>
    </p:spTree>
    <p:extLst>
      <p:ext uri="{BB962C8B-B14F-4D97-AF65-F5344CB8AC3E}">
        <p14:creationId xmlns:p14="http://schemas.microsoft.com/office/powerpoint/2010/main" val="3189515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7E1C5-87C7-4387-B722-5E85E3588B11}"/>
              </a:ext>
            </a:extLst>
          </p:cNvPr>
          <p:cNvSpPr>
            <a:spLocks noGrp="1"/>
          </p:cNvSpPr>
          <p:nvPr>
            <p:ph type="title"/>
          </p:nvPr>
        </p:nvSpPr>
        <p:spPr>
          <a:xfrm>
            <a:off x="838200" y="365126"/>
            <a:ext cx="10515600" cy="764428"/>
          </a:xfrm>
        </p:spPr>
        <p:txBody>
          <a:bodyPr/>
          <a:lstStyle/>
          <a:p>
            <a:r>
              <a:rPr lang="en-GB" sz="2800" b="1" dirty="0">
                <a:latin typeface="Times New Roman" panose="02020603050405020304" pitchFamily="18" charset="0"/>
                <a:cs typeface="Times New Roman" panose="02020603050405020304" pitchFamily="18" charset="0"/>
              </a:rPr>
              <a:t>Transfer learning Technique for Deep learning Approach</a:t>
            </a:r>
            <a:endParaRPr lang="en-GB" b="1" dirty="0"/>
          </a:p>
        </p:txBody>
      </p:sp>
      <p:sp>
        <p:nvSpPr>
          <p:cNvPr id="3" name="Content Placeholder 2">
            <a:extLst>
              <a:ext uri="{FF2B5EF4-FFF2-40B4-BE49-F238E27FC236}">
                <a16:creationId xmlns:a16="http://schemas.microsoft.com/office/drawing/2014/main" id="{85EA6578-C1BD-4BE1-BA9E-1914F51FF3B5}"/>
              </a:ext>
            </a:extLst>
          </p:cNvPr>
          <p:cNvSpPr>
            <a:spLocks noGrp="1"/>
          </p:cNvSpPr>
          <p:nvPr>
            <p:ph idx="1"/>
          </p:nvPr>
        </p:nvSpPr>
        <p:spPr>
          <a:xfrm>
            <a:off x="838200" y="1129554"/>
            <a:ext cx="10515600" cy="5047409"/>
          </a:xfrm>
        </p:spPr>
        <p:txBody>
          <a:bodyPr>
            <a:normAutofit/>
          </a:bodyPr>
          <a:lstStyle/>
          <a:p>
            <a:pPr marL="0" indent="0" algn="just">
              <a:buNone/>
            </a:pPr>
            <a:r>
              <a:rPr lang="en-GB" sz="1800" dirty="0">
                <a:latin typeface="Times New Roman" panose="02020603050405020304" pitchFamily="18" charset="0"/>
                <a:cs typeface="Times New Roman" panose="02020603050405020304" pitchFamily="18" charset="0"/>
              </a:rPr>
              <a:t>One area of machine learning that has seen a lot of use in computer vision and data mining is transfer learning. Finding and obtaining useful knowledge from related learning domains in order to enhance performance in the intended learning area is known as transfer learning. There are several benefits of transfer learning.</a:t>
            </a:r>
          </a:p>
          <a:p>
            <a:pPr marL="342900" lvl="0" indent="-342900" algn="just">
              <a:lnSpc>
                <a:spcPct val="150000"/>
              </a:lnSpc>
              <a:spcBef>
                <a:spcPts val="600"/>
              </a:spcBef>
              <a:buFont typeface="Symbol" panose="05050102010706020507" pitchFamily="18" charset="2"/>
              <a:buChar char=""/>
            </a:pPr>
            <a:r>
              <a:rPr lang="en-GB"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Reusing pre-existing knowledge domain data, which leaves a significant amount of work undone.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GB"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It is not required to spend a significant price to receive and evaluate large amounts of new data.</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GB"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With transfer learning good results can also be obtained with small data sets.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200"/>
              </a:spcAft>
              <a:buFont typeface="Symbol" panose="05050102010706020507" pitchFamily="18" charset="2"/>
              <a:buChar char=""/>
            </a:pPr>
            <a:r>
              <a:rPr lang="en-GB"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They may be rapidly translated and used to other sector that are emerging quickly to demonstrate responsive advantages.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endParaRPr lang="en-GB" dirty="0"/>
          </a:p>
        </p:txBody>
      </p:sp>
    </p:spTree>
    <p:extLst>
      <p:ext uri="{BB962C8B-B14F-4D97-AF65-F5344CB8AC3E}">
        <p14:creationId xmlns:p14="http://schemas.microsoft.com/office/powerpoint/2010/main" val="3685097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F0A3C-AF99-4CE0-9538-96017D1F5A49}"/>
              </a:ext>
            </a:extLst>
          </p:cNvPr>
          <p:cNvSpPr>
            <a:spLocks noGrp="1"/>
          </p:cNvSpPr>
          <p:nvPr>
            <p:ph type="title"/>
          </p:nvPr>
        </p:nvSpPr>
        <p:spPr>
          <a:xfrm>
            <a:off x="838200" y="365125"/>
            <a:ext cx="10515600" cy="656851"/>
          </a:xfrm>
        </p:spPr>
        <p:txBody>
          <a:bodyPr/>
          <a:lstStyle/>
          <a:p>
            <a:r>
              <a:rPr lang="en-GB" sz="2800" dirty="0">
                <a:latin typeface="Times New Roman" panose="02020603050405020304" pitchFamily="18" charset="0"/>
                <a:cs typeface="Times New Roman" panose="02020603050405020304" pitchFamily="18" charset="0"/>
              </a:rPr>
              <a:t>Model Summary</a:t>
            </a:r>
          </a:p>
        </p:txBody>
      </p:sp>
      <p:sp>
        <p:nvSpPr>
          <p:cNvPr id="3" name="Content Placeholder 2">
            <a:extLst>
              <a:ext uri="{FF2B5EF4-FFF2-40B4-BE49-F238E27FC236}">
                <a16:creationId xmlns:a16="http://schemas.microsoft.com/office/drawing/2014/main" id="{59533154-36E1-4ABF-B979-BF1777BCC16E}"/>
              </a:ext>
            </a:extLst>
          </p:cNvPr>
          <p:cNvSpPr>
            <a:spLocks noGrp="1"/>
          </p:cNvSpPr>
          <p:nvPr>
            <p:ph idx="1"/>
          </p:nvPr>
        </p:nvSpPr>
        <p:spPr>
          <a:xfrm>
            <a:off x="838200" y="1021976"/>
            <a:ext cx="10515600" cy="5154987"/>
          </a:xfrm>
        </p:spPr>
        <p:txBody>
          <a:bodyPr/>
          <a:lstStyle/>
          <a:p>
            <a:pPr marL="0" indent="0" algn="just">
              <a:buNone/>
            </a:pPr>
            <a:r>
              <a:rPr lang="en-GB" dirty="0"/>
              <a:t>The model summary for each model has been shown below, which contains the information of the shape of input layers, output layer, total parameters, trainable parameters and Non trainable parameters.</a:t>
            </a:r>
          </a:p>
          <a:p>
            <a:endParaRPr lang="en-GB" dirty="0"/>
          </a:p>
        </p:txBody>
      </p:sp>
      <p:graphicFrame>
        <p:nvGraphicFramePr>
          <p:cNvPr id="5" name="Table 4">
            <a:extLst>
              <a:ext uri="{FF2B5EF4-FFF2-40B4-BE49-F238E27FC236}">
                <a16:creationId xmlns:a16="http://schemas.microsoft.com/office/drawing/2014/main" id="{936C7A53-3F1C-4DCE-AABF-F9996C5B69AA}"/>
              </a:ext>
            </a:extLst>
          </p:cNvPr>
          <p:cNvGraphicFramePr>
            <a:graphicFrameLocks noGrp="1"/>
          </p:cNvGraphicFramePr>
          <p:nvPr>
            <p:extLst>
              <p:ext uri="{D42A27DB-BD31-4B8C-83A1-F6EECF244321}">
                <p14:modId xmlns:p14="http://schemas.microsoft.com/office/powerpoint/2010/main" val="1494332538"/>
              </p:ext>
            </p:extLst>
          </p:nvPr>
        </p:nvGraphicFramePr>
        <p:xfrm>
          <a:off x="710005" y="2646381"/>
          <a:ext cx="10101430" cy="3530581"/>
        </p:xfrm>
        <a:graphic>
          <a:graphicData uri="http://schemas.openxmlformats.org/drawingml/2006/table">
            <a:tbl>
              <a:tblPr firstRow="1" firstCol="1" bandRow="1">
                <a:tableStyleId>{5C22544A-7EE6-4342-B048-85BDC9FD1C3A}</a:tableStyleId>
              </a:tblPr>
              <a:tblGrid>
                <a:gridCol w="1683212">
                  <a:extLst>
                    <a:ext uri="{9D8B030D-6E8A-4147-A177-3AD203B41FA5}">
                      <a16:colId xmlns:a16="http://schemas.microsoft.com/office/drawing/2014/main" val="1200784288"/>
                    </a:ext>
                  </a:extLst>
                </a:gridCol>
                <a:gridCol w="1683212">
                  <a:extLst>
                    <a:ext uri="{9D8B030D-6E8A-4147-A177-3AD203B41FA5}">
                      <a16:colId xmlns:a16="http://schemas.microsoft.com/office/drawing/2014/main" val="3141182516"/>
                    </a:ext>
                  </a:extLst>
                </a:gridCol>
                <a:gridCol w="1683212">
                  <a:extLst>
                    <a:ext uri="{9D8B030D-6E8A-4147-A177-3AD203B41FA5}">
                      <a16:colId xmlns:a16="http://schemas.microsoft.com/office/drawing/2014/main" val="549564519"/>
                    </a:ext>
                  </a:extLst>
                </a:gridCol>
                <a:gridCol w="1683212">
                  <a:extLst>
                    <a:ext uri="{9D8B030D-6E8A-4147-A177-3AD203B41FA5}">
                      <a16:colId xmlns:a16="http://schemas.microsoft.com/office/drawing/2014/main" val="4095049978"/>
                    </a:ext>
                  </a:extLst>
                </a:gridCol>
                <a:gridCol w="1684291">
                  <a:extLst>
                    <a:ext uri="{9D8B030D-6E8A-4147-A177-3AD203B41FA5}">
                      <a16:colId xmlns:a16="http://schemas.microsoft.com/office/drawing/2014/main" val="2664867024"/>
                    </a:ext>
                  </a:extLst>
                </a:gridCol>
                <a:gridCol w="1684291">
                  <a:extLst>
                    <a:ext uri="{9D8B030D-6E8A-4147-A177-3AD203B41FA5}">
                      <a16:colId xmlns:a16="http://schemas.microsoft.com/office/drawing/2014/main" val="1989713707"/>
                    </a:ext>
                  </a:extLst>
                </a:gridCol>
              </a:tblGrid>
              <a:tr h="1577353">
                <a:tc>
                  <a:txBody>
                    <a:bodyPr/>
                    <a:lstStyle/>
                    <a:p>
                      <a:pPr algn="just">
                        <a:lnSpc>
                          <a:spcPct val="150000"/>
                        </a:lnSpc>
                        <a:spcBef>
                          <a:spcPts val="600"/>
                        </a:spcBef>
                        <a:spcAft>
                          <a:spcPts val="1200"/>
                        </a:spcAft>
                      </a:pPr>
                      <a:r>
                        <a:rPr lang="en-GB" sz="1200">
                          <a:effectLst/>
                        </a:rPr>
                        <a:t>Models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Input shape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Output Layer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Total parameters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Trainable parameters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Non Trainable parameters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30224591"/>
                  </a:ext>
                </a:extLst>
              </a:tr>
              <a:tr h="488307">
                <a:tc>
                  <a:txBody>
                    <a:bodyPr/>
                    <a:lstStyle/>
                    <a:p>
                      <a:pPr algn="just">
                        <a:lnSpc>
                          <a:spcPct val="150000"/>
                        </a:lnSpc>
                        <a:spcBef>
                          <a:spcPts val="600"/>
                        </a:spcBef>
                        <a:spcAft>
                          <a:spcPts val="1200"/>
                        </a:spcAft>
                      </a:pPr>
                      <a:r>
                        <a:rPr lang="en-GB" sz="1200">
                          <a:effectLst/>
                        </a:rPr>
                        <a:t>VGG16</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224,224,3</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4,1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27,829,060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13,112,324</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14,716,736</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41250779"/>
                  </a:ext>
                </a:extLst>
              </a:tr>
              <a:tr h="488307">
                <a:tc>
                  <a:txBody>
                    <a:bodyPr/>
                    <a:lstStyle/>
                    <a:p>
                      <a:pPr algn="just">
                        <a:lnSpc>
                          <a:spcPct val="150000"/>
                        </a:lnSpc>
                        <a:spcBef>
                          <a:spcPts val="600"/>
                        </a:spcBef>
                        <a:spcAft>
                          <a:spcPts val="1200"/>
                        </a:spcAft>
                      </a:pPr>
                      <a:r>
                        <a:rPr lang="en-GB" sz="1200">
                          <a:effectLst/>
                        </a:rPr>
                        <a:t>Mobile net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224,224,3</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4,1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34,643,012</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32,381,444</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2,261,568</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55391970"/>
                  </a:ext>
                </a:extLst>
              </a:tr>
              <a:tr h="488307">
                <a:tc>
                  <a:txBody>
                    <a:bodyPr/>
                    <a:lstStyle/>
                    <a:p>
                      <a:pPr algn="just">
                        <a:lnSpc>
                          <a:spcPct val="150000"/>
                        </a:lnSpc>
                        <a:spcBef>
                          <a:spcPts val="600"/>
                        </a:spcBef>
                        <a:spcAft>
                          <a:spcPts val="1200"/>
                        </a:spcAft>
                      </a:pPr>
                      <a:r>
                        <a:rPr lang="en-GB" sz="1200">
                          <a:effectLst/>
                        </a:rPr>
                        <a:t>Densenet121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224,224,3</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4,1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32,998,980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25,958,404</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7,040,576</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63414268"/>
                  </a:ext>
                </a:extLst>
              </a:tr>
              <a:tr h="488307">
                <a:tc>
                  <a:txBody>
                    <a:bodyPr/>
                    <a:lstStyle/>
                    <a:p>
                      <a:pPr algn="just">
                        <a:lnSpc>
                          <a:spcPct val="150000"/>
                        </a:lnSpc>
                        <a:spcBef>
                          <a:spcPts val="600"/>
                        </a:spcBef>
                        <a:spcAft>
                          <a:spcPts val="1200"/>
                        </a:spcAft>
                      </a:pPr>
                      <a:r>
                        <a:rPr lang="en-GB" sz="1200">
                          <a:effectLst/>
                        </a:rPr>
                        <a:t>CNN model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224,224,3</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4,1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2,371,716</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a:effectLst/>
                        </a:rPr>
                        <a:t>2,370,756</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spcAft>
                          <a:spcPts val="1200"/>
                        </a:spcAft>
                      </a:pPr>
                      <a:r>
                        <a:rPr lang="en-GB" sz="1200" dirty="0">
                          <a:effectLst/>
                        </a:rPr>
                        <a:t>960</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95384760"/>
                  </a:ext>
                </a:extLst>
              </a:tr>
            </a:tbl>
          </a:graphicData>
        </a:graphic>
      </p:graphicFrame>
    </p:spTree>
    <p:extLst>
      <p:ext uri="{BB962C8B-B14F-4D97-AF65-F5344CB8AC3E}">
        <p14:creationId xmlns:p14="http://schemas.microsoft.com/office/powerpoint/2010/main" val="1966962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D4221-CDD0-401E-85A4-1495D47352C0}"/>
              </a:ext>
            </a:extLst>
          </p:cNvPr>
          <p:cNvSpPr>
            <a:spLocks noGrp="1"/>
          </p:cNvSpPr>
          <p:nvPr>
            <p:ph type="title"/>
          </p:nvPr>
        </p:nvSpPr>
        <p:spPr>
          <a:xfrm>
            <a:off x="838200" y="365126"/>
            <a:ext cx="10515600" cy="710640"/>
          </a:xfrm>
        </p:spPr>
        <p:txBody>
          <a:bodyPr>
            <a:normAutofit/>
          </a:bodyPr>
          <a:lstStyle/>
          <a:p>
            <a:r>
              <a:rPr lang="en-GB" sz="2800" dirty="0">
                <a:latin typeface="Times New Roman" panose="02020603050405020304" pitchFamily="18" charset="0"/>
                <a:cs typeface="Times New Roman" panose="02020603050405020304" pitchFamily="18" charset="0"/>
              </a:rPr>
              <a:t>Model Training</a:t>
            </a:r>
          </a:p>
        </p:txBody>
      </p:sp>
      <p:sp>
        <p:nvSpPr>
          <p:cNvPr id="3" name="Content Placeholder 2">
            <a:extLst>
              <a:ext uri="{FF2B5EF4-FFF2-40B4-BE49-F238E27FC236}">
                <a16:creationId xmlns:a16="http://schemas.microsoft.com/office/drawing/2014/main" id="{F6BAAC99-4DB1-48B3-8EB3-715E91B56247}"/>
              </a:ext>
            </a:extLst>
          </p:cNvPr>
          <p:cNvSpPr>
            <a:spLocks noGrp="1"/>
          </p:cNvSpPr>
          <p:nvPr>
            <p:ph idx="1"/>
          </p:nvPr>
        </p:nvSpPr>
        <p:spPr>
          <a:xfrm>
            <a:off x="838200" y="968188"/>
            <a:ext cx="10515600" cy="5208775"/>
          </a:xfrm>
        </p:spPr>
        <p:txBody>
          <a:bodyPr/>
          <a:lstStyle/>
          <a:p>
            <a:pPr marL="0" indent="0" algn="just">
              <a:buNone/>
            </a:pPr>
            <a:r>
              <a:rPr lang="en-GB" dirty="0"/>
              <a:t>Models have been trained on total fifty epochs, using both the training dataset and the validation dataset. Because of this, while the models were being trained, we monitored their values for training loss, training accuracy, validation loss, and validation accuracy. </a:t>
            </a:r>
          </a:p>
          <a:p>
            <a:pPr marL="0" indent="0" algn="just">
              <a:buNone/>
            </a:pPr>
            <a:endParaRPr lang="en-GB" dirty="0"/>
          </a:p>
        </p:txBody>
      </p:sp>
      <p:graphicFrame>
        <p:nvGraphicFramePr>
          <p:cNvPr id="5" name="Table 4">
            <a:extLst>
              <a:ext uri="{FF2B5EF4-FFF2-40B4-BE49-F238E27FC236}">
                <a16:creationId xmlns:a16="http://schemas.microsoft.com/office/drawing/2014/main" id="{B2720D6D-B669-49BA-9DEB-F76F628AA9FF}"/>
              </a:ext>
            </a:extLst>
          </p:cNvPr>
          <p:cNvGraphicFramePr>
            <a:graphicFrameLocks noGrp="1"/>
          </p:cNvGraphicFramePr>
          <p:nvPr>
            <p:extLst>
              <p:ext uri="{D42A27DB-BD31-4B8C-83A1-F6EECF244321}">
                <p14:modId xmlns:p14="http://schemas.microsoft.com/office/powerpoint/2010/main" val="2660373234"/>
              </p:ext>
            </p:extLst>
          </p:nvPr>
        </p:nvGraphicFramePr>
        <p:xfrm>
          <a:off x="710006" y="2475487"/>
          <a:ext cx="10875978" cy="4304538"/>
        </p:xfrm>
        <a:graphic>
          <a:graphicData uri="http://schemas.openxmlformats.org/drawingml/2006/table">
            <a:tbl>
              <a:tblPr firstRow="1" firstCol="1" lastRow="1" lastCol="1" bandRow="1" bandCol="1">
                <a:tableStyleId>{5C22544A-7EE6-4342-B048-85BDC9FD1C3A}</a:tableStyleId>
              </a:tblPr>
              <a:tblGrid>
                <a:gridCol w="2059873">
                  <a:extLst>
                    <a:ext uri="{9D8B030D-6E8A-4147-A177-3AD203B41FA5}">
                      <a16:colId xmlns:a16="http://schemas.microsoft.com/office/drawing/2014/main" val="2432169057"/>
                    </a:ext>
                  </a:extLst>
                </a:gridCol>
                <a:gridCol w="1771569">
                  <a:extLst>
                    <a:ext uri="{9D8B030D-6E8A-4147-A177-3AD203B41FA5}">
                      <a16:colId xmlns:a16="http://schemas.microsoft.com/office/drawing/2014/main" val="477006161"/>
                    </a:ext>
                  </a:extLst>
                </a:gridCol>
                <a:gridCol w="1761134">
                  <a:extLst>
                    <a:ext uri="{9D8B030D-6E8A-4147-A177-3AD203B41FA5}">
                      <a16:colId xmlns:a16="http://schemas.microsoft.com/office/drawing/2014/main" val="2951479607"/>
                    </a:ext>
                  </a:extLst>
                </a:gridCol>
                <a:gridCol w="1761134">
                  <a:extLst>
                    <a:ext uri="{9D8B030D-6E8A-4147-A177-3AD203B41FA5}">
                      <a16:colId xmlns:a16="http://schemas.microsoft.com/office/drawing/2014/main" val="1641520157"/>
                    </a:ext>
                  </a:extLst>
                </a:gridCol>
                <a:gridCol w="1761134">
                  <a:extLst>
                    <a:ext uri="{9D8B030D-6E8A-4147-A177-3AD203B41FA5}">
                      <a16:colId xmlns:a16="http://schemas.microsoft.com/office/drawing/2014/main" val="2329390681"/>
                    </a:ext>
                  </a:extLst>
                </a:gridCol>
                <a:gridCol w="1761134">
                  <a:extLst>
                    <a:ext uri="{9D8B030D-6E8A-4147-A177-3AD203B41FA5}">
                      <a16:colId xmlns:a16="http://schemas.microsoft.com/office/drawing/2014/main" val="972813220"/>
                    </a:ext>
                  </a:extLst>
                </a:gridCol>
              </a:tblGrid>
              <a:tr h="187367">
                <a:tc>
                  <a:txBody>
                    <a:bodyPr/>
                    <a:lstStyle/>
                    <a:p>
                      <a:pPr algn="just">
                        <a:lnSpc>
                          <a:spcPct val="150000"/>
                        </a:lnSpc>
                        <a:spcBef>
                          <a:spcPts val="600"/>
                        </a:spcBef>
                        <a:spcAft>
                          <a:spcPts val="0"/>
                        </a:spcAft>
                      </a:pPr>
                      <a:r>
                        <a:rPr lang="en-GB" sz="1000">
                          <a:effectLst/>
                        </a:rPr>
                        <a:t>Model</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Epochs</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Train loss</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Valid loss</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Train accuracy</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Valid accuracy</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extLst>
                  <a:ext uri="{0D108BD9-81ED-4DB2-BD59-A6C34878D82A}">
                    <a16:rowId xmlns:a16="http://schemas.microsoft.com/office/drawing/2014/main" val="2363507912"/>
                  </a:ext>
                </a:extLst>
              </a:tr>
              <a:tr h="187367">
                <a:tc rowSpan="5">
                  <a:txBody>
                    <a:bodyPr/>
                    <a:lstStyle/>
                    <a:p>
                      <a:pPr algn="just">
                        <a:lnSpc>
                          <a:spcPct val="150000"/>
                        </a:lnSpc>
                        <a:spcBef>
                          <a:spcPts val="600"/>
                        </a:spcBef>
                        <a:spcAft>
                          <a:spcPts val="0"/>
                        </a:spcAft>
                      </a:pPr>
                      <a:r>
                        <a:rPr lang="en-GB" sz="1000">
                          <a:effectLst/>
                        </a:rPr>
                        <a:t>Mobile net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nchor="ctr"/>
                </a:tc>
                <a:tc>
                  <a:txBody>
                    <a:bodyPr/>
                    <a:lstStyle/>
                    <a:p>
                      <a:pPr algn="just">
                        <a:lnSpc>
                          <a:spcPct val="150000"/>
                        </a:lnSpc>
                        <a:spcBef>
                          <a:spcPts val="600"/>
                        </a:spcBef>
                        <a:spcAft>
                          <a:spcPts val="0"/>
                        </a:spcAft>
                      </a:pPr>
                      <a:r>
                        <a:rPr lang="en-GB" sz="1000">
                          <a:effectLst/>
                        </a:rPr>
                        <a:t>1</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0.902</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0.832</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69.24</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71.42</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extLst>
                  <a:ext uri="{0D108BD9-81ED-4DB2-BD59-A6C34878D82A}">
                    <a16:rowId xmlns:a16="http://schemas.microsoft.com/office/drawing/2014/main" val="3169383378"/>
                  </a:ext>
                </a:extLst>
              </a:tr>
              <a:tr h="187367">
                <a:tc vMerge="1">
                  <a:txBody>
                    <a:bodyPr/>
                    <a:lstStyle/>
                    <a:p>
                      <a:endParaRPr lang="en-GB"/>
                    </a:p>
                  </a:txBody>
                  <a:tcPr/>
                </a:tc>
                <a:tc>
                  <a:txBody>
                    <a:bodyPr/>
                    <a:lstStyle/>
                    <a:p>
                      <a:pPr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nchor="ctr"/>
                </a:tc>
                <a:extLst>
                  <a:ext uri="{0D108BD9-81ED-4DB2-BD59-A6C34878D82A}">
                    <a16:rowId xmlns:a16="http://schemas.microsoft.com/office/drawing/2014/main" val="3070052482"/>
                  </a:ext>
                </a:extLst>
              </a:tr>
              <a:tr h="187367">
                <a:tc vMerge="1">
                  <a:txBody>
                    <a:bodyPr/>
                    <a:lstStyle/>
                    <a:p>
                      <a:endParaRPr lang="en-GB"/>
                    </a:p>
                  </a:txBody>
                  <a:tcPr/>
                </a:tc>
                <a:tc>
                  <a:txBody>
                    <a:bodyPr/>
                    <a:lstStyle/>
                    <a:p>
                      <a:pPr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nchor="ctr"/>
                </a:tc>
                <a:extLst>
                  <a:ext uri="{0D108BD9-81ED-4DB2-BD59-A6C34878D82A}">
                    <a16:rowId xmlns:a16="http://schemas.microsoft.com/office/drawing/2014/main" val="633504170"/>
                  </a:ext>
                </a:extLst>
              </a:tr>
              <a:tr h="187367">
                <a:tc vMerge="1">
                  <a:txBody>
                    <a:bodyPr/>
                    <a:lstStyle/>
                    <a:p>
                      <a:endParaRPr lang="en-GB"/>
                    </a:p>
                  </a:txBody>
                  <a:tcPr/>
                </a:tc>
                <a:tc>
                  <a:txBody>
                    <a:bodyPr/>
                    <a:lstStyle/>
                    <a:p>
                      <a:pPr algn="just">
                        <a:lnSpc>
                          <a:spcPct val="150000"/>
                        </a:lnSpc>
                        <a:spcBef>
                          <a:spcPts val="600"/>
                        </a:spcBef>
                        <a:spcAft>
                          <a:spcPts val="0"/>
                        </a:spcAft>
                      </a:pPr>
                      <a:r>
                        <a:rPr lang="en-GB" sz="1000">
                          <a:effectLst/>
                        </a:rPr>
                        <a:t>49</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0.342</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0.103</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94.61</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93.32</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extLst>
                  <a:ext uri="{0D108BD9-81ED-4DB2-BD59-A6C34878D82A}">
                    <a16:rowId xmlns:a16="http://schemas.microsoft.com/office/drawing/2014/main" val="3877430494"/>
                  </a:ext>
                </a:extLst>
              </a:tr>
              <a:tr h="187367">
                <a:tc vMerge="1">
                  <a:txBody>
                    <a:bodyPr/>
                    <a:lstStyle/>
                    <a:p>
                      <a:endParaRPr lang="en-GB"/>
                    </a:p>
                  </a:txBody>
                  <a:tcPr/>
                </a:tc>
                <a:tc>
                  <a:txBody>
                    <a:bodyPr/>
                    <a:lstStyle/>
                    <a:p>
                      <a:pPr algn="just">
                        <a:lnSpc>
                          <a:spcPct val="150000"/>
                        </a:lnSpc>
                        <a:spcBef>
                          <a:spcPts val="600"/>
                        </a:spcBef>
                        <a:spcAft>
                          <a:spcPts val="0"/>
                        </a:spcAft>
                      </a:pPr>
                      <a:r>
                        <a:rPr lang="en-GB" sz="1000">
                          <a:effectLst/>
                        </a:rPr>
                        <a:t>50</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0.111</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0.118</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94.53</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95.63</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extLst>
                  <a:ext uri="{0D108BD9-81ED-4DB2-BD59-A6C34878D82A}">
                    <a16:rowId xmlns:a16="http://schemas.microsoft.com/office/drawing/2014/main" val="444899430"/>
                  </a:ext>
                </a:extLst>
              </a:tr>
              <a:tr h="187367">
                <a:tc rowSpan="5">
                  <a:txBody>
                    <a:bodyPr/>
                    <a:lstStyle/>
                    <a:p>
                      <a:pPr algn="just">
                        <a:lnSpc>
                          <a:spcPct val="150000"/>
                        </a:lnSpc>
                        <a:spcBef>
                          <a:spcPts val="600"/>
                        </a:spcBef>
                        <a:spcAft>
                          <a:spcPts val="0"/>
                        </a:spcAft>
                      </a:pPr>
                      <a:r>
                        <a:rPr lang="en-GB" sz="1000">
                          <a:effectLst/>
                        </a:rPr>
                        <a:t>VGG16</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nchor="ctr"/>
                </a:tc>
                <a:tc>
                  <a:txBody>
                    <a:bodyPr/>
                    <a:lstStyle/>
                    <a:p>
                      <a:pPr algn="just">
                        <a:lnSpc>
                          <a:spcPct val="150000"/>
                        </a:lnSpc>
                        <a:spcBef>
                          <a:spcPts val="600"/>
                        </a:spcBef>
                        <a:spcAft>
                          <a:spcPts val="0"/>
                        </a:spcAft>
                      </a:pPr>
                      <a:r>
                        <a:rPr lang="en-GB" sz="1000">
                          <a:effectLst/>
                        </a:rPr>
                        <a:t>1</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0.652</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0.714</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78.31</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73.68</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extLst>
                  <a:ext uri="{0D108BD9-81ED-4DB2-BD59-A6C34878D82A}">
                    <a16:rowId xmlns:a16="http://schemas.microsoft.com/office/drawing/2014/main" val="2772946678"/>
                  </a:ext>
                </a:extLst>
              </a:tr>
              <a:tr h="187367">
                <a:tc vMerge="1">
                  <a:txBody>
                    <a:bodyPr/>
                    <a:lstStyle/>
                    <a:p>
                      <a:endParaRPr lang="en-GB"/>
                    </a:p>
                  </a:txBody>
                  <a:tcPr/>
                </a:tc>
                <a:tc>
                  <a:txBody>
                    <a:bodyPr/>
                    <a:lstStyle/>
                    <a:p>
                      <a:pPr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dirty="0">
                          <a:effectLst/>
                        </a:rPr>
                        <a:t>.</a:t>
                      </a:r>
                      <a:endParaRPr lang="en-GB"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nchor="ctr"/>
                </a:tc>
                <a:extLst>
                  <a:ext uri="{0D108BD9-81ED-4DB2-BD59-A6C34878D82A}">
                    <a16:rowId xmlns:a16="http://schemas.microsoft.com/office/drawing/2014/main" val="856630420"/>
                  </a:ext>
                </a:extLst>
              </a:tr>
              <a:tr h="187367">
                <a:tc vMerge="1">
                  <a:txBody>
                    <a:bodyPr/>
                    <a:lstStyle/>
                    <a:p>
                      <a:endParaRPr lang="en-GB"/>
                    </a:p>
                  </a:txBody>
                  <a:tcPr/>
                </a:tc>
                <a:tc>
                  <a:txBody>
                    <a:bodyPr/>
                    <a:lstStyle/>
                    <a:p>
                      <a:pPr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nchor="ctr"/>
                </a:tc>
                <a:extLst>
                  <a:ext uri="{0D108BD9-81ED-4DB2-BD59-A6C34878D82A}">
                    <a16:rowId xmlns:a16="http://schemas.microsoft.com/office/drawing/2014/main" val="1787662943"/>
                  </a:ext>
                </a:extLst>
              </a:tr>
              <a:tr h="187367">
                <a:tc vMerge="1">
                  <a:txBody>
                    <a:bodyPr/>
                    <a:lstStyle/>
                    <a:p>
                      <a:endParaRPr lang="en-GB"/>
                    </a:p>
                  </a:txBody>
                  <a:tcPr/>
                </a:tc>
                <a:tc>
                  <a:txBody>
                    <a:bodyPr/>
                    <a:lstStyle/>
                    <a:p>
                      <a:pPr algn="just">
                        <a:lnSpc>
                          <a:spcPct val="150000"/>
                        </a:lnSpc>
                        <a:spcBef>
                          <a:spcPts val="600"/>
                        </a:spcBef>
                        <a:spcAft>
                          <a:spcPts val="0"/>
                        </a:spcAft>
                      </a:pPr>
                      <a:r>
                        <a:rPr lang="en-GB" sz="1000">
                          <a:effectLst/>
                        </a:rPr>
                        <a:t>49</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0.111</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0.114</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95.23</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dirty="0">
                          <a:effectLst/>
                        </a:rPr>
                        <a:t>95.87</a:t>
                      </a:r>
                      <a:endParaRPr lang="en-GB"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extLst>
                  <a:ext uri="{0D108BD9-81ED-4DB2-BD59-A6C34878D82A}">
                    <a16:rowId xmlns:a16="http://schemas.microsoft.com/office/drawing/2014/main" val="1985202529"/>
                  </a:ext>
                </a:extLst>
              </a:tr>
              <a:tr h="187367">
                <a:tc vMerge="1">
                  <a:txBody>
                    <a:bodyPr/>
                    <a:lstStyle/>
                    <a:p>
                      <a:endParaRPr lang="en-GB"/>
                    </a:p>
                  </a:txBody>
                  <a:tcPr/>
                </a:tc>
                <a:tc>
                  <a:txBody>
                    <a:bodyPr/>
                    <a:lstStyle/>
                    <a:p>
                      <a:pPr algn="just">
                        <a:lnSpc>
                          <a:spcPct val="150000"/>
                        </a:lnSpc>
                        <a:spcBef>
                          <a:spcPts val="600"/>
                        </a:spcBef>
                        <a:spcAft>
                          <a:spcPts val="0"/>
                        </a:spcAft>
                      </a:pPr>
                      <a:r>
                        <a:rPr lang="en-GB" sz="1000">
                          <a:effectLst/>
                        </a:rPr>
                        <a:t>50</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0.009</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0.122</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97.52</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96.88</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extLst>
                  <a:ext uri="{0D108BD9-81ED-4DB2-BD59-A6C34878D82A}">
                    <a16:rowId xmlns:a16="http://schemas.microsoft.com/office/drawing/2014/main" val="3568651061"/>
                  </a:ext>
                </a:extLst>
              </a:tr>
              <a:tr h="187367">
                <a:tc rowSpan="5">
                  <a:txBody>
                    <a:bodyPr/>
                    <a:lstStyle/>
                    <a:p>
                      <a:pPr algn="just">
                        <a:lnSpc>
                          <a:spcPct val="150000"/>
                        </a:lnSpc>
                        <a:spcBef>
                          <a:spcPts val="600"/>
                        </a:spcBef>
                        <a:spcAft>
                          <a:spcPts val="0"/>
                        </a:spcAft>
                      </a:pPr>
                      <a:r>
                        <a:rPr lang="en-GB" sz="1000">
                          <a:effectLst/>
                        </a:rPr>
                        <a:t>Densenet121</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nchor="ctr"/>
                </a:tc>
                <a:tc>
                  <a:txBody>
                    <a:bodyPr/>
                    <a:lstStyle/>
                    <a:p>
                      <a:pPr algn="just">
                        <a:lnSpc>
                          <a:spcPct val="150000"/>
                        </a:lnSpc>
                        <a:spcBef>
                          <a:spcPts val="600"/>
                        </a:spcBef>
                        <a:spcAft>
                          <a:spcPts val="0"/>
                        </a:spcAft>
                      </a:pPr>
                      <a:r>
                        <a:rPr lang="en-GB" sz="1000">
                          <a:effectLst/>
                        </a:rPr>
                        <a:t>1</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0.712</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0.722</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69.54</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70.23</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extLst>
                  <a:ext uri="{0D108BD9-81ED-4DB2-BD59-A6C34878D82A}">
                    <a16:rowId xmlns:a16="http://schemas.microsoft.com/office/drawing/2014/main" val="231848374"/>
                  </a:ext>
                </a:extLst>
              </a:tr>
              <a:tr h="187367">
                <a:tc vMerge="1">
                  <a:txBody>
                    <a:bodyPr/>
                    <a:lstStyle/>
                    <a:p>
                      <a:endParaRPr lang="en-GB"/>
                    </a:p>
                  </a:txBody>
                  <a:tcPr/>
                </a:tc>
                <a:tc>
                  <a:txBody>
                    <a:bodyPr/>
                    <a:lstStyle/>
                    <a:p>
                      <a:pPr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extLst>
                  <a:ext uri="{0D108BD9-81ED-4DB2-BD59-A6C34878D82A}">
                    <a16:rowId xmlns:a16="http://schemas.microsoft.com/office/drawing/2014/main" val="3107405783"/>
                  </a:ext>
                </a:extLst>
              </a:tr>
              <a:tr h="187367">
                <a:tc vMerge="1">
                  <a:txBody>
                    <a:bodyPr/>
                    <a:lstStyle/>
                    <a:p>
                      <a:endParaRPr lang="en-GB"/>
                    </a:p>
                  </a:txBody>
                  <a:tcPr/>
                </a:tc>
                <a:tc>
                  <a:txBody>
                    <a:bodyPr/>
                    <a:lstStyle/>
                    <a:p>
                      <a:pPr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extLst>
                  <a:ext uri="{0D108BD9-81ED-4DB2-BD59-A6C34878D82A}">
                    <a16:rowId xmlns:a16="http://schemas.microsoft.com/office/drawing/2014/main" val="475543831"/>
                  </a:ext>
                </a:extLst>
              </a:tr>
              <a:tr h="187367">
                <a:tc vMerge="1">
                  <a:txBody>
                    <a:bodyPr/>
                    <a:lstStyle/>
                    <a:p>
                      <a:endParaRPr lang="en-GB"/>
                    </a:p>
                  </a:txBody>
                  <a:tcPr/>
                </a:tc>
                <a:tc>
                  <a:txBody>
                    <a:bodyPr/>
                    <a:lstStyle/>
                    <a:p>
                      <a:pPr algn="just">
                        <a:lnSpc>
                          <a:spcPct val="150000"/>
                        </a:lnSpc>
                        <a:spcBef>
                          <a:spcPts val="600"/>
                        </a:spcBef>
                        <a:spcAft>
                          <a:spcPts val="0"/>
                        </a:spcAft>
                      </a:pPr>
                      <a:r>
                        <a:rPr lang="en-GB" sz="1000">
                          <a:effectLst/>
                        </a:rPr>
                        <a:t>49</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0.121</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0.112</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93.71</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93.32</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extLst>
                  <a:ext uri="{0D108BD9-81ED-4DB2-BD59-A6C34878D82A}">
                    <a16:rowId xmlns:a16="http://schemas.microsoft.com/office/drawing/2014/main" val="2709195452"/>
                  </a:ext>
                </a:extLst>
              </a:tr>
              <a:tr h="187367">
                <a:tc vMerge="1">
                  <a:txBody>
                    <a:bodyPr/>
                    <a:lstStyle/>
                    <a:p>
                      <a:endParaRPr lang="en-GB"/>
                    </a:p>
                  </a:txBody>
                  <a:tcPr/>
                </a:tc>
                <a:tc>
                  <a:txBody>
                    <a:bodyPr/>
                    <a:lstStyle/>
                    <a:p>
                      <a:pPr algn="just">
                        <a:lnSpc>
                          <a:spcPct val="150000"/>
                        </a:lnSpc>
                        <a:spcBef>
                          <a:spcPts val="600"/>
                        </a:spcBef>
                        <a:spcAft>
                          <a:spcPts val="0"/>
                        </a:spcAft>
                      </a:pPr>
                      <a:r>
                        <a:rPr lang="en-GB" sz="1000">
                          <a:effectLst/>
                        </a:rPr>
                        <a:t>50</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0.112</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0.141</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95.83</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95.65</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extLst>
                  <a:ext uri="{0D108BD9-81ED-4DB2-BD59-A6C34878D82A}">
                    <a16:rowId xmlns:a16="http://schemas.microsoft.com/office/drawing/2014/main" val="2746792644"/>
                  </a:ext>
                </a:extLst>
              </a:tr>
              <a:tr h="187367">
                <a:tc rowSpan="5">
                  <a:txBody>
                    <a:bodyPr/>
                    <a:lstStyle/>
                    <a:p>
                      <a:pPr algn="just">
                        <a:lnSpc>
                          <a:spcPct val="150000"/>
                        </a:lnSpc>
                        <a:spcBef>
                          <a:spcPts val="600"/>
                        </a:spcBef>
                        <a:spcAft>
                          <a:spcPts val="0"/>
                        </a:spcAft>
                      </a:pPr>
                      <a:r>
                        <a:rPr lang="en-GB" sz="1000">
                          <a:effectLst/>
                        </a:rPr>
                        <a:t>CNN model</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nchor="ctr"/>
                </a:tc>
                <a:tc>
                  <a:txBody>
                    <a:bodyPr/>
                    <a:lstStyle/>
                    <a:p>
                      <a:pPr algn="just">
                        <a:lnSpc>
                          <a:spcPct val="150000"/>
                        </a:lnSpc>
                        <a:spcBef>
                          <a:spcPts val="600"/>
                        </a:spcBef>
                        <a:spcAft>
                          <a:spcPts val="0"/>
                        </a:spcAft>
                      </a:pPr>
                      <a:r>
                        <a:rPr lang="en-GB" sz="1000">
                          <a:effectLst/>
                        </a:rPr>
                        <a:t>1</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0.812</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0.922</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49.54</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52.12</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extLst>
                  <a:ext uri="{0D108BD9-81ED-4DB2-BD59-A6C34878D82A}">
                    <a16:rowId xmlns:a16="http://schemas.microsoft.com/office/drawing/2014/main" val="1696389482"/>
                  </a:ext>
                </a:extLst>
              </a:tr>
              <a:tr h="187367">
                <a:tc vMerge="1">
                  <a:txBody>
                    <a:bodyPr/>
                    <a:lstStyle/>
                    <a:p>
                      <a:endParaRPr lang="en-GB"/>
                    </a:p>
                  </a:txBody>
                  <a:tcPr/>
                </a:tc>
                <a:tc>
                  <a:txBody>
                    <a:bodyPr/>
                    <a:lstStyle/>
                    <a:p>
                      <a:pPr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extLst>
                  <a:ext uri="{0D108BD9-81ED-4DB2-BD59-A6C34878D82A}">
                    <a16:rowId xmlns:a16="http://schemas.microsoft.com/office/drawing/2014/main" val="2315202829"/>
                  </a:ext>
                </a:extLst>
              </a:tr>
              <a:tr h="187367">
                <a:tc vMerge="1">
                  <a:txBody>
                    <a:bodyPr/>
                    <a:lstStyle/>
                    <a:p>
                      <a:endParaRPr lang="en-GB"/>
                    </a:p>
                  </a:txBody>
                  <a:tcPr/>
                </a:tc>
                <a:tc>
                  <a:txBody>
                    <a:bodyPr/>
                    <a:lstStyle/>
                    <a:p>
                      <a:pPr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extLst>
                  <a:ext uri="{0D108BD9-81ED-4DB2-BD59-A6C34878D82A}">
                    <a16:rowId xmlns:a16="http://schemas.microsoft.com/office/drawing/2014/main" val="3239854371"/>
                  </a:ext>
                </a:extLst>
              </a:tr>
              <a:tr h="187367">
                <a:tc vMerge="1">
                  <a:txBody>
                    <a:bodyPr/>
                    <a:lstStyle/>
                    <a:p>
                      <a:endParaRPr lang="en-GB"/>
                    </a:p>
                  </a:txBody>
                  <a:tcPr/>
                </a:tc>
                <a:tc>
                  <a:txBody>
                    <a:bodyPr/>
                    <a:lstStyle/>
                    <a:p>
                      <a:pPr algn="just">
                        <a:lnSpc>
                          <a:spcPct val="150000"/>
                        </a:lnSpc>
                        <a:spcBef>
                          <a:spcPts val="600"/>
                        </a:spcBef>
                        <a:spcAft>
                          <a:spcPts val="0"/>
                        </a:spcAft>
                      </a:pPr>
                      <a:r>
                        <a:rPr lang="en-GB" sz="1000">
                          <a:effectLst/>
                        </a:rPr>
                        <a:t>49</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0.172</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0.112</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93.31</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a:effectLst/>
                        </a:rPr>
                        <a:t>92.25</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extLst>
                  <a:ext uri="{0D108BD9-81ED-4DB2-BD59-A6C34878D82A}">
                    <a16:rowId xmlns:a16="http://schemas.microsoft.com/office/drawing/2014/main" val="1028277638"/>
                  </a:ext>
                </a:extLst>
              </a:tr>
              <a:tr h="187367">
                <a:tc vMerge="1">
                  <a:txBody>
                    <a:bodyPr/>
                    <a:lstStyle/>
                    <a:p>
                      <a:endParaRPr lang="en-GB"/>
                    </a:p>
                  </a:txBody>
                  <a:tcPr/>
                </a:tc>
                <a:tc>
                  <a:txBody>
                    <a:bodyPr/>
                    <a:lstStyle/>
                    <a:p>
                      <a:pPr algn="just">
                        <a:lnSpc>
                          <a:spcPct val="150000"/>
                        </a:lnSpc>
                        <a:spcBef>
                          <a:spcPts val="600"/>
                        </a:spcBef>
                        <a:spcAft>
                          <a:spcPts val="0"/>
                        </a:spcAft>
                      </a:pPr>
                      <a:r>
                        <a:rPr lang="en-GB" sz="1000">
                          <a:effectLst/>
                        </a:rPr>
                        <a:t>50</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0.192</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0.131</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marR="177800" algn="just">
                        <a:lnSpc>
                          <a:spcPct val="150000"/>
                        </a:lnSpc>
                        <a:spcBef>
                          <a:spcPts val="600"/>
                        </a:spcBef>
                        <a:spcAft>
                          <a:spcPts val="0"/>
                        </a:spcAft>
                      </a:pPr>
                      <a:r>
                        <a:rPr lang="en-GB" sz="1000">
                          <a:effectLst/>
                        </a:rPr>
                        <a:t>92.33</a:t>
                      </a:r>
                      <a:endParaRPr lang="en-GB" sz="90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tc>
                  <a:txBody>
                    <a:bodyPr/>
                    <a:lstStyle/>
                    <a:p>
                      <a:pPr algn="just">
                        <a:lnSpc>
                          <a:spcPct val="150000"/>
                        </a:lnSpc>
                        <a:spcBef>
                          <a:spcPts val="600"/>
                        </a:spcBef>
                        <a:spcAft>
                          <a:spcPts val="0"/>
                        </a:spcAft>
                      </a:pPr>
                      <a:r>
                        <a:rPr lang="en-GB" sz="1000" dirty="0">
                          <a:effectLst/>
                        </a:rPr>
                        <a:t>94.26</a:t>
                      </a:r>
                      <a:endParaRPr lang="en-GB"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5055" marR="55055" marT="0" marB="0"/>
                </a:tc>
                <a:extLst>
                  <a:ext uri="{0D108BD9-81ED-4DB2-BD59-A6C34878D82A}">
                    <a16:rowId xmlns:a16="http://schemas.microsoft.com/office/drawing/2014/main" val="3190983214"/>
                  </a:ext>
                </a:extLst>
              </a:tr>
            </a:tbl>
          </a:graphicData>
        </a:graphic>
      </p:graphicFrame>
    </p:spTree>
    <p:extLst>
      <p:ext uri="{BB962C8B-B14F-4D97-AF65-F5344CB8AC3E}">
        <p14:creationId xmlns:p14="http://schemas.microsoft.com/office/powerpoint/2010/main" val="2023196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8ED90-498D-4D88-86E1-56CA7089831D}"/>
              </a:ext>
            </a:extLst>
          </p:cNvPr>
          <p:cNvSpPr>
            <a:spLocks noGrp="1"/>
          </p:cNvSpPr>
          <p:nvPr>
            <p:ph type="title"/>
          </p:nvPr>
        </p:nvSpPr>
        <p:spPr>
          <a:xfrm>
            <a:off x="838200" y="365125"/>
            <a:ext cx="10515600" cy="915035"/>
          </a:xfrm>
        </p:spPr>
        <p:txBody>
          <a:bodyPr/>
          <a:lstStyle/>
          <a:p>
            <a:r>
              <a:rPr lang="en-GB" dirty="0">
                <a:latin typeface="Times New Roman" panose="02020603050405020304" pitchFamily="18" charset="0"/>
                <a:cs typeface="Times New Roman" panose="02020603050405020304" pitchFamily="18" charset="0"/>
              </a:rPr>
              <a:t>Loss Vs Accuracies Graph</a:t>
            </a:r>
          </a:p>
        </p:txBody>
      </p:sp>
      <p:sp>
        <p:nvSpPr>
          <p:cNvPr id="3" name="Content Placeholder 2">
            <a:extLst>
              <a:ext uri="{FF2B5EF4-FFF2-40B4-BE49-F238E27FC236}">
                <a16:creationId xmlns:a16="http://schemas.microsoft.com/office/drawing/2014/main" id="{B8D918A7-A0D9-4DDA-8ED8-4A59EF354D51}"/>
              </a:ext>
            </a:extLst>
          </p:cNvPr>
          <p:cNvSpPr>
            <a:spLocks noGrp="1"/>
          </p:cNvSpPr>
          <p:nvPr>
            <p:ph idx="1"/>
          </p:nvPr>
        </p:nvSpPr>
        <p:spPr>
          <a:xfrm>
            <a:off x="745834" y="1065006"/>
            <a:ext cx="10515600" cy="5090441"/>
          </a:xfrm>
        </p:spPr>
        <p:txBody>
          <a:bodyPr/>
          <a:lstStyle/>
          <a:p>
            <a:pPr marL="0" indent="0" algn="just">
              <a:buNone/>
            </a:pPr>
            <a:r>
              <a:rPr lang="en-GB" sz="1800" dirty="0"/>
              <a:t>The accuracy and loss curve are one of the most often used for evaluation development of neural networks. It is clear anyone use accuracy and loss curves for deep learning model knowledge.</a:t>
            </a:r>
          </a:p>
          <a:p>
            <a:pPr marL="0" indent="0" algn="just">
              <a:buNone/>
            </a:pPr>
            <a:endParaRPr lang="en-GB" dirty="0"/>
          </a:p>
        </p:txBody>
      </p:sp>
      <p:pic>
        <p:nvPicPr>
          <p:cNvPr id="5" name="Picture 4">
            <a:extLst>
              <a:ext uri="{FF2B5EF4-FFF2-40B4-BE49-F238E27FC236}">
                <a16:creationId xmlns:a16="http://schemas.microsoft.com/office/drawing/2014/main" id="{3D02048E-9ACB-44C5-A8EC-84D444FD2AA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57547" y="1892245"/>
            <a:ext cx="4948516" cy="2373630"/>
          </a:xfrm>
          <a:prstGeom prst="rect">
            <a:avLst/>
          </a:prstGeom>
          <a:noFill/>
          <a:ln>
            <a:noFill/>
          </a:ln>
        </p:spPr>
      </p:pic>
      <p:pic>
        <p:nvPicPr>
          <p:cNvPr id="8" name="Picture 7" descr="Chart, histogram&#10;&#10;Description automatically generated">
            <a:extLst>
              <a:ext uri="{FF2B5EF4-FFF2-40B4-BE49-F238E27FC236}">
                <a16:creationId xmlns:a16="http://schemas.microsoft.com/office/drawing/2014/main" id="{4909D84B-E263-4BE7-9580-00730BE34E1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776854" y="1980041"/>
            <a:ext cx="5755371" cy="2373630"/>
          </a:xfrm>
          <a:prstGeom prst="rect">
            <a:avLst/>
          </a:prstGeom>
          <a:noFill/>
          <a:ln>
            <a:noFill/>
          </a:ln>
        </p:spPr>
      </p:pic>
      <p:sp>
        <p:nvSpPr>
          <p:cNvPr id="9" name="TextBox 8">
            <a:extLst>
              <a:ext uri="{FF2B5EF4-FFF2-40B4-BE49-F238E27FC236}">
                <a16:creationId xmlns:a16="http://schemas.microsoft.com/office/drawing/2014/main" id="{175FB370-63E5-476A-B607-34519E7D3C68}"/>
              </a:ext>
            </a:extLst>
          </p:cNvPr>
          <p:cNvSpPr txBox="1"/>
          <p:nvPr/>
        </p:nvSpPr>
        <p:spPr>
          <a:xfrm>
            <a:off x="2689413" y="1522913"/>
            <a:ext cx="1592131" cy="369332"/>
          </a:xfrm>
          <a:prstGeom prst="rect">
            <a:avLst/>
          </a:prstGeom>
          <a:noFill/>
        </p:spPr>
        <p:txBody>
          <a:bodyPr wrap="square" rtlCol="0">
            <a:spAutoFit/>
          </a:bodyPr>
          <a:lstStyle/>
          <a:p>
            <a:r>
              <a:rPr lang="en-GB" b="1" dirty="0">
                <a:latin typeface="Times New Roman" panose="02020603050405020304" pitchFamily="18" charset="0"/>
                <a:cs typeface="Times New Roman" panose="02020603050405020304" pitchFamily="18" charset="0"/>
              </a:rPr>
              <a:t>CNN Model</a:t>
            </a:r>
          </a:p>
        </p:txBody>
      </p:sp>
      <p:sp>
        <p:nvSpPr>
          <p:cNvPr id="12" name="Rectangle 11">
            <a:extLst>
              <a:ext uri="{FF2B5EF4-FFF2-40B4-BE49-F238E27FC236}">
                <a16:creationId xmlns:a16="http://schemas.microsoft.com/office/drawing/2014/main" id="{BF918D84-1BC0-4F55-9BCB-940C18E199A3}"/>
              </a:ext>
            </a:extLst>
          </p:cNvPr>
          <p:cNvSpPr/>
          <p:nvPr/>
        </p:nvSpPr>
        <p:spPr>
          <a:xfrm>
            <a:off x="8145427" y="1545062"/>
            <a:ext cx="1018227" cy="369332"/>
          </a:xfrm>
          <a:prstGeom prst="rect">
            <a:avLst/>
          </a:prstGeom>
          <a:noFill/>
        </p:spPr>
        <p:txBody>
          <a:bodyPr wrap="none" lIns="91440" tIns="45720" rIns="91440" bIns="45720">
            <a:spAutoFit/>
          </a:bodyPr>
          <a:lstStyle/>
          <a:p>
            <a:pPr algn="ctr"/>
            <a:r>
              <a:rPr lang="en-US"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VGG-16</a:t>
            </a:r>
            <a:endParaRPr lang="en-US"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D1866A30-CC90-4C4C-9A08-472170734F78}"/>
              </a:ext>
            </a:extLst>
          </p:cNvPr>
          <p:cNvPicPr>
            <a:picLocks noChangeAspect="1"/>
          </p:cNvPicPr>
          <p:nvPr/>
        </p:nvPicPr>
        <p:blipFill>
          <a:blip r:embed="rId4"/>
          <a:stretch>
            <a:fillRect/>
          </a:stretch>
        </p:blipFill>
        <p:spPr>
          <a:xfrm>
            <a:off x="194266" y="4787152"/>
            <a:ext cx="5311797" cy="2065405"/>
          </a:xfrm>
          <a:prstGeom prst="rect">
            <a:avLst/>
          </a:prstGeom>
        </p:spPr>
      </p:pic>
      <p:sp>
        <p:nvSpPr>
          <p:cNvPr id="15" name="Rectangle 14">
            <a:extLst>
              <a:ext uri="{FF2B5EF4-FFF2-40B4-BE49-F238E27FC236}">
                <a16:creationId xmlns:a16="http://schemas.microsoft.com/office/drawing/2014/main" id="{42A015F7-3932-4033-A7B1-73596DEFA5B4}"/>
              </a:ext>
            </a:extLst>
          </p:cNvPr>
          <p:cNvSpPr/>
          <p:nvPr/>
        </p:nvSpPr>
        <p:spPr>
          <a:xfrm>
            <a:off x="1616131" y="4417820"/>
            <a:ext cx="1967205" cy="369332"/>
          </a:xfrm>
          <a:prstGeom prst="rect">
            <a:avLst/>
          </a:prstGeom>
          <a:noFill/>
        </p:spPr>
        <p:txBody>
          <a:bodyPr wrap="none" lIns="91440" tIns="45720" rIns="91440" bIns="45720">
            <a:spAutoFit/>
          </a:bodyPr>
          <a:lstStyle/>
          <a:p>
            <a:pPr algn="ctr"/>
            <a:r>
              <a:rPr lang="en-US"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Mobile Net Model</a:t>
            </a:r>
          </a:p>
        </p:txBody>
      </p:sp>
      <p:pic>
        <p:nvPicPr>
          <p:cNvPr id="17" name="Picture 16">
            <a:extLst>
              <a:ext uri="{FF2B5EF4-FFF2-40B4-BE49-F238E27FC236}">
                <a16:creationId xmlns:a16="http://schemas.microsoft.com/office/drawing/2014/main" id="{9CA97287-70BA-4930-AE77-1869B3BC663C}"/>
              </a:ext>
            </a:extLst>
          </p:cNvPr>
          <p:cNvPicPr>
            <a:picLocks noChangeAspect="1"/>
          </p:cNvPicPr>
          <p:nvPr/>
        </p:nvPicPr>
        <p:blipFill>
          <a:blip r:embed="rId5"/>
          <a:stretch>
            <a:fillRect/>
          </a:stretch>
        </p:blipFill>
        <p:spPr>
          <a:xfrm>
            <a:off x="5636608" y="4787151"/>
            <a:ext cx="5895617" cy="2065406"/>
          </a:xfrm>
          <a:prstGeom prst="rect">
            <a:avLst/>
          </a:prstGeom>
        </p:spPr>
      </p:pic>
      <p:sp>
        <p:nvSpPr>
          <p:cNvPr id="18" name="Rectangle 17">
            <a:extLst>
              <a:ext uri="{FF2B5EF4-FFF2-40B4-BE49-F238E27FC236}">
                <a16:creationId xmlns:a16="http://schemas.microsoft.com/office/drawing/2014/main" id="{FADAFFA1-FC6C-4D8F-9515-25CEA7BDADE4}"/>
              </a:ext>
            </a:extLst>
          </p:cNvPr>
          <p:cNvSpPr/>
          <p:nvPr/>
        </p:nvSpPr>
        <p:spPr>
          <a:xfrm>
            <a:off x="8023899" y="4467480"/>
            <a:ext cx="1582484" cy="369332"/>
          </a:xfrm>
          <a:prstGeom prst="rect">
            <a:avLst/>
          </a:prstGeom>
          <a:noFill/>
        </p:spPr>
        <p:txBody>
          <a:bodyPr wrap="none" lIns="91440" tIns="45720" rIns="91440" bIns="45720">
            <a:spAutoFit/>
          </a:bodyPr>
          <a:lstStyle/>
          <a:p>
            <a:pPr algn="ctr"/>
            <a:r>
              <a:rPr lang="en-US"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Dense Net 121</a:t>
            </a:r>
          </a:p>
        </p:txBody>
      </p:sp>
    </p:spTree>
    <p:extLst>
      <p:ext uri="{BB962C8B-B14F-4D97-AF65-F5344CB8AC3E}">
        <p14:creationId xmlns:p14="http://schemas.microsoft.com/office/powerpoint/2010/main" val="2088338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52BCA-CAF2-47F1-BB85-697514BB6449}"/>
              </a:ext>
            </a:extLst>
          </p:cNvPr>
          <p:cNvSpPr>
            <a:spLocks noGrp="1"/>
          </p:cNvSpPr>
          <p:nvPr>
            <p:ph type="title"/>
          </p:nvPr>
        </p:nvSpPr>
        <p:spPr>
          <a:xfrm>
            <a:off x="838200" y="365126"/>
            <a:ext cx="10515600" cy="635336"/>
          </a:xfrm>
        </p:spPr>
        <p:txBody>
          <a:bodyPr>
            <a:normAutofit/>
          </a:bodyPr>
          <a:lstStyle/>
          <a:p>
            <a:r>
              <a:rPr lang="en-GB" sz="2800" b="1" dirty="0">
                <a:latin typeface="Times New Roman" panose="02020603050405020304" pitchFamily="18" charset="0"/>
                <a:cs typeface="Times New Roman" panose="02020603050405020304" pitchFamily="18" charset="0"/>
              </a:rPr>
              <a:t>Confusion Metric</a:t>
            </a:r>
          </a:p>
        </p:txBody>
      </p:sp>
      <p:sp>
        <p:nvSpPr>
          <p:cNvPr id="3" name="Content Placeholder 2">
            <a:extLst>
              <a:ext uri="{FF2B5EF4-FFF2-40B4-BE49-F238E27FC236}">
                <a16:creationId xmlns:a16="http://schemas.microsoft.com/office/drawing/2014/main" id="{5BAECC1A-E6DC-4636-9E28-A2591C6488EF}"/>
              </a:ext>
            </a:extLst>
          </p:cNvPr>
          <p:cNvSpPr>
            <a:spLocks noGrp="1"/>
          </p:cNvSpPr>
          <p:nvPr>
            <p:ph idx="1"/>
          </p:nvPr>
        </p:nvSpPr>
        <p:spPr>
          <a:xfrm>
            <a:off x="838199" y="1000462"/>
            <a:ext cx="11264153" cy="5176501"/>
          </a:xfrm>
        </p:spPr>
        <p:txBody>
          <a:bodyPr>
            <a:normAutofit/>
          </a:bodyPr>
          <a:lstStyle/>
          <a:p>
            <a:pPr marL="0" indent="0" algn="just">
              <a:buNone/>
            </a:pPr>
            <a:r>
              <a:rPr lang="en-GB" sz="1800" dirty="0">
                <a:latin typeface="Times New Roman" panose="02020603050405020304" pitchFamily="18" charset="0"/>
                <a:cs typeface="Times New Roman" panose="02020603050405020304" pitchFamily="18" charset="0"/>
              </a:rPr>
              <a:t>A confusion matrix is constructed from the results of prediction attempts made on a classification problem. Count values are utilised in order to describe the number of correct and incorrect predictions for each category. This is the key to deciphering the confusion matrix. Confusion matrices have been developed in order to classify post-training data as either true positives, true negatives, false positives, or false negatives.</a:t>
            </a:r>
          </a:p>
          <a:p>
            <a:pPr marL="0" indent="0" algn="just">
              <a:buNone/>
            </a:pPr>
            <a:r>
              <a:rPr lang="en-GB" sz="1800" dirty="0">
                <a:latin typeface="Times New Roman" panose="02020603050405020304" pitchFamily="18" charset="0"/>
                <a:cs typeface="Times New Roman" panose="02020603050405020304" pitchFamily="18" charset="0"/>
              </a:rPr>
              <a:t> </a:t>
            </a:r>
            <a:r>
              <a:rPr lang="en-GB" sz="1800" b="1" dirty="0">
                <a:latin typeface="Times New Roman" panose="02020603050405020304" pitchFamily="18" charset="0"/>
                <a:cs typeface="Times New Roman" panose="02020603050405020304" pitchFamily="18" charset="0"/>
              </a:rPr>
              <a:t>CNN</a:t>
            </a:r>
          </a:p>
        </p:txBody>
      </p:sp>
      <p:pic>
        <p:nvPicPr>
          <p:cNvPr id="5" name="Picture 4">
            <a:extLst>
              <a:ext uri="{FF2B5EF4-FFF2-40B4-BE49-F238E27FC236}">
                <a16:creationId xmlns:a16="http://schemas.microsoft.com/office/drawing/2014/main" id="{65936B3F-5BFD-4044-9496-0B032F81137F}"/>
              </a:ext>
            </a:extLst>
          </p:cNvPr>
          <p:cNvPicPr>
            <a:picLocks noChangeAspect="1"/>
          </p:cNvPicPr>
          <p:nvPr/>
        </p:nvPicPr>
        <p:blipFill>
          <a:blip r:embed="rId2"/>
          <a:stretch>
            <a:fillRect/>
          </a:stretch>
        </p:blipFill>
        <p:spPr>
          <a:xfrm>
            <a:off x="670971" y="2431289"/>
            <a:ext cx="2879053" cy="4061585"/>
          </a:xfrm>
          <a:prstGeom prst="rect">
            <a:avLst/>
          </a:prstGeom>
        </p:spPr>
      </p:pic>
      <p:pic>
        <p:nvPicPr>
          <p:cNvPr id="7" name="Picture 6">
            <a:extLst>
              <a:ext uri="{FF2B5EF4-FFF2-40B4-BE49-F238E27FC236}">
                <a16:creationId xmlns:a16="http://schemas.microsoft.com/office/drawing/2014/main" id="{3414191D-832E-4680-9FD9-7DF8C5639991}"/>
              </a:ext>
            </a:extLst>
          </p:cNvPr>
          <p:cNvPicPr>
            <a:picLocks noChangeAspect="1"/>
          </p:cNvPicPr>
          <p:nvPr/>
        </p:nvPicPr>
        <p:blipFill>
          <a:blip r:embed="rId3"/>
          <a:stretch>
            <a:fillRect/>
          </a:stretch>
        </p:blipFill>
        <p:spPr>
          <a:xfrm>
            <a:off x="3630769" y="2467630"/>
            <a:ext cx="2727000" cy="4025244"/>
          </a:xfrm>
          <a:prstGeom prst="rect">
            <a:avLst/>
          </a:prstGeom>
        </p:spPr>
      </p:pic>
      <p:pic>
        <p:nvPicPr>
          <p:cNvPr id="9" name="Picture 8">
            <a:extLst>
              <a:ext uri="{FF2B5EF4-FFF2-40B4-BE49-F238E27FC236}">
                <a16:creationId xmlns:a16="http://schemas.microsoft.com/office/drawing/2014/main" id="{232C649A-1CF4-431A-BC61-7143DCA9BECE}"/>
              </a:ext>
            </a:extLst>
          </p:cNvPr>
          <p:cNvPicPr>
            <a:picLocks noChangeAspect="1"/>
          </p:cNvPicPr>
          <p:nvPr/>
        </p:nvPicPr>
        <p:blipFill>
          <a:blip r:embed="rId4"/>
          <a:stretch>
            <a:fillRect/>
          </a:stretch>
        </p:blipFill>
        <p:spPr>
          <a:xfrm>
            <a:off x="6496340" y="2431288"/>
            <a:ext cx="2879053" cy="4061585"/>
          </a:xfrm>
          <a:prstGeom prst="rect">
            <a:avLst/>
          </a:prstGeom>
        </p:spPr>
      </p:pic>
      <p:pic>
        <p:nvPicPr>
          <p:cNvPr id="11" name="Picture 10" descr="Chart&#10;&#10;Description automatically generated">
            <a:extLst>
              <a:ext uri="{FF2B5EF4-FFF2-40B4-BE49-F238E27FC236}">
                <a16:creationId xmlns:a16="http://schemas.microsoft.com/office/drawing/2014/main" id="{CF1AC914-C05A-4C54-86B9-D443D6A0BAD6}"/>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398312" y="2431289"/>
            <a:ext cx="2704041" cy="4104021"/>
          </a:xfrm>
          <a:prstGeom prst="rect">
            <a:avLst/>
          </a:prstGeom>
          <a:noFill/>
          <a:ln>
            <a:noFill/>
          </a:ln>
        </p:spPr>
      </p:pic>
      <p:sp>
        <p:nvSpPr>
          <p:cNvPr id="15" name="Rectangle 14">
            <a:extLst>
              <a:ext uri="{FF2B5EF4-FFF2-40B4-BE49-F238E27FC236}">
                <a16:creationId xmlns:a16="http://schemas.microsoft.com/office/drawing/2014/main" id="{7A77DD84-7AEE-4674-AACE-C2C68776A212}"/>
              </a:ext>
            </a:extLst>
          </p:cNvPr>
          <p:cNvSpPr/>
          <p:nvPr/>
        </p:nvSpPr>
        <p:spPr>
          <a:xfrm>
            <a:off x="4561181" y="2098298"/>
            <a:ext cx="1018228" cy="369332"/>
          </a:xfrm>
          <a:prstGeom prst="rect">
            <a:avLst/>
          </a:prstGeom>
          <a:noFill/>
        </p:spPr>
        <p:txBody>
          <a:bodyPr wrap="none" lIns="91440" tIns="45720" rIns="91440" bIns="45720">
            <a:spAutoFit/>
          </a:bodyPr>
          <a:lstStyle/>
          <a:p>
            <a:pPr algn="ctr"/>
            <a:r>
              <a:rPr lang="en-US"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VGG-16</a:t>
            </a:r>
          </a:p>
        </p:txBody>
      </p:sp>
      <p:sp>
        <p:nvSpPr>
          <p:cNvPr id="17" name="Rectangle 16">
            <a:extLst>
              <a:ext uri="{FF2B5EF4-FFF2-40B4-BE49-F238E27FC236}">
                <a16:creationId xmlns:a16="http://schemas.microsoft.com/office/drawing/2014/main" id="{A4619FC9-BD94-439A-898C-E5BE0AD1E466}"/>
              </a:ext>
            </a:extLst>
          </p:cNvPr>
          <p:cNvSpPr/>
          <p:nvPr/>
        </p:nvSpPr>
        <p:spPr>
          <a:xfrm>
            <a:off x="7285487" y="2098298"/>
            <a:ext cx="1281121" cy="369332"/>
          </a:xfrm>
          <a:prstGeom prst="rect">
            <a:avLst/>
          </a:prstGeom>
          <a:noFill/>
        </p:spPr>
        <p:txBody>
          <a:bodyPr wrap="none" lIns="91440" tIns="45720" rIns="91440" bIns="45720">
            <a:spAutoFit/>
          </a:bodyPr>
          <a:lstStyle/>
          <a:p>
            <a:pPr algn="ctr"/>
            <a:r>
              <a:rPr lang="en-US"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Mobile Net</a:t>
            </a:r>
          </a:p>
        </p:txBody>
      </p:sp>
      <p:sp>
        <p:nvSpPr>
          <p:cNvPr id="18" name="Rectangle 17">
            <a:extLst>
              <a:ext uri="{FF2B5EF4-FFF2-40B4-BE49-F238E27FC236}">
                <a16:creationId xmlns:a16="http://schemas.microsoft.com/office/drawing/2014/main" id="{BBC12106-9EA2-4607-B2E8-CB8DC052DC5D}"/>
              </a:ext>
            </a:extLst>
          </p:cNvPr>
          <p:cNvSpPr/>
          <p:nvPr/>
        </p:nvSpPr>
        <p:spPr>
          <a:xfrm>
            <a:off x="10164540" y="2061956"/>
            <a:ext cx="1513940" cy="369332"/>
          </a:xfrm>
          <a:prstGeom prst="rect">
            <a:avLst/>
          </a:prstGeom>
          <a:noFill/>
        </p:spPr>
        <p:txBody>
          <a:bodyPr wrap="none" lIns="91440" tIns="45720" rIns="91440" bIns="45720">
            <a:spAutoFit/>
          </a:bodyPr>
          <a:lstStyle/>
          <a:p>
            <a:pPr algn="ctr"/>
            <a:r>
              <a:rPr lang="en-US"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Dense Net121</a:t>
            </a:r>
          </a:p>
        </p:txBody>
      </p:sp>
    </p:spTree>
    <p:extLst>
      <p:ext uri="{BB962C8B-B14F-4D97-AF65-F5344CB8AC3E}">
        <p14:creationId xmlns:p14="http://schemas.microsoft.com/office/powerpoint/2010/main" val="185322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E37B6-5C11-449A-AA4D-E8CC2D3A266B}"/>
              </a:ext>
            </a:extLst>
          </p:cNvPr>
          <p:cNvSpPr>
            <a:spLocks noGrp="1"/>
          </p:cNvSpPr>
          <p:nvPr>
            <p:ph type="title"/>
          </p:nvPr>
        </p:nvSpPr>
        <p:spPr>
          <a:xfrm>
            <a:off x="838200" y="365125"/>
            <a:ext cx="10515600" cy="667609"/>
          </a:xfrm>
        </p:spPr>
        <p:txBody>
          <a:bodyPr>
            <a:normAutofit/>
          </a:bodyPr>
          <a:lstStyle/>
          <a:p>
            <a:r>
              <a:rPr lang="en-GB" sz="2800" dirty="0">
                <a:latin typeface="Times New Roman" panose="02020603050405020304" pitchFamily="18" charset="0"/>
                <a:cs typeface="Times New Roman" panose="02020603050405020304" pitchFamily="18" charset="0"/>
              </a:rPr>
              <a:t>Limitations</a:t>
            </a:r>
          </a:p>
        </p:txBody>
      </p:sp>
      <p:sp>
        <p:nvSpPr>
          <p:cNvPr id="3" name="Content Placeholder 2">
            <a:extLst>
              <a:ext uri="{FF2B5EF4-FFF2-40B4-BE49-F238E27FC236}">
                <a16:creationId xmlns:a16="http://schemas.microsoft.com/office/drawing/2014/main" id="{7C4696E2-DDCB-40B9-A82A-5CE3B5035AF4}"/>
              </a:ext>
            </a:extLst>
          </p:cNvPr>
          <p:cNvSpPr>
            <a:spLocks noGrp="1"/>
          </p:cNvSpPr>
          <p:nvPr>
            <p:ph idx="1"/>
          </p:nvPr>
        </p:nvSpPr>
        <p:spPr>
          <a:xfrm>
            <a:off x="838200" y="1032734"/>
            <a:ext cx="10515600" cy="5144229"/>
          </a:xfrm>
        </p:spPr>
        <p:txBody>
          <a:bodyPr/>
          <a:lstStyle/>
          <a:p>
            <a:pPr algn="just"/>
            <a:r>
              <a:rPr lang="en-GB" dirty="0"/>
              <a:t>Data collected from single source, when tested with different source data, the model will not perform good</a:t>
            </a:r>
          </a:p>
          <a:p>
            <a:pPr algn="just"/>
            <a:r>
              <a:rPr lang="en-GB" dirty="0"/>
              <a:t>Model training has been done on limited number of epochs with limited number GPU resources.</a:t>
            </a:r>
          </a:p>
          <a:p>
            <a:pPr algn="just"/>
            <a:r>
              <a:rPr lang="en-GB" dirty="0"/>
              <a:t>Only three pre-trained model has been used, further models could be used where the each performance will vary accordingly to dataset.</a:t>
            </a:r>
          </a:p>
        </p:txBody>
      </p:sp>
    </p:spTree>
    <p:extLst>
      <p:ext uri="{BB962C8B-B14F-4D97-AF65-F5344CB8AC3E}">
        <p14:creationId xmlns:p14="http://schemas.microsoft.com/office/powerpoint/2010/main" val="24480502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BBC9E-1C07-473A-A339-025071E83DFA}"/>
              </a:ext>
            </a:extLst>
          </p:cNvPr>
          <p:cNvSpPr>
            <a:spLocks noGrp="1"/>
          </p:cNvSpPr>
          <p:nvPr>
            <p:ph type="title"/>
          </p:nvPr>
        </p:nvSpPr>
        <p:spPr>
          <a:xfrm>
            <a:off x="838200" y="365126"/>
            <a:ext cx="10515600" cy="764428"/>
          </a:xfrm>
        </p:spPr>
        <p:txBody>
          <a:bodyPr>
            <a:normAutofit/>
          </a:bodyPr>
          <a:lstStyle/>
          <a:p>
            <a:r>
              <a:rPr lang="en-GB" sz="2800" dirty="0">
                <a:latin typeface="Times New Roman" panose="02020603050405020304" pitchFamily="18" charset="0"/>
                <a:cs typeface="Times New Roman" panose="02020603050405020304" pitchFamily="18" charset="0"/>
              </a:rPr>
              <a:t>Future Work</a:t>
            </a:r>
          </a:p>
        </p:txBody>
      </p:sp>
      <p:sp>
        <p:nvSpPr>
          <p:cNvPr id="3" name="Content Placeholder 2">
            <a:extLst>
              <a:ext uri="{FF2B5EF4-FFF2-40B4-BE49-F238E27FC236}">
                <a16:creationId xmlns:a16="http://schemas.microsoft.com/office/drawing/2014/main" id="{A5334A2F-E9FC-4A91-84B2-5FF6A01864BC}"/>
              </a:ext>
            </a:extLst>
          </p:cNvPr>
          <p:cNvSpPr>
            <a:spLocks noGrp="1"/>
          </p:cNvSpPr>
          <p:nvPr>
            <p:ph idx="1"/>
          </p:nvPr>
        </p:nvSpPr>
        <p:spPr>
          <a:xfrm>
            <a:off x="838200" y="1129554"/>
            <a:ext cx="10515600" cy="5047409"/>
          </a:xfrm>
        </p:spPr>
        <p:txBody>
          <a:bodyPr/>
          <a:lstStyle/>
          <a:p>
            <a:pPr marL="0" indent="0">
              <a:buNone/>
            </a:pPr>
            <a:r>
              <a:rPr lang="en-GB" dirty="0"/>
              <a:t>This research offers a lot of potential for the future of the healthcare sector since it primarily focuses on Alzheimer's disease detection. Given the circumstances, the following may be categorised as possible future paths.</a:t>
            </a:r>
          </a:p>
          <a:p>
            <a:pPr marL="0" indent="0">
              <a:buNone/>
            </a:pPr>
            <a:r>
              <a:rPr lang="en-GB" dirty="0"/>
              <a:t>1)- Training of model from various different </a:t>
            </a:r>
            <a:r>
              <a:rPr lang="en-GB"/>
              <a:t>sources dataset.</a:t>
            </a:r>
            <a:endParaRPr lang="en-GB" dirty="0"/>
          </a:p>
          <a:p>
            <a:pPr marL="0" indent="0">
              <a:buNone/>
            </a:pPr>
            <a:r>
              <a:rPr lang="en-GB" dirty="0"/>
              <a:t>2)- Proposing an optimized dataset of Alzheimer’s which can be used for effective model training and testing phases.</a:t>
            </a:r>
          </a:p>
          <a:p>
            <a:pPr marL="0" indent="0">
              <a:buNone/>
            </a:pPr>
            <a:r>
              <a:rPr lang="en-GB" dirty="0"/>
              <a:t>3)- Optimizing the computational requirements for detection algorithm</a:t>
            </a:r>
          </a:p>
          <a:p>
            <a:endParaRPr lang="en-GB" dirty="0"/>
          </a:p>
        </p:txBody>
      </p:sp>
    </p:spTree>
    <p:extLst>
      <p:ext uri="{BB962C8B-B14F-4D97-AF65-F5344CB8AC3E}">
        <p14:creationId xmlns:p14="http://schemas.microsoft.com/office/powerpoint/2010/main" val="2708977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152E14-5353-4731-BE0E-3CECDFFD1B16}"/>
              </a:ext>
            </a:extLst>
          </p:cNvPr>
          <p:cNvSpPr>
            <a:spLocks noGrp="1"/>
          </p:cNvSpPr>
          <p:nvPr>
            <p:ph type="title"/>
          </p:nvPr>
        </p:nvSpPr>
        <p:spPr>
          <a:xfrm>
            <a:off x="1094095" y="851517"/>
            <a:ext cx="5238466" cy="2991416"/>
          </a:xfrm>
        </p:spPr>
        <p:txBody>
          <a:bodyPr vert="horz" lIns="91440" tIns="45720" rIns="91440" bIns="45720" rtlCol="0" anchor="b">
            <a:normAutofit/>
          </a:bodyPr>
          <a:lstStyle/>
          <a:p>
            <a:r>
              <a:rPr lang="en-US" sz="6000" kern="1200">
                <a:solidFill>
                  <a:schemeClr val="tx1"/>
                </a:solidFill>
                <a:latin typeface="+mj-lt"/>
                <a:ea typeface="+mj-ea"/>
                <a:cs typeface="+mj-cs"/>
              </a:rPr>
              <a:t>Thank You </a:t>
            </a:r>
          </a:p>
        </p:txBody>
      </p:sp>
      <p:sp>
        <p:nvSpPr>
          <p:cNvPr id="14" name="Freeform: Shape 13">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0370" y="851518"/>
            <a:ext cx="6184806"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Content Placeholder 6" descr="Help">
            <a:extLst>
              <a:ext uri="{FF2B5EF4-FFF2-40B4-BE49-F238E27FC236}">
                <a16:creationId xmlns:a16="http://schemas.microsoft.com/office/drawing/2014/main" id="{B7C5173C-A70C-4BDC-B551-6375A658F49A}"/>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31503" y="2129307"/>
            <a:ext cx="3217333" cy="3217333"/>
          </a:xfrm>
          <a:prstGeom prst="rect">
            <a:avLst/>
          </a:prstGeom>
        </p:spPr>
      </p:pic>
    </p:spTree>
    <p:extLst>
      <p:ext uri="{BB962C8B-B14F-4D97-AF65-F5344CB8AC3E}">
        <p14:creationId xmlns:p14="http://schemas.microsoft.com/office/powerpoint/2010/main" val="30062287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8094</TotalTime>
  <Words>1762</Words>
  <Application>Microsoft Office PowerPoint</Application>
  <PresentationFormat>Widescreen</PresentationFormat>
  <Paragraphs>316</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-apple-system</vt:lpstr>
      <vt:lpstr>Arial</vt:lpstr>
      <vt:lpstr>Calibri</vt:lpstr>
      <vt:lpstr>Calibri Light</vt:lpstr>
      <vt:lpstr>Symbol</vt:lpstr>
      <vt:lpstr>Times New Roman</vt:lpstr>
      <vt:lpstr>Wingdings</vt:lpstr>
      <vt:lpstr>Office Theme</vt:lpstr>
      <vt:lpstr>    School of Computing, Engineering, and Build Environment, Glasgow Caledonian University, Glasgow, United Kingdom       Dissertation Presentation  Alzheimer Detection Using Deep Learning Approach  Presented By  Ubaid Ur Rehman S---  Supervised By  Professor</vt:lpstr>
      <vt:lpstr>Road Map</vt:lpstr>
      <vt:lpstr>Alzheimer Disease (Intro...)</vt:lpstr>
      <vt:lpstr>Importance of Deep learning in Alzheimer’s Detection</vt:lpstr>
      <vt:lpstr>Literature of Review</vt:lpstr>
      <vt:lpstr>Literature of Review</vt:lpstr>
      <vt:lpstr>Problem Statement</vt:lpstr>
      <vt:lpstr>Research Objective</vt:lpstr>
      <vt:lpstr>Research Question</vt:lpstr>
      <vt:lpstr>Simulation Tools (Hardware/ Software) </vt:lpstr>
      <vt:lpstr>Research Framework</vt:lpstr>
      <vt:lpstr>Algorithm’s Flowchart</vt:lpstr>
      <vt:lpstr>Data Pre-processing</vt:lpstr>
      <vt:lpstr>Data Augmentation</vt:lpstr>
      <vt:lpstr>Data Splitting</vt:lpstr>
      <vt:lpstr>Transfer learning Technique for Deep learning Approach</vt:lpstr>
      <vt:lpstr>Model Summary</vt:lpstr>
      <vt:lpstr>Model Training</vt:lpstr>
      <vt:lpstr>Loss Vs Accuracies Graph</vt:lpstr>
      <vt:lpstr>Confusion Metric</vt:lpstr>
      <vt:lpstr>Limitations</vt:lpstr>
      <vt:lpstr>Future Work</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NATIONAL TEXTILES UNIVERSITY, FAISALABAD   DEPARTMENT OF COMPUTER SCIENCES Synopsis for M.S(C.S)  Name of the student  Furqan Ahmad Registration Number 2020-ntu-mscs-4004</dc:title>
  <dc:creator>2020-NTU-MSCS-4004</dc:creator>
  <cp:lastModifiedBy>Muhammad Umair</cp:lastModifiedBy>
  <cp:revision>139</cp:revision>
  <cp:lastPrinted>2022-02-15T14:22:56Z</cp:lastPrinted>
  <dcterms:created xsi:type="dcterms:W3CDTF">2021-09-23T06:02:51Z</dcterms:created>
  <dcterms:modified xsi:type="dcterms:W3CDTF">2023-01-12T17:02:09Z</dcterms:modified>
</cp:coreProperties>
</file>