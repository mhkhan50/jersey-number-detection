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0" r:id="rId7"/>
    <p:sldId id="262" r:id="rId8"/>
    <p:sldId id="263" r:id="rId9"/>
    <p:sldId id="264" r:id="rId10"/>
    <p:sldId id="266" r:id="rId11"/>
    <p:sldId id="275"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4" autoAdjust="0"/>
    <p:restoredTop sz="94660"/>
  </p:normalViewPr>
  <p:slideViewPr>
    <p:cSldViewPr snapToGrid="0">
      <p:cViewPr varScale="1">
        <p:scale>
          <a:sx n="120" d="100"/>
          <a:sy n="120" d="100"/>
        </p:scale>
        <p:origin x="32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21AE465-A25A-421F-9D1E-05948EE0B657}" type="doc">
      <dgm:prSet loTypeId="urn:microsoft.com/office/officeart/2005/8/layout/process1" loCatId="process" qsTypeId="urn:microsoft.com/office/officeart/2005/8/quickstyle/simple1" qsCatId="simple" csTypeId="urn:microsoft.com/office/officeart/2005/8/colors/accent1_2" csCatId="accent1" phldr="1"/>
      <dgm:spPr/>
    </dgm:pt>
    <dgm:pt modelId="{50BC3E01-43F3-4050-A2A2-0F9383D81AA4}">
      <dgm:prSet phldrT="[Text]" custT="1"/>
      <dgm:spPr>
        <a:solidFill>
          <a:srgbClr val="002060"/>
        </a:solidFill>
        <a:ln>
          <a:solidFill>
            <a:srgbClr val="002060"/>
          </a:solidFill>
        </a:ln>
      </dgm:spPr>
      <dgm:t>
        <a:bodyPr/>
        <a:lstStyle/>
        <a:p>
          <a:pPr algn="ctr"/>
          <a:r>
            <a:rPr lang="en-US" sz="900"/>
            <a:t>Data Preprocessing</a:t>
          </a:r>
          <a:endParaRPr lang="en-PK" sz="900"/>
        </a:p>
      </dgm:t>
    </dgm:pt>
    <dgm:pt modelId="{10279BEE-D48A-4E94-93C2-57B1AECCE657}" type="parTrans" cxnId="{4D4277CB-3468-4A81-88DF-F5C30524435E}">
      <dgm:prSet/>
      <dgm:spPr/>
      <dgm:t>
        <a:bodyPr/>
        <a:lstStyle/>
        <a:p>
          <a:pPr algn="ctr"/>
          <a:endParaRPr lang="en-PK"/>
        </a:p>
      </dgm:t>
    </dgm:pt>
    <dgm:pt modelId="{770F847F-D0F5-4396-87AD-B30C7E5FC7E0}" type="sibTrans" cxnId="{4D4277CB-3468-4A81-88DF-F5C30524435E}">
      <dgm:prSet/>
      <dgm:spPr>
        <a:solidFill>
          <a:srgbClr val="002060"/>
        </a:solidFill>
      </dgm:spPr>
      <dgm:t>
        <a:bodyPr/>
        <a:lstStyle/>
        <a:p>
          <a:pPr algn="ctr"/>
          <a:endParaRPr lang="en-PK"/>
        </a:p>
      </dgm:t>
    </dgm:pt>
    <dgm:pt modelId="{77288501-243F-4D1A-9527-D7CEFE5A4FB3}">
      <dgm:prSet phldrT="[Text]" custT="1"/>
      <dgm:spPr>
        <a:solidFill>
          <a:srgbClr val="002060"/>
        </a:solidFill>
        <a:ln>
          <a:solidFill>
            <a:srgbClr val="002060"/>
          </a:solidFill>
        </a:ln>
      </dgm:spPr>
      <dgm:t>
        <a:bodyPr/>
        <a:lstStyle/>
        <a:p>
          <a:pPr algn="ctr"/>
          <a:r>
            <a:rPr lang="en-US" sz="900" dirty="0"/>
            <a:t>Model Training</a:t>
          </a:r>
          <a:endParaRPr lang="en-PK" sz="900" dirty="0"/>
        </a:p>
      </dgm:t>
    </dgm:pt>
    <dgm:pt modelId="{1F7D66EC-E844-474B-8CC8-BB9B355891F0}" type="parTrans" cxnId="{14507A55-6BA9-44C6-B218-90F164222F46}">
      <dgm:prSet/>
      <dgm:spPr/>
      <dgm:t>
        <a:bodyPr/>
        <a:lstStyle/>
        <a:p>
          <a:pPr algn="ctr"/>
          <a:endParaRPr lang="en-PK"/>
        </a:p>
      </dgm:t>
    </dgm:pt>
    <dgm:pt modelId="{67590C71-B2A8-4F36-B03E-3A189B94275C}" type="sibTrans" cxnId="{14507A55-6BA9-44C6-B218-90F164222F46}">
      <dgm:prSet/>
      <dgm:spPr>
        <a:solidFill>
          <a:srgbClr val="002060"/>
        </a:solidFill>
      </dgm:spPr>
      <dgm:t>
        <a:bodyPr/>
        <a:lstStyle/>
        <a:p>
          <a:pPr algn="ctr"/>
          <a:endParaRPr lang="en-PK"/>
        </a:p>
      </dgm:t>
    </dgm:pt>
    <dgm:pt modelId="{795EAA3F-6111-43F7-BEFC-E5B437C17BF0}">
      <dgm:prSet phldrT="[Text]" custT="1"/>
      <dgm:spPr>
        <a:solidFill>
          <a:srgbClr val="002060"/>
        </a:solidFill>
        <a:ln>
          <a:solidFill>
            <a:srgbClr val="002060"/>
          </a:solidFill>
        </a:ln>
      </dgm:spPr>
      <dgm:t>
        <a:bodyPr/>
        <a:lstStyle/>
        <a:p>
          <a:pPr algn="ctr"/>
          <a:r>
            <a:rPr lang="en-US" sz="900"/>
            <a:t>Evalutaion</a:t>
          </a:r>
          <a:endParaRPr lang="en-PK" sz="900"/>
        </a:p>
      </dgm:t>
    </dgm:pt>
    <dgm:pt modelId="{FBCABB38-C878-47AF-A6D7-63A989B63C44}" type="parTrans" cxnId="{865B9620-4B05-4279-A11F-8DA7C8216423}">
      <dgm:prSet/>
      <dgm:spPr/>
      <dgm:t>
        <a:bodyPr/>
        <a:lstStyle/>
        <a:p>
          <a:pPr algn="ctr"/>
          <a:endParaRPr lang="en-PK"/>
        </a:p>
      </dgm:t>
    </dgm:pt>
    <dgm:pt modelId="{1F702A28-362C-4310-9CD0-37A23F36498A}" type="sibTrans" cxnId="{865B9620-4B05-4279-A11F-8DA7C8216423}">
      <dgm:prSet/>
      <dgm:spPr/>
      <dgm:t>
        <a:bodyPr/>
        <a:lstStyle/>
        <a:p>
          <a:pPr algn="ctr"/>
          <a:endParaRPr lang="en-PK"/>
        </a:p>
      </dgm:t>
    </dgm:pt>
    <dgm:pt modelId="{6571E885-972C-4608-97E2-86F3FC6F18C5}">
      <dgm:prSet phldrT="[Text]" custT="1"/>
      <dgm:spPr>
        <a:solidFill>
          <a:srgbClr val="002060"/>
        </a:solidFill>
        <a:ln>
          <a:solidFill>
            <a:srgbClr val="002060"/>
          </a:solidFill>
        </a:ln>
      </dgm:spPr>
      <dgm:t>
        <a:bodyPr/>
        <a:lstStyle/>
        <a:p>
          <a:pPr algn="ctr"/>
          <a:r>
            <a:rPr lang="en-US" sz="900" dirty="0"/>
            <a:t>Merge data</a:t>
          </a:r>
          <a:endParaRPr lang="en-PK" sz="900" dirty="0"/>
        </a:p>
      </dgm:t>
    </dgm:pt>
    <dgm:pt modelId="{C6FECDA0-F936-487E-B323-061491122012}" type="parTrans" cxnId="{58D1DD7D-7B61-4A13-B703-C8592C154490}">
      <dgm:prSet/>
      <dgm:spPr/>
      <dgm:t>
        <a:bodyPr/>
        <a:lstStyle/>
        <a:p>
          <a:endParaRPr lang="en-US"/>
        </a:p>
      </dgm:t>
    </dgm:pt>
    <dgm:pt modelId="{9123CAFC-BE1F-4F74-BFF0-5161FF895919}" type="sibTrans" cxnId="{58D1DD7D-7B61-4A13-B703-C8592C154490}">
      <dgm:prSet/>
      <dgm:spPr>
        <a:solidFill>
          <a:srgbClr val="002060"/>
        </a:solidFill>
      </dgm:spPr>
      <dgm:t>
        <a:bodyPr/>
        <a:lstStyle/>
        <a:p>
          <a:endParaRPr lang="en-US"/>
        </a:p>
      </dgm:t>
    </dgm:pt>
    <dgm:pt modelId="{C400FD3A-91F0-4627-80B5-7D2EA7BD9910}">
      <dgm:prSet phldrT="[Text]" custT="1"/>
      <dgm:spPr>
        <a:solidFill>
          <a:srgbClr val="002060"/>
        </a:solidFill>
        <a:ln>
          <a:solidFill>
            <a:srgbClr val="002060"/>
          </a:solidFill>
        </a:ln>
      </dgm:spPr>
      <dgm:t>
        <a:bodyPr/>
        <a:lstStyle/>
        <a:p>
          <a:pPr algn="ctr"/>
          <a:r>
            <a:rPr lang="en-US" sz="900"/>
            <a:t>Prediction</a:t>
          </a:r>
          <a:endParaRPr lang="en-PK" sz="900"/>
        </a:p>
      </dgm:t>
    </dgm:pt>
    <dgm:pt modelId="{FFEC9E2A-44E5-4BE0-B515-7D062B1BBE3F}" type="sibTrans" cxnId="{79E604B2-FBF2-498D-B4D6-413C4169680C}">
      <dgm:prSet/>
      <dgm:spPr>
        <a:solidFill>
          <a:srgbClr val="002060"/>
        </a:solidFill>
      </dgm:spPr>
      <dgm:t>
        <a:bodyPr/>
        <a:lstStyle/>
        <a:p>
          <a:pPr algn="ctr"/>
          <a:endParaRPr lang="en-PK"/>
        </a:p>
      </dgm:t>
    </dgm:pt>
    <dgm:pt modelId="{EDDD081C-680B-49E2-80F7-B95C4247AF06}" type="parTrans" cxnId="{79E604B2-FBF2-498D-B4D6-413C4169680C}">
      <dgm:prSet/>
      <dgm:spPr/>
      <dgm:t>
        <a:bodyPr/>
        <a:lstStyle/>
        <a:p>
          <a:pPr algn="ctr"/>
          <a:endParaRPr lang="en-PK"/>
        </a:p>
      </dgm:t>
    </dgm:pt>
    <dgm:pt modelId="{8586EA5D-6EE0-47D3-B99E-D24EAF4C1999}" type="pres">
      <dgm:prSet presAssocID="{321AE465-A25A-421F-9D1E-05948EE0B657}" presName="Name0" presStyleCnt="0">
        <dgm:presLayoutVars>
          <dgm:dir/>
          <dgm:resizeHandles val="exact"/>
        </dgm:presLayoutVars>
      </dgm:prSet>
      <dgm:spPr/>
    </dgm:pt>
    <dgm:pt modelId="{30032A6B-86BA-49B1-A2EC-2A0C8E501CA9}" type="pres">
      <dgm:prSet presAssocID="{6571E885-972C-4608-97E2-86F3FC6F18C5}" presName="node" presStyleLbl="node1" presStyleIdx="0" presStyleCnt="5" custLinFactNeighborY="-4407">
        <dgm:presLayoutVars>
          <dgm:bulletEnabled val="1"/>
        </dgm:presLayoutVars>
      </dgm:prSet>
      <dgm:spPr/>
    </dgm:pt>
    <dgm:pt modelId="{B6A76072-20B5-4C9E-9073-31CF42125016}" type="pres">
      <dgm:prSet presAssocID="{9123CAFC-BE1F-4F74-BFF0-5161FF895919}" presName="sibTrans" presStyleLbl="sibTrans2D1" presStyleIdx="0" presStyleCnt="4"/>
      <dgm:spPr/>
    </dgm:pt>
    <dgm:pt modelId="{33D315D6-D9C5-4E49-A944-5EA2ED7BEAE5}" type="pres">
      <dgm:prSet presAssocID="{9123CAFC-BE1F-4F74-BFF0-5161FF895919}" presName="connectorText" presStyleLbl="sibTrans2D1" presStyleIdx="0" presStyleCnt="4"/>
      <dgm:spPr/>
    </dgm:pt>
    <dgm:pt modelId="{48CAC4C7-DEAF-4885-A1FD-D32A6FBC08AB}" type="pres">
      <dgm:prSet presAssocID="{50BC3E01-43F3-4050-A2A2-0F9383D81AA4}" presName="node" presStyleLbl="node1" presStyleIdx="1" presStyleCnt="5" custLinFactNeighborX="6143" custLinFactNeighborY="-3912">
        <dgm:presLayoutVars>
          <dgm:bulletEnabled val="1"/>
        </dgm:presLayoutVars>
      </dgm:prSet>
      <dgm:spPr/>
    </dgm:pt>
    <dgm:pt modelId="{AA5354D8-FF60-4052-85B0-AA774B6F71EA}" type="pres">
      <dgm:prSet presAssocID="{770F847F-D0F5-4396-87AD-B30C7E5FC7E0}" presName="sibTrans" presStyleLbl="sibTrans2D1" presStyleIdx="1" presStyleCnt="4"/>
      <dgm:spPr/>
    </dgm:pt>
    <dgm:pt modelId="{27B660BE-B17E-4BC4-8731-5DCA5AD797CE}" type="pres">
      <dgm:prSet presAssocID="{770F847F-D0F5-4396-87AD-B30C7E5FC7E0}" presName="connectorText" presStyleLbl="sibTrans2D1" presStyleIdx="1" presStyleCnt="4"/>
      <dgm:spPr/>
    </dgm:pt>
    <dgm:pt modelId="{0369DA11-332A-4729-969F-058308C40524}" type="pres">
      <dgm:prSet presAssocID="{77288501-243F-4D1A-9527-D7CEFE5A4FB3}" presName="node" presStyleLbl="node1" presStyleIdx="2" presStyleCnt="5" custLinFactNeighborX="-6660" custLinFactNeighborY="-4660">
        <dgm:presLayoutVars>
          <dgm:bulletEnabled val="1"/>
        </dgm:presLayoutVars>
      </dgm:prSet>
      <dgm:spPr/>
    </dgm:pt>
    <dgm:pt modelId="{F6BCBCC4-27DC-4132-9AEF-E8CFFC4D77FB}" type="pres">
      <dgm:prSet presAssocID="{67590C71-B2A8-4F36-B03E-3A189B94275C}" presName="sibTrans" presStyleLbl="sibTrans2D1" presStyleIdx="2" presStyleCnt="4"/>
      <dgm:spPr/>
    </dgm:pt>
    <dgm:pt modelId="{430D28F9-E22E-4E0B-A5E3-C9C88872E7A1}" type="pres">
      <dgm:prSet presAssocID="{67590C71-B2A8-4F36-B03E-3A189B94275C}" presName="connectorText" presStyleLbl="sibTrans2D1" presStyleIdx="2" presStyleCnt="4"/>
      <dgm:spPr/>
    </dgm:pt>
    <dgm:pt modelId="{91BF71DB-8F0D-4852-A718-6CBB86607D99}" type="pres">
      <dgm:prSet presAssocID="{C400FD3A-91F0-4627-80B5-7D2EA7BD9910}" presName="node" presStyleLbl="node1" presStyleIdx="3" presStyleCnt="5">
        <dgm:presLayoutVars>
          <dgm:bulletEnabled val="1"/>
        </dgm:presLayoutVars>
      </dgm:prSet>
      <dgm:spPr/>
    </dgm:pt>
    <dgm:pt modelId="{B2AADB16-85CC-4179-BF34-7EF3D46362A5}" type="pres">
      <dgm:prSet presAssocID="{FFEC9E2A-44E5-4BE0-B515-7D062B1BBE3F}" presName="sibTrans" presStyleLbl="sibTrans2D1" presStyleIdx="3" presStyleCnt="4"/>
      <dgm:spPr/>
    </dgm:pt>
    <dgm:pt modelId="{F5D11727-FAFD-4A47-8614-F8D5BD0E7C81}" type="pres">
      <dgm:prSet presAssocID="{FFEC9E2A-44E5-4BE0-B515-7D062B1BBE3F}" presName="connectorText" presStyleLbl="sibTrans2D1" presStyleIdx="3" presStyleCnt="4"/>
      <dgm:spPr/>
    </dgm:pt>
    <dgm:pt modelId="{DC12469A-D20A-43CB-A54F-E91775717F6A}" type="pres">
      <dgm:prSet presAssocID="{795EAA3F-6111-43F7-BEFC-E5B437C17BF0}" presName="node" presStyleLbl="node1" presStyleIdx="4" presStyleCnt="5">
        <dgm:presLayoutVars>
          <dgm:bulletEnabled val="1"/>
        </dgm:presLayoutVars>
      </dgm:prSet>
      <dgm:spPr/>
    </dgm:pt>
  </dgm:ptLst>
  <dgm:cxnLst>
    <dgm:cxn modelId="{865B9620-4B05-4279-A11F-8DA7C8216423}" srcId="{321AE465-A25A-421F-9D1E-05948EE0B657}" destId="{795EAA3F-6111-43F7-BEFC-E5B437C17BF0}" srcOrd="4" destOrd="0" parTransId="{FBCABB38-C878-47AF-A6D7-63A989B63C44}" sibTransId="{1F702A28-362C-4310-9CD0-37A23F36498A}"/>
    <dgm:cxn modelId="{9407E523-C349-459F-B34E-6AE9EBA9ABE1}" type="presOf" srcId="{9123CAFC-BE1F-4F74-BFF0-5161FF895919}" destId="{B6A76072-20B5-4C9E-9073-31CF42125016}" srcOrd="0" destOrd="0" presId="urn:microsoft.com/office/officeart/2005/8/layout/process1"/>
    <dgm:cxn modelId="{E313A829-09E8-43EC-B1D3-7DA3DC156DB3}" type="presOf" srcId="{FFEC9E2A-44E5-4BE0-B515-7D062B1BBE3F}" destId="{B2AADB16-85CC-4179-BF34-7EF3D46362A5}" srcOrd="0" destOrd="0" presId="urn:microsoft.com/office/officeart/2005/8/layout/process1"/>
    <dgm:cxn modelId="{EF5BBE37-0D09-4E73-907C-14A2364BE9A2}" type="presOf" srcId="{795EAA3F-6111-43F7-BEFC-E5B437C17BF0}" destId="{DC12469A-D20A-43CB-A54F-E91775717F6A}" srcOrd="0" destOrd="0" presId="urn:microsoft.com/office/officeart/2005/8/layout/process1"/>
    <dgm:cxn modelId="{14507A55-6BA9-44C6-B218-90F164222F46}" srcId="{321AE465-A25A-421F-9D1E-05948EE0B657}" destId="{77288501-243F-4D1A-9527-D7CEFE5A4FB3}" srcOrd="2" destOrd="0" parTransId="{1F7D66EC-E844-474B-8CC8-BB9B355891F0}" sibTransId="{67590C71-B2A8-4F36-B03E-3A189B94275C}"/>
    <dgm:cxn modelId="{212E835B-1EC2-42FB-870F-285D39E73EDF}" type="presOf" srcId="{67590C71-B2A8-4F36-B03E-3A189B94275C}" destId="{F6BCBCC4-27DC-4132-9AEF-E8CFFC4D77FB}" srcOrd="0" destOrd="0" presId="urn:microsoft.com/office/officeart/2005/8/layout/process1"/>
    <dgm:cxn modelId="{28416362-4E9D-4E09-9FA7-17B70F8FF713}" type="presOf" srcId="{77288501-243F-4D1A-9527-D7CEFE5A4FB3}" destId="{0369DA11-332A-4729-969F-058308C40524}" srcOrd="0" destOrd="0" presId="urn:microsoft.com/office/officeart/2005/8/layout/process1"/>
    <dgm:cxn modelId="{202F1F7C-E1DE-4D3C-AB31-49F6DD02A568}" type="presOf" srcId="{FFEC9E2A-44E5-4BE0-B515-7D062B1BBE3F}" destId="{F5D11727-FAFD-4A47-8614-F8D5BD0E7C81}" srcOrd="1" destOrd="0" presId="urn:microsoft.com/office/officeart/2005/8/layout/process1"/>
    <dgm:cxn modelId="{58D1DD7D-7B61-4A13-B703-C8592C154490}" srcId="{321AE465-A25A-421F-9D1E-05948EE0B657}" destId="{6571E885-972C-4608-97E2-86F3FC6F18C5}" srcOrd="0" destOrd="0" parTransId="{C6FECDA0-F936-487E-B323-061491122012}" sibTransId="{9123CAFC-BE1F-4F74-BFF0-5161FF895919}"/>
    <dgm:cxn modelId="{6E43B088-F440-4C80-9758-265DAEA0BD5E}" type="presOf" srcId="{770F847F-D0F5-4396-87AD-B30C7E5FC7E0}" destId="{27B660BE-B17E-4BC4-8731-5DCA5AD797CE}" srcOrd="1" destOrd="0" presId="urn:microsoft.com/office/officeart/2005/8/layout/process1"/>
    <dgm:cxn modelId="{F8ED2B8A-FF63-4D2B-ABB5-2778806CE51D}" type="presOf" srcId="{67590C71-B2A8-4F36-B03E-3A189B94275C}" destId="{430D28F9-E22E-4E0B-A5E3-C9C88872E7A1}" srcOrd="1" destOrd="0" presId="urn:microsoft.com/office/officeart/2005/8/layout/process1"/>
    <dgm:cxn modelId="{FEE159A8-1650-4F8C-9F6A-02A54EB4B8A2}" type="presOf" srcId="{6571E885-972C-4608-97E2-86F3FC6F18C5}" destId="{30032A6B-86BA-49B1-A2EC-2A0C8E501CA9}" srcOrd="0" destOrd="0" presId="urn:microsoft.com/office/officeart/2005/8/layout/process1"/>
    <dgm:cxn modelId="{79E604B2-FBF2-498D-B4D6-413C4169680C}" srcId="{321AE465-A25A-421F-9D1E-05948EE0B657}" destId="{C400FD3A-91F0-4627-80B5-7D2EA7BD9910}" srcOrd="3" destOrd="0" parTransId="{EDDD081C-680B-49E2-80F7-B95C4247AF06}" sibTransId="{FFEC9E2A-44E5-4BE0-B515-7D062B1BBE3F}"/>
    <dgm:cxn modelId="{EBB820B8-9672-42A7-AA66-D82A2CFF17E2}" type="presOf" srcId="{321AE465-A25A-421F-9D1E-05948EE0B657}" destId="{8586EA5D-6EE0-47D3-B99E-D24EAF4C1999}" srcOrd="0" destOrd="0" presId="urn:microsoft.com/office/officeart/2005/8/layout/process1"/>
    <dgm:cxn modelId="{4D4277CB-3468-4A81-88DF-F5C30524435E}" srcId="{321AE465-A25A-421F-9D1E-05948EE0B657}" destId="{50BC3E01-43F3-4050-A2A2-0F9383D81AA4}" srcOrd="1" destOrd="0" parTransId="{10279BEE-D48A-4E94-93C2-57B1AECCE657}" sibTransId="{770F847F-D0F5-4396-87AD-B30C7E5FC7E0}"/>
    <dgm:cxn modelId="{1861DDCE-5C73-437A-B57D-AAE90B4DD41A}" type="presOf" srcId="{770F847F-D0F5-4396-87AD-B30C7E5FC7E0}" destId="{AA5354D8-FF60-4052-85B0-AA774B6F71EA}" srcOrd="0" destOrd="0" presId="urn:microsoft.com/office/officeart/2005/8/layout/process1"/>
    <dgm:cxn modelId="{A1B1F7DC-6524-4279-891D-D57C23CEC141}" type="presOf" srcId="{9123CAFC-BE1F-4F74-BFF0-5161FF895919}" destId="{33D315D6-D9C5-4E49-A944-5EA2ED7BEAE5}" srcOrd="1" destOrd="0" presId="urn:microsoft.com/office/officeart/2005/8/layout/process1"/>
    <dgm:cxn modelId="{4D2E2FEB-77A4-428B-8866-25CD8E406D20}" type="presOf" srcId="{C400FD3A-91F0-4627-80B5-7D2EA7BD9910}" destId="{91BF71DB-8F0D-4852-A718-6CBB86607D99}" srcOrd="0" destOrd="0" presId="urn:microsoft.com/office/officeart/2005/8/layout/process1"/>
    <dgm:cxn modelId="{DAB1D4F2-BAF8-45D0-BF1A-212B788175BC}" type="presOf" srcId="{50BC3E01-43F3-4050-A2A2-0F9383D81AA4}" destId="{48CAC4C7-DEAF-4885-A1FD-D32A6FBC08AB}" srcOrd="0" destOrd="0" presId="urn:microsoft.com/office/officeart/2005/8/layout/process1"/>
    <dgm:cxn modelId="{C56285F3-6162-412B-BB28-BEF55ED8D063}" type="presParOf" srcId="{8586EA5D-6EE0-47D3-B99E-D24EAF4C1999}" destId="{30032A6B-86BA-49B1-A2EC-2A0C8E501CA9}" srcOrd="0" destOrd="0" presId="urn:microsoft.com/office/officeart/2005/8/layout/process1"/>
    <dgm:cxn modelId="{EC2C2425-BAFF-406D-86B3-B145A9FCFD34}" type="presParOf" srcId="{8586EA5D-6EE0-47D3-B99E-D24EAF4C1999}" destId="{B6A76072-20B5-4C9E-9073-31CF42125016}" srcOrd="1" destOrd="0" presId="urn:microsoft.com/office/officeart/2005/8/layout/process1"/>
    <dgm:cxn modelId="{77A34B3E-AC80-4889-92D0-BEE002B16A70}" type="presParOf" srcId="{B6A76072-20B5-4C9E-9073-31CF42125016}" destId="{33D315D6-D9C5-4E49-A944-5EA2ED7BEAE5}" srcOrd="0" destOrd="0" presId="urn:microsoft.com/office/officeart/2005/8/layout/process1"/>
    <dgm:cxn modelId="{FDDE0A51-6273-404F-B2AC-4FA9A39FE6A9}" type="presParOf" srcId="{8586EA5D-6EE0-47D3-B99E-D24EAF4C1999}" destId="{48CAC4C7-DEAF-4885-A1FD-D32A6FBC08AB}" srcOrd="2" destOrd="0" presId="urn:microsoft.com/office/officeart/2005/8/layout/process1"/>
    <dgm:cxn modelId="{DC6C2CC1-D5E9-4F90-8A73-4AFE6B4D6E31}" type="presParOf" srcId="{8586EA5D-6EE0-47D3-B99E-D24EAF4C1999}" destId="{AA5354D8-FF60-4052-85B0-AA774B6F71EA}" srcOrd="3" destOrd="0" presId="urn:microsoft.com/office/officeart/2005/8/layout/process1"/>
    <dgm:cxn modelId="{6542EA9C-B1BB-48F0-B3FA-B44749993B81}" type="presParOf" srcId="{AA5354D8-FF60-4052-85B0-AA774B6F71EA}" destId="{27B660BE-B17E-4BC4-8731-5DCA5AD797CE}" srcOrd="0" destOrd="0" presId="urn:microsoft.com/office/officeart/2005/8/layout/process1"/>
    <dgm:cxn modelId="{50E300EC-C7B3-4B06-BB78-0A9040A51E51}" type="presParOf" srcId="{8586EA5D-6EE0-47D3-B99E-D24EAF4C1999}" destId="{0369DA11-332A-4729-969F-058308C40524}" srcOrd="4" destOrd="0" presId="urn:microsoft.com/office/officeart/2005/8/layout/process1"/>
    <dgm:cxn modelId="{F95075C4-F26B-4005-AA6B-70523D9F55B3}" type="presParOf" srcId="{8586EA5D-6EE0-47D3-B99E-D24EAF4C1999}" destId="{F6BCBCC4-27DC-4132-9AEF-E8CFFC4D77FB}" srcOrd="5" destOrd="0" presId="urn:microsoft.com/office/officeart/2005/8/layout/process1"/>
    <dgm:cxn modelId="{935C2410-F39C-4A85-84B7-58DBA64590C9}" type="presParOf" srcId="{F6BCBCC4-27DC-4132-9AEF-E8CFFC4D77FB}" destId="{430D28F9-E22E-4E0B-A5E3-C9C88872E7A1}" srcOrd="0" destOrd="0" presId="urn:microsoft.com/office/officeart/2005/8/layout/process1"/>
    <dgm:cxn modelId="{C78C194F-5903-4C91-AA55-AFBC0C590BEC}" type="presParOf" srcId="{8586EA5D-6EE0-47D3-B99E-D24EAF4C1999}" destId="{91BF71DB-8F0D-4852-A718-6CBB86607D99}" srcOrd="6" destOrd="0" presId="urn:microsoft.com/office/officeart/2005/8/layout/process1"/>
    <dgm:cxn modelId="{C8E9CFAB-2DDA-457B-BA1B-E69999E010E2}" type="presParOf" srcId="{8586EA5D-6EE0-47D3-B99E-D24EAF4C1999}" destId="{B2AADB16-85CC-4179-BF34-7EF3D46362A5}" srcOrd="7" destOrd="0" presId="urn:microsoft.com/office/officeart/2005/8/layout/process1"/>
    <dgm:cxn modelId="{11375496-0382-49F4-B7AB-5CD6B81E7BAA}" type="presParOf" srcId="{B2AADB16-85CC-4179-BF34-7EF3D46362A5}" destId="{F5D11727-FAFD-4A47-8614-F8D5BD0E7C81}" srcOrd="0" destOrd="0" presId="urn:microsoft.com/office/officeart/2005/8/layout/process1"/>
    <dgm:cxn modelId="{EA2C9381-07F8-441C-B77F-497BB768EB7B}" type="presParOf" srcId="{8586EA5D-6EE0-47D3-B99E-D24EAF4C1999}" destId="{DC12469A-D20A-43CB-A54F-E91775717F6A}" srcOrd="8"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032A6B-86BA-49B1-A2EC-2A0C8E501CA9}">
      <dsp:nvSpPr>
        <dsp:cNvPr id="0" name=""/>
        <dsp:cNvSpPr/>
      </dsp:nvSpPr>
      <dsp:spPr>
        <a:xfrm>
          <a:off x="3515" y="1124781"/>
          <a:ext cx="1089735" cy="653841"/>
        </a:xfrm>
        <a:prstGeom prst="roundRect">
          <a:avLst>
            <a:gd name="adj" fmla="val 10000"/>
          </a:avLst>
        </a:prstGeom>
        <a:solidFill>
          <a:srgbClr val="002060"/>
        </a:solidFill>
        <a:ln w="12700" cap="flat" cmpd="sng" algn="ctr">
          <a:solidFill>
            <a:srgbClr val="00206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t>Merge data</a:t>
          </a:r>
          <a:endParaRPr lang="en-PK" sz="900" kern="1200" dirty="0"/>
        </a:p>
      </dsp:txBody>
      <dsp:txXfrm>
        <a:off x="22665" y="1143931"/>
        <a:ext cx="1051435" cy="615541"/>
      </dsp:txXfrm>
    </dsp:sp>
    <dsp:sp modelId="{B6A76072-20B5-4C9E-9073-31CF42125016}">
      <dsp:nvSpPr>
        <dsp:cNvPr id="0" name=""/>
        <dsp:cNvSpPr/>
      </dsp:nvSpPr>
      <dsp:spPr>
        <a:xfrm rot="7167">
          <a:off x="1208917" y="1318207"/>
          <a:ext cx="245216" cy="270254"/>
        </a:xfrm>
        <a:prstGeom prst="rightArrow">
          <a:avLst>
            <a:gd name="adj1" fmla="val 60000"/>
            <a:gd name="adj2" fmla="val 50000"/>
          </a:avLst>
        </a:prstGeom>
        <a:solidFill>
          <a:srgbClr val="00206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1208917" y="1372181"/>
        <a:ext cx="171651" cy="162152"/>
      </dsp:txXfrm>
    </dsp:sp>
    <dsp:sp modelId="{48CAC4C7-DEAF-4885-A1FD-D32A6FBC08AB}">
      <dsp:nvSpPr>
        <dsp:cNvPr id="0" name=""/>
        <dsp:cNvSpPr/>
      </dsp:nvSpPr>
      <dsp:spPr>
        <a:xfrm>
          <a:off x="1555921" y="1128017"/>
          <a:ext cx="1089735" cy="653841"/>
        </a:xfrm>
        <a:prstGeom prst="roundRect">
          <a:avLst>
            <a:gd name="adj" fmla="val 10000"/>
          </a:avLst>
        </a:prstGeom>
        <a:solidFill>
          <a:srgbClr val="002060"/>
        </a:solidFill>
        <a:ln w="12700" cap="flat" cmpd="sng" algn="ctr">
          <a:solidFill>
            <a:srgbClr val="00206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a:t>Data Preprocessing</a:t>
          </a:r>
          <a:endParaRPr lang="en-PK" sz="900" kern="1200"/>
        </a:p>
      </dsp:txBody>
      <dsp:txXfrm>
        <a:off x="1575071" y="1147167"/>
        <a:ext cx="1051435" cy="615541"/>
      </dsp:txXfrm>
    </dsp:sp>
    <dsp:sp modelId="{AA5354D8-FF60-4052-85B0-AA774B6F71EA}">
      <dsp:nvSpPr>
        <dsp:cNvPr id="0" name=""/>
        <dsp:cNvSpPr/>
      </dsp:nvSpPr>
      <dsp:spPr>
        <a:xfrm rot="21588561">
          <a:off x="2740677" y="1317346"/>
          <a:ext cx="201446" cy="270254"/>
        </a:xfrm>
        <a:prstGeom prst="rightArrow">
          <a:avLst>
            <a:gd name="adj1" fmla="val 60000"/>
            <a:gd name="adj2" fmla="val 50000"/>
          </a:avLst>
        </a:prstGeom>
        <a:solidFill>
          <a:srgbClr val="00206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PK" sz="1100" kern="1200"/>
        </a:p>
      </dsp:txBody>
      <dsp:txXfrm>
        <a:off x="2740677" y="1371498"/>
        <a:ext cx="141012" cy="162152"/>
      </dsp:txXfrm>
    </dsp:sp>
    <dsp:sp modelId="{0369DA11-332A-4729-969F-058308C40524}">
      <dsp:nvSpPr>
        <dsp:cNvPr id="0" name=""/>
        <dsp:cNvSpPr/>
      </dsp:nvSpPr>
      <dsp:spPr>
        <a:xfrm>
          <a:off x="3025742" y="1123126"/>
          <a:ext cx="1089735" cy="653841"/>
        </a:xfrm>
        <a:prstGeom prst="roundRect">
          <a:avLst>
            <a:gd name="adj" fmla="val 10000"/>
          </a:avLst>
        </a:prstGeom>
        <a:solidFill>
          <a:srgbClr val="002060"/>
        </a:solidFill>
        <a:ln w="12700" cap="flat" cmpd="sng" algn="ctr">
          <a:solidFill>
            <a:srgbClr val="00206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t>Model Training</a:t>
          </a:r>
          <a:endParaRPr lang="en-PK" sz="900" kern="1200" dirty="0"/>
        </a:p>
      </dsp:txBody>
      <dsp:txXfrm>
        <a:off x="3044892" y="1142276"/>
        <a:ext cx="1051435" cy="615541"/>
      </dsp:txXfrm>
    </dsp:sp>
    <dsp:sp modelId="{F6BCBCC4-27DC-4132-9AEF-E8CFFC4D77FB}">
      <dsp:nvSpPr>
        <dsp:cNvPr id="0" name=""/>
        <dsp:cNvSpPr/>
      </dsp:nvSpPr>
      <dsp:spPr>
        <a:xfrm rot="67366">
          <a:off x="4231685" y="1330291"/>
          <a:ext cx="246457" cy="270254"/>
        </a:xfrm>
        <a:prstGeom prst="rightArrow">
          <a:avLst>
            <a:gd name="adj1" fmla="val 60000"/>
            <a:gd name="adj2" fmla="val 50000"/>
          </a:avLst>
        </a:prstGeom>
        <a:solidFill>
          <a:srgbClr val="00206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PK" sz="1100" kern="1200"/>
        </a:p>
      </dsp:txBody>
      <dsp:txXfrm>
        <a:off x="4231692" y="1383618"/>
        <a:ext cx="172520" cy="162152"/>
      </dsp:txXfrm>
    </dsp:sp>
    <dsp:sp modelId="{91BF71DB-8F0D-4852-A718-6CBB86607D99}">
      <dsp:nvSpPr>
        <dsp:cNvPr id="0" name=""/>
        <dsp:cNvSpPr/>
      </dsp:nvSpPr>
      <dsp:spPr>
        <a:xfrm>
          <a:off x="4580402" y="1153595"/>
          <a:ext cx="1089735" cy="653841"/>
        </a:xfrm>
        <a:prstGeom prst="roundRect">
          <a:avLst>
            <a:gd name="adj" fmla="val 10000"/>
          </a:avLst>
        </a:prstGeom>
        <a:solidFill>
          <a:srgbClr val="002060"/>
        </a:solidFill>
        <a:ln w="12700" cap="flat" cmpd="sng" algn="ctr">
          <a:solidFill>
            <a:srgbClr val="00206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a:t>Prediction</a:t>
          </a:r>
          <a:endParaRPr lang="en-PK" sz="900" kern="1200"/>
        </a:p>
      </dsp:txBody>
      <dsp:txXfrm>
        <a:off x="4599552" y="1172745"/>
        <a:ext cx="1051435" cy="615541"/>
      </dsp:txXfrm>
    </dsp:sp>
    <dsp:sp modelId="{B2AADB16-85CC-4179-BF34-7EF3D46362A5}">
      <dsp:nvSpPr>
        <dsp:cNvPr id="0" name=""/>
        <dsp:cNvSpPr/>
      </dsp:nvSpPr>
      <dsp:spPr>
        <a:xfrm>
          <a:off x="5779111" y="1345389"/>
          <a:ext cx="231023" cy="270254"/>
        </a:xfrm>
        <a:prstGeom prst="rightArrow">
          <a:avLst>
            <a:gd name="adj1" fmla="val 60000"/>
            <a:gd name="adj2" fmla="val 50000"/>
          </a:avLst>
        </a:prstGeom>
        <a:solidFill>
          <a:srgbClr val="00206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PK" sz="1100" kern="1200"/>
        </a:p>
      </dsp:txBody>
      <dsp:txXfrm>
        <a:off x="5779111" y="1399440"/>
        <a:ext cx="161716" cy="162152"/>
      </dsp:txXfrm>
    </dsp:sp>
    <dsp:sp modelId="{DC12469A-D20A-43CB-A54F-E91775717F6A}">
      <dsp:nvSpPr>
        <dsp:cNvPr id="0" name=""/>
        <dsp:cNvSpPr/>
      </dsp:nvSpPr>
      <dsp:spPr>
        <a:xfrm>
          <a:off x="6106031" y="1153595"/>
          <a:ext cx="1089735" cy="653841"/>
        </a:xfrm>
        <a:prstGeom prst="roundRect">
          <a:avLst>
            <a:gd name="adj" fmla="val 10000"/>
          </a:avLst>
        </a:prstGeom>
        <a:solidFill>
          <a:srgbClr val="002060"/>
        </a:solidFill>
        <a:ln w="12700" cap="flat" cmpd="sng" algn="ctr">
          <a:solidFill>
            <a:srgbClr val="00206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a:t>Evalutaion</a:t>
          </a:r>
          <a:endParaRPr lang="en-PK" sz="900" kern="1200"/>
        </a:p>
      </dsp:txBody>
      <dsp:txXfrm>
        <a:off x="6125181" y="1172745"/>
        <a:ext cx="1051435" cy="615541"/>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01C59-123B-148E-6E8F-C9DD05DCA99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DC8882DE-88B2-8740-D257-6E8D597247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BC8D8A5-B52C-AB85-72B6-48BFC5CA5337}"/>
              </a:ext>
            </a:extLst>
          </p:cNvPr>
          <p:cNvSpPr>
            <a:spLocks noGrp="1"/>
          </p:cNvSpPr>
          <p:nvPr>
            <p:ph type="dt" sz="half" idx="10"/>
          </p:nvPr>
        </p:nvSpPr>
        <p:spPr/>
        <p:txBody>
          <a:bodyPr/>
          <a:lstStyle/>
          <a:p>
            <a:fld id="{D483A3C1-5F19-4973-8EB6-C51F16A99A00}" type="datetimeFigureOut">
              <a:rPr lang="en-GB" smtClean="0"/>
              <a:t>19/09/2026</a:t>
            </a:fld>
            <a:endParaRPr lang="en-GB"/>
          </a:p>
        </p:txBody>
      </p:sp>
      <p:sp>
        <p:nvSpPr>
          <p:cNvPr id="5" name="Footer Placeholder 4">
            <a:extLst>
              <a:ext uri="{FF2B5EF4-FFF2-40B4-BE49-F238E27FC236}">
                <a16:creationId xmlns:a16="http://schemas.microsoft.com/office/drawing/2014/main" id="{97E9A8B6-E9DF-57F6-CD0B-E2D56DD1D2F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4C12C8E-0DB8-294D-44CF-CFA55C057702}"/>
              </a:ext>
            </a:extLst>
          </p:cNvPr>
          <p:cNvSpPr>
            <a:spLocks noGrp="1"/>
          </p:cNvSpPr>
          <p:nvPr>
            <p:ph type="sldNum" sz="quarter" idx="12"/>
          </p:nvPr>
        </p:nvSpPr>
        <p:spPr/>
        <p:txBody>
          <a:bodyPr/>
          <a:lstStyle/>
          <a:p>
            <a:fld id="{38AC636C-6E80-4442-A492-432984531512}" type="slidenum">
              <a:rPr lang="en-GB" smtClean="0"/>
              <a:t>‹#›</a:t>
            </a:fld>
            <a:endParaRPr lang="en-GB"/>
          </a:p>
        </p:txBody>
      </p:sp>
    </p:spTree>
    <p:extLst>
      <p:ext uri="{BB962C8B-B14F-4D97-AF65-F5344CB8AC3E}">
        <p14:creationId xmlns:p14="http://schemas.microsoft.com/office/powerpoint/2010/main" val="19947837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6226B-AE5D-B2D0-610C-C08272AFB0A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FEFDA8E-4F15-E6A1-8CB3-BB3F80981E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6DD7DF6-07EA-8DAF-B4E8-E90C049B69A8}"/>
              </a:ext>
            </a:extLst>
          </p:cNvPr>
          <p:cNvSpPr>
            <a:spLocks noGrp="1"/>
          </p:cNvSpPr>
          <p:nvPr>
            <p:ph type="dt" sz="half" idx="10"/>
          </p:nvPr>
        </p:nvSpPr>
        <p:spPr/>
        <p:txBody>
          <a:bodyPr/>
          <a:lstStyle/>
          <a:p>
            <a:fld id="{D483A3C1-5F19-4973-8EB6-C51F16A99A00}" type="datetimeFigureOut">
              <a:rPr lang="en-GB" smtClean="0"/>
              <a:t>19/09/2026</a:t>
            </a:fld>
            <a:endParaRPr lang="en-GB"/>
          </a:p>
        </p:txBody>
      </p:sp>
      <p:sp>
        <p:nvSpPr>
          <p:cNvPr id="5" name="Footer Placeholder 4">
            <a:extLst>
              <a:ext uri="{FF2B5EF4-FFF2-40B4-BE49-F238E27FC236}">
                <a16:creationId xmlns:a16="http://schemas.microsoft.com/office/drawing/2014/main" id="{9E677EBC-BE0D-4B8A-43A4-87E798B05C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8F5F9AD-4147-381B-8238-26BF604AE0A5}"/>
              </a:ext>
            </a:extLst>
          </p:cNvPr>
          <p:cNvSpPr>
            <a:spLocks noGrp="1"/>
          </p:cNvSpPr>
          <p:nvPr>
            <p:ph type="sldNum" sz="quarter" idx="12"/>
          </p:nvPr>
        </p:nvSpPr>
        <p:spPr/>
        <p:txBody>
          <a:bodyPr/>
          <a:lstStyle/>
          <a:p>
            <a:fld id="{38AC636C-6E80-4442-A492-432984531512}" type="slidenum">
              <a:rPr lang="en-GB" smtClean="0"/>
              <a:t>‹#›</a:t>
            </a:fld>
            <a:endParaRPr lang="en-GB"/>
          </a:p>
        </p:txBody>
      </p:sp>
    </p:spTree>
    <p:extLst>
      <p:ext uri="{BB962C8B-B14F-4D97-AF65-F5344CB8AC3E}">
        <p14:creationId xmlns:p14="http://schemas.microsoft.com/office/powerpoint/2010/main" val="22040267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D0646-41A4-76F4-F404-4CEC387E080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79E07DF-7946-AB14-51DA-1BD9642F40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BA379BA-4F33-BBE9-8593-18F5A7593AC7}"/>
              </a:ext>
            </a:extLst>
          </p:cNvPr>
          <p:cNvSpPr>
            <a:spLocks noGrp="1"/>
          </p:cNvSpPr>
          <p:nvPr>
            <p:ph type="dt" sz="half" idx="10"/>
          </p:nvPr>
        </p:nvSpPr>
        <p:spPr/>
        <p:txBody>
          <a:bodyPr/>
          <a:lstStyle/>
          <a:p>
            <a:fld id="{D483A3C1-5F19-4973-8EB6-C51F16A99A00}" type="datetimeFigureOut">
              <a:rPr lang="en-GB" smtClean="0"/>
              <a:t>19/09/2026</a:t>
            </a:fld>
            <a:endParaRPr lang="en-GB"/>
          </a:p>
        </p:txBody>
      </p:sp>
      <p:sp>
        <p:nvSpPr>
          <p:cNvPr id="5" name="Footer Placeholder 4">
            <a:extLst>
              <a:ext uri="{FF2B5EF4-FFF2-40B4-BE49-F238E27FC236}">
                <a16:creationId xmlns:a16="http://schemas.microsoft.com/office/drawing/2014/main" id="{DFDEF620-B41A-E325-EEB2-113ED33A0C9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178C259-2A62-F856-737B-6C426900B251}"/>
              </a:ext>
            </a:extLst>
          </p:cNvPr>
          <p:cNvSpPr>
            <a:spLocks noGrp="1"/>
          </p:cNvSpPr>
          <p:nvPr>
            <p:ph type="sldNum" sz="quarter" idx="12"/>
          </p:nvPr>
        </p:nvSpPr>
        <p:spPr/>
        <p:txBody>
          <a:bodyPr/>
          <a:lstStyle/>
          <a:p>
            <a:fld id="{38AC636C-6E80-4442-A492-432984531512}" type="slidenum">
              <a:rPr lang="en-GB" smtClean="0"/>
              <a:t>‹#›</a:t>
            </a:fld>
            <a:endParaRPr lang="en-GB"/>
          </a:p>
        </p:txBody>
      </p:sp>
    </p:spTree>
    <p:extLst>
      <p:ext uri="{BB962C8B-B14F-4D97-AF65-F5344CB8AC3E}">
        <p14:creationId xmlns:p14="http://schemas.microsoft.com/office/powerpoint/2010/main" val="2847043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94574-0B80-C94D-1309-FDEB1109838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E8DBE7F-BB39-6409-900E-01E18E4F3F1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4EC2E47-D777-2B52-0C23-A08D6969555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436DB17E-09C1-6E7B-7058-839D107904C2}"/>
              </a:ext>
            </a:extLst>
          </p:cNvPr>
          <p:cNvSpPr>
            <a:spLocks noGrp="1"/>
          </p:cNvSpPr>
          <p:nvPr>
            <p:ph type="dt" sz="half" idx="10"/>
          </p:nvPr>
        </p:nvSpPr>
        <p:spPr/>
        <p:txBody>
          <a:bodyPr/>
          <a:lstStyle/>
          <a:p>
            <a:fld id="{D483A3C1-5F19-4973-8EB6-C51F16A99A00}" type="datetimeFigureOut">
              <a:rPr lang="en-GB" smtClean="0"/>
              <a:t>19/09/2026</a:t>
            </a:fld>
            <a:endParaRPr lang="en-GB"/>
          </a:p>
        </p:txBody>
      </p:sp>
      <p:sp>
        <p:nvSpPr>
          <p:cNvPr id="6" name="Footer Placeholder 5">
            <a:extLst>
              <a:ext uri="{FF2B5EF4-FFF2-40B4-BE49-F238E27FC236}">
                <a16:creationId xmlns:a16="http://schemas.microsoft.com/office/drawing/2014/main" id="{CC3B3CB7-CCEF-80A6-D046-33D16544423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4B043E8-2BA5-B4AE-B2F8-EEE8438FD4E9}"/>
              </a:ext>
            </a:extLst>
          </p:cNvPr>
          <p:cNvSpPr>
            <a:spLocks noGrp="1"/>
          </p:cNvSpPr>
          <p:nvPr>
            <p:ph type="sldNum" sz="quarter" idx="12"/>
          </p:nvPr>
        </p:nvSpPr>
        <p:spPr/>
        <p:txBody>
          <a:bodyPr/>
          <a:lstStyle/>
          <a:p>
            <a:fld id="{38AC636C-6E80-4442-A492-432984531512}" type="slidenum">
              <a:rPr lang="en-GB" smtClean="0"/>
              <a:t>‹#›</a:t>
            </a:fld>
            <a:endParaRPr lang="en-GB"/>
          </a:p>
        </p:txBody>
      </p:sp>
    </p:spTree>
    <p:extLst>
      <p:ext uri="{BB962C8B-B14F-4D97-AF65-F5344CB8AC3E}">
        <p14:creationId xmlns:p14="http://schemas.microsoft.com/office/powerpoint/2010/main" val="36981003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F4116-1BB5-8187-4016-CB4C74A200FC}"/>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B32AD20-F731-FB3E-209D-3BCF12DF3F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728A155-EB2E-7D25-8331-6490FF9B93C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54BD5340-8E28-5233-D1C8-D81B5C909EC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3DF4EDF-020C-1E2B-26B0-E7D4B38BC2C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D440DB3E-4EE1-AD6C-D7E7-549114EC8955}"/>
              </a:ext>
            </a:extLst>
          </p:cNvPr>
          <p:cNvSpPr>
            <a:spLocks noGrp="1"/>
          </p:cNvSpPr>
          <p:nvPr>
            <p:ph type="dt" sz="half" idx="10"/>
          </p:nvPr>
        </p:nvSpPr>
        <p:spPr/>
        <p:txBody>
          <a:bodyPr/>
          <a:lstStyle/>
          <a:p>
            <a:fld id="{D483A3C1-5F19-4973-8EB6-C51F16A99A00}" type="datetimeFigureOut">
              <a:rPr lang="en-GB" smtClean="0"/>
              <a:t>19/09/2026</a:t>
            </a:fld>
            <a:endParaRPr lang="en-GB"/>
          </a:p>
        </p:txBody>
      </p:sp>
      <p:sp>
        <p:nvSpPr>
          <p:cNvPr id="8" name="Footer Placeholder 7">
            <a:extLst>
              <a:ext uri="{FF2B5EF4-FFF2-40B4-BE49-F238E27FC236}">
                <a16:creationId xmlns:a16="http://schemas.microsoft.com/office/drawing/2014/main" id="{FE14E869-6E02-2EF2-6045-44EC3909641A}"/>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E799351-92DF-9ACD-2E32-DDA6AA8A95B6}"/>
              </a:ext>
            </a:extLst>
          </p:cNvPr>
          <p:cNvSpPr>
            <a:spLocks noGrp="1"/>
          </p:cNvSpPr>
          <p:nvPr>
            <p:ph type="sldNum" sz="quarter" idx="12"/>
          </p:nvPr>
        </p:nvSpPr>
        <p:spPr/>
        <p:txBody>
          <a:bodyPr/>
          <a:lstStyle/>
          <a:p>
            <a:fld id="{38AC636C-6E80-4442-A492-432984531512}" type="slidenum">
              <a:rPr lang="en-GB" smtClean="0"/>
              <a:t>‹#›</a:t>
            </a:fld>
            <a:endParaRPr lang="en-GB"/>
          </a:p>
        </p:txBody>
      </p:sp>
    </p:spTree>
    <p:extLst>
      <p:ext uri="{BB962C8B-B14F-4D97-AF65-F5344CB8AC3E}">
        <p14:creationId xmlns:p14="http://schemas.microsoft.com/office/powerpoint/2010/main" val="1192011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787D1-601E-499D-7270-7956DC52858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F43BB23-5977-ABC8-325B-8B62AC7BACCF}"/>
              </a:ext>
            </a:extLst>
          </p:cNvPr>
          <p:cNvSpPr>
            <a:spLocks noGrp="1"/>
          </p:cNvSpPr>
          <p:nvPr>
            <p:ph type="dt" sz="half" idx="10"/>
          </p:nvPr>
        </p:nvSpPr>
        <p:spPr/>
        <p:txBody>
          <a:bodyPr/>
          <a:lstStyle/>
          <a:p>
            <a:fld id="{D483A3C1-5F19-4973-8EB6-C51F16A99A00}" type="datetimeFigureOut">
              <a:rPr lang="en-GB" smtClean="0"/>
              <a:t>19/09/2026</a:t>
            </a:fld>
            <a:endParaRPr lang="en-GB"/>
          </a:p>
        </p:txBody>
      </p:sp>
      <p:sp>
        <p:nvSpPr>
          <p:cNvPr id="4" name="Footer Placeholder 3">
            <a:extLst>
              <a:ext uri="{FF2B5EF4-FFF2-40B4-BE49-F238E27FC236}">
                <a16:creationId xmlns:a16="http://schemas.microsoft.com/office/drawing/2014/main" id="{C1D29AFD-9F6C-F849-B568-16DC6883531D}"/>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6B13B027-EE88-D862-2D8D-5614816BE916}"/>
              </a:ext>
            </a:extLst>
          </p:cNvPr>
          <p:cNvSpPr>
            <a:spLocks noGrp="1"/>
          </p:cNvSpPr>
          <p:nvPr>
            <p:ph type="sldNum" sz="quarter" idx="12"/>
          </p:nvPr>
        </p:nvSpPr>
        <p:spPr/>
        <p:txBody>
          <a:bodyPr/>
          <a:lstStyle/>
          <a:p>
            <a:fld id="{38AC636C-6E80-4442-A492-432984531512}" type="slidenum">
              <a:rPr lang="en-GB" smtClean="0"/>
              <a:t>‹#›</a:t>
            </a:fld>
            <a:endParaRPr lang="en-GB"/>
          </a:p>
        </p:txBody>
      </p:sp>
    </p:spTree>
    <p:extLst>
      <p:ext uri="{BB962C8B-B14F-4D97-AF65-F5344CB8AC3E}">
        <p14:creationId xmlns:p14="http://schemas.microsoft.com/office/powerpoint/2010/main" val="29529227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A7512D-77D5-A3A3-0586-6992FA5FC655}"/>
              </a:ext>
            </a:extLst>
          </p:cNvPr>
          <p:cNvSpPr>
            <a:spLocks noGrp="1"/>
          </p:cNvSpPr>
          <p:nvPr>
            <p:ph type="dt" sz="half" idx="10"/>
          </p:nvPr>
        </p:nvSpPr>
        <p:spPr/>
        <p:txBody>
          <a:bodyPr/>
          <a:lstStyle/>
          <a:p>
            <a:fld id="{D483A3C1-5F19-4973-8EB6-C51F16A99A00}" type="datetimeFigureOut">
              <a:rPr lang="en-GB" smtClean="0"/>
              <a:t>19/09/2026</a:t>
            </a:fld>
            <a:endParaRPr lang="en-GB"/>
          </a:p>
        </p:txBody>
      </p:sp>
      <p:sp>
        <p:nvSpPr>
          <p:cNvPr id="3" name="Footer Placeholder 2">
            <a:extLst>
              <a:ext uri="{FF2B5EF4-FFF2-40B4-BE49-F238E27FC236}">
                <a16:creationId xmlns:a16="http://schemas.microsoft.com/office/drawing/2014/main" id="{7D825478-E151-FB36-8285-0F5C84CB0DE1}"/>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988EFA3C-D30E-1F35-A0B3-DCB463FF62AF}"/>
              </a:ext>
            </a:extLst>
          </p:cNvPr>
          <p:cNvSpPr>
            <a:spLocks noGrp="1"/>
          </p:cNvSpPr>
          <p:nvPr>
            <p:ph type="sldNum" sz="quarter" idx="12"/>
          </p:nvPr>
        </p:nvSpPr>
        <p:spPr/>
        <p:txBody>
          <a:bodyPr/>
          <a:lstStyle/>
          <a:p>
            <a:fld id="{38AC636C-6E80-4442-A492-432984531512}" type="slidenum">
              <a:rPr lang="en-GB" smtClean="0"/>
              <a:t>‹#›</a:t>
            </a:fld>
            <a:endParaRPr lang="en-GB"/>
          </a:p>
        </p:txBody>
      </p:sp>
    </p:spTree>
    <p:extLst>
      <p:ext uri="{BB962C8B-B14F-4D97-AF65-F5344CB8AC3E}">
        <p14:creationId xmlns:p14="http://schemas.microsoft.com/office/powerpoint/2010/main" val="1271434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6A608-9293-B696-21D8-119E891016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694A824E-100F-37E5-9DDC-B36E204842F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C45CC3A-A9D9-8215-0E85-76BB571019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9317BF-51BA-EB04-95CD-26BF5FF91071}"/>
              </a:ext>
            </a:extLst>
          </p:cNvPr>
          <p:cNvSpPr>
            <a:spLocks noGrp="1"/>
          </p:cNvSpPr>
          <p:nvPr>
            <p:ph type="dt" sz="half" idx="10"/>
          </p:nvPr>
        </p:nvSpPr>
        <p:spPr/>
        <p:txBody>
          <a:bodyPr/>
          <a:lstStyle/>
          <a:p>
            <a:fld id="{D483A3C1-5F19-4973-8EB6-C51F16A99A00}" type="datetimeFigureOut">
              <a:rPr lang="en-GB" smtClean="0"/>
              <a:t>19/09/2026</a:t>
            </a:fld>
            <a:endParaRPr lang="en-GB"/>
          </a:p>
        </p:txBody>
      </p:sp>
      <p:sp>
        <p:nvSpPr>
          <p:cNvPr id="6" name="Footer Placeholder 5">
            <a:extLst>
              <a:ext uri="{FF2B5EF4-FFF2-40B4-BE49-F238E27FC236}">
                <a16:creationId xmlns:a16="http://schemas.microsoft.com/office/drawing/2014/main" id="{7AE1EE8F-C4A3-D3CD-EB6E-1C311E05AE1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7CC21ED-1F21-6C7E-5C50-B8E9A0B443B0}"/>
              </a:ext>
            </a:extLst>
          </p:cNvPr>
          <p:cNvSpPr>
            <a:spLocks noGrp="1"/>
          </p:cNvSpPr>
          <p:nvPr>
            <p:ph type="sldNum" sz="quarter" idx="12"/>
          </p:nvPr>
        </p:nvSpPr>
        <p:spPr/>
        <p:txBody>
          <a:bodyPr/>
          <a:lstStyle/>
          <a:p>
            <a:fld id="{38AC636C-6E80-4442-A492-432984531512}" type="slidenum">
              <a:rPr lang="en-GB" smtClean="0"/>
              <a:t>‹#›</a:t>
            </a:fld>
            <a:endParaRPr lang="en-GB"/>
          </a:p>
        </p:txBody>
      </p:sp>
    </p:spTree>
    <p:extLst>
      <p:ext uri="{BB962C8B-B14F-4D97-AF65-F5344CB8AC3E}">
        <p14:creationId xmlns:p14="http://schemas.microsoft.com/office/powerpoint/2010/main" val="3842977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01CBD-37FA-3F7D-EF14-0D4B04CC3E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83579EC-0E7A-CBF3-05B5-2902B86275B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E50AE2A2-6963-D8EF-36D6-7D61680021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A1C5E8-CFC1-2D08-07EE-1443FA0A6DEC}"/>
              </a:ext>
            </a:extLst>
          </p:cNvPr>
          <p:cNvSpPr>
            <a:spLocks noGrp="1"/>
          </p:cNvSpPr>
          <p:nvPr>
            <p:ph type="dt" sz="half" idx="10"/>
          </p:nvPr>
        </p:nvSpPr>
        <p:spPr/>
        <p:txBody>
          <a:bodyPr/>
          <a:lstStyle/>
          <a:p>
            <a:fld id="{D483A3C1-5F19-4973-8EB6-C51F16A99A00}" type="datetimeFigureOut">
              <a:rPr lang="en-GB" smtClean="0"/>
              <a:t>19/09/2026</a:t>
            </a:fld>
            <a:endParaRPr lang="en-GB"/>
          </a:p>
        </p:txBody>
      </p:sp>
      <p:sp>
        <p:nvSpPr>
          <p:cNvPr id="6" name="Footer Placeholder 5">
            <a:extLst>
              <a:ext uri="{FF2B5EF4-FFF2-40B4-BE49-F238E27FC236}">
                <a16:creationId xmlns:a16="http://schemas.microsoft.com/office/drawing/2014/main" id="{FB25CEDB-5A01-E6AD-CB8F-AD2AFC2353A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756AC2D-0B1B-9355-A1DC-9D525DF48D57}"/>
              </a:ext>
            </a:extLst>
          </p:cNvPr>
          <p:cNvSpPr>
            <a:spLocks noGrp="1"/>
          </p:cNvSpPr>
          <p:nvPr>
            <p:ph type="sldNum" sz="quarter" idx="12"/>
          </p:nvPr>
        </p:nvSpPr>
        <p:spPr/>
        <p:txBody>
          <a:bodyPr/>
          <a:lstStyle/>
          <a:p>
            <a:fld id="{38AC636C-6E80-4442-A492-432984531512}" type="slidenum">
              <a:rPr lang="en-GB" smtClean="0"/>
              <a:t>‹#›</a:t>
            </a:fld>
            <a:endParaRPr lang="en-GB"/>
          </a:p>
        </p:txBody>
      </p:sp>
    </p:spTree>
    <p:extLst>
      <p:ext uri="{BB962C8B-B14F-4D97-AF65-F5344CB8AC3E}">
        <p14:creationId xmlns:p14="http://schemas.microsoft.com/office/powerpoint/2010/main" val="4546582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87D1B-3544-FBF2-EAC3-58F88F5A9BC6}"/>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C774AB1-791B-0225-A553-1B92E0DE16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976349E-1596-7D7D-259C-F11E331A6169}"/>
              </a:ext>
            </a:extLst>
          </p:cNvPr>
          <p:cNvSpPr>
            <a:spLocks noGrp="1"/>
          </p:cNvSpPr>
          <p:nvPr>
            <p:ph type="dt" sz="half" idx="10"/>
          </p:nvPr>
        </p:nvSpPr>
        <p:spPr/>
        <p:txBody>
          <a:bodyPr/>
          <a:lstStyle/>
          <a:p>
            <a:fld id="{D483A3C1-5F19-4973-8EB6-C51F16A99A00}" type="datetimeFigureOut">
              <a:rPr lang="en-GB" smtClean="0"/>
              <a:t>19/09/2026</a:t>
            </a:fld>
            <a:endParaRPr lang="en-GB"/>
          </a:p>
        </p:txBody>
      </p:sp>
      <p:sp>
        <p:nvSpPr>
          <p:cNvPr id="5" name="Footer Placeholder 4">
            <a:extLst>
              <a:ext uri="{FF2B5EF4-FFF2-40B4-BE49-F238E27FC236}">
                <a16:creationId xmlns:a16="http://schemas.microsoft.com/office/drawing/2014/main" id="{7C43C578-D210-3386-632D-3E4CF050B8B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80C21E0-944C-9DEA-69AA-4F7BB442202D}"/>
              </a:ext>
            </a:extLst>
          </p:cNvPr>
          <p:cNvSpPr>
            <a:spLocks noGrp="1"/>
          </p:cNvSpPr>
          <p:nvPr>
            <p:ph type="sldNum" sz="quarter" idx="12"/>
          </p:nvPr>
        </p:nvSpPr>
        <p:spPr/>
        <p:txBody>
          <a:bodyPr/>
          <a:lstStyle/>
          <a:p>
            <a:fld id="{38AC636C-6E80-4442-A492-432984531512}" type="slidenum">
              <a:rPr lang="en-GB" smtClean="0"/>
              <a:t>‹#›</a:t>
            </a:fld>
            <a:endParaRPr lang="en-GB"/>
          </a:p>
        </p:txBody>
      </p:sp>
    </p:spTree>
    <p:extLst>
      <p:ext uri="{BB962C8B-B14F-4D97-AF65-F5344CB8AC3E}">
        <p14:creationId xmlns:p14="http://schemas.microsoft.com/office/powerpoint/2010/main" val="6976412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014854E-579D-C661-ADF2-A63184804F0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1C2C12B-B82A-DE17-B813-859229E2FEC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378C00B-9EFF-C6AF-C3DD-CA3567BEAC88}"/>
              </a:ext>
            </a:extLst>
          </p:cNvPr>
          <p:cNvSpPr>
            <a:spLocks noGrp="1"/>
          </p:cNvSpPr>
          <p:nvPr>
            <p:ph type="dt" sz="half" idx="10"/>
          </p:nvPr>
        </p:nvSpPr>
        <p:spPr/>
        <p:txBody>
          <a:bodyPr/>
          <a:lstStyle/>
          <a:p>
            <a:fld id="{D483A3C1-5F19-4973-8EB6-C51F16A99A00}" type="datetimeFigureOut">
              <a:rPr lang="en-GB" smtClean="0"/>
              <a:t>19/09/2026</a:t>
            </a:fld>
            <a:endParaRPr lang="en-GB"/>
          </a:p>
        </p:txBody>
      </p:sp>
      <p:sp>
        <p:nvSpPr>
          <p:cNvPr id="5" name="Footer Placeholder 4">
            <a:extLst>
              <a:ext uri="{FF2B5EF4-FFF2-40B4-BE49-F238E27FC236}">
                <a16:creationId xmlns:a16="http://schemas.microsoft.com/office/drawing/2014/main" id="{63BB7FA9-C085-90F9-3EFD-F3DBFC21955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3453A18-4C03-8CC1-A9FF-EC7CA35B91EB}"/>
              </a:ext>
            </a:extLst>
          </p:cNvPr>
          <p:cNvSpPr>
            <a:spLocks noGrp="1"/>
          </p:cNvSpPr>
          <p:nvPr>
            <p:ph type="sldNum" sz="quarter" idx="12"/>
          </p:nvPr>
        </p:nvSpPr>
        <p:spPr/>
        <p:txBody>
          <a:bodyPr/>
          <a:lstStyle/>
          <a:p>
            <a:fld id="{38AC636C-6E80-4442-A492-432984531512}" type="slidenum">
              <a:rPr lang="en-GB" smtClean="0"/>
              <a:t>‹#›</a:t>
            </a:fld>
            <a:endParaRPr lang="en-GB"/>
          </a:p>
        </p:txBody>
      </p:sp>
    </p:spTree>
    <p:extLst>
      <p:ext uri="{BB962C8B-B14F-4D97-AF65-F5344CB8AC3E}">
        <p14:creationId xmlns:p14="http://schemas.microsoft.com/office/powerpoint/2010/main" val="23968249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A18627A-5858-FF2E-9C57-F5B10C0A7A2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8CD4D95-5E77-AA00-00F3-34B0F59B53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9AEDBB8-97CC-7CB2-4E72-C8765C27CF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83A3C1-5F19-4973-8EB6-C51F16A99A00}" type="datetimeFigureOut">
              <a:rPr lang="en-GB" smtClean="0"/>
              <a:t>19/09/2026</a:t>
            </a:fld>
            <a:endParaRPr lang="en-GB"/>
          </a:p>
        </p:txBody>
      </p:sp>
      <p:sp>
        <p:nvSpPr>
          <p:cNvPr id="5" name="Footer Placeholder 4">
            <a:extLst>
              <a:ext uri="{FF2B5EF4-FFF2-40B4-BE49-F238E27FC236}">
                <a16:creationId xmlns:a16="http://schemas.microsoft.com/office/drawing/2014/main" id="{F7B4D95A-579B-2D1E-F7FB-7B510CD21A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CB9A9C4C-1AFA-3101-3450-82478D479B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AC636C-6E80-4442-A492-432984531512}" type="slidenum">
              <a:rPr lang="en-GB" smtClean="0"/>
              <a:t>‹#›</a:t>
            </a:fld>
            <a:endParaRPr lang="en-GB"/>
          </a:p>
        </p:txBody>
      </p:sp>
    </p:spTree>
    <p:extLst>
      <p:ext uri="{BB962C8B-B14F-4D97-AF65-F5344CB8AC3E}">
        <p14:creationId xmlns:p14="http://schemas.microsoft.com/office/powerpoint/2010/main" val="24480733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CF0D2-AB1A-20C8-21D2-85CD675E41AB}"/>
              </a:ext>
            </a:extLst>
          </p:cNvPr>
          <p:cNvSpPr>
            <a:spLocks noGrp="1"/>
          </p:cNvSpPr>
          <p:nvPr>
            <p:ph type="ctrTitle"/>
          </p:nvPr>
        </p:nvSpPr>
        <p:spPr/>
        <p:txBody>
          <a:bodyPr>
            <a:normAutofit/>
          </a:bodyPr>
          <a:lstStyle/>
          <a:p>
            <a:r>
              <a:rPr lang="en-US" sz="3500" b="1" dirty="0">
                <a:effectLst/>
                <a:latin typeface="Calibri" panose="020F0502020204030204" pitchFamily="34" charset="0"/>
                <a:ea typeface="Calibri" panose="020F0502020204030204" pitchFamily="34" charset="0"/>
                <a:cs typeface="Calibri" panose="020F0502020204030204" pitchFamily="34" charset="0"/>
              </a:rPr>
              <a:t>Comparison of Machine Learning Models to Predict Heart Diseases </a:t>
            </a:r>
            <a:br>
              <a:rPr lang="en-GB" sz="3500" dirty="0">
                <a:effectLst/>
                <a:latin typeface="Calibri" panose="020F0502020204030204" pitchFamily="34" charset="0"/>
                <a:ea typeface="Calibri" panose="020F0502020204030204" pitchFamily="34" charset="0"/>
              </a:rPr>
            </a:br>
            <a:endParaRPr lang="en-GB" sz="3500" dirty="0"/>
          </a:p>
        </p:txBody>
      </p:sp>
      <p:sp>
        <p:nvSpPr>
          <p:cNvPr id="3" name="Subtitle 2">
            <a:extLst>
              <a:ext uri="{FF2B5EF4-FFF2-40B4-BE49-F238E27FC236}">
                <a16:creationId xmlns:a16="http://schemas.microsoft.com/office/drawing/2014/main" id="{8A651778-BD71-1A47-12AC-F94E115EEC30}"/>
              </a:ext>
            </a:extLst>
          </p:cNvPr>
          <p:cNvSpPr>
            <a:spLocks noGrp="1"/>
          </p:cNvSpPr>
          <p:nvPr>
            <p:ph type="subTitle" idx="1"/>
          </p:nvPr>
        </p:nvSpPr>
        <p:spPr/>
        <p:txBody>
          <a:bodyPr/>
          <a:lstStyle/>
          <a:p>
            <a:r>
              <a:rPr lang="en-GB" dirty="0"/>
              <a:t>Presentation </a:t>
            </a:r>
            <a:r>
              <a:rPr lang="en-GB"/>
              <a:t>Muzammal Hussain </a:t>
            </a:r>
            <a:endParaRPr lang="en-GB" dirty="0"/>
          </a:p>
        </p:txBody>
      </p:sp>
    </p:spTree>
    <p:extLst>
      <p:ext uri="{BB962C8B-B14F-4D97-AF65-F5344CB8AC3E}">
        <p14:creationId xmlns:p14="http://schemas.microsoft.com/office/powerpoint/2010/main" val="29802493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EBD3A-C450-A8E3-63D2-899266A838C1}"/>
              </a:ext>
            </a:extLst>
          </p:cNvPr>
          <p:cNvSpPr>
            <a:spLocks noGrp="1"/>
          </p:cNvSpPr>
          <p:nvPr>
            <p:ph type="title"/>
          </p:nvPr>
        </p:nvSpPr>
        <p:spPr/>
        <p:txBody>
          <a:bodyPr/>
          <a:lstStyle/>
          <a:p>
            <a:r>
              <a:rPr lang="en-GB" dirty="0"/>
              <a:t>Heart Diseases</a:t>
            </a:r>
          </a:p>
        </p:txBody>
      </p:sp>
      <p:sp>
        <p:nvSpPr>
          <p:cNvPr id="3" name="Content Placeholder 2">
            <a:extLst>
              <a:ext uri="{FF2B5EF4-FFF2-40B4-BE49-F238E27FC236}">
                <a16:creationId xmlns:a16="http://schemas.microsoft.com/office/drawing/2014/main" id="{A973E22A-2E72-3EE5-7FFE-B1F48083E0A0}"/>
              </a:ext>
            </a:extLst>
          </p:cNvPr>
          <p:cNvSpPr>
            <a:spLocks noGrp="1"/>
          </p:cNvSpPr>
          <p:nvPr>
            <p:ph idx="1"/>
          </p:nvPr>
        </p:nvSpPr>
        <p:spPr/>
        <p:txBody>
          <a:bodyPr/>
          <a:lstStyle/>
          <a:p>
            <a:r>
              <a:rPr lang="en-GB" b="0" i="0" dirty="0">
                <a:effectLst/>
              </a:rPr>
              <a:t>Cardiovascular diseases (CVDs) are the leading cause of death globally, taking an estimated 17.9 million lives each year. CVDs are a group of disorders of the heart and blood vessels and include coronary heart disease, cerebrovascular disease, rheumatic heart disease and other conditions. More than four out of five CVD deaths are due to heart attacks and strokes, and one third of these deaths occur prematurely in people under 70 years of age.</a:t>
            </a:r>
            <a:endParaRPr lang="en-GB" dirty="0"/>
          </a:p>
        </p:txBody>
      </p:sp>
    </p:spTree>
    <p:extLst>
      <p:ext uri="{BB962C8B-B14F-4D97-AF65-F5344CB8AC3E}">
        <p14:creationId xmlns:p14="http://schemas.microsoft.com/office/powerpoint/2010/main" val="9297121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055BE-6F9C-E554-7A03-A1C1691CC039}"/>
              </a:ext>
            </a:extLst>
          </p:cNvPr>
          <p:cNvSpPr>
            <a:spLocks noGrp="1"/>
          </p:cNvSpPr>
          <p:nvPr>
            <p:ph type="title"/>
          </p:nvPr>
        </p:nvSpPr>
        <p:spPr/>
        <p:txBody>
          <a:bodyPr/>
          <a:lstStyle/>
          <a:p>
            <a:r>
              <a:rPr lang="en-GB" dirty="0"/>
              <a:t>Problem Statement</a:t>
            </a:r>
          </a:p>
        </p:txBody>
      </p:sp>
      <p:sp>
        <p:nvSpPr>
          <p:cNvPr id="3" name="Content Placeholder 2">
            <a:extLst>
              <a:ext uri="{FF2B5EF4-FFF2-40B4-BE49-F238E27FC236}">
                <a16:creationId xmlns:a16="http://schemas.microsoft.com/office/drawing/2014/main" id="{334C4E96-7B1A-1F1B-69A4-B07AF5AA0791}"/>
              </a:ext>
            </a:extLst>
          </p:cNvPr>
          <p:cNvSpPr>
            <a:spLocks noGrp="1"/>
          </p:cNvSpPr>
          <p:nvPr>
            <p:ph idx="1"/>
          </p:nvPr>
        </p:nvSpPr>
        <p:spPr/>
        <p:txBody>
          <a:bodyPr/>
          <a:lstStyle/>
          <a:p>
            <a:r>
              <a:rPr lang="en-US" sz="4500" dirty="0">
                <a:effectLst/>
                <a:latin typeface="Calibri" panose="020F0502020204030204" pitchFamily="34" charset="0"/>
                <a:ea typeface="Calibri" panose="020F0502020204030204" pitchFamily="34" charset="0"/>
              </a:rPr>
              <a:t>Limited data set availability</a:t>
            </a:r>
          </a:p>
          <a:p>
            <a:r>
              <a:rPr lang="en-US" sz="4500" b="1" dirty="0">
                <a:effectLst/>
                <a:latin typeface="Calibri" panose="020F0502020204030204" pitchFamily="34" charset="0"/>
                <a:ea typeface="Calibri" panose="020F0502020204030204" pitchFamily="34" charset="0"/>
              </a:rPr>
              <a:t>Big Data </a:t>
            </a:r>
            <a:r>
              <a:rPr lang="en-US" sz="4500" dirty="0">
                <a:effectLst/>
                <a:latin typeface="Calibri" panose="020F0502020204030204" pitchFamily="34" charset="0"/>
                <a:ea typeface="Calibri" panose="020F0502020204030204" pitchFamily="34" charset="0"/>
              </a:rPr>
              <a:t>to produce good accuracy.</a:t>
            </a:r>
          </a:p>
          <a:p>
            <a:r>
              <a:rPr lang="en-US" sz="4500" dirty="0">
                <a:latin typeface="Calibri" panose="020F0502020204030204" pitchFamily="34" charset="0"/>
                <a:ea typeface="Calibri" panose="020F0502020204030204" pitchFamily="34" charset="0"/>
              </a:rPr>
              <a:t>Which machine learning models to choose?</a:t>
            </a:r>
            <a:endParaRPr lang="en-US" sz="4500" dirty="0">
              <a:effectLst/>
              <a:latin typeface="Calibri" panose="020F0502020204030204" pitchFamily="34" charset="0"/>
              <a:ea typeface="Calibri" panose="020F0502020204030204" pitchFamily="34" charset="0"/>
            </a:endParaRPr>
          </a:p>
          <a:p>
            <a:pPr marL="0" indent="0">
              <a:buNone/>
            </a:pPr>
            <a:endParaRPr lang="en-US" sz="4500" dirty="0">
              <a:latin typeface="Calibri" panose="020F0502020204030204" pitchFamily="34" charset="0"/>
            </a:endParaRPr>
          </a:p>
          <a:p>
            <a:pPr marL="0" indent="0">
              <a:buNone/>
            </a:pPr>
            <a:endParaRPr lang="en-GB" dirty="0"/>
          </a:p>
        </p:txBody>
      </p:sp>
    </p:spTree>
    <p:extLst>
      <p:ext uri="{BB962C8B-B14F-4D97-AF65-F5344CB8AC3E}">
        <p14:creationId xmlns:p14="http://schemas.microsoft.com/office/powerpoint/2010/main" val="35543026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36A08-7BC2-E48D-2059-1C19DDA45A3E}"/>
              </a:ext>
            </a:extLst>
          </p:cNvPr>
          <p:cNvSpPr>
            <a:spLocks noGrp="1"/>
          </p:cNvSpPr>
          <p:nvPr>
            <p:ph type="title"/>
          </p:nvPr>
        </p:nvSpPr>
        <p:spPr>
          <a:xfrm>
            <a:off x="838200" y="330620"/>
            <a:ext cx="10515600" cy="1325563"/>
          </a:xfrm>
        </p:spPr>
        <p:txBody>
          <a:bodyPr>
            <a:normAutofit/>
          </a:bodyPr>
          <a:lstStyle/>
          <a:p>
            <a:r>
              <a:rPr lang="en-GB" sz="5000" dirty="0"/>
              <a:t>Proposed solutions</a:t>
            </a:r>
          </a:p>
        </p:txBody>
      </p:sp>
      <p:sp>
        <p:nvSpPr>
          <p:cNvPr id="3" name="Content Placeholder 2">
            <a:extLst>
              <a:ext uri="{FF2B5EF4-FFF2-40B4-BE49-F238E27FC236}">
                <a16:creationId xmlns:a16="http://schemas.microsoft.com/office/drawing/2014/main" id="{A41C276A-E7EA-2267-59CA-07B0A9797850}"/>
              </a:ext>
            </a:extLst>
          </p:cNvPr>
          <p:cNvSpPr>
            <a:spLocks noGrp="1"/>
          </p:cNvSpPr>
          <p:nvPr>
            <p:ph idx="1"/>
          </p:nvPr>
        </p:nvSpPr>
        <p:spPr/>
        <p:txBody>
          <a:bodyPr>
            <a:normAutofit/>
          </a:bodyPr>
          <a:lstStyle/>
          <a:p>
            <a:r>
              <a:rPr lang="en-GB" sz="5000" dirty="0"/>
              <a:t>Data augmentation</a:t>
            </a:r>
          </a:p>
          <a:p>
            <a:r>
              <a:rPr lang="en-GB" sz="5000" dirty="0"/>
              <a:t>Comparison of three top performing models</a:t>
            </a:r>
          </a:p>
          <a:p>
            <a:r>
              <a:rPr lang="en-GB" sz="5000" dirty="0"/>
              <a:t>Accuracy as the metrics.</a:t>
            </a:r>
          </a:p>
          <a:p>
            <a:pPr marL="0" indent="0">
              <a:buNone/>
            </a:pPr>
            <a:endParaRPr lang="en-GB" sz="4500" dirty="0"/>
          </a:p>
        </p:txBody>
      </p:sp>
    </p:spTree>
    <p:extLst>
      <p:ext uri="{BB962C8B-B14F-4D97-AF65-F5344CB8AC3E}">
        <p14:creationId xmlns:p14="http://schemas.microsoft.com/office/powerpoint/2010/main" val="4166946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84537-A7AE-3F74-7E7B-5AB9C0BFEE79}"/>
              </a:ext>
            </a:extLst>
          </p:cNvPr>
          <p:cNvSpPr>
            <a:spLocks noGrp="1"/>
          </p:cNvSpPr>
          <p:nvPr>
            <p:ph type="title"/>
          </p:nvPr>
        </p:nvSpPr>
        <p:spPr>
          <a:xfrm>
            <a:off x="751935" y="868810"/>
            <a:ext cx="10515600" cy="1325563"/>
          </a:xfrm>
        </p:spPr>
        <p:txBody>
          <a:bodyPr/>
          <a:lstStyle/>
          <a:p>
            <a:r>
              <a:rPr lang="en-GB" dirty="0"/>
              <a:t>Aims and Objectives</a:t>
            </a:r>
          </a:p>
        </p:txBody>
      </p:sp>
      <p:sp>
        <p:nvSpPr>
          <p:cNvPr id="3" name="Content Placeholder 2">
            <a:extLst>
              <a:ext uri="{FF2B5EF4-FFF2-40B4-BE49-F238E27FC236}">
                <a16:creationId xmlns:a16="http://schemas.microsoft.com/office/drawing/2014/main" id="{310C1AC4-AC73-334C-19EB-96B797E082DA}"/>
              </a:ext>
            </a:extLst>
          </p:cNvPr>
          <p:cNvSpPr>
            <a:spLocks noGrp="1"/>
          </p:cNvSpPr>
          <p:nvPr>
            <p:ph idx="1"/>
          </p:nvPr>
        </p:nvSpPr>
        <p:spPr>
          <a:xfrm>
            <a:off x="838200" y="2314065"/>
            <a:ext cx="10515600" cy="4351338"/>
          </a:xfrm>
        </p:spPr>
        <p:txBody>
          <a:bodyPr/>
          <a:lstStyle/>
          <a:p>
            <a:pPr marL="0" indent="0">
              <a:buNone/>
            </a:pPr>
            <a:endParaRPr lang="en-GB" dirty="0"/>
          </a:p>
        </p:txBody>
      </p:sp>
      <p:sp>
        <p:nvSpPr>
          <p:cNvPr id="7" name="Rectangle 5">
            <a:extLst>
              <a:ext uri="{FF2B5EF4-FFF2-40B4-BE49-F238E27FC236}">
                <a16:creationId xmlns:a16="http://schemas.microsoft.com/office/drawing/2014/main" id="{9ADA0620-5479-FB5C-DD48-D6BD1BBF959F}"/>
              </a:ext>
            </a:extLst>
          </p:cNvPr>
          <p:cNvSpPr>
            <a:spLocks noChangeArrowheads="1"/>
          </p:cNvSpPr>
          <p:nvPr/>
        </p:nvSpPr>
        <p:spPr bwMode="auto">
          <a:xfrm>
            <a:off x="0" y="48844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8" name="Diagram 7">
            <a:extLst>
              <a:ext uri="{FF2B5EF4-FFF2-40B4-BE49-F238E27FC236}">
                <a16:creationId xmlns:a16="http://schemas.microsoft.com/office/drawing/2014/main" id="{8FE98EEC-95B1-14B0-EE93-FB2F71297651}"/>
              </a:ext>
            </a:extLst>
          </p:cNvPr>
          <p:cNvGraphicFramePr/>
          <p:nvPr>
            <p:extLst>
              <p:ext uri="{D42A27DB-BD31-4B8C-83A1-F6EECF244321}">
                <p14:modId xmlns:p14="http://schemas.microsoft.com/office/powerpoint/2010/main" val="1119841263"/>
              </p:ext>
            </p:extLst>
          </p:nvPr>
        </p:nvGraphicFramePr>
        <p:xfrm>
          <a:off x="2203510" y="2930808"/>
          <a:ext cx="7199282" cy="29610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Rectangle 6">
            <a:extLst>
              <a:ext uri="{FF2B5EF4-FFF2-40B4-BE49-F238E27FC236}">
                <a16:creationId xmlns:a16="http://schemas.microsoft.com/office/drawing/2014/main" id="{7D4805F6-B7A8-DC44-A853-4B7C23409244}"/>
              </a:ext>
            </a:extLst>
          </p:cNvPr>
          <p:cNvSpPr>
            <a:spLocks noChangeArrowheads="1"/>
          </p:cNvSpPr>
          <p:nvPr/>
        </p:nvSpPr>
        <p:spPr bwMode="auto">
          <a:xfrm>
            <a:off x="0" y="268871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Tree>
    <p:extLst>
      <p:ext uri="{BB962C8B-B14F-4D97-AF65-F5344CB8AC3E}">
        <p14:creationId xmlns:p14="http://schemas.microsoft.com/office/powerpoint/2010/main" val="19400776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6C19B-CFBA-E70D-0672-B3EFD6DEA2EA}"/>
              </a:ext>
            </a:extLst>
          </p:cNvPr>
          <p:cNvSpPr>
            <a:spLocks noGrp="1"/>
          </p:cNvSpPr>
          <p:nvPr>
            <p:ph type="title"/>
          </p:nvPr>
        </p:nvSpPr>
        <p:spPr/>
        <p:txBody>
          <a:bodyPr/>
          <a:lstStyle/>
          <a:p>
            <a:r>
              <a:rPr lang="en-GB" dirty="0"/>
              <a:t>Models used </a:t>
            </a:r>
          </a:p>
        </p:txBody>
      </p:sp>
      <p:sp>
        <p:nvSpPr>
          <p:cNvPr id="3" name="Content Placeholder 2">
            <a:extLst>
              <a:ext uri="{FF2B5EF4-FFF2-40B4-BE49-F238E27FC236}">
                <a16:creationId xmlns:a16="http://schemas.microsoft.com/office/drawing/2014/main" id="{9C5EB7A2-1C03-514D-8BC3-A7F606E928BC}"/>
              </a:ext>
            </a:extLst>
          </p:cNvPr>
          <p:cNvSpPr>
            <a:spLocks noGrp="1"/>
          </p:cNvSpPr>
          <p:nvPr>
            <p:ph idx="1"/>
          </p:nvPr>
        </p:nvSpPr>
        <p:spPr/>
        <p:txBody>
          <a:bodyPr>
            <a:normAutofit/>
          </a:bodyPr>
          <a:lstStyle/>
          <a:p>
            <a:r>
              <a:rPr lang="en-GB" sz="4000" dirty="0"/>
              <a:t>Three models were selected</a:t>
            </a:r>
          </a:p>
          <a:p>
            <a:r>
              <a:rPr lang="en-GB" sz="4000" dirty="0"/>
              <a:t>Random Forest (RF)</a:t>
            </a:r>
          </a:p>
          <a:p>
            <a:r>
              <a:rPr lang="en-GB" sz="4000" dirty="0"/>
              <a:t>Neural Network (NN)</a:t>
            </a:r>
          </a:p>
          <a:p>
            <a:r>
              <a:rPr lang="en-GB" sz="4000" dirty="0" err="1"/>
              <a:t>XGBoost</a:t>
            </a:r>
            <a:endParaRPr lang="en-GB" sz="4000" dirty="0"/>
          </a:p>
        </p:txBody>
      </p:sp>
    </p:spTree>
    <p:extLst>
      <p:ext uri="{BB962C8B-B14F-4D97-AF65-F5344CB8AC3E}">
        <p14:creationId xmlns:p14="http://schemas.microsoft.com/office/powerpoint/2010/main" val="32100949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46749-44E9-509C-C741-1F648D3381CB}"/>
              </a:ext>
            </a:extLst>
          </p:cNvPr>
          <p:cNvSpPr>
            <a:spLocks noGrp="1"/>
          </p:cNvSpPr>
          <p:nvPr>
            <p:ph type="title"/>
          </p:nvPr>
        </p:nvSpPr>
        <p:spPr/>
        <p:txBody>
          <a:bodyPr/>
          <a:lstStyle/>
          <a:p>
            <a:r>
              <a:rPr lang="en-GB" dirty="0"/>
              <a:t>Dataset	</a:t>
            </a:r>
          </a:p>
        </p:txBody>
      </p:sp>
      <p:sp>
        <p:nvSpPr>
          <p:cNvPr id="3" name="Content Placeholder 2">
            <a:extLst>
              <a:ext uri="{FF2B5EF4-FFF2-40B4-BE49-F238E27FC236}">
                <a16:creationId xmlns:a16="http://schemas.microsoft.com/office/drawing/2014/main" id="{BCBD1BEF-5CC3-B89D-6535-F14A047C49F4}"/>
              </a:ext>
            </a:extLst>
          </p:cNvPr>
          <p:cNvSpPr>
            <a:spLocks noGrp="1"/>
          </p:cNvSpPr>
          <p:nvPr>
            <p:ph idx="1"/>
          </p:nvPr>
        </p:nvSpPr>
        <p:spPr/>
        <p:txBody>
          <a:bodyPr/>
          <a:lstStyle/>
          <a:p>
            <a:r>
              <a:rPr lang="en-GB" dirty="0"/>
              <a:t>The dataset was downloaded from the </a:t>
            </a:r>
            <a:r>
              <a:rPr lang="en-GB" b="1" dirty="0"/>
              <a:t>Kaggle.com</a:t>
            </a:r>
            <a:endParaRPr lang="en-GB" dirty="0"/>
          </a:p>
          <a:p>
            <a:r>
              <a:rPr lang="en-GB" dirty="0"/>
              <a:t>4 different countries </a:t>
            </a:r>
          </a:p>
          <a:p>
            <a:r>
              <a:rPr lang="en-GB" dirty="0"/>
              <a:t>ML models requires more data</a:t>
            </a:r>
          </a:p>
          <a:p>
            <a:r>
              <a:rPr lang="en-GB" dirty="0"/>
              <a:t>All the data was simply merged to form a larger dataset</a:t>
            </a:r>
          </a:p>
        </p:txBody>
      </p:sp>
    </p:spTree>
    <p:extLst>
      <p:ext uri="{BB962C8B-B14F-4D97-AF65-F5344CB8AC3E}">
        <p14:creationId xmlns:p14="http://schemas.microsoft.com/office/powerpoint/2010/main" val="24320758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A8AB8F6-5DEA-15B5-8E72-45B9844144E5}"/>
              </a:ext>
            </a:extLst>
          </p:cNvPr>
          <p:cNvSpPr>
            <a:spLocks noGrp="1"/>
          </p:cNvSpPr>
          <p:nvPr>
            <p:ph type="title"/>
          </p:nvPr>
        </p:nvSpPr>
        <p:spPr>
          <a:xfrm>
            <a:off x="630936" y="639520"/>
            <a:ext cx="3429000" cy="1719072"/>
          </a:xfrm>
        </p:spPr>
        <p:txBody>
          <a:bodyPr vert="horz" lIns="91440" tIns="45720" rIns="91440" bIns="45720" rtlCol="0" anchor="b">
            <a:normAutofit/>
          </a:bodyPr>
          <a:lstStyle/>
          <a:p>
            <a:r>
              <a:rPr lang="en-US" sz="5400" kern="1200">
                <a:solidFill>
                  <a:schemeClr val="tx1"/>
                </a:solidFill>
                <a:latin typeface="+mj-lt"/>
                <a:ea typeface="+mj-ea"/>
                <a:cs typeface="+mj-cs"/>
              </a:rPr>
              <a:t>Data Set Features</a:t>
            </a:r>
          </a:p>
        </p:txBody>
      </p:sp>
      <p:sp>
        <p:nvSpPr>
          <p:cNvPr id="1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
            <a:extLst>
              <a:ext uri="{FF2B5EF4-FFF2-40B4-BE49-F238E27FC236}">
                <a16:creationId xmlns:a16="http://schemas.microsoft.com/office/drawing/2014/main" id="{D41177C4-AAA4-EB90-102A-E3A3327C2054}"/>
              </a:ext>
            </a:extLst>
          </p:cNvPr>
          <p:cNvSpPr>
            <a:spLocks noChangeArrowheads="1"/>
          </p:cNvSpPr>
          <p:nvPr/>
        </p:nvSpPr>
        <p:spPr bwMode="auto">
          <a:xfrm>
            <a:off x="630936" y="2807208"/>
            <a:ext cx="3429000" cy="341071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2200" b="0" i="1" u="none" strike="noStrike" cap="none" normalizeH="0" baseline="0">
                <a:ln>
                  <a:noFill/>
                </a:ln>
                <a:effectLst/>
              </a:rPr>
              <a:t>Table 1 Features explanation</a:t>
            </a:r>
            <a:endParaRPr kumimoji="0" lang="en-US" altLang="en-US" sz="2200" b="0" i="0" u="none" strike="noStrike" cap="none" normalizeH="0" baseline="0">
              <a:ln>
                <a:noFill/>
              </a:ln>
              <a:effectLst/>
            </a:endParaRPr>
          </a:p>
        </p:txBody>
      </p:sp>
      <p:graphicFrame>
        <p:nvGraphicFramePr>
          <p:cNvPr id="4" name="Content Placeholder 3">
            <a:extLst>
              <a:ext uri="{FF2B5EF4-FFF2-40B4-BE49-F238E27FC236}">
                <a16:creationId xmlns:a16="http://schemas.microsoft.com/office/drawing/2014/main" id="{7F1DEB36-1CE5-54C0-9257-3C45604F8909}"/>
              </a:ext>
            </a:extLst>
          </p:cNvPr>
          <p:cNvGraphicFramePr>
            <a:graphicFrameLocks noGrp="1"/>
          </p:cNvGraphicFramePr>
          <p:nvPr>
            <p:ph idx="1"/>
            <p:extLst>
              <p:ext uri="{D42A27DB-BD31-4B8C-83A1-F6EECF244321}">
                <p14:modId xmlns:p14="http://schemas.microsoft.com/office/powerpoint/2010/main" val="687082204"/>
              </p:ext>
            </p:extLst>
          </p:nvPr>
        </p:nvGraphicFramePr>
        <p:xfrm>
          <a:off x="4654296" y="685847"/>
          <a:ext cx="6903721" cy="5486315"/>
        </p:xfrm>
        <a:graphic>
          <a:graphicData uri="http://schemas.openxmlformats.org/drawingml/2006/table">
            <a:tbl>
              <a:tblPr firstRow="1" bandRow="1">
                <a:solidFill>
                  <a:srgbClr val="404040"/>
                </a:solidFill>
                <a:tableStyleId>{5C22544A-7EE6-4342-B048-85BDC9FD1C3A}</a:tableStyleId>
              </a:tblPr>
              <a:tblGrid>
                <a:gridCol w="681518">
                  <a:extLst>
                    <a:ext uri="{9D8B030D-6E8A-4147-A177-3AD203B41FA5}">
                      <a16:colId xmlns:a16="http://schemas.microsoft.com/office/drawing/2014/main" val="2520229049"/>
                    </a:ext>
                  </a:extLst>
                </a:gridCol>
                <a:gridCol w="6222203">
                  <a:extLst>
                    <a:ext uri="{9D8B030D-6E8A-4147-A177-3AD203B41FA5}">
                      <a16:colId xmlns:a16="http://schemas.microsoft.com/office/drawing/2014/main" val="1839569858"/>
                    </a:ext>
                  </a:extLst>
                </a:gridCol>
              </a:tblGrid>
              <a:tr h="412039">
                <a:tc>
                  <a:txBody>
                    <a:bodyPr/>
                    <a:lstStyle/>
                    <a:p>
                      <a:pPr algn="just">
                        <a:lnSpc>
                          <a:spcPct val="150000"/>
                        </a:lnSpc>
                        <a:spcAft>
                          <a:spcPts val="800"/>
                        </a:spcAft>
                      </a:pPr>
                      <a:r>
                        <a:rPr lang="en-US" sz="1500" b="0" cap="none" spc="0">
                          <a:solidFill>
                            <a:schemeClr val="bg1"/>
                          </a:solidFill>
                          <a:effectLst/>
                        </a:rPr>
                        <a:t>No</a:t>
                      </a:r>
                      <a:endParaRPr lang="en-GB" sz="1500" b="0" cap="none" spc="0">
                        <a:solidFill>
                          <a:schemeClr val="bg1"/>
                        </a:solidFill>
                        <a:effectLst/>
                        <a:latin typeface="Calibri" panose="020F0502020204030204" pitchFamily="34" charset="0"/>
                        <a:ea typeface="Calibri" panose="020F0502020204030204" pitchFamily="34" charset="0"/>
                      </a:endParaRPr>
                    </a:p>
                  </a:txBody>
                  <a:tcPr marL="62194" marR="62194" marT="82926" marB="0" anchor="ctr">
                    <a:lnL w="12700" cmpd="sng">
                      <a:noFill/>
                    </a:lnL>
                    <a:lnR w="12700" cmpd="sng">
                      <a:noFill/>
                    </a:lnR>
                    <a:lnT w="19050" cap="flat" cmpd="sng" algn="ctr">
                      <a:noFill/>
                      <a:prstDash val="solid"/>
                    </a:lnT>
                    <a:lnB w="38100" cmpd="sng">
                      <a:noFill/>
                    </a:lnB>
                    <a:solidFill>
                      <a:schemeClr val="accent2"/>
                    </a:solidFill>
                  </a:tcPr>
                </a:tc>
                <a:tc>
                  <a:txBody>
                    <a:bodyPr/>
                    <a:lstStyle/>
                    <a:p>
                      <a:pPr algn="just">
                        <a:lnSpc>
                          <a:spcPct val="150000"/>
                        </a:lnSpc>
                        <a:spcAft>
                          <a:spcPts val="800"/>
                        </a:spcAft>
                      </a:pPr>
                      <a:r>
                        <a:rPr lang="en-US" sz="1500" b="0" cap="none" spc="0">
                          <a:solidFill>
                            <a:schemeClr val="bg1"/>
                          </a:solidFill>
                          <a:effectLst/>
                        </a:rPr>
                        <a:t>Features Explanations</a:t>
                      </a:r>
                      <a:endParaRPr lang="en-GB" sz="1500" b="0" cap="none" spc="0">
                        <a:solidFill>
                          <a:schemeClr val="bg1"/>
                        </a:solidFill>
                        <a:effectLst/>
                        <a:latin typeface="Calibri" panose="020F0502020204030204" pitchFamily="34" charset="0"/>
                        <a:ea typeface="Calibri" panose="020F0502020204030204" pitchFamily="34" charset="0"/>
                      </a:endParaRPr>
                    </a:p>
                  </a:txBody>
                  <a:tcPr marL="62194" marR="62194" marT="82926" marB="0" anchor="ctr">
                    <a:lnL w="12700" cmpd="sng">
                      <a:noFill/>
                    </a:lnL>
                    <a:lnR w="12700" cmpd="sng">
                      <a:noFill/>
                    </a:lnR>
                    <a:lnT w="19050" cap="flat" cmpd="sng" algn="ctr">
                      <a:noFill/>
                      <a:prstDash val="solid"/>
                    </a:lnT>
                    <a:lnB w="38100" cmpd="sng">
                      <a:noFill/>
                    </a:lnB>
                    <a:solidFill>
                      <a:schemeClr val="accent2"/>
                    </a:solidFill>
                  </a:tcPr>
                </a:tc>
                <a:extLst>
                  <a:ext uri="{0D108BD9-81ED-4DB2-BD59-A6C34878D82A}">
                    <a16:rowId xmlns:a16="http://schemas.microsoft.com/office/drawing/2014/main" val="78205838"/>
                  </a:ext>
                </a:extLst>
              </a:tr>
              <a:tr h="338097">
                <a:tc>
                  <a:txBody>
                    <a:bodyPr/>
                    <a:lstStyle/>
                    <a:p>
                      <a:pPr algn="just">
                        <a:lnSpc>
                          <a:spcPct val="150000"/>
                        </a:lnSpc>
                        <a:spcAft>
                          <a:spcPts val="800"/>
                        </a:spcAft>
                      </a:pPr>
                      <a:r>
                        <a:rPr lang="en-US" sz="1100" cap="none" spc="0">
                          <a:solidFill>
                            <a:schemeClr val="bg1"/>
                          </a:solidFill>
                          <a:effectLst/>
                        </a:rPr>
                        <a:t>1</a:t>
                      </a:r>
                      <a:endParaRPr lang="en-GB" sz="1100" cap="none" spc="0">
                        <a:solidFill>
                          <a:schemeClr val="bg1"/>
                        </a:solidFill>
                        <a:effectLst/>
                        <a:latin typeface="Calibri" panose="020F0502020204030204" pitchFamily="34" charset="0"/>
                        <a:ea typeface="Calibri" panose="020F0502020204030204" pitchFamily="34" charset="0"/>
                      </a:endParaRPr>
                    </a:p>
                  </a:txBody>
                  <a:tcPr marL="62194" marR="62194" marT="82926" marB="0">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404040"/>
                    </a:solidFill>
                  </a:tcPr>
                </a:tc>
                <a:tc>
                  <a:txBody>
                    <a:bodyPr/>
                    <a:lstStyle/>
                    <a:p>
                      <a:pPr algn="just">
                        <a:lnSpc>
                          <a:spcPct val="150000"/>
                        </a:lnSpc>
                        <a:spcAft>
                          <a:spcPts val="800"/>
                        </a:spcAft>
                      </a:pPr>
                      <a:r>
                        <a:rPr lang="en-US" sz="1100" cap="none" spc="0">
                          <a:solidFill>
                            <a:schemeClr val="bg1"/>
                          </a:solidFill>
                          <a:effectLst/>
                        </a:rPr>
                        <a:t>Age (Age in the year)</a:t>
                      </a:r>
                      <a:endParaRPr lang="en-GB" sz="1100" cap="none" spc="0">
                        <a:solidFill>
                          <a:schemeClr val="bg1"/>
                        </a:solidFill>
                        <a:effectLst/>
                        <a:latin typeface="Calibri" panose="020F0502020204030204" pitchFamily="34" charset="0"/>
                        <a:ea typeface="Calibri" panose="020F0502020204030204" pitchFamily="34" charset="0"/>
                      </a:endParaRPr>
                    </a:p>
                  </a:txBody>
                  <a:tcPr marL="62194" marR="62194" marT="82926" marB="0">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404040"/>
                    </a:solidFill>
                  </a:tcPr>
                </a:tc>
                <a:extLst>
                  <a:ext uri="{0D108BD9-81ED-4DB2-BD59-A6C34878D82A}">
                    <a16:rowId xmlns:a16="http://schemas.microsoft.com/office/drawing/2014/main" val="3601952826"/>
                  </a:ext>
                </a:extLst>
              </a:tr>
              <a:tr h="338097">
                <a:tc>
                  <a:txBody>
                    <a:bodyPr/>
                    <a:lstStyle/>
                    <a:p>
                      <a:pPr algn="just">
                        <a:lnSpc>
                          <a:spcPct val="150000"/>
                        </a:lnSpc>
                        <a:spcAft>
                          <a:spcPts val="800"/>
                        </a:spcAft>
                      </a:pPr>
                      <a:r>
                        <a:rPr lang="en-US" sz="1100" cap="none" spc="0">
                          <a:solidFill>
                            <a:schemeClr val="bg1"/>
                          </a:solidFill>
                          <a:effectLst/>
                        </a:rPr>
                        <a:t>2</a:t>
                      </a:r>
                      <a:endParaRPr lang="en-GB" sz="1100" cap="none" spc="0">
                        <a:solidFill>
                          <a:schemeClr val="bg1"/>
                        </a:solidFill>
                        <a:effectLst/>
                        <a:latin typeface="Calibri" panose="020F0502020204030204" pitchFamily="34" charset="0"/>
                        <a:ea typeface="Calibri" panose="020F0502020204030204" pitchFamily="34" charset="0"/>
                      </a:endParaRPr>
                    </a:p>
                  </a:txBody>
                  <a:tcPr marL="62194" marR="62194" marT="82926" marB="0">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just">
                        <a:lnSpc>
                          <a:spcPct val="150000"/>
                        </a:lnSpc>
                        <a:spcAft>
                          <a:spcPts val="800"/>
                        </a:spcAft>
                      </a:pPr>
                      <a:r>
                        <a:rPr lang="en-US" sz="1100" cap="none" spc="0">
                          <a:solidFill>
                            <a:schemeClr val="bg1"/>
                          </a:solidFill>
                          <a:effectLst/>
                        </a:rPr>
                        <a:t>sex: sex (1 = male; 0 = female)</a:t>
                      </a:r>
                      <a:endParaRPr lang="en-GB" sz="1100" cap="none" spc="0">
                        <a:solidFill>
                          <a:schemeClr val="bg1"/>
                        </a:solidFill>
                        <a:effectLst/>
                        <a:latin typeface="Calibri" panose="020F0502020204030204" pitchFamily="34" charset="0"/>
                        <a:ea typeface="Calibri" panose="020F0502020204030204" pitchFamily="34" charset="0"/>
                      </a:endParaRPr>
                    </a:p>
                  </a:txBody>
                  <a:tcPr marL="62194" marR="62194" marT="82926" marB="0">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extLst>
                  <a:ext uri="{0D108BD9-81ED-4DB2-BD59-A6C34878D82A}">
                    <a16:rowId xmlns:a16="http://schemas.microsoft.com/office/drawing/2014/main" val="1468287421"/>
                  </a:ext>
                </a:extLst>
              </a:tr>
              <a:tr h="679015">
                <a:tc>
                  <a:txBody>
                    <a:bodyPr/>
                    <a:lstStyle/>
                    <a:p>
                      <a:pPr algn="just">
                        <a:lnSpc>
                          <a:spcPct val="150000"/>
                        </a:lnSpc>
                        <a:spcAft>
                          <a:spcPts val="800"/>
                        </a:spcAft>
                      </a:pPr>
                      <a:r>
                        <a:rPr lang="en-US" sz="1100" cap="none" spc="0">
                          <a:solidFill>
                            <a:schemeClr val="bg1"/>
                          </a:solidFill>
                          <a:effectLst/>
                        </a:rPr>
                        <a:t>3</a:t>
                      </a:r>
                      <a:endParaRPr lang="en-GB" sz="1100" cap="none" spc="0">
                        <a:solidFill>
                          <a:schemeClr val="bg1"/>
                        </a:solidFill>
                        <a:effectLst/>
                        <a:latin typeface="Calibri" panose="020F0502020204030204" pitchFamily="34" charset="0"/>
                        <a:ea typeface="Calibri" panose="020F0502020204030204" pitchFamily="34" charset="0"/>
                      </a:endParaRPr>
                    </a:p>
                  </a:txBody>
                  <a:tcPr marL="62194" marR="62194" marT="82926" marB="0">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just">
                        <a:lnSpc>
                          <a:spcPct val="150000"/>
                        </a:lnSpc>
                        <a:spcAft>
                          <a:spcPts val="800"/>
                        </a:spcAft>
                      </a:pPr>
                      <a:r>
                        <a:rPr lang="en-US" sz="1100" cap="none" spc="0">
                          <a:solidFill>
                            <a:schemeClr val="bg1"/>
                          </a:solidFill>
                          <a:effectLst/>
                        </a:rPr>
                        <a:t>cp (chest pain type):</a:t>
                      </a:r>
                      <a:endParaRPr lang="en-GB" sz="1100" cap="none" spc="0">
                        <a:solidFill>
                          <a:schemeClr val="bg1"/>
                        </a:solidFill>
                        <a:effectLst/>
                      </a:endParaRPr>
                    </a:p>
                    <a:p>
                      <a:pPr algn="just">
                        <a:lnSpc>
                          <a:spcPct val="150000"/>
                        </a:lnSpc>
                        <a:spcAft>
                          <a:spcPts val="800"/>
                        </a:spcAft>
                      </a:pPr>
                      <a:r>
                        <a:rPr lang="en-US" sz="1100" cap="none" spc="0">
                          <a:solidFill>
                            <a:schemeClr val="bg1"/>
                          </a:solidFill>
                          <a:effectLst/>
                        </a:rPr>
                        <a:t>[0:asymptomatic, 1:  atypical angina, 2: non-anginal pain, 3: typical angina] </a:t>
                      </a:r>
                      <a:endParaRPr lang="en-GB" sz="1100" cap="none" spc="0">
                        <a:solidFill>
                          <a:schemeClr val="bg1"/>
                        </a:solidFill>
                        <a:effectLst/>
                        <a:latin typeface="Calibri" panose="020F0502020204030204" pitchFamily="34" charset="0"/>
                        <a:ea typeface="Calibri" panose="020F0502020204030204" pitchFamily="34" charset="0"/>
                      </a:endParaRPr>
                    </a:p>
                  </a:txBody>
                  <a:tcPr marL="62194" marR="62194" marT="82926" marB="0">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extLst>
                  <a:ext uri="{0D108BD9-81ED-4DB2-BD59-A6C34878D82A}">
                    <a16:rowId xmlns:a16="http://schemas.microsoft.com/office/drawing/2014/main" val="3370881145"/>
                  </a:ext>
                </a:extLst>
              </a:tr>
              <a:tr h="338097">
                <a:tc>
                  <a:txBody>
                    <a:bodyPr/>
                    <a:lstStyle/>
                    <a:p>
                      <a:pPr algn="just">
                        <a:lnSpc>
                          <a:spcPct val="150000"/>
                        </a:lnSpc>
                        <a:spcAft>
                          <a:spcPts val="800"/>
                        </a:spcAft>
                      </a:pPr>
                      <a:r>
                        <a:rPr lang="en-US" sz="1100" cap="none" spc="0">
                          <a:solidFill>
                            <a:schemeClr val="bg1"/>
                          </a:solidFill>
                          <a:effectLst/>
                        </a:rPr>
                        <a:t>4</a:t>
                      </a:r>
                      <a:endParaRPr lang="en-GB" sz="1100" cap="none" spc="0">
                        <a:solidFill>
                          <a:schemeClr val="bg1"/>
                        </a:solidFill>
                        <a:effectLst/>
                        <a:latin typeface="Calibri" panose="020F0502020204030204" pitchFamily="34" charset="0"/>
                        <a:ea typeface="Calibri" panose="020F0502020204030204" pitchFamily="34" charset="0"/>
                      </a:endParaRPr>
                    </a:p>
                  </a:txBody>
                  <a:tcPr marL="62194" marR="62194" marT="82926" marB="0">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just">
                        <a:lnSpc>
                          <a:spcPct val="150000"/>
                        </a:lnSpc>
                        <a:spcAft>
                          <a:spcPts val="800"/>
                        </a:spcAft>
                      </a:pPr>
                      <a:r>
                        <a:rPr lang="en-US" sz="1100" cap="none" spc="0">
                          <a:solidFill>
                            <a:schemeClr val="bg1"/>
                          </a:solidFill>
                          <a:effectLst/>
                        </a:rPr>
                        <a:t>trestbps (resting blood pressure in mm/hg )</a:t>
                      </a:r>
                      <a:endParaRPr lang="en-GB" sz="1100" cap="none" spc="0">
                        <a:solidFill>
                          <a:schemeClr val="bg1"/>
                        </a:solidFill>
                        <a:effectLst/>
                        <a:latin typeface="Calibri" panose="020F0502020204030204" pitchFamily="34" charset="0"/>
                        <a:ea typeface="Calibri" panose="020F0502020204030204" pitchFamily="34" charset="0"/>
                      </a:endParaRPr>
                    </a:p>
                  </a:txBody>
                  <a:tcPr marL="62194" marR="62194" marT="82926" marB="0">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extLst>
                  <a:ext uri="{0D108BD9-81ED-4DB2-BD59-A6C34878D82A}">
                    <a16:rowId xmlns:a16="http://schemas.microsoft.com/office/drawing/2014/main" val="3964364349"/>
                  </a:ext>
                </a:extLst>
              </a:tr>
              <a:tr h="338097">
                <a:tc>
                  <a:txBody>
                    <a:bodyPr/>
                    <a:lstStyle/>
                    <a:p>
                      <a:pPr algn="just">
                        <a:lnSpc>
                          <a:spcPct val="150000"/>
                        </a:lnSpc>
                        <a:spcAft>
                          <a:spcPts val="800"/>
                        </a:spcAft>
                      </a:pPr>
                      <a:r>
                        <a:rPr lang="en-US" sz="1100" cap="none" spc="0">
                          <a:solidFill>
                            <a:schemeClr val="bg1"/>
                          </a:solidFill>
                          <a:effectLst/>
                        </a:rPr>
                        <a:t>5</a:t>
                      </a:r>
                      <a:endParaRPr lang="en-GB" sz="1100" cap="none" spc="0">
                        <a:solidFill>
                          <a:schemeClr val="bg1"/>
                        </a:solidFill>
                        <a:effectLst/>
                        <a:latin typeface="Calibri" panose="020F0502020204030204" pitchFamily="34" charset="0"/>
                        <a:ea typeface="Calibri" panose="020F0502020204030204" pitchFamily="34" charset="0"/>
                      </a:endParaRPr>
                    </a:p>
                  </a:txBody>
                  <a:tcPr marL="62194" marR="62194" marT="82926" marB="0">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just">
                        <a:lnSpc>
                          <a:spcPct val="150000"/>
                        </a:lnSpc>
                        <a:spcAft>
                          <a:spcPts val="800"/>
                        </a:spcAft>
                      </a:pPr>
                      <a:r>
                        <a:rPr lang="en-US" sz="1100" cap="none" spc="0">
                          <a:solidFill>
                            <a:schemeClr val="bg1"/>
                          </a:solidFill>
                          <a:effectLst/>
                        </a:rPr>
                        <a:t>chol ( Serum Cholesterol in mg/dl )</a:t>
                      </a:r>
                      <a:endParaRPr lang="en-GB" sz="1100" cap="none" spc="0">
                        <a:solidFill>
                          <a:schemeClr val="bg1"/>
                        </a:solidFill>
                        <a:effectLst/>
                        <a:latin typeface="Calibri" panose="020F0502020204030204" pitchFamily="34" charset="0"/>
                        <a:ea typeface="Calibri" panose="020F0502020204030204" pitchFamily="34" charset="0"/>
                      </a:endParaRPr>
                    </a:p>
                  </a:txBody>
                  <a:tcPr marL="62194" marR="62194" marT="82926" marB="0">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extLst>
                  <a:ext uri="{0D108BD9-81ED-4DB2-BD59-A6C34878D82A}">
                    <a16:rowId xmlns:a16="http://schemas.microsoft.com/office/drawing/2014/main" val="303952130"/>
                  </a:ext>
                </a:extLst>
              </a:tr>
              <a:tr h="338097">
                <a:tc>
                  <a:txBody>
                    <a:bodyPr/>
                    <a:lstStyle/>
                    <a:p>
                      <a:pPr algn="just">
                        <a:lnSpc>
                          <a:spcPct val="150000"/>
                        </a:lnSpc>
                        <a:spcAft>
                          <a:spcPts val="800"/>
                        </a:spcAft>
                      </a:pPr>
                      <a:r>
                        <a:rPr lang="en-US" sz="1100" cap="none" spc="0">
                          <a:solidFill>
                            <a:schemeClr val="bg1"/>
                          </a:solidFill>
                          <a:effectLst/>
                        </a:rPr>
                        <a:t>6</a:t>
                      </a:r>
                      <a:endParaRPr lang="en-GB" sz="1100" cap="none" spc="0">
                        <a:solidFill>
                          <a:schemeClr val="bg1"/>
                        </a:solidFill>
                        <a:effectLst/>
                        <a:latin typeface="Calibri" panose="020F0502020204030204" pitchFamily="34" charset="0"/>
                        <a:ea typeface="Calibri" panose="020F0502020204030204" pitchFamily="34" charset="0"/>
                      </a:endParaRPr>
                    </a:p>
                  </a:txBody>
                  <a:tcPr marL="62194" marR="62194" marT="82926" marB="0">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just">
                        <a:lnSpc>
                          <a:spcPct val="150000"/>
                        </a:lnSpc>
                        <a:spcAft>
                          <a:spcPts val="800"/>
                        </a:spcAft>
                      </a:pPr>
                      <a:r>
                        <a:rPr lang="en-US" sz="1100" cap="none" spc="0">
                          <a:solidFill>
                            <a:schemeClr val="bg1"/>
                          </a:solidFill>
                          <a:effectLst/>
                        </a:rPr>
                        <a:t>Fps (fasting blood sugar &gt; 120 mg/dl ) : [ 0 = no, 1 = yes]</a:t>
                      </a:r>
                      <a:endParaRPr lang="en-GB" sz="1100" cap="none" spc="0">
                        <a:solidFill>
                          <a:schemeClr val="bg1"/>
                        </a:solidFill>
                        <a:effectLst/>
                        <a:latin typeface="Calibri" panose="020F0502020204030204" pitchFamily="34" charset="0"/>
                        <a:ea typeface="Calibri" panose="020F0502020204030204" pitchFamily="34" charset="0"/>
                      </a:endParaRPr>
                    </a:p>
                  </a:txBody>
                  <a:tcPr marL="62194" marR="62194" marT="82926" marB="0">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extLst>
                  <a:ext uri="{0D108BD9-81ED-4DB2-BD59-A6C34878D82A}">
                    <a16:rowId xmlns:a16="http://schemas.microsoft.com/office/drawing/2014/main" val="2447688156"/>
                  </a:ext>
                </a:extLst>
              </a:tr>
              <a:tr h="338097">
                <a:tc>
                  <a:txBody>
                    <a:bodyPr/>
                    <a:lstStyle/>
                    <a:p>
                      <a:pPr algn="just">
                        <a:lnSpc>
                          <a:spcPct val="150000"/>
                        </a:lnSpc>
                        <a:spcAft>
                          <a:spcPts val="800"/>
                        </a:spcAft>
                      </a:pPr>
                      <a:r>
                        <a:rPr lang="en-US" sz="1100" cap="none" spc="0">
                          <a:solidFill>
                            <a:schemeClr val="bg1"/>
                          </a:solidFill>
                          <a:effectLst/>
                        </a:rPr>
                        <a:t>7</a:t>
                      </a:r>
                      <a:endParaRPr lang="en-GB" sz="1100" cap="none" spc="0">
                        <a:solidFill>
                          <a:schemeClr val="bg1"/>
                        </a:solidFill>
                        <a:effectLst/>
                        <a:latin typeface="Calibri" panose="020F0502020204030204" pitchFamily="34" charset="0"/>
                        <a:ea typeface="Calibri" panose="020F0502020204030204" pitchFamily="34" charset="0"/>
                      </a:endParaRPr>
                    </a:p>
                  </a:txBody>
                  <a:tcPr marL="62194" marR="62194" marT="82926" marB="0">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just">
                        <a:lnSpc>
                          <a:spcPct val="150000"/>
                        </a:lnSpc>
                        <a:spcAft>
                          <a:spcPts val="800"/>
                        </a:spcAft>
                      </a:pPr>
                      <a:r>
                        <a:rPr lang="en-US" sz="1100" cap="none" spc="0">
                          <a:solidFill>
                            <a:schemeClr val="bg1"/>
                          </a:solidFill>
                          <a:effectLst/>
                        </a:rPr>
                        <a:t>Restecg ( Resting ECG ) : [ 0 : shown probable or definite left ventricular]</a:t>
                      </a:r>
                      <a:endParaRPr lang="en-GB" sz="1100" cap="none" spc="0">
                        <a:solidFill>
                          <a:schemeClr val="bg1"/>
                        </a:solidFill>
                        <a:effectLst/>
                        <a:latin typeface="Calibri" panose="020F0502020204030204" pitchFamily="34" charset="0"/>
                        <a:ea typeface="Calibri" panose="020F0502020204030204" pitchFamily="34" charset="0"/>
                      </a:endParaRPr>
                    </a:p>
                  </a:txBody>
                  <a:tcPr marL="62194" marR="62194" marT="82926" marB="0">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extLst>
                  <a:ext uri="{0D108BD9-81ED-4DB2-BD59-A6C34878D82A}">
                    <a16:rowId xmlns:a16="http://schemas.microsoft.com/office/drawing/2014/main" val="3069251888"/>
                  </a:ext>
                </a:extLst>
              </a:tr>
              <a:tr h="338097">
                <a:tc>
                  <a:txBody>
                    <a:bodyPr/>
                    <a:lstStyle/>
                    <a:p>
                      <a:pPr algn="just">
                        <a:lnSpc>
                          <a:spcPct val="150000"/>
                        </a:lnSpc>
                        <a:spcAft>
                          <a:spcPts val="800"/>
                        </a:spcAft>
                      </a:pPr>
                      <a:r>
                        <a:rPr lang="en-US" sz="1100" cap="none" spc="0">
                          <a:solidFill>
                            <a:schemeClr val="bg1"/>
                          </a:solidFill>
                          <a:effectLst/>
                        </a:rPr>
                        <a:t>8</a:t>
                      </a:r>
                      <a:endParaRPr lang="en-GB" sz="1100" cap="none" spc="0">
                        <a:solidFill>
                          <a:schemeClr val="bg1"/>
                        </a:solidFill>
                        <a:effectLst/>
                        <a:latin typeface="Calibri" panose="020F0502020204030204" pitchFamily="34" charset="0"/>
                        <a:ea typeface="Calibri" panose="020F0502020204030204" pitchFamily="34" charset="0"/>
                      </a:endParaRPr>
                    </a:p>
                  </a:txBody>
                  <a:tcPr marL="62194" marR="62194" marT="82926" marB="0">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just">
                        <a:lnSpc>
                          <a:spcPct val="150000"/>
                        </a:lnSpc>
                        <a:spcAft>
                          <a:spcPts val="800"/>
                        </a:spcAft>
                      </a:pPr>
                      <a:r>
                        <a:rPr lang="en-US" sz="1100" cap="none" spc="0">
                          <a:solidFill>
                            <a:schemeClr val="bg1"/>
                          </a:solidFill>
                          <a:effectLst/>
                        </a:rPr>
                        <a:t>Thalach ( maximum heart rate achieved )</a:t>
                      </a:r>
                      <a:endParaRPr lang="en-GB" sz="1100" cap="none" spc="0">
                        <a:solidFill>
                          <a:schemeClr val="bg1"/>
                        </a:solidFill>
                        <a:effectLst/>
                        <a:latin typeface="Calibri" panose="020F0502020204030204" pitchFamily="34" charset="0"/>
                        <a:ea typeface="Calibri" panose="020F0502020204030204" pitchFamily="34" charset="0"/>
                      </a:endParaRPr>
                    </a:p>
                  </a:txBody>
                  <a:tcPr marL="62194" marR="62194" marT="82926" marB="0">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extLst>
                  <a:ext uri="{0D108BD9-81ED-4DB2-BD59-A6C34878D82A}">
                    <a16:rowId xmlns:a16="http://schemas.microsoft.com/office/drawing/2014/main" val="2310061284"/>
                  </a:ext>
                </a:extLst>
              </a:tr>
              <a:tr h="338097">
                <a:tc>
                  <a:txBody>
                    <a:bodyPr/>
                    <a:lstStyle/>
                    <a:p>
                      <a:pPr algn="just">
                        <a:lnSpc>
                          <a:spcPct val="150000"/>
                        </a:lnSpc>
                        <a:spcAft>
                          <a:spcPts val="800"/>
                        </a:spcAft>
                      </a:pPr>
                      <a:r>
                        <a:rPr lang="en-US" sz="1100" cap="none" spc="0">
                          <a:solidFill>
                            <a:schemeClr val="bg1"/>
                          </a:solidFill>
                          <a:effectLst/>
                        </a:rPr>
                        <a:t>9</a:t>
                      </a:r>
                      <a:endParaRPr lang="en-GB" sz="1100" cap="none" spc="0">
                        <a:solidFill>
                          <a:schemeClr val="bg1"/>
                        </a:solidFill>
                        <a:effectLst/>
                        <a:latin typeface="Calibri" panose="020F0502020204030204" pitchFamily="34" charset="0"/>
                        <a:ea typeface="Calibri" panose="020F0502020204030204" pitchFamily="34" charset="0"/>
                      </a:endParaRPr>
                    </a:p>
                  </a:txBody>
                  <a:tcPr marL="62194" marR="62194" marT="82926" marB="0">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just">
                        <a:lnSpc>
                          <a:spcPct val="150000"/>
                        </a:lnSpc>
                        <a:spcAft>
                          <a:spcPts val="800"/>
                        </a:spcAft>
                      </a:pPr>
                      <a:r>
                        <a:rPr lang="en-US" sz="1100" cap="none" spc="0">
                          <a:solidFill>
                            <a:schemeClr val="bg1"/>
                          </a:solidFill>
                          <a:effectLst/>
                        </a:rPr>
                        <a:t>Exang (Exercise induced angina) : [1 = yes, 0 = no]</a:t>
                      </a:r>
                      <a:endParaRPr lang="en-GB" sz="1100" cap="none" spc="0">
                        <a:solidFill>
                          <a:schemeClr val="bg1"/>
                        </a:solidFill>
                        <a:effectLst/>
                        <a:latin typeface="Calibri" panose="020F0502020204030204" pitchFamily="34" charset="0"/>
                        <a:ea typeface="Calibri" panose="020F0502020204030204" pitchFamily="34" charset="0"/>
                      </a:endParaRPr>
                    </a:p>
                  </a:txBody>
                  <a:tcPr marL="62194" marR="62194" marT="82926" marB="0">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extLst>
                  <a:ext uri="{0D108BD9-81ED-4DB2-BD59-A6C34878D82A}">
                    <a16:rowId xmlns:a16="http://schemas.microsoft.com/office/drawing/2014/main" val="1327300252"/>
                  </a:ext>
                </a:extLst>
              </a:tr>
              <a:tr h="338097">
                <a:tc>
                  <a:txBody>
                    <a:bodyPr/>
                    <a:lstStyle/>
                    <a:p>
                      <a:pPr algn="just">
                        <a:lnSpc>
                          <a:spcPct val="150000"/>
                        </a:lnSpc>
                        <a:spcAft>
                          <a:spcPts val="800"/>
                        </a:spcAft>
                      </a:pPr>
                      <a:r>
                        <a:rPr lang="en-US" sz="1100" cap="none" spc="0">
                          <a:solidFill>
                            <a:schemeClr val="bg1"/>
                          </a:solidFill>
                          <a:effectLst/>
                        </a:rPr>
                        <a:t>10</a:t>
                      </a:r>
                      <a:endParaRPr lang="en-GB" sz="1100" cap="none" spc="0">
                        <a:solidFill>
                          <a:schemeClr val="bg1"/>
                        </a:solidFill>
                        <a:effectLst/>
                        <a:latin typeface="Calibri" panose="020F0502020204030204" pitchFamily="34" charset="0"/>
                        <a:ea typeface="Calibri" panose="020F0502020204030204" pitchFamily="34" charset="0"/>
                      </a:endParaRPr>
                    </a:p>
                  </a:txBody>
                  <a:tcPr marL="62194" marR="62194" marT="82926" marB="0">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just">
                        <a:lnSpc>
                          <a:spcPct val="150000"/>
                        </a:lnSpc>
                        <a:spcAft>
                          <a:spcPts val="800"/>
                        </a:spcAft>
                      </a:pPr>
                      <a:r>
                        <a:rPr lang="en-US" sz="1100" cap="none" spc="0">
                          <a:solidFill>
                            <a:schemeClr val="bg1"/>
                          </a:solidFill>
                          <a:effectLst/>
                        </a:rPr>
                        <a:t>Oldpeak ( ST depression induced by exercise relative to test</a:t>
                      </a:r>
                      <a:endParaRPr lang="en-GB" sz="1100" cap="none" spc="0">
                        <a:solidFill>
                          <a:schemeClr val="bg1"/>
                        </a:solidFill>
                        <a:effectLst/>
                        <a:latin typeface="Calibri" panose="020F0502020204030204" pitchFamily="34" charset="0"/>
                        <a:ea typeface="Calibri" panose="020F0502020204030204" pitchFamily="34" charset="0"/>
                      </a:endParaRPr>
                    </a:p>
                  </a:txBody>
                  <a:tcPr marL="62194" marR="62194" marT="82926" marB="0">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extLst>
                  <a:ext uri="{0D108BD9-81ED-4DB2-BD59-A6C34878D82A}">
                    <a16:rowId xmlns:a16="http://schemas.microsoft.com/office/drawing/2014/main" val="2016853553"/>
                  </a:ext>
                </a:extLst>
              </a:tr>
              <a:tr h="338097">
                <a:tc>
                  <a:txBody>
                    <a:bodyPr/>
                    <a:lstStyle/>
                    <a:p>
                      <a:pPr algn="just">
                        <a:lnSpc>
                          <a:spcPct val="150000"/>
                        </a:lnSpc>
                        <a:spcAft>
                          <a:spcPts val="800"/>
                        </a:spcAft>
                      </a:pPr>
                      <a:r>
                        <a:rPr lang="en-US" sz="1100" cap="none" spc="0">
                          <a:solidFill>
                            <a:schemeClr val="bg1"/>
                          </a:solidFill>
                          <a:effectLst/>
                        </a:rPr>
                        <a:t>11</a:t>
                      </a:r>
                      <a:endParaRPr lang="en-GB" sz="1100" cap="none" spc="0">
                        <a:solidFill>
                          <a:schemeClr val="bg1"/>
                        </a:solidFill>
                        <a:effectLst/>
                        <a:latin typeface="Calibri" panose="020F0502020204030204" pitchFamily="34" charset="0"/>
                        <a:ea typeface="Calibri" panose="020F0502020204030204" pitchFamily="34" charset="0"/>
                      </a:endParaRPr>
                    </a:p>
                  </a:txBody>
                  <a:tcPr marL="62194" marR="62194" marT="82926" marB="0">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just">
                        <a:lnSpc>
                          <a:spcPct val="150000"/>
                        </a:lnSpc>
                        <a:spcAft>
                          <a:spcPts val="800"/>
                        </a:spcAft>
                      </a:pPr>
                      <a:r>
                        <a:rPr lang="en-US" sz="1100" cap="none" spc="0">
                          <a:solidFill>
                            <a:schemeClr val="bg1"/>
                          </a:solidFill>
                          <a:effectLst/>
                        </a:rPr>
                        <a:t>Slope ( the slope of the peak exercise ST segment ) :  [ 0: downsloping; 1: flat; 2: upsloping ]</a:t>
                      </a:r>
                      <a:endParaRPr lang="en-GB" sz="1100" cap="none" spc="0">
                        <a:solidFill>
                          <a:schemeClr val="bg1"/>
                        </a:solidFill>
                        <a:effectLst/>
                        <a:latin typeface="Calibri" panose="020F0502020204030204" pitchFamily="34" charset="0"/>
                        <a:ea typeface="Calibri" panose="020F0502020204030204" pitchFamily="34" charset="0"/>
                      </a:endParaRPr>
                    </a:p>
                  </a:txBody>
                  <a:tcPr marL="62194" marR="62194" marT="82926" marB="0">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extLst>
                  <a:ext uri="{0D108BD9-81ED-4DB2-BD59-A6C34878D82A}">
                    <a16:rowId xmlns:a16="http://schemas.microsoft.com/office/drawing/2014/main" val="891369511"/>
                  </a:ext>
                </a:extLst>
              </a:tr>
              <a:tr h="338097">
                <a:tc>
                  <a:txBody>
                    <a:bodyPr/>
                    <a:lstStyle/>
                    <a:p>
                      <a:pPr algn="just">
                        <a:lnSpc>
                          <a:spcPct val="150000"/>
                        </a:lnSpc>
                        <a:spcAft>
                          <a:spcPts val="800"/>
                        </a:spcAft>
                      </a:pPr>
                      <a:r>
                        <a:rPr lang="en-US" sz="1100" cap="none" spc="0">
                          <a:solidFill>
                            <a:schemeClr val="bg1"/>
                          </a:solidFill>
                          <a:effectLst/>
                        </a:rPr>
                        <a:t>12</a:t>
                      </a:r>
                      <a:endParaRPr lang="en-GB" sz="1100" cap="none" spc="0">
                        <a:solidFill>
                          <a:schemeClr val="bg1"/>
                        </a:solidFill>
                        <a:effectLst/>
                        <a:latin typeface="Calibri" panose="020F0502020204030204" pitchFamily="34" charset="0"/>
                        <a:ea typeface="Calibri" panose="020F0502020204030204" pitchFamily="34" charset="0"/>
                      </a:endParaRPr>
                    </a:p>
                  </a:txBody>
                  <a:tcPr marL="62194" marR="62194" marT="82926" marB="0">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just">
                        <a:lnSpc>
                          <a:spcPct val="150000"/>
                        </a:lnSpc>
                        <a:spcAft>
                          <a:spcPts val="800"/>
                        </a:spcAft>
                      </a:pPr>
                      <a:r>
                        <a:rPr lang="en-US" sz="1100" cap="none" spc="0">
                          <a:solidFill>
                            <a:schemeClr val="bg1"/>
                          </a:solidFill>
                          <a:effectLst/>
                        </a:rPr>
                        <a:t>Ca [ number of major vessels ( 0 - 3 ) </a:t>
                      </a:r>
                      <a:endParaRPr lang="en-GB" sz="1100" cap="none" spc="0">
                        <a:solidFill>
                          <a:schemeClr val="bg1"/>
                        </a:solidFill>
                        <a:effectLst/>
                        <a:latin typeface="Calibri" panose="020F0502020204030204" pitchFamily="34" charset="0"/>
                        <a:ea typeface="Calibri" panose="020F0502020204030204" pitchFamily="34" charset="0"/>
                      </a:endParaRPr>
                    </a:p>
                  </a:txBody>
                  <a:tcPr marL="62194" marR="62194" marT="82926" marB="0">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extLst>
                  <a:ext uri="{0D108BD9-81ED-4DB2-BD59-A6C34878D82A}">
                    <a16:rowId xmlns:a16="http://schemas.microsoft.com/office/drawing/2014/main" val="521831016"/>
                  </a:ext>
                </a:extLst>
              </a:tr>
              <a:tr h="338097">
                <a:tc>
                  <a:txBody>
                    <a:bodyPr/>
                    <a:lstStyle/>
                    <a:p>
                      <a:pPr algn="just">
                        <a:lnSpc>
                          <a:spcPct val="150000"/>
                        </a:lnSpc>
                        <a:spcAft>
                          <a:spcPts val="800"/>
                        </a:spcAft>
                      </a:pPr>
                      <a:r>
                        <a:rPr lang="en-US" sz="1100" cap="none" spc="0">
                          <a:solidFill>
                            <a:schemeClr val="bg1"/>
                          </a:solidFill>
                          <a:effectLst/>
                        </a:rPr>
                        <a:t>13</a:t>
                      </a:r>
                      <a:endParaRPr lang="en-GB" sz="1100" cap="none" spc="0">
                        <a:solidFill>
                          <a:schemeClr val="bg1"/>
                        </a:solidFill>
                        <a:effectLst/>
                        <a:latin typeface="Calibri" panose="020F0502020204030204" pitchFamily="34" charset="0"/>
                        <a:ea typeface="Calibri" panose="020F0502020204030204" pitchFamily="34" charset="0"/>
                      </a:endParaRPr>
                    </a:p>
                  </a:txBody>
                  <a:tcPr marL="62194" marR="62194" marT="82926" marB="0">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just">
                        <a:lnSpc>
                          <a:spcPct val="150000"/>
                        </a:lnSpc>
                        <a:spcAft>
                          <a:spcPts val="800"/>
                        </a:spcAft>
                      </a:pPr>
                      <a:r>
                        <a:rPr lang="en-US" sz="1100" cap="none" spc="0">
                          <a:solidFill>
                            <a:schemeClr val="bg1"/>
                          </a:solidFill>
                          <a:effectLst/>
                        </a:rPr>
                        <a:t>Thal [ 1: normal, 2 : fix defect, 3: reversible defect ]</a:t>
                      </a:r>
                      <a:endParaRPr lang="en-GB" sz="1100" cap="none" spc="0">
                        <a:solidFill>
                          <a:schemeClr val="bg1"/>
                        </a:solidFill>
                        <a:effectLst/>
                        <a:latin typeface="Calibri" panose="020F0502020204030204" pitchFamily="34" charset="0"/>
                        <a:ea typeface="Calibri" panose="020F0502020204030204" pitchFamily="34" charset="0"/>
                      </a:endParaRPr>
                    </a:p>
                  </a:txBody>
                  <a:tcPr marL="62194" marR="62194" marT="82926" marB="0">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extLst>
                  <a:ext uri="{0D108BD9-81ED-4DB2-BD59-A6C34878D82A}">
                    <a16:rowId xmlns:a16="http://schemas.microsoft.com/office/drawing/2014/main" val="3580793137"/>
                  </a:ext>
                </a:extLst>
              </a:tr>
              <a:tr h="338097">
                <a:tc>
                  <a:txBody>
                    <a:bodyPr/>
                    <a:lstStyle/>
                    <a:p>
                      <a:pPr algn="just">
                        <a:lnSpc>
                          <a:spcPct val="150000"/>
                        </a:lnSpc>
                        <a:spcAft>
                          <a:spcPts val="800"/>
                        </a:spcAft>
                      </a:pPr>
                      <a:r>
                        <a:rPr lang="en-US" sz="1100" cap="none" spc="0">
                          <a:solidFill>
                            <a:schemeClr val="bg1"/>
                          </a:solidFill>
                          <a:effectLst/>
                        </a:rPr>
                        <a:t>14</a:t>
                      </a:r>
                      <a:endParaRPr lang="en-GB" sz="1100" cap="none" spc="0">
                        <a:solidFill>
                          <a:schemeClr val="bg1"/>
                        </a:solidFill>
                        <a:effectLst/>
                        <a:latin typeface="Calibri" panose="020F0502020204030204" pitchFamily="34" charset="0"/>
                        <a:ea typeface="Calibri" panose="020F0502020204030204" pitchFamily="34" charset="0"/>
                      </a:endParaRPr>
                    </a:p>
                  </a:txBody>
                  <a:tcPr marL="62194" marR="62194" marT="82926" marB="0">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just">
                        <a:lnSpc>
                          <a:spcPct val="150000"/>
                        </a:lnSpc>
                        <a:spcAft>
                          <a:spcPts val="800"/>
                        </a:spcAft>
                      </a:pPr>
                      <a:r>
                        <a:rPr lang="en-US" sz="1100" cap="none" spc="0">
                          <a:solidFill>
                            <a:schemeClr val="bg1"/>
                          </a:solidFill>
                          <a:effectLst/>
                        </a:rPr>
                        <a:t>Target: [0 = disease, 1 = no disease] </a:t>
                      </a:r>
                      <a:endParaRPr lang="en-GB" sz="1100" cap="none" spc="0">
                        <a:solidFill>
                          <a:schemeClr val="bg1"/>
                        </a:solidFill>
                        <a:effectLst/>
                        <a:latin typeface="Calibri" panose="020F0502020204030204" pitchFamily="34" charset="0"/>
                        <a:ea typeface="Calibri" panose="020F0502020204030204" pitchFamily="34" charset="0"/>
                      </a:endParaRPr>
                    </a:p>
                  </a:txBody>
                  <a:tcPr marL="62194" marR="62194" marT="82926" marB="0">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extLst>
                  <a:ext uri="{0D108BD9-81ED-4DB2-BD59-A6C34878D82A}">
                    <a16:rowId xmlns:a16="http://schemas.microsoft.com/office/drawing/2014/main" val="94506071"/>
                  </a:ext>
                </a:extLst>
              </a:tr>
            </a:tbl>
          </a:graphicData>
        </a:graphic>
      </p:graphicFrame>
    </p:spTree>
    <p:extLst>
      <p:ext uri="{BB962C8B-B14F-4D97-AF65-F5344CB8AC3E}">
        <p14:creationId xmlns:p14="http://schemas.microsoft.com/office/powerpoint/2010/main" val="17357750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12EFA-51CC-648F-EBBF-BDC39AC66438}"/>
              </a:ext>
            </a:extLst>
          </p:cNvPr>
          <p:cNvSpPr>
            <a:spLocks noGrp="1"/>
          </p:cNvSpPr>
          <p:nvPr>
            <p:ph type="title"/>
          </p:nvPr>
        </p:nvSpPr>
        <p:spPr/>
        <p:txBody>
          <a:bodyPr/>
          <a:lstStyle/>
          <a:p>
            <a:r>
              <a:rPr lang="en-GB" dirty="0"/>
              <a:t>Missing/Null values in the dataset</a:t>
            </a:r>
          </a:p>
        </p:txBody>
      </p:sp>
      <p:sp>
        <p:nvSpPr>
          <p:cNvPr id="3" name="Content Placeholder 2">
            <a:extLst>
              <a:ext uri="{FF2B5EF4-FFF2-40B4-BE49-F238E27FC236}">
                <a16:creationId xmlns:a16="http://schemas.microsoft.com/office/drawing/2014/main" id="{3267F927-CE44-3F63-C921-C16EF4A1CB85}"/>
              </a:ext>
            </a:extLst>
          </p:cNvPr>
          <p:cNvSpPr>
            <a:spLocks noGrp="1"/>
          </p:cNvSpPr>
          <p:nvPr>
            <p:ph idx="1"/>
          </p:nvPr>
        </p:nvSpPr>
        <p:spPr/>
        <p:txBody>
          <a:bodyPr/>
          <a:lstStyle/>
          <a:p>
            <a:r>
              <a:rPr lang="en-GB" sz="4000" dirty="0"/>
              <a:t>Identify the Missing/Null values</a:t>
            </a:r>
          </a:p>
          <a:p>
            <a:r>
              <a:rPr lang="en-GB" sz="4000" dirty="0"/>
              <a:t>Remove those values</a:t>
            </a:r>
          </a:p>
          <a:p>
            <a:r>
              <a:rPr lang="en-GB" sz="4000" dirty="0"/>
              <a:t>Since it creates </a:t>
            </a:r>
            <a:r>
              <a:rPr lang="en-GB" sz="4000" b="1" dirty="0"/>
              <a:t>inaccuracies</a:t>
            </a:r>
            <a:r>
              <a:rPr lang="en-GB" sz="4000" dirty="0"/>
              <a:t> and </a:t>
            </a:r>
            <a:r>
              <a:rPr lang="en-GB" sz="4000" b="1" dirty="0"/>
              <a:t>biasness</a:t>
            </a:r>
            <a:r>
              <a:rPr lang="en-GB" sz="4000" dirty="0"/>
              <a:t>.</a:t>
            </a:r>
          </a:p>
          <a:p>
            <a:pPr marL="0" indent="0">
              <a:buNone/>
            </a:pPr>
            <a:endParaRPr lang="en-GB" dirty="0"/>
          </a:p>
          <a:p>
            <a:pPr marL="0" indent="0">
              <a:buNone/>
            </a:pPr>
            <a:endParaRPr lang="en-GB" dirty="0"/>
          </a:p>
        </p:txBody>
      </p:sp>
    </p:spTree>
    <p:extLst>
      <p:ext uri="{BB962C8B-B14F-4D97-AF65-F5344CB8AC3E}">
        <p14:creationId xmlns:p14="http://schemas.microsoft.com/office/powerpoint/2010/main" val="40432982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03C9B-4415-A0B7-C515-D2D27F424B88}"/>
              </a:ext>
            </a:extLst>
          </p:cNvPr>
          <p:cNvSpPr>
            <a:spLocks noGrp="1"/>
          </p:cNvSpPr>
          <p:nvPr>
            <p:ph type="title"/>
          </p:nvPr>
        </p:nvSpPr>
        <p:spPr/>
        <p:txBody>
          <a:bodyPr/>
          <a:lstStyle/>
          <a:p>
            <a:r>
              <a:rPr lang="en-GB" dirty="0"/>
              <a:t>Correlation between variables</a:t>
            </a:r>
          </a:p>
        </p:txBody>
      </p:sp>
      <p:pic>
        <p:nvPicPr>
          <p:cNvPr id="3074" name="Picture 2">
            <a:extLst>
              <a:ext uri="{FF2B5EF4-FFF2-40B4-BE49-F238E27FC236}">
                <a16:creationId xmlns:a16="http://schemas.microsoft.com/office/drawing/2014/main" id="{CE7AF333-5E97-6AD7-EE89-BE8D466205A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75118" y="1518249"/>
            <a:ext cx="8501902" cy="46587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42000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1EED1-7D26-EF8A-5F85-2711F9B573D2}"/>
              </a:ext>
            </a:extLst>
          </p:cNvPr>
          <p:cNvSpPr>
            <a:spLocks noGrp="1"/>
          </p:cNvSpPr>
          <p:nvPr>
            <p:ph type="title"/>
          </p:nvPr>
        </p:nvSpPr>
        <p:spPr/>
        <p:txBody>
          <a:bodyPr/>
          <a:lstStyle/>
          <a:p>
            <a:r>
              <a:rPr lang="en-GB" dirty="0"/>
              <a:t>Correlation </a:t>
            </a:r>
          </a:p>
        </p:txBody>
      </p:sp>
      <p:sp>
        <p:nvSpPr>
          <p:cNvPr id="3" name="Content Placeholder 2">
            <a:extLst>
              <a:ext uri="{FF2B5EF4-FFF2-40B4-BE49-F238E27FC236}">
                <a16:creationId xmlns:a16="http://schemas.microsoft.com/office/drawing/2014/main" id="{6F737C0F-50E7-BF63-9274-6D995CE3C5E8}"/>
              </a:ext>
            </a:extLst>
          </p:cNvPr>
          <p:cNvSpPr>
            <a:spLocks noGrp="1"/>
          </p:cNvSpPr>
          <p:nvPr>
            <p:ph idx="1"/>
          </p:nvPr>
        </p:nvSpPr>
        <p:spPr/>
        <p:txBody>
          <a:bodyPr>
            <a:normAutofit/>
          </a:bodyPr>
          <a:lstStyle/>
          <a:p>
            <a:r>
              <a:rPr lang="en-US" sz="4000" dirty="0">
                <a:effectLst/>
                <a:latin typeface="Calibri" panose="020F0502020204030204" pitchFamily="34" charset="0"/>
                <a:ea typeface="Calibri" panose="020F0502020204030204" pitchFamily="34" charset="0"/>
              </a:rPr>
              <a:t>The "</a:t>
            </a:r>
            <a:r>
              <a:rPr lang="en-US" sz="4000" dirty="0" err="1">
                <a:effectLst/>
                <a:latin typeface="Calibri" panose="020F0502020204030204" pitchFamily="34" charset="0"/>
                <a:ea typeface="Calibri" panose="020F0502020204030204" pitchFamily="34" charset="0"/>
              </a:rPr>
              <a:t>oldpeak</a:t>
            </a:r>
            <a:r>
              <a:rPr lang="en-US" sz="4000" dirty="0">
                <a:effectLst/>
                <a:latin typeface="Calibri" panose="020F0502020204030204" pitchFamily="34" charset="0"/>
                <a:ea typeface="Calibri" panose="020F0502020204030204" pitchFamily="34" charset="0"/>
              </a:rPr>
              <a:t>" and "cp" show a good relationship with target. "</a:t>
            </a:r>
            <a:r>
              <a:rPr lang="en-US" sz="4000" dirty="0" err="1">
                <a:effectLst/>
                <a:latin typeface="Calibri" panose="020F0502020204030204" pitchFamily="34" charset="0"/>
                <a:ea typeface="Calibri" panose="020F0502020204030204" pitchFamily="34" charset="0"/>
              </a:rPr>
              <a:t>thalach</a:t>
            </a:r>
            <a:r>
              <a:rPr lang="en-US" sz="4000" dirty="0">
                <a:effectLst/>
                <a:latin typeface="Calibri" panose="020F0502020204030204" pitchFamily="34" charset="0"/>
                <a:ea typeface="Calibri" panose="020F0502020204030204" pitchFamily="34" charset="0"/>
              </a:rPr>
              <a:t>" shows a negative correlation with target and "</a:t>
            </a:r>
            <a:r>
              <a:rPr lang="en-US" sz="4000" dirty="0" err="1">
                <a:effectLst/>
                <a:latin typeface="Calibri" panose="020F0502020204030204" pitchFamily="34" charset="0"/>
                <a:ea typeface="Calibri" panose="020F0502020204030204" pitchFamily="34" charset="0"/>
              </a:rPr>
              <a:t>fbs</a:t>
            </a:r>
            <a:r>
              <a:rPr lang="en-US" sz="4000" dirty="0">
                <a:effectLst/>
                <a:latin typeface="Calibri" panose="020F0502020204030204" pitchFamily="34" charset="0"/>
                <a:ea typeface="Calibri" panose="020F0502020204030204" pitchFamily="34" charset="0"/>
              </a:rPr>
              <a:t>", "</a:t>
            </a:r>
            <a:r>
              <a:rPr lang="en-US" sz="4000" dirty="0" err="1">
                <a:effectLst/>
                <a:latin typeface="Calibri" panose="020F0502020204030204" pitchFamily="34" charset="0"/>
                <a:ea typeface="Calibri" panose="020F0502020204030204" pitchFamily="34" charset="0"/>
              </a:rPr>
              <a:t>chol</a:t>
            </a:r>
            <a:r>
              <a:rPr lang="en-US" sz="4000" dirty="0">
                <a:effectLst/>
                <a:latin typeface="Calibri" panose="020F0502020204030204" pitchFamily="34" charset="0"/>
                <a:ea typeface="Calibri" panose="020F0502020204030204" pitchFamily="34" charset="0"/>
              </a:rPr>
              <a:t>", "</a:t>
            </a:r>
            <a:r>
              <a:rPr lang="en-US" sz="4000" dirty="0" err="1">
                <a:effectLst/>
                <a:latin typeface="Calibri" panose="020F0502020204030204" pitchFamily="34" charset="0"/>
                <a:ea typeface="Calibri" panose="020F0502020204030204" pitchFamily="34" charset="0"/>
              </a:rPr>
              <a:t>trestbps</a:t>
            </a:r>
            <a:r>
              <a:rPr lang="en-US" sz="4000" dirty="0">
                <a:effectLst/>
                <a:latin typeface="Calibri" panose="020F0502020204030204" pitchFamily="34" charset="0"/>
                <a:ea typeface="Calibri" panose="020F0502020204030204" pitchFamily="34" charset="0"/>
              </a:rPr>
              <a:t>" and "</a:t>
            </a:r>
            <a:r>
              <a:rPr lang="en-US" sz="4000" dirty="0" err="1">
                <a:effectLst/>
                <a:latin typeface="Calibri" panose="020F0502020204030204" pitchFamily="34" charset="0"/>
                <a:ea typeface="Calibri" panose="020F0502020204030204" pitchFamily="34" charset="0"/>
              </a:rPr>
              <a:t>restecg</a:t>
            </a:r>
            <a:r>
              <a:rPr lang="en-US" sz="4000" dirty="0">
                <a:effectLst/>
                <a:latin typeface="Calibri" panose="020F0502020204030204" pitchFamily="34" charset="0"/>
                <a:ea typeface="Calibri" panose="020F0502020204030204" pitchFamily="34" charset="0"/>
              </a:rPr>
              <a:t>" show low correlation with target</a:t>
            </a:r>
            <a:endParaRPr lang="en-GB" sz="4000" dirty="0"/>
          </a:p>
        </p:txBody>
      </p:sp>
    </p:spTree>
    <p:extLst>
      <p:ext uri="{BB962C8B-B14F-4D97-AF65-F5344CB8AC3E}">
        <p14:creationId xmlns:p14="http://schemas.microsoft.com/office/powerpoint/2010/main" val="9712055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1ECF1-3C4C-D9F8-0C31-F54141A77FD3}"/>
              </a:ext>
            </a:extLst>
          </p:cNvPr>
          <p:cNvSpPr>
            <a:spLocks noGrp="1"/>
          </p:cNvSpPr>
          <p:nvPr>
            <p:ph type="title"/>
          </p:nvPr>
        </p:nvSpPr>
        <p:spPr/>
        <p:txBody>
          <a:bodyPr/>
          <a:lstStyle/>
          <a:p>
            <a:r>
              <a:rPr lang="en-GB" dirty="0"/>
              <a:t>Neural Network</a:t>
            </a:r>
          </a:p>
        </p:txBody>
      </p:sp>
      <p:sp>
        <p:nvSpPr>
          <p:cNvPr id="3" name="Content Placeholder 2">
            <a:extLst>
              <a:ext uri="{FF2B5EF4-FFF2-40B4-BE49-F238E27FC236}">
                <a16:creationId xmlns:a16="http://schemas.microsoft.com/office/drawing/2014/main" id="{C69906A4-7DD7-C360-DFF3-B0AD120C3D62}"/>
              </a:ext>
            </a:extLst>
          </p:cNvPr>
          <p:cNvSpPr>
            <a:spLocks noGrp="1"/>
          </p:cNvSpPr>
          <p:nvPr>
            <p:ph idx="1"/>
          </p:nvPr>
        </p:nvSpPr>
        <p:spPr/>
        <p:txBody>
          <a:bodyPr/>
          <a:lstStyle/>
          <a:p>
            <a:r>
              <a:rPr lang="en-GB" dirty="0"/>
              <a:t>Inspired by the human brain</a:t>
            </a:r>
          </a:p>
          <a:p>
            <a:r>
              <a:rPr lang="en-GB" dirty="0"/>
              <a:t>Contains 3 types of layers</a:t>
            </a:r>
          </a:p>
          <a:p>
            <a:r>
              <a:rPr lang="en-GB" i="0" dirty="0">
                <a:effectLst/>
              </a:rPr>
              <a:t>Neural networks rely on training data to learn and improve their accuracy over time</a:t>
            </a:r>
            <a:r>
              <a:rPr lang="en-GB" i="0" dirty="0">
                <a:effectLst/>
                <a:latin typeface="+mj-lt"/>
              </a:rPr>
              <a:t>.</a:t>
            </a:r>
            <a:endParaRPr lang="en-GB" dirty="0">
              <a:latin typeface="+mj-lt"/>
            </a:endParaRPr>
          </a:p>
        </p:txBody>
      </p:sp>
    </p:spTree>
    <p:extLst>
      <p:ext uri="{BB962C8B-B14F-4D97-AF65-F5344CB8AC3E}">
        <p14:creationId xmlns:p14="http://schemas.microsoft.com/office/powerpoint/2010/main" val="27487861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EB635-EBE0-777E-F904-065929EC2DF9}"/>
              </a:ext>
            </a:extLst>
          </p:cNvPr>
          <p:cNvSpPr>
            <a:spLocks noGrp="1"/>
          </p:cNvSpPr>
          <p:nvPr>
            <p:ph type="title"/>
          </p:nvPr>
        </p:nvSpPr>
        <p:spPr/>
        <p:txBody>
          <a:bodyPr/>
          <a:lstStyle/>
          <a:p>
            <a:endParaRPr lang="en-GB" dirty="0"/>
          </a:p>
        </p:txBody>
      </p:sp>
      <p:pic>
        <p:nvPicPr>
          <p:cNvPr id="6146" name="Picture 2" descr="Visual diagram of an input layer, hidden layers, and an output layer of a feedforward neural network">
            <a:extLst>
              <a:ext uri="{FF2B5EF4-FFF2-40B4-BE49-F238E27FC236}">
                <a16:creationId xmlns:a16="http://schemas.microsoft.com/office/drawing/2014/main" id="{4CCDF471-F90F-538F-5726-57441C763C6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33687" y="1825625"/>
            <a:ext cx="6124625"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86936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7F434-DC5C-AAA7-3011-661A0772CD61}"/>
              </a:ext>
            </a:extLst>
          </p:cNvPr>
          <p:cNvSpPr>
            <a:spLocks noGrp="1"/>
          </p:cNvSpPr>
          <p:nvPr>
            <p:ph type="title"/>
          </p:nvPr>
        </p:nvSpPr>
        <p:spPr/>
        <p:txBody>
          <a:bodyPr/>
          <a:lstStyle/>
          <a:p>
            <a:r>
              <a:rPr lang="en-GB" dirty="0"/>
              <a:t>Accuracies</a:t>
            </a:r>
          </a:p>
        </p:txBody>
      </p:sp>
      <p:graphicFrame>
        <p:nvGraphicFramePr>
          <p:cNvPr id="4" name="Content Placeholder 3">
            <a:extLst>
              <a:ext uri="{FF2B5EF4-FFF2-40B4-BE49-F238E27FC236}">
                <a16:creationId xmlns:a16="http://schemas.microsoft.com/office/drawing/2014/main" id="{57E13797-91DB-90FA-3448-824F27C47EC9}"/>
              </a:ext>
            </a:extLst>
          </p:cNvPr>
          <p:cNvGraphicFramePr>
            <a:graphicFrameLocks noGrp="1"/>
          </p:cNvGraphicFramePr>
          <p:nvPr>
            <p:ph idx="1"/>
            <p:extLst>
              <p:ext uri="{D42A27DB-BD31-4B8C-83A1-F6EECF244321}">
                <p14:modId xmlns:p14="http://schemas.microsoft.com/office/powerpoint/2010/main" val="568393239"/>
              </p:ext>
            </p:extLst>
          </p:nvPr>
        </p:nvGraphicFramePr>
        <p:xfrm>
          <a:off x="2260121" y="2674188"/>
          <a:ext cx="6400801" cy="2639682"/>
        </p:xfrm>
        <a:graphic>
          <a:graphicData uri="http://schemas.openxmlformats.org/drawingml/2006/table">
            <a:tbl>
              <a:tblPr firstRow="1" firstCol="1" bandRow="1">
                <a:tableStyleId>{5C22544A-7EE6-4342-B048-85BDC9FD1C3A}</a:tableStyleId>
              </a:tblPr>
              <a:tblGrid>
                <a:gridCol w="2138678">
                  <a:extLst>
                    <a:ext uri="{9D8B030D-6E8A-4147-A177-3AD203B41FA5}">
                      <a16:colId xmlns:a16="http://schemas.microsoft.com/office/drawing/2014/main" val="379114320"/>
                    </a:ext>
                  </a:extLst>
                </a:gridCol>
                <a:gridCol w="2151879">
                  <a:extLst>
                    <a:ext uri="{9D8B030D-6E8A-4147-A177-3AD203B41FA5}">
                      <a16:colId xmlns:a16="http://schemas.microsoft.com/office/drawing/2014/main" val="2255643998"/>
                    </a:ext>
                  </a:extLst>
                </a:gridCol>
                <a:gridCol w="2110244">
                  <a:extLst>
                    <a:ext uri="{9D8B030D-6E8A-4147-A177-3AD203B41FA5}">
                      <a16:colId xmlns:a16="http://schemas.microsoft.com/office/drawing/2014/main" val="1613613696"/>
                    </a:ext>
                  </a:extLst>
                </a:gridCol>
              </a:tblGrid>
              <a:tr h="439947">
                <a:tc>
                  <a:txBody>
                    <a:bodyPr/>
                    <a:lstStyle/>
                    <a:p>
                      <a:pPr algn="just">
                        <a:lnSpc>
                          <a:spcPct val="150000"/>
                        </a:lnSpc>
                        <a:spcAft>
                          <a:spcPts val="1415"/>
                        </a:spcAft>
                      </a:pPr>
                      <a:r>
                        <a:rPr lang="en-US" sz="1200">
                          <a:effectLst/>
                        </a:rPr>
                        <a:t>Accuracy</a:t>
                      </a:r>
                      <a:endParaRPr lang="en-GB" sz="1100">
                        <a:effectLst/>
                        <a:latin typeface="Calibri" panose="020F0502020204030204" pitchFamily="34" charset="0"/>
                        <a:ea typeface="Calibri" panose="020F0502020204030204" pitchFamily="34" charset="0"/>
                      </a:endParaRPr>
                    </a:p>
                  </a:txBody>
                  <a:tcPr marL="68580" marR="68580" marT="0" marB="0"/>
                </a:tc>
                <a:tc>
                  <a:txBody>
                    <a:bodyPr/>
                    <a:lstStyle/>
                    <a:p>
                      <a:pPr algn="just">
                        <a:lnSpc>
                          <a:spcPct val="150000"/>
                        </a:lnSpc>
                        <a:spcAft>
                          <a:spcPts val="1415"/>
                        </a:spcAft>
                      </a:pPr>
                      <a:r>
                        <a:rPr lang="en-US" sz="1200">
                          <a:effectLst/>
                        </a:rPr>
                        <a:t>Optimizer </a:t>
                      </a:r>
                      <a:endParaRPr lang="en-GB" sz="1100">
                        <a:effectLst/>
                        <a:latin typeface="Calibri" panose="020F0502020204030204" pitchFamily="34" charset="0"/>
                        <a:ea typeface="Calibri" panose="020F0502020204030204" pitchFamily="34" charset="0"/>
                      </a:endParaRPr>
                    </a:p>
                  </a:txBody>
                  <a:tcPr marL="68580" marR="68580" marT="0" marB="0"/>
                </a:tc>
                <a:tc>
                  <a:txBody>
                    <a:bodyPr/>
                    <a:lstStyle/>
                    <a:p>
                      <a:pPr algn="just">
                        <a:lnSpc>
                          <a:spcPct val="150000"/>
                        </a:lnSpc>
                        <a:spcAft>
                          <a:spcPts val="1415"/>
                        </a:spcAft>
                      </a:pPr>
                      <a:r>
                        <a:rPr lang="en-US" sz="1200">
                          <a:effectLst/>
                        </a:rPr>
                        <a:t>LR</a:t>
                      </a:r>
                      <a:endParaRPr lang="en-GB"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3642441481"/>
                  </a:ext>
                </a:extLst>
              </a:tr>
              <a:tr h="439947">
                <a:tc>
                  <a:txBody>
                    <a:bodyPr/>
                    <a:lstStyle/>
                    <a:p>
                      <a:pPr algn="just">
                        <a:lnSpc>
                          <a:spcPct val="150000"/>
                        </a:lnSpc>
                        <a:spcAft>
                          <a:spcPts val="1415"/>
                        </a:spcAft>
                      </a:pPr>
                      <a:r>
                        <a:rPr lang="en-US" sz="1200" dirty="0">
                          <a:effectLst/>
                        </a:rPr>
                        <a:t>0.6156</a:t>
                      </a:r>
                      <a:endParaRPr lang="en-GB" sz="1100" dirty="0">
                        <a:effectLst/>
                        <a:latin typeface="Calibri" panose="020F0502020204030204" pitchFamily="34" charset="0"/>
                        <a:ea typeface="Calibri" panose="020F0502020204030204" pitchFamily="34" charset="0"/>
                      </a:endParaRPr>
                    </a:p>
                  </a:txBody>
                  <a:tcPr marL="68580" marR="68580" marT="0" marB="0"/>
                </a:tc>
                <a:tc>
                  <a:txBody>
                    <a:bodyPr/>
                    <a:lstStyle/>
                    <a:p>
                      <a:pPr algn="just">
                        <a:lnSpc>
                          <a:spcPct val="150000"/>
                        </a:lnSpc>
                        <a:spcAft>
                          <a:spcPts val="1415"/>
                        </a:spcAft>
                      </a:pPr>
                      <a:r>
                        <a:rPr lang="en-US" sz="1200" dirty="0">
                          <a:effectLst/>
                        </a:rPr>
                        <a:t>Adam</a:t>
                      </a:r>
                      <a:endParaRPr lang="en-GB" sz="1100" dirty="0">
                        <a:effectLst/>
                        <a:latin typeface="Calibri" panose="020F0502020204030204" pitchFamily="34" charset="0"/>
                        <a:ea typeface="Calibri" panose="020F0502020204030204" pitchFamily="34" charset="0"/>
                      </a:endParaRPr>
                    </a:p>
                  </a:txBody>
                  <a:tcPr marL="68580" marR="68580" marT="0" marB="0"/>
                </a:tc>
                <a:tc>
                  <a:txBody>
                    <a:bodyPr/>
                    <a:lstStyle/>
                    <a:p>
                      <a:pPr algn="just">
                        <a:lnSpc>
                          <a:spcPct val="150000"/>
                        </a:lnSpc>
                        <a:spcAft>
                          <a:spcPts val="1415"/>
                        </a:spcAft>
                      </a:pPr>
                      <a:r>
                        <a:rPr lang="en-US" sz="1200">
                          <a:effectLst/>
                        </a:rPr>
                        <a:t>0.0001</a:t>
                      </a:r>
                      <a:endParaRPr lang="en-GB"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2517404025"/>
                  </a:ext>
                </a:extLst>
              </a:tr>
              <a:tr h="439947">
                <a:tc>
                  <a:txBody>
                    <a:bodyPr/>
                    <a:lstStyle/>
                    <a:p>
                      <a:pPr algn="just">
                        <a:lnSpc>
                          <a:spcPct val="150000"/>
                        </a:lnSpc>
                        <a:spcAft>
                          <a:spcPts val="1415"/>
                        </a:spcAft>
                      </a:pPr>
                      <a:r>
                        <a:rPr lang="en-US" sz="1200" dirty="0">
                          <a:effectLst/>
                        </a:rPr>
                        <a:t>0.189</a:t>
                      </a:r>
                      <a:endParaRPr lang="en-GB" sz="1100" dirty="0">
                        <a:effectLst/>
                        <a:latin typeface="Calibri" panose="020F0502020204030204" pitchFamily="34" charset="0"/>
                        <a:ea typeface="Calibri" panose="020F0502020204030204" pitchFamily="34" charset="0"/>
                      </a:endParaRPr>
                    </a:p>
                  </a:txBody>
                  <a:tcPr marL="68580" marR="68580" marT="0" marB="0"/>
                </a:tc>
                <a:tc>
                  <a:txBody>
                    <a:bodyPr/>
                    <a:lstStyle/>
                    <a:p>
                      <a:pPr algn="just">
                        <a:lnSpc>
                          <a:spcPct val="150000"/>
                        </a:lnSpc>
                        <a:spcAft>
                          <a:spcPts val="1415"/>
                        </a:spcAft>
                      </a:pPr>
                      <a:r>
                        <a:rPr lang="en-US" sz="1200">
                          <a:effectLst/>
                        </a:rPr>
                        <a:t>Adam </a:t>
                      </a:r>
                      <a:endParaRPr lang="en-GB" sz="1100">
                        <a:effectLst/>
                        <a:latin typeface="Calibri" panose="020F0502020204030204" pitchFamily="34" charset="0"/>
                        <a:ea typeface="Calibri" panose="020F0502020204030204" pitchFamily="34" charset="0"/>
                      </a:endParaRPr>
                    </a:p>
                  </a:txBody>
                  <a:tcPr marL="68580" marR="68580" marT="0" marB="0"/>
                </a:tc>
                <a:tc>
                  <a:txBody>
                    <a:bodyPr/>
                    <a:lstStyle/>
                    <a:p>
                      <a:pPr algn="just">
                        <a:lnSpc>
                          <a:spcPct val="150000"/>
                        </a:lnSpc>
                        <a:spcAft>
                          <a:spcPts val="1415"/>
                        </a:spcAft>
                      </a:pPr>
                      <a:r>
                        <a:rPr lang="en-US" sz="1200">
                          <a:effectLst/>
                        </a:rPr>
                        <a:t>0.01</a:t>
                      </a:r>
                      <a:endParaRPr lang="en-GB"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768983639"/>
                  </a:ext>
                </a:extLst>
              </a:tr>
              <a:tr h="439947">
                <a:tc>
                  <a:txBody>
                    <a:bodyPr/>
                    <a:lstStyle/>
                    <a:p>
                      <a:pPr algn="just">
                        <a:lnSpc>
                          <a:spcPct val="150000"/>
                        </a:lnSpc>
                        <a:spcAft>
                          <a:spcPts val="1415"/>
                        </a:spcAft>
                      </a:pPr>
                      <a:r>
                        <a:rPr lang="en-US" sz="1200" dirty="0">
                          <a:solidFill>
                            <a:srgbClr val="FFFF00"/>
                          </a:solidFill>
                          <a:effectLst/>
                        </a:rPr>
                        <a:t>0.736</a:t>
                      </a:r>
                      <a:endParaRPr lang="en-GB" sz="1100" dirty="0">
                        <a:solidFill>
                          <a:srgbClr val="FFFF00"/>
                        </a:solidFill>
                        <a:effectLst/>
                        <a:latin typeface="Calibri" panose="020F0502020204030204" pitchFamily="34" charset="0"/>
                        <a:ea typeface="Calibri" panose="020F0502020204030204" pitchFamily="34" charset="0"/>
                      </a:endParaRPr>
                    </a:p>
                  </a:txBody>
                  <a:tcPr marL="68580" marR="68580" marT="0" marB="0"/>
                </a:tc>
                <a:tc>
                  <a:txBody>
                    <a:bodyPr/>
                    <a:lstStyle/>
                    <a:p>
                      <a:pPr algn="just">
                        <a:lnSpc>
                          <a:spcPct val="150000"/>
                        </a:lnSpc>
                        <a:spcAft>
                          <a:spcPts val="1415"/>
                        </a:spcAft>
                      </a:pPr>
                      <a:r>
                        <a:rPr lang="en-US" sz="1200" dirty="0">
                          <a:effectLst/>
                        </a:rPr>
                        <a:t>Adam</a:t>
                      </a:r>
                      <a:endParaRPr lang="en-GB" sz="1100" dirty="0">
                        <a:effectLst/>
                        <a:latin typeface="Calibri" panose="020F0502020204030204" pitchFamily="34" charset="0"/>
                        <a:ea typeface="Calibri" panose="020F0502020204030204" pitchFamily="34" charset="0"/>
                      </a:endParaRPr>
                    </a:p>
                  </a:txBody>
                  <a:tcPr marL="68580" marR="68580" marT="0" marB="0"/>
                </a:tc>
                <a:tc>
                  <a:txBody>
                    <a:bodyPr/>
                    <a:lstStyle/>
                    <a:p>
                      <a:pPr algn="just">
                        <a:lnSpc>
                          <a:spcPct val="150000"/>
                        </a:lnSpc>
                        <a:spcAft>
                          <a:spcPts val="1415"/>
                        </a:spcAft>
                      </a:pPr>
                      <a:r>
                        <a:rPr lang="en-US" sz="1200" dirty="0">
                          <a:effectLst/>
                        </a:rPr>
                        <a:t>0.001</a:t>
                      </a:r>
                      <a:endParaRPr lang="en-GB" sz="11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610260754"/>
                  </a:ext>
                </a:extLst>
              </a:tr>
              <a:tr h="439947">
                <a:tc>
                  <a:txBody>
                    <a:bodyPr/>
                    <a:lstStyle/>
                    <a:p>
                      <a:pPr algn="just">
                        <a:lnSpc>
                          <a:spcPct val="150000"/>
                        </a:lnSpc>
                        <a:spcAft>
                          <a:spcPts val="1415"/>
                        </a:spcAft>
                      </a:pPr>
                      <a:r>
                        <a:rPr lang="en-US" sz="1200">
                          <a:effectLst/>
                        </a:rPr>
                        <a:t>0.216</a:t>
                      </a:r>
                      <a:endParaRPr lang="en-GB" sz="1100">
                        <a:effectLst/>
                        <a:latin typeface="Calibri" panose="020F0502020204030204" pitchFamily="34" charset="0"/>
                        <a:ea typeface="Calibri" panose="020F0502020204030204" pitchFamily="34" charset="0"/>
                      </a:endParaRPr>
                    </a:p>
                  </a:txBody>
                  <a:tcPr marL="68580" marR="68580" marT="0" marB="0"/>
                </a:tc>
                <a:tc>
                  <a:txBody>
                    <a:bodyPr/>
                    <a:lstStyle/>
                    <a:p>
                      <a:pPr algn="just">
                        <a:lnSpc>
                          <a:spcPct val="150000"/>
                        </a:lnSpc>
                        <a:spcAft>
                          <a:spcPts val="1415"/>
                        </a:spcAft>
                      </a:pPr>
                      <a:r>
                        <a:rPr lang="en-US" sz="1200">
                          <a:effectLst/>
                        </a:rPr>
                        <a:t>Adamax</a:t>
                      </a:r>
                      <a:endParaRPr lang="en-GB" sz="1100">
                        <a:effectLst/>
                        <a:latin typeface="Calibri" panose="020F0502020204030204" pitchFamily="34" charset="0"/>
                        <a:ea typeface="Calibri" panose="020F0502020204030204" pitchFamily="34" charset="0"/>
                      </a:endParaRPr>
                    </a:p>
                  </a:txBody>
                  <a:tcPr marL="68580" marR="68580" marT="0" marB="0"/>
                </a:tc>
                <a:tc>
                  <a:txBody>
                    <a:bodyPr/>
                    <a:lstStyle/>
                    <a:p>
                      <a:pPr algn="just">
                        <a:lnSpc>
                          <a:spcPct val="150000"/>
                        </a:lnSpc>
                        <a:spcAft>
                          <a:spcPts val="1415"/>
                        </a:spcAft>
                      </a:pPr>
                      <a:r>
                        <a:rPr lang="en-US" sz="1200">
                          <a:effectLst/>
                        </a:rPr>
                        <a:t>0.001</a:t>
                      </a:r>
                      <a:endParaRPr lang="en-GB"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2935447783"/>
                  </a:ext>
                </a:extLst>
              </a:tr>
              <a:tr h="439947">
                <a:tc>
                  <a:txBody>
                    <a:bodyPr/>
                    <a:lstStyle/>
                    <a:p>
                      <a:pPr algn="just">
                        <a:lnSpc>
                          <a:spcPct val="150000"/>
                        </a:lnSpc>
                        <a:spcAft>
                          <a:spcPts val="1415"/>
                        </a:spcAft>
                      </a:pPr>
                      <a:r>
                        <a:rPr lang="en-US" sz="1200">
                          <a:effectLst/>
                        </a:rPr>
                        <a:t>0.50</a:t>
                      </a:r>
                      <a:endParaRPr lang="en-GB" sz="1100">
                        <a:effectLst/>
                        <a:latin typeface="Calibri" panose="020F0502020204030204" pitchFamily="34" charset="0"/>
                        <a:ea typeface="Calibri" panose="020F0502020204030204" pitchFamily="34" charset="0"/>
                      </a:endParaRPr>
                    </a:p>
                  </a:txBody>
                  <a:tcPr marL="68580" marR="68580" marT="0" marB="0"/>
                </a:tc>
                <a:tc>
                  <a:txBody>
                    <a:bodyPr/>
                    <a:lstStyle/>
                    <a:p>
                      <a:pPr algn="just">
                        <a:lnSpc>
                          <a:spcPct val="150000"/>
                        </a:lnSpc>
                        <a:spcAft>
                          <a:spcPts val="1415"/>
                        </a:spcAft>
                      </a:pPr>
                      <a:r>
                        <a:rPr lang="en-US" sz="1200">
                          <a:effectLst/>
                        </a:rPr>
                        <a:t>SGD</a:t>
                      </a:r>
                      <a:endParaRPr lang="en-GB" sz="1100">
                        <a:effectLst/>
                        <a:latin typeface="Calibri" panose="020F0502020204030204" pitchFamily="34" charset="0"/>
                        <a:ea typeface="Calibri" panose="020F0502020204030204" pitchFamily="34" charset="0"/>
                      </a:endParaRPr>
                    </a:p>
                  </a:txBody>
                  <a:tcPr marL="68580" marR="68580" marT="0" marB="0"/>
                </a:tc>
                <a:tc>
                  <a:txBody>
                    <a:bodyPr/>
                    <a:lstStyle/>
                    <a:p>
                      <a:pPr algn="just">
                        <a:lnSpc>
                          <a:spcPct val="150000"/>
                        </a:lnSpc>
                        <a:spcAft>
                          <a:spcPts val="1415"/>
                        </a:spcAft>
                      </a:pPr>
                      <a:r>
                        <a:rPr lang="en-US" sz="1200" dirty="0">
                          <a:effectLst/>
                        </a:rPr>
                        <a:t>0.001</a:t>
                      </a:r>
                      <a:endParaRPr lang="en-GB" sz="11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30828941"/>
                  </a:ext>
                </a:extLst>
              </a:tr>
            </a:tbl>
          </a:graphicData>
        </a:graphic>
      </p:graphicFrame>
    </p:spTree>
    <p:extLst>
      <p:ext uri="{BB962C8B-B14F-4D97-AF65-F5344CB8AC3E}">
        <p14:creationId xmlns:p14="http://schemas.microsoft.com/office/powerpoint/2010/main" val="39202190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5FAC9-B1CD-5082-FE7A-5C917D83A8C5}"/>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CBD34FFB-F4F2-AC32-FDA4-07CDC1416BD4}"/>
              </a:ext>
            </a:extLst>
          </p:cNvPr>
          <p:cNvSpPr>
            <a:spLocks noGrp="1"/>
          </p:cNvSpPr>
          <p:nvPr>
            <p:ph idx="1"/>
          </p:nvPr>
        </p:nvSpPr>
        <p:spPr/>
        <p:txBody>
          <a:bodyPr/>
          <a:lstStyle/>
          <a:p>
            <a:r>
              <a:rPr lang="en-US" sz="1800" dirty="0">
                <a:solidFill>
                  <a:srgbClr val="000000"/>
                </a:solidFill>
                <a:effectLst/>
                <a:latin typeface="Calibri" panose="020F0502020204030204" pitchFamily="34" charset="0"/>
                <a:ea typeface="Calibri" panose="020F0502020204030204" pitchFamily="34" charset="0"/>
              </a:rPr>
              <a:t>16 and 84 dense hidden layers were used to increase the depth and complexity </a:t>
            </a:r>
          </a:p>
          <a:p>
            <a:r>
              <a:rPr lang="en-GB" sz="1800" dirty="0">
                <a:solidFill>
                  <a:srgbClr val="000000"/>
                </a:solidFill>
                <a:effectLst/>
                <a:latin typeface="Calibri" panose="020F0502020204030204" pitchFamily="34" charset="0"/>
                <a:ea typeface="Calibri" panose="020F0502020204030204" pitchFamily="34" charset="0"/>
              </a:rPr>
              <a:t>epochs=100, </a:t>
            </a:r>
            <a:r>
              <a:rPr lang="en-GB" sz="1800" dirty="0" err="1">
                <a:solidFill>
                  <a:srgbClr val="000000"/>
                </a:solidFill>
                <a:effectLst/>
                <a:latin typeface="Calibri" panose="020F0502020204030204" pitchFamily="34" charset="0"/>
                <a:ea typeface="Calibri" panose="020F0502020204030204" pitchFamily="34" charset="0"/>
              </a:rPr>
              <a:t>batch_size</a:t>
            </a:r>
            <a:r>
              <a:rPr lang="en-GB" sz="1800" dirty="0">
                <a:solidFill>
                  <a:srgbClr val="000000"/>
                </a:solidFill>
                <a:effectLst/>
                <a:latin typeface="Calibri" panose="020F0502020204030204" pitchFamily="34" charset="0"/>
                <a:ea typeface="Calibri" panose="020F0502020204030204" pitchFamily="34" charset="0"/>
              </a:rPr>
              <a:t>=5, verbose = 1</a:t>
            </a:r>
          </a:p>
          <a:p>
            <a:r>
              <a:rPr lang="en-GB" sz="1800" dirty="0">
                <a:solidFill>
                  <a:srgbClr val="000000"/>
                </a:solidFill>
                <a:latin typeface="Calibri" panose="020F0502020204030204" pitchFamily="34" charset="0"/>
                <a:ea typeface="Calibri" panose="020F0502020204030204" pitchFamily="34" charset="0"/>
              </a:rPr>
              <a:t>Optimizers: </a:t>
            </a:r>
          </a:p>
          <a:p>
            <a:pPr marL="342900" indent="-342900">
              <a:buFont typeface="+mj-lt"/>
              <a:buAutoNum type="arabicPeriod"/>
            </a:pPr>
            <a:r>
              <a:rPr lang="en-GB" sz="1800" dirty="0">
                <a:solidFill>
                  <a:srgbClr val="000000"/>
                </a:solidFill>
                <a:latin typeface="Calibri" panose="020F0502020204030204" pitchFamily="34" charset="0"/>
                <a:ea typeface="Calibri" panose="020F0502020204030204" pitchFamily="34" charset="0"/>
              </a:rPr>
              <a:t>Adam (adaptive moment estimation) </a:t>
            </a:r>
          </a:p>
          <a:p>
            <a:pPr marL="342900" indent="-342900">
              <a:buFont typeface="+mj-lt"/>
              <a:buAutoNum type="arabicPeriod"/>
            </a:pPr>
            <a:r>
              <a:rPr lang="en-GB" sz="1800" dirty="0" err="1">
                <a:solidFill>
                  <a:srgbClr val="000000"/>
                </a:solidFill>
                <a:effectLst/>
                <a:latin typeface="Calibri" panose="020F0502020204030204" pitchFamily="34" charset="0"/>
                <a:ea typeface="Calibri" panose="020F0502020204030204" pitchFamily="34" charset="0"/>
              </a:rPr>
              <a:t>Adamax</a:t>
            </a:r>
            <a:endParaRPr lang="en-GB" sz="1800" dirty="0">
              <a:solidFill>
                <a:srgbClr val="000000"/>
              </a:solidFill>
              <a:effectLst/>
              <a:latin typeface="Calibri" panose="020F0502020204030204" pitchFamily="34" charset="0"/>
              <a:ea typeface="Calibri" panose="020F0502020204030204" pitchFamily="34" charset="0"/>
            </a:endParaRPr>
          </a:p>
          <a:p>
            <a:pPr marL="342900" indent="-342900">
              <a:buFont typeface="+mj-lt"/>
              <a:buAutoNum type="arabicPeriod"/>
            </a:pPr>
            <a:r>
              <a:rPr lang="en-US" sz="1800" dirty="0">
                <a:solidFill>
                  <a:srgbClr val="000000"/>
                </a:solidFill>
                <a:effectLst/>
                <a:latin typeface="Calibri" panose="020F0502020204030204" pitchFamily="34" charset="0"/>
                <a:ea typeface="Calibri" panose="020F0502020204030204" pitchFamily="34" charset="0"/>
              </a:rPr>
              <a:t>SGD (stochastic gradient descent)</a:t>
            </a:r>
          </a:p>
        </p:txBody>
      </p:sp>
    </p:spTree>
    <p:extLst>
      <p:ext uri="{BB962C8B-B14F-4D97-AF65-F5344CB8AC3E}">
        <p14:creationId xmlns:p14="http://schemas.microsoft.com/office/powerpoint/2010/main" val="25160716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881F9-6691-5594-CBE9-B6AF27D0A2D6}"/>
              </a:ext>
            </a:extLst>
          </p:cNvPr>
          <p:cNvSpPr>
            <a:spLocks noGrp="1"/>
          </p:cNvSpPr>
          <p:nvPr>
            <p:ph type="title"/>
          </p:nvPr>
        </p:nvSpPr>
        <p:spPr/>
        <p:txBody>
          <a:bodyPr/>
          <a:lstStyle/>
          <a:p>
            <a:r>
              <a:rPr lang="en-GB" dirty="0" err="1"/>
              <a:t>XGBoost</a:t>
            </a:r>
            <a:endParaRPr lang="en-GB" dirty="0"/>
          </a:p>
        </p:txBody>
      </p:sp>
      <p:sp>
        <p:nvSpPr>
          <p:cNvPr id="3" name="Content Placeholder 2">
            <a:extLst>
              <a:ext uri="{FF2B5EF4-FFF2-40B4-BE49-F238E27FC236}">
                <a16:creationId xmlns:a16="http://schemas.microsoft.com/office/drawing/2014/main" id="{FE854123-B5D7-419D-F410-BCAC3A1B2998}"/>
              </a:ext>
            </a:extLst>
          </p:cNvPr>
          <p:cNvSpPr>
            <a:spLocks noGrp="1"/>
          </p:cNvSpPr>
          <p:nvPr>
            <p:ph idx="1"/>
          </p:nvPr>
        </p:nvSpPr>
        <p:spPr/>
        <p:txBody>
          <a:bodyPr/>
          <a:lstStyle/>
          <a:p>
            <a:pPr marL="0" indent="0">
              <a:buNone/>
            </a:pPr>
            <a:endParaRPr lang="en-GB" dirty="0"/>
          </a:p>
        </p:txBody>
      </p:sp>
      <p:graphicFrame>
        <p:nvGraphicFramePr>
          <p:cNvPr id="4" name="Table 3">
            <a:extLst>
              <a:ext uri="{FF2B5EF4-FFF2-40B4-BE49-F238E27FC236}">
                <a16:creationId xmlns:a16="http://schemas.microsoft.com/office/drawing/2014/main" id="{8FD39C9F-991C-CE60-1A88-D589E664D410}"/>
              </a:ext>
            </a:extLst>
          </p:cNvPr>
          <p:cNvGraphicFramePr>
            <a:graphicFrameLocks noGrp="1"/>
          </p:cNvGraphicFramePr>
          <p:nvPr>
            <p:extLst>
              <p:ext uri="{D42A27DB-BD31-4B8C-83A1-F6EECF244321}">
                <p14:modId xmlns:p14="http://schemas.microsoft.com/office/powerpoint/2010/main" val="1175137740"/>
              </p:ext>
            </p:extLst>
          </p:nvPr>
        </p:nvGraphicFramePr>
        <p:xfrm>
          <a:off x="2044459" y="2907102"/>
          <a:ext cx="7323827" cy="2613804"/>
        </p:xfrm>
        <a:graphic>
          <a:graphicData uri="http://schemas.openxmlformats.org/drawingml/2006/table">
            <a:tbl>
              <a:tblPr firstRow="1" firstCol="1" bandRow="1">
                <a:tableStyleId>{5C22544A-7EE6-4342-B048-85BDC9FD1C3A}</a:tableStyleId>
              </a:tblPr>
              <a:tblGrid>
                <a:gridCol w="2441005">
                  <a:extLst>
                    <a:ext uri="{9D8B030D-6E8A-4147-A177-3AD203B41FA5}">
                      <a16:colId xmlns:a16="http://schemas.microsoft.com/office/drawing/2014/main" val="1341271830"/>
                    </a:ext>
                  </a:extLst>
                </a:gridCol>
                <a:gridCol w="2441005">
                  <a:extLst>
                    <a:ext uri="{9D8B030D-6E8A-4147-A177-3AD203B41FA5}">
                      <a16:colId xmlns:a16="http://schemas.microsoft.com/office/drawing/2014/main" val="1028414962"/>
                    </a:ext>
                  </a:extLst>
                </a:gridCol>
                <a:gridCol w="2441817">
                  <a:extLst>
                    <a:ext uri="{9D8B030D-6E8A-4147-A177-3AD203B41FA5}">
                      <a16:colId xmlns:a16="http://schemas.microsoft.com/office/drawing/2014/main" val="323560274"/>
                    </a:ext>
                  </a:extLst>
                </a:gridCol>
              </a:tblGrid>
              <a:tr h="435634">
                <a:tc>
                  <a:txBody>
                    <a:bodyPr/>
                    <a:lstStyle/>
                    <a:p>
                      <a:pPr algn="just">
                        <a:lnSpc>
                          <a:spcPct val="150000"/>
                        </a:lnSpc>
                        <a:spcAft>
                          <a:spcPts val="800"/>
                        </a:spcAft>
                      </a:pPr>
                      <a:r>
                        <a:rPr lang="en-US" sz="1200">
                          <a:effectLst/>
                        </a:rPr>
                        <a:t>Accuracy</a:t>
                      </a:r>
                      <a:endParaRPr lang="en-GB" sz="1100">
                        <a:effectLst/>
                        <a:latin typeface="Calibri" panose="020F0502020204030204" pitchFamily="34" charset="0"/>
                        <a:ea typeface="Calibri" panose="020F0502020204030204" pitchFamily="34" charset="0"/>
                      </a:endParaRPr>
                    </a:p>
                  </a:txBody>
                  <a:tcPr marL="68580" marR="68580" marT="0" marB="0"/>
                </a:tc>
                <a:tc>
                  <a:txBody>
                    <a:bodyPr/>
                    <a:lstStyle/>
                    <a:p>
                      <a:pPr algn="just">
                        <a:lnSpc>
                          <a:spcPct val="150000"/>
                        </a:lnSpc>
                        <a:spcAft>
                          <a:spcPts val="800"/>
                        </a:spcAft>
                      </a:pPr>
                      <a:r>
                        <a:rPr lang="en-US" sz="1200">
                          <a:effectLst/>
                        </a:rPr>
                        <a:t>Depth</a:t>
                      </a:r>
                      <a:endParaRPr lang="en-GB" sz="1100">
                        <a:effectLst/>
                        <a:latin typeface="Calibri" panose="020F0502020204030204" pitchFamily="34" charset="0"/>
                        <a:ea typeface="Calibri" panose="020F0502020204030204" pitchFamily="34" charset="0"/>
                      </a:endParaRPr>
                    </a:p>
                  </a:txBody>
                  <a:tcPr marL="68580" marR="68580" marT="0" marB="0"/>
                </a:tc>
                <a:tc>
                  <a:txBody>
                    <a:bodyPr/>
                    <a:lstStyle/>
                    <a:p>
                      <a:pPr algn="just">
                        <a:lnSpc>
                          <a:spcPct val="150000"/>
                        </a:lnSpc>
                        <a:spcAft>
                          <a:spcPts val="800"/>
                        </a:spcAft>
                      </a:pPr>
                      <a:r>
                        <a:rPr lang="en-US" sz="1200">
                          <a:effectLst/>
                        </a:rPr>
                        <a:t>Learning Rate</a:t>
                      </a:r>
                      <a:endParaRPr lang="en-GB"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309512240"/>
                  </a:ext>
                </a:extLst>
              </a:tr>
              <a:tr h="435634">
                <a:tc>
                  <a:txBody>
                    <a:bodyPr/>
                    <a:lstStyle/>
                    <a:p>
                      <a:pPr algn="just">
                        <a:lnSpc>
                          <a:spcPct val="150000"/>
                        </a:lnSpc>
                        <a:spcAft>
                          <a:spcPts val="800"/>
                        </a:spcAft>
                      </a:pPr>
                      <a:r>
                        <a:rPr lang="en-US" sz="1200">
                          <a:effectLst/>
                        </a:rPr>
                        <a:t>0.82</a:t>
                      </a:r>
                      <a:endParaRPr lang="en-GB" sz="1100">
                        <a:effectLst/>
                        <a:latin typeface="Calibri" panose="020F0502020204030204" pitchFamily="34" charset="0"/>
                        <a:ea typeface="Calibri" panose="020F0502020204030204" pitchFamily="34" charset="0"/>
                      </a:endParaRPr>
                    </a:p>
                  </a:txBody>
                  <a:tcPr marL="68580" marR="68580" marT="0" marB="0"/>
                </a:tc>
                <a:tc>
                  <a:txBody>
                    <a:bodyPr/>
                    <a:lstStyle/>
                    <a:p>
                      <a:pPr algn="just">
                        <a:lnSpc>
                          <a:spcPct val="150000"/>
                        </a:lnSpc>
                        <a:spcAft>
                          <a:spcPts val="800"/>
                        </a:spcAft>
                      </a:pPr>
                      <a:r>
                        <a:rPr lang="en-US" sz="1200">
                          <a:effectLst/>
                        </a:rPr>
                        <a:t>8</a:t>
                      </a:r>
                      <a:endParaRPr lang="en-GB" sz="1100">
                        <a:effectLst/>
                        <a:latin typeface="Calibri" panose="020F0502020204030204" pitchFamily="34" charset="0"/>
                        <a:ea typeface="Calibri" panose="020F0502020204030204" pitchFamily="34" charset="0"/>
                      </a:endParaRPr>
                    </a:p>
                  </a:txBody>
                  <a:tcPr marL="68580" marR="68580" marT="0" marB="0"/>
                </a:tc>
                <a:tc>
                  <a:txBody>
                    <a:bodyPr/>
                    <a:lstStyle/>
                    <a:p>
                      <a:pPr algn="just">
                        <a:lnSpc>
                          <a:spcPct val="150000"/>
                        </a:lnSpc>
                        <a:spcAft>
                          <a:spcPts val="800"/>
                        </a:spcAft>
                      </a:pPr>
                      <a:r>
                        <a:rPr lang="en-US" sz="1200">
                          <a:effectLst/>
                        </a:rPr>
                        <a:t>0.001</a:t>
                      </a:r>
                      <a:endParaRPr lang="en-GB"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805960664"/>
                  </a:ext>
                </a:extLst>
              </a:tr>
              <a:tr h="435634">
                <a:tc>
                  <a:txBody>
                    <a:bodyPr/>
                    <a:lstStyle/>
                    <a:p>
                      <a:pPr algn="just">
                        <a:lnSpc>
                          <a:spcPct val="150000"/>
                        </a:lnSpc>
                        <a:spcAft>
                          <a:spcPts val="800"/>
                        </a:spcAft>
                      </a:pPr>
                      <a:r>
                        <a:rPr lang="en-US" sz="1200">
                          <a:effectLst/>
                        </a:rPr>
                        <a:t>0.81</a:t>
                      </a:r>
                      <a:endParaRPr lang="en-GB" sz="1100">
                        <a:effectLst/>
                        <a:latin typeface="Calibri" panose="020F0502020204030204" pitchFamily="34" charset="0"/>
                        <a:ea typeface="Calibri" panose="020F0502020204030204" pitchFamily="34" charset="0"/>
                      </a:endParaRPr>
                    </a:p>
                  </a:txBody>
                  <a:tcPr marL="68580" marR="68580" marT="0" marB="0"/>
                </a:tc>
                <a:tc>
                  <a:txBody>
                    <a:bodyPr/>
                    <a:lstStyle/>
                    <a:p>
                      <a:pPr algn="just">
                        <a:lnSpc>
                          <a:spcPct val="150000"/>
                        </a:lnSpc>
                        <a:spcAft>
                          <a:spcPts val="800"/>
                        </a:spcAft>
                      </a:pPr>
                      <a:r>
                        <a:rPr lang="en-US" sz="1200">
                          <a:effectLst/>
                        </a:rPr>
                        <a:t>8</a:t>
                      </a:r>
                      <a:endParaRPr lang="en-GB" sz="1100">
                        <a:effectLst/>
                        <a:latin typeface="Calibri" panose="020F0502020204030204" pitchFamily="34" charset="0"/>
                        <a:ea typeface="Calibri" panose="020F0502020204030204" pitchFamily="34" charset="0"/>
                      </a:endParaRPr>
                    </a:p>
                  </a:txBody>
                  <a:tcPr marL="68580" marR="68580" marT="0" marB="0"/>
                </a:tc>
                <a:tc>
                  <a:txBody>
                    <a:bodyPr/>
                    <a:lstStyle/>
                    <a:p>
                      <a:pPr algn="just">
                        <a:lnSpc>
                          <a:spcPct val="150000"/>
                        </a:lnSpc>
                        <a:spcAft>
                          <a:spcPts val="800"/>
                        </a:spcAft>
                      </a:pPr>
                      <a:r>
                        <a:rPr lang="en-US" sz="1200">
                          <a:effectLst/>
                        </a:rPr>
                        <a:t>0.0001</a:t>
                      </a:r>
                      <a:endParaRPr lang="en-GB"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2920359788"/>
                  </a:ext>
                </a:extLst>
              </a:tr>
              <a:tr h="435634">
                <a:tc>
                  <a:txBody>
                    <a:bodyPr/>
                    <a:lstStyle/>
                    <a:p>
                      <a:pPr algn="just">
                        <a:lnSpc>
                          <a:spcPct val="150000"/>
                        </a:lnSpc>
                        <a:spcAft>
                          <a:spcPts val="800"/>
                        </a:spcAft>
                      </a:pPr>
                      <a:r>
                        <a:rPr lang="en-US" sz="1200">
                          <a:effectLst/>
                        </a:rPr>
                        <a:t>0.81</a:t>
                      </a:r>
                      <a:endParaRPr lang="en-GB" sz="1100">
                        <a:effectLst/>
                        <a:latin typeface="Calibri" panose="020F0502020204030204" pitchFamily="34" charset="0"/>
                        <a:ea typeface="Calibri" panose="020F0502020204030204" pitchFamily="34" charset="0"/>
                      </a:endParaRPr>
                    </a:p>
                  </a:txBody>
                  <a:tcPr marL="68580" marR="68580" marT="0" marB="0"/>
                </a:tc>
                <a:tc>
                  <a:txBody>
                    <a:bodyPr/>
                    <a:lstStyle/>
                    <a:p>
                      <a:pPr algn="just">
                        <a:lnSpc>
                          <a:spcPct val="150000"/>
                        </a:lnSpc>
                        <a:spcAft>
                          <a:spcPts val="800"/>
                        </a:spcAft>
                      </a:pPr>
                      <a:r>
                        <a:rPr lang="en-US" sz="1200">
                          <a:effectLst/>
                        </a:rPr>
                        <a:t>5</a:t>
                      </a:r>
                      <a:endParaRPr lang="en-GB" sz="1100">
                        <a:effectLst/>
                        <a:latin typeface="Calibri" panose="020F0502020204030204" pitchFamily="34" charset="0"/>
                        <a:ea typeface="Calibri" panose="020F0502020204030204" pitchFamily="34" charset="0"/>
                      </a:endParaRPr>
                    </a:p>
                  </a:txBody>
                  <a:tcPr marL="68580" marR="68580" marT="0" marB="0"/>
                </a:tc>
                <a:tc>
                  <a:txBody>
                    <a:bodyPr/>
                    <a:lstStyle/>
                    <a:p>
                      <a:pPr algn="just">
                        <a:lnSpc>
                          <a:spcPct val="150000"/>
                        </a:lnSpc>
                        <a:spcAft>
                          <a:spcPts val="800"/>
                        </a:spcAft>
                      </a:pPr>
                      <a:r>
                        <a:rPr lang="en-US" sz="1200">
                          <a:effectLst/>
                        </a:rPr>
                        <a:t>0.01</a:t>
                      </a:r>
                      <a:endParaRPr lang="en-GB"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612495973"/>
                  </a:ext>
                </a:extLst>
              </a:tr>
              <a:tr h="435634">
                <a:tc>
                  <a:txBody>
                    <a:bodyPr/>
                    <a:lstStyle/>
                    <a:p>
                      <a:pPr algn="just">
                        <a:lnSpc>
                          <a:spcPct val="150000"/>
                        </a:lnSpc>
                        <a:spcAft>
                          <a:spcPts val="800"/>
                        </a:spcAft>
                      </a:pPr>
                      <a:r>
                        <a:rPr lang="en-US" sz="1200" dirty="0">
                          <a:solidFill>
                            <a:srgbClr val="FFFF00"/>
                          </a:solidFill>
                          <a:effectLst/>
                        </a:rPr>
                        <a:t>0.86</a:t>
                      </a:r>
                      <a:endParaRPr lang="en-GB" sz="1100" dirty="0">
                        <a:solidFill>
                          <a:srgbClr val="FFFF00"/>
                        </a:solidFill>
                        <a:effectLst/>
                        <a:latin typeface="Calibri" panose="020F0502020204030204" pitchFamily="34" charset="0"/>
                        <a:ea typeface="Calibri" panose="020F0502020204030204" pitchFamily="34" charset="0"/>
                      </a:endParaRPr>
                    </a:p>
                  </a:txBody>
                  <a:tcPr marL="68580" marR="68580" marT="0" marB="0"/>
                </a:tc>
                <a:tc>
                  <a:txBody>
                    <a:bodyPr/>
                    <a:lstStyle/>
                    <a:p>
                      <a:pPr algn="just">
                        <a:lnSpc>
                          <a:spcPct val="150000"/>
                        </a:lnSpc>
                        <a:spcAft>
                          <a:spcPts val="800"/>
                        </a:spcAft>
                      </a:pPr>
                      <a:r>
                        <a:rPr lang="en-US" sz="1200" dirty="0">
                          <a:effectLst/>
                          <a:highlight>
                            <a:srgbClr val="00FF00"/>
                          </a:highlight>
                        </a:rPr>
                        <a:t>10</a:t>
                      </a:r>
                      <a:endParaRPr lang="en-GB" sz="1100" dirty="0">
                        <a:effectLst/>
                        <a:highlight>
                          <a:srgbClr val="00FF00"/>
                        </a:highlight>
                        <a:latin typeface="Calibri" panose="020F0502020204030204" pitchFamily="34" charset="0"/>
                        <a:ea typeface="Calibri" panose="020F0502020204030204" pitchFamily="34" charset="0"/>
                      </a:endParaRPr>
                    </a:p>
                  </a:txBody>
                  <a:tcPr marL="68580" marR="68580" marT="0" marB="0"/>
                </a:tc>
                <a:tc>
                  <a:txBody>
                    <a:bodyPr/>
                    <a:lstStyle/>
                    <a:p>
                      <a:pPr algn="just">
                        <a:lnSpc>
                          <a:spcPct val="150000"/>
                        </a:lnSpc>
                        <a:spcAft>
                          <a:spcPts val="800"/>
                        </a:spcAft>
                      </a:pPr>
                      <a:r>
                        <a:rPr lang="en-US" sz="1200">
                          <a:effectLst/>
                        </a:rPr>
                        <a:t>0.01</a:t>
                      </a:r>
                      <a:endParaRPr lang="en-GB"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2544676078"/>
                  </a:ext>
                </a:extLst>
              </a:tr>
              <a:tr h="435634">
                <a:tc>
                  <a:txBody>
                    <a:bodyPr/>
                    <a:lstStyle/>
                    <a:p>
                      <a:pPr algn="just">
                        <a:lnSpc>
                          <a:spcPct val="150000"/>
                        </a:lnSpc>
                        <a:spcAft>
                          <a:spcPts val="800"/>
                        </a:spcAft>
                      </a:pPr>
                      <a:r>
                        <a:rPr lang="en-US" sz="1200" dirty="0">
                          <a:solidFill>
                            <a:srgbClr val="FFFF00"/>
                          </a:solidFill>
                          <a:effectLst/>
                        </a:rPr>
                        <a:t>0.86</a:t>
                      </a:r>
                      <a:endParaRPr lang="en-GB" sz="1100" dirty="0">
                        <a:solidFill>
                          <a:srgbClr val="FFFF00"/>
                        </a:solidFill>
                        <a:effectLst/>
                        <a:latin typeface="Calibri" panose="020F0502020204030204" pitchFamily="34" charset="0"/>
                        <a:ea typeface="Calibri" panose="020F0502020204030204" pitchFamily="34" charset="0"/>
                      </a:endParaRPr>
                    </a:p>
                  </a:txBody>
                  <a:tcPr marL="68580" marR="68580" marT="0" marB="0"/>
                </a:tc>
                <a:tc>
                  <a:txBody>
                    <a:bodyPr/>
                    <a:lstStyle/>
                    <a:p>
                      <a:pPr algn="just">
                        <a:lnSpc>
                          <a:spcPct val="150000"/>
                        </a:lnSpc>
                        <a:spcAft>
                          <a:spcPts val="800"/>
                        </a:spcAft>
                      </a:pPr>
                      <a:r>
                        <a:rPr lang="en-US" sz="1200" dirty="0">
                          <a:effectLst/>
                          <a:highlight>
                            <a:srgbClr val="00FF00"/>
                          </a:highlight>
                        </a:rPr>
                        <a:t>8</a:t>
                      </a:r>
                      <a:endParaRPr lang="en-GB" sz="1100" dirty="0">
                        <a:effectLst/>
                        <a:highlight>
                          <a:srgbClr val="00FF00"/>
                        </a:highlight>
                        <a:latin typeface="Calibri" panose="020F0502020204030204" pitchFamily="34" charset="0"/>
                        <a:ea typeface="Calibri" panose="020F0502020204030204" pitchFamily="34" charset="0"/>
                      </a:endParaRPr>
                    </a:p>
                  </a:txBody>
                  <a:tcPr marL="68580" marR="68580" marT="0" marB="0"/>
                </a:tc>
                <a:tc>
                  <a:txBody>
                    <a:bodyPr/>
                    <a:lstStyle/>
                    <a:p>
                      <a:pPr algn="just">
                        <a:lnSpc>
                          <a:spcPct val="150000"/>
                        </a:lnSpc>
                        <a:spcAft>
                          <a:spcPts val="800"/>
                        </a:spcAft>
                      </a:pPr>
                      <a:r>
                        <a:rPr lang="en-US" sz="1200" dirty="0">
                          <a:effectLst/>
                        </a:rPr>
                        <a:t>0.01</a:t>
                      </a:r>
                      <a:endParaRPr lang="en-GB" sz="11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3350617940"/>
                  </a:ext>
                </a:extLst>
              </a:tr>
            </a:tbl>
          </a:graphicData>
        </a:graphic>
      </p:graphicFrame>
    </p:spTree>
    <p:extLst>
      <p:ext uri="{BB962C8B-B14F-4D97-AF65-F5344CB8AC3E}">
        <p14:creationId xmlns:p14="http://schemas.microsoft.com/office/powerpoint/2010/main" val="30820455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E76FE-D639-0CC8-99ED-01F6BE5821D4}"/>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7616CDAF-4144-11B0-77A2-259D5BF3253D}"/>
              </a:ext>
            </a:extLst>
          </p:cNvPr>
          <p:cNvSpPr>
            <a:spLocks noGrp="1"/>
          </p:cNvSpPr>
          <p:nvPr>
            <p:ph idx="1"/>
          </p:nvPr>
        </p:nvSpPr>
        <p:spPr/>
        <p:txBody>
          <a:bodyPr>
            <a:noAutofit/>
          </a:bodyPr>
          <a:lstStyle/>
          <a:p>
            <a:r>
              <a:rPr lang="en-US" sz="3500" dirty="0">
                <a:effectLst/>
                <a:latin typeface="Calibri" panose="020F0502020204030204" pitchFamily="34" charset="0"/>
                <a:ea typeface="Calibri" panose="020F0502020204030204" pitchFamily="34" charset="0"/>
                <a:cs typeface="Calibri" panose="020F0502020204030204" pitchFamily="34" charset="0"/>
              </a:rPr>
              <a:t>The model was trained on different parameters to find the optimum accuracy that is neither underfit nor overfit. A depth of 8, 5 and 10 was tested along with a learning rate of 0.001, 0.0001 and 0.01.</a:t>
            </a:r>
          </a:p>
          <a:p>
            <a:r>
              <a:rPr lang="en-US" sz="3500" dirty="0">
                <a:latin typeface="Calibri" panose="020F0502020204030204" pitchFamily="34" charset="0"/>
                <a:cs typeface="Calibri" panose="020F0502020204030204" pitchFamily="34" charset="0"/>
              </a:rPr>
              <a:t>So the model performed best on the learning rate 0.01 and the max depth of 8</a:t>
            </a:r>
            <a:r>
              <a:rPr lang="en-GB" sz="3500" dirty="0">
                <a:latin typeface="Calibri" panose="020F0502020204030204" pitchFamily="34" charset="0"/>
                <a:cs typeface="Calibri" panose="020F0502020204030204" pitchFamily="34" charset="0"/>
              </a:rPr>
              <a:t> but!</a:t>
            </a:r>
          </a:p>
          <a:p>
            <a:r>
              <a:rPr lang="en-GB" sz="3500" dirty="0">
                <a:latin typeface="Calibri" panose="020F0502020204030204" pitchFamily="34" charset="0"/>
                <a:cs typeface="Calibri" panose="020F0502020204030204" pitchFamily="34" charset="0"/>
              </a:rPr>
              <a:t>Training time was taken under consideration.</a:t>
            </a:r>
            <a:endParaRPr lang="en-US" sz="35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925764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264F0-EDC7-08B3-1A2E-9C5631BA29B6}"/>
              </a:ext>
            </a:extLst>
          </p:cNvPr>
          <p:cNvSpPr>
            <a:spLocks noGrp="1"/>
          </p:cNvSpPr>
          <p:nvPr>
            <p:ph type="title"/>
          </p:nvPr>
        </p:nvSpPr>
        <p:spPr/>
        <p:txBody>
          <a:bodyPr/>
          <a:lstStyle/>
          <a:p>
            <a:r>
              <a:rPr lang="en-GB" dirty="0"/>
              <a:t>Random Forest	</a:t>
            </a:r>
          </a:p>
        </p:txBody>
      </p:sp>
      <p:sp>
        <p:nvSpPr>
          <p:cNvPr id="3" name="Content Placeholder 2">
            <a:extLst>
              <a:ext uri="{FF2B5EF4-FFF2-40B4-BE49-F238E27FC236}">
                <a16:creationId xmlns:a16="http://schemas.microsoft.com/office/drawing/2014/main" id="{618571FF-E755-ED35-81EF-86D14751EBD9}"/>
              </a:ext>
            </a:extLst>
          </p:cNvPr>
          <p:cNvSpPr>
            <a:spLocks noGrp="1"/>
          </p:cNvSpPr>
          <p:nvPr>
            <p:ph idx="1"/>
          </p:nvPr>
        </p:nvSpPr>
        <p:spPr/>
        <p:txBody>
          <a:bodyPr/>
          <a:lstStyle/>
          <a:p>
            <a:pPr algn="just">
              <a:lnSpc>
                <a:spcPct val="150000"/>
              </a:lnSpc>
              <a:spcAft>
                <a:spcPts val="800"/>
              </a:spcAft>
            </a:pP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The Random Forest Classifier() function compares the performance and accuracy of train data over time. This approach is more suitable for real-time problems for heart disease prediction. For finding the optimum parameters the depth of 5, 10, 11 and 15 was tested for RF. Table below shows the accuracy along with depth.</a:t>
            </a:r>
            <a:endParaRPr lang="en-GB" dirty="0"/>
          </a:p>
        </p:txBody>
      </p:sp>
      <p:graphicFrame>
        <p:nvGraphicFramePr>
          <p:cNvPr id="6" name="Table 5">
            <a:extLst>
              <a:ext uri="{FF2B5EF4-FFF2-40B4-BE49-F238E27FC236}">
                <a16:creationId xmlns:a16="http://schemas.microsoft.com/office/drawing/2014/main" id="{A595C94F-4281-6789-A2DF-51EBCFE7AE1C}"/>
              </a:ext>
            </a:extLst>
          </p:cNvPr>
          <p:cNvGraphicFramePr>
            <a:graphicFrameLocks noGrp="1"/>
          </p:cNvGraphicFramePr>
          <p:nvPr>
            <p:extLst>
              <p:ext uri="{D42A27DB-BD31-4B8C-83A1-F6EECF244321}">
                <p14:modId xmlns:p14="http://schemas.microsoft.com/office/powerpoint/2010/main" val="3340705444"/>
              </p:ext>
            </p:extLst>
          </p:nvPr>
        </p:nvGraphicFramePr>
        <p:xfrm>
          <a:off x="2974801" y="4152914"/>
          <a:ext cx="5725160" cy="1229995"/>
        </p:xfrm>
        <a:graphic>
          <a:graphicData uri="http://schemas.openxmlformats.org/drawingml/2006/table">
            <a:tbl>
              <a:tblPr firstRow="1" firstCol="1" bandRow="1">
                <a:tableStyleId>{5C22544A-7EE6-4342-B048-85BDC9FD1C3A}</a:tableStyleId>
              </a:tblPr>
              <a:tblGrid>
                <a:gridCol w="2862580">
                  <a:extLst>
                    <a:ext uri="{9D8B030D-6E8A-4147-A177-3AD203B41FA5}">
                      <a16:colId xmlns:a16="http://schemas.microsoft.com/office/drawing/2014/main" val="691781758"/>
                    </a:ext>
                  </a:extLst>
                </a:gridCol>
                <a:gridCol w="2862580">
                  <a:extLst>
                    <a:ext uri="{9D8B030D-6E8A-4147-A177-3AD203B41FA5}">
                      <a16:colId xmlns:a16="http://schemas.microsoft.com/office/drawing/2014/main" val="1200528091"/>
                    </a:ext>
                  </a:extLst>
                </a:gridCol>
              </a:tblGrid>
              <a:tr h="0">
                <a:tc>
                  <a:txBody>
                    <a:bodyPr/>
                    <a:lstStyle/>
                    <a:p>
                      <a:pPr algn="just">
                        <a:lnSpc>
                          <a:spcPct val="150000"/>
                        </a:lnSpc>
                        <a:spcAft>
                          <a:spcPts val="800"/>
                        </a:spcAft>
                      </a:pPr>
                      <a:r>
                        <a:rPr lang="en-US" sz="1200">
                          <a:effectLst/>
                        </a:rPr>
                        <a:t>Accuracy</a:t>
                      </a:r>
                      <a:endParaRPr lang="en-GB" sz="1100">
                        <a:effectLst/>
                        <a:latin typeface="Calibri" panose="020F0502020204030204" pitchFamily="34" charset="0"/>
                        <a:ea typeface="Calibri" panose="020F0502020204030204" pitchFamily="34" charset="0"/>
                      </a:endParaRPr>
                    </a:p>
                  </a:txBody>
                  <a:tcPr marL="68580" marR="68580" marT="0" marB="0"/>
                </a:tc>
                <a:tc>
                  <a:txBody>
                    <a:bodyPr/>
                    <a:lstStyle/>
                    <a:p>
                      <a:pPr algn="just">
                        <a:lnSpc>
                          <a:spcPct val="150000"/>
                        </a:lnSpc>
                        <a:spcAft>
                          <a:spcPts val="800"/>
                        </a:spcAft>
                      </a:pPr>
                      <a:r>
                        <a:rPr lang="en-US" sz="1200">
                          <a:effectLst/>
                        </a:rPr>
                        <a:t>Depth</a:t>
                      </a:r>
                      <a:endParaRPr lang="en-GB"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3184338776"/>
                  </a:ext>
                </a:extLst>
              </a:tr>
              <a:tr h="0">
                <a:tc>
                  <a:txBody>
                    <a:bodyPr/>
                    <a:lstStyle/>
                    <a:p>
                      <a:pPr algn="just">
                        <a:lnSpc>
                          <a:spcPct val="150000"/>
                        </a:lnSpc>
                        <a:spcAft>
                          <a:spcPts val="800"/>
                        </a:spcAft>
                      </a:pPr>
                      <a:r>
                        <a:rPr lang="en-US" sz="1200">
                          <a:effectLst/>
                        </a:rPr>
                        <a:t>0.78</a:t>
                      </a:r>
                      <a:endParaRPr lang="en-GB" sz="1100">
                        <a:effectLst/>
                        <a:latin typeface="Calibri" panose="020F0502020204030204" pitchFamily="34" charset="0"/>
                        <a:ea typeface="Calibri" panose="020F0502020204030204" pitchFamily="34" charset="0"/>
                      </a:endParaRPr>
                    </a:p>
                  </a:txBody>
                  <a:tcPr marL="68580" marR="68580" marT="0" marB="0"/>
                </a:tc>
                <a:tc>
                  <a:txBody>
                    <a:bodyPr/>
                    <a:lstStyle/>
                    <a:p>
                      <a:pPr algn="just">
                        <a:lnSpc>
                          <a:spcPct val="150000"/>
                        </a:lnSpc>
                        <a:spcAft>
                          <a:spcPts val="800"/>
                        </a:spcAft>
                      </a:pPr>
                      <a:r>
                        <a:rPr lang="en-US" sz="1200">
                          <a:effectLst/>
                        </a:rPr>
                        <a:t>5</a:t>
                      </a:r>
                      <a:endParaRPr lang="en-GB"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977368541"/>
                  </a:ext>
                </a:extLst>
              </a:tr>
              <a:tr h="0">
                <a:tc>
                  <a:txBody>
                    <a:bodyPr/>
                    <a:lstStyle/>
                    <a:p>
                      <a:pPr algn="just">
                        <a:lnSpc>
                          <a:spcPct val="150000"/>
                        </a:lnSpc>
                        <a:spcAft>
                          <a:spcPts val="800"/>
                        </a:spcAft>
                      </a:pPr>
                      <a:r>
                        <a:rPr lang="en-US" sz="1200">
                          <a:effectLst/>
                        </a:rPr>
                        <a:t>0.908</a:t>
                      </a:r>
                      <a:endParaRPr lang="en-GB" sz="1100">
                        <a:effectLst/>
                        <a:latin typeface="Calibri" panose="020F0502020204030204" pitchFamily="34" charset="0"/>
                        <a:ea typeface="Calibri" panose="020F0502020204030204" pitchFamily="34" charset="0"/>
                      </a:endParaRPr>
                    </a:p>
                  </a:txBody>
                  <a:tcPr marL="68580" marR="68580" marT="0" marB="0"/>
                </a:tc>
                <a:tc>
                  <a:txBody>
                    <a:bodyPr/>
                    <a:lstStyle/>
                    <a:p>
                      <a:pPr algn="just">
                        <a:lnSpc>
                          <a:spcPct val="150000"/>
                        </a:lnSpc>
                        <a:spcAft>
                          <a:spcPts val="800"/>
                        </a:spcAft>
                      </a:pPr>
                      <a:r>
                        <a:rPr lang="en-US" sz="1200">
                          <a:effectLst/>
                        </a:rPr>
                        <a:t>15</a:t>
                      </a:r>
                      <a:endParaRPr lang="en-GB"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0499632"/>
                  </a:ext>
                </a:extLst>
              </a:tr>
              <a:tr h="0">
                <a:tc>
                  <a:txBody>
                    <a:bodyPr/>
                    <a:lstStyle/>
                    <a:p>
                      <a:pPr algn="just">
                        <a:lnSpc>
                          <a:spcPct val="150000"/>
                        </a:lnSpc>
                        <a:spcAft>
                          <a:spcPts val="800"/>
                        </a:spcAft>
                      </a:pPr>
                      <a:r>
                        <a:rPr lang="en-US" sz="1200">
                          <a:effectLst/>
                        </a:rPr>
                        <a:t>0.910</a:t>
                      </a:r>
                      <a:endParaRPr lang="en-GB" sz="1100">
                        <a:effectLst/>
                        <a:latin typeface="Calibri" panose="020F0502020204030204" pitchFamily="34" charset="0"/>
                        <a:ea typeface="Calibri" panose="020F0502020204030204" pitchFamily="34" charset="0"/>
                      </a:endParaRPr>
                    </a:p>
                  </a:txBody>
                  <a:tcPr marL="68580" marR="68580" marT="0" marB="0"/>
                </a:tc>
                <a:tc>
                  <a:txBody>
                    <a:bodyPr/>
                    <a:lstStyle/>
                    <a:p>
                      <a:pPr algn="just">
                        <a:lnSpc>
                          <a:spcPct val="150000"/>
                        </a:lnSpc>
                        <a:spcAft>
                          <a:spcPts val="800"/>
                        </a:spcAft>
                      </a:pPr>
                      <a:r>
                        <a:rPr lang="en-US" sz="1200">
                          <a:effectLst/>
                        </a:rPr>
                        <a:t>10</a:t>
                      </a:r>
                      <a:endParaRPr lang="en-GB"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2568729116"/>
                  </a:ext>
                </a:extLst>
              </a:tr>
              <a:tr h="0">
                <a:tc>
                  <a:txBody>
                    <a:bodyPr/>
                    <a:lstStyle/>
                    <a:p>
                      <a:pPr algn="just">
                        <a:lnSpc>
                          <a:spcPct val="150000"/>
                        </a:lnSpc>
                        <a:spcAft>
                          <a:spcPts val="800"/>
                        </a:spcAft>
                      </a:pPr>
                      <a:r>
                        <a:rPr lang="en-US" sz="1200">
                          <a:effectLst/>
                        </a:rPr>
                        <a:t>0.918</a:t>
                      </a:r>
                      <a:endParaRPr lang="en-GB" sz="1100">
                        <a:effectLst/>
                        <a:latin typeface="Calibri" panose="020F0502020204030204" pitchFamily="34" charset="0"/>
                        <a:ea typeface="Calibri" panose="020F0502020204030204" pitchFamily="34" charset="0"/>
                      </a:endParaRPr>
                    </a:p>
                  </a:txBody>
                  <a:tcPr marL="68580" marR="68580" marT="0" marB="0"/>
                </a:tc>
                <a:tc>
                  <a:txBody>
                    <a:bodyPr/>
                    <a:lstStyle/>
                    <a:p>
                      <a:pPr algn="just">
                        <a:lnSpc>
                          <a:spcPct val="150000"/>
                        </a:lnSpc>
                        <a:spcAft>
                          <a:spcPts val="800"/>
                        </a:spcAft>
                      </a:pPr>
                      <a:r>
                        <a:rPr lang="en-US" sz="1200" dirty="0">
                          <a:effectLst/>
                        </a:rPr>
                        <a:t>11</a:t>
                      </a:r>
                      <a:endParaRPr lang="en-GB" sz="11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711695692"/>
                  </a:ext>
                </a:extLst>
              </a:tr>
            </a:tbl>
          </a:graphicData>
        </a:graphic>
      </p:graphicFrame>
    </p:spTree>
    <p:extLst>
      <p:ext uri="{BB962C8B-B14F-4D97-AF65-F5344CB8AC3E}">
        <p14:creationId xmlns:p14="http://schemas.microsoft.com/office/powerpoint/2010/main" val="3099527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27944-D85A-8AA6-442F-D6B1489D1C61}"/>
              </a:ext>
            </a:extLst>
          </p:cNvPr>
          <p:cNvSpPr>
            <a:spLocks noGrp="1"/>
          </p:cNvSpPr>
          <p:nvPr>
            <p:ph type="title"/>
          </p:nvPr>
        </p:nvSpPr>
        <p:spPr/>
        <p:txBody>
          <a:bodyPr/>
          <a:lstStyle/>
          <a:p>
            <a:r>
              <a:rPr lang="en-GB" dirty="0"/>
              <a:t>Results of all models compared</a:t>
            </a:r>
          </a:p>
        </p:txBody>
      </p:sp>
      <p:graphicFrame>
        <p:nvGraphicFramePr>
          <p:cNvPr id="4" name="Content Placeholder 3">
            <a:extLst>
              <a:ext uri="{FF2B5EF4-FFF2-40B4-BE49-F238E27FC236}">
                <a16:creationId xmlns:a16="http://schemas.microsoft.com/office/drawing/2014/main" id="{3FB3994F-A7E1-7663-21E2-A5E4FB15AD6A}"/>
              </a:ext>
            </a:extLst>
          </p:cNvPr>
          <p:cNvGraphicFramePr>
            <a:graphicFrameLocks noGrp="1"/>
          </p:cNvGraphicFramePr>
          <p:nvPr>
            <p:ph idx="1"/>
            <p:extLst>
              <p:ext uri="{D42A27DB-BD31-4B8C-83A1-F6EECF244321}">
                <p14:modId xmlns:p14="http://schemas.microsoft.com/office/powerpoint/2010/main" val="1714104495"/>
              </p:ext>
            </p:extLst>
          </p:nvPr>
        </p:nvGraphicFramePr>
        <p:xfrm>
          <a:off x="1690256" y="2055813"/>
          <a:ext cx="8109525" cy="3301280"/>
        </p:xfrm>
        <a:graphic>
          <a:graphicData uri="http://schemas.openxmlformats.org/drawingml/2006/table">
            <a:tbl>
              <a:tblPr>
                <a:tableStyleId>{5C22544A-7EE6-4342-B048-85BDC9FD1C3A}</a:tableStyleId>
              </a:tblPr>
              <a:tblGrid>
                <a:gridCol w="2714648">
                  <a:extLst>
                    <a:ext uri="{9D8B030D-6E8A-4147-A177-3AD203B41FA5}">
                      <a16:colId xmlns:a16="http://schemas.microsoft.com/office/drawing/2014/main" val="1764406189"/>
                    </a:ext>
                  </a:extLst>
                </a:gridCol>
                <a:gridCol w="2036213">
                  <a:extLst>
                    <a:ext uri="{9D8B030D-6E8A-4147-A177-3AD203B41FA5}">
                      <a16:colId xmlns:a16="http://schemas.microsoft.com/office/drawing/2014/main" val="4288453725"/>
                    </a:ext>
                  </a:extLst>
                </a:gridCol>
                <a:gridCol w="3358664">
                  <a:extLst>
                    <a:ext uri="{9D8B030D-6E8A-4147-A177-3AD203B41FA5}">
                      <a16:colId xmlns:a16="http://schemas.microsoft.com/office/drawing/2014/main" val="231169865"/>
                    </a:ext>
                  </a:extLst>
                </a:gridCol>
              </a:tblGrid>
              <a:tr h="663011">
                <a:tc>
                  <a:txBody>
                    <a:bodyPr/>
                    <a:lstStyle/>
                    <a:p>
                      <a:pPr algn="just">
                        <a:lnSpc>
                          <a:spcPct val="150000"/>
                        </a:lnSpc>
                        <a:spcAft>
                          <a:spcPts val="800"/>
                        </a:spcAft>
                      </a:pPr>
                      <a:r>
                        <a:rPr lang="en-US" sz="1200">
                          <a:effectLst/>
                        </a:rPr>
                        <a:t>Models </a:t>
                      </a:r>
                      <a:endParaRPr lang="en-GB" sz="1100">
                        <a:effectLst/>
                        <a:latin typeface="Calibri" panose="020F0502020204030204" pitchFamily="34" charset="0"/>
                        <a:ea typeface="Calibri" panose="020F0502020204030204" pitchFamily="34" charset="0"/>
                      </a:endParaRPr>
                    </a:p>
                  </a:txBody>
                  <a:tcPr marL="68580" marR="68580" marT="0" marB="0"/>
                </a:tc>
                <a:tc>
                  <a:txBody>
                    <a:bodyPr/>
                    <a:lstStyle/>
                    <a:p>
                      <a:pPr algn="just">
                        <a:lnSpc>
                          <a:spcPct val="150000"/>
                        </a:lnSpc>
                        <a:spcAft>
                          <a:spcPts val="800"/>
                        </a:spcAft>
                      </a:pPr>
                      <a:r>
                        <a:rPr lang="en-US" sz="1200">
                          <a:effectLst/>
                        </a:rPr>
                        <a:t>Accuracy</a:t>
                      </a:r>
                      <a:endParaRPr lang="en-GB" sz="1100">
                        <a:effectLst/>
                        <a:latin typeface="Calibri" panose="020F0502020204030204" pitchFamily="34" charset="0"/>
                        <a:ea typeface="Calibri" panose="020F0502020204030204" pitchFamily="34" charset="0"/>
                      </a:endParaRPr>
                    </a:p>
                  </a:txBody>
                  <a:tcPr marL="68580" marR="68580" marT="0" marB="0"/>
                </a:tc>
                <a:tc>
                  <a:txBody>
                    <a:bodyPr/>
                    <a:lstStyle/>
                    <a:p>
                      <a:pPr algn="just">
                        <a:lnSpc>
                          <a:spcPct val="150000"/>
                        </a:lnSpc>
                        <a:spcAft>
                          <a:spcPts val="800"/>
                        </a:spcAft>
                      </a:pPr>
                      <a:r>
                        <a:rPr lang="en-US" sz="1200">
                          <a:effectLst/>
                        </a:rPr>
                        <a:t>Parameters</a:t>
                      </a:r>
                      <a:endParaRPr lang="en-GB"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3432567660"/>
                  </a:ext>
                </a:extLst>
              </a:tr>
              <a:tr h="1312247">
                <a:tc>
                  <a:txBody>
                    <a:bodyPr/>
                    <a:lstStyle/>
                    <a:p>
                      <a:pPr algn="just">
                        <a:lnSpc>
                          <a:spcPct val="150000"/>
                        </a:lnSpc>
                        <a:spcAft>
                          <a:spcPts val="800"/>
                        </a:spcAft>
                      </a:pPr>
                      <a:r>
                        <a:rPr lang="en-US" sz="1200">
                          <a:effectLst/>
                        </a:rPr>
                        <a:t>Neural Network</a:t>
                      </a:r>
                      <a:endParaRPr lang="en-GB" sz="1100">
                        <a:effectLst/>
                        <a:latin typeface="Calibri" panose="020F0502020204030204" pitchFamily="34" charset="0"/>
                        <a:ea typeface="Calibri" panose="020F0502020204030204" pitchFamily="34" charset="0"/>
                      </a:endParaRPr>
                    </a:p>
                  </a:txBody>
                  <a:tcPr marL="68580" marR="68580" marT="0" marB="0"/>
                </a:tc>
                <a:tc>
                  <a:txBody>
                    <a:bodyPr/>
                    <a:lstStyle/>
                    <a:p>
                      <a:pPr algn="just">
                        <a:lnSpc>
                          <a:spcPct val="150000"/>
                        </a:lnSpc>
                        <a:spcAft>
                          <a:spcPts val="800"/>
                        </a:spcAft>
                      </a:pPr>
                      <a:r>
                        <a:rPr lang="en-US" sz="1200" dirty="0">
                          <a:effectLst/>
                        </a:rPr>
                        <a:t>0.7707231040564374=77%</a:t>
                      </a:r>
                      <a:endParaRPr lang="en-GB" sz="1100" dirty="0">
                        <a:effectLst/>
                        <a:latin typeface="Calibri" panose="020F0502020204030204" pitchFamily="34" charset="0"/>
                        <a:ea typeface="Calibri" panose="020F0502020204030204" pitchFamily="34" charset="0"/>
                      </a:endParaRPr>
                    </a:p>
                  </a:txBody>
                  <a:tcPr marL="68580" marR="68580" marT="0" marB="0"/>
                </a:tc>
                <a:tc>
                  <a:txBody>
                    <a:bodyPr/>
                    <a:lstStyle/>
                    <a:p>
                      <a:pPr algn="just">
                        <a:lnSpc>
                          <a:spcPct val="150000"/>
                        </a:lnSpc>
                        <a:spcAft>
                          <a:spcPts val="800"/>
                        </a:spcAft>
                      </a:pPr>
                      <a:r>
                        <a:rPr lang="en-US" sz="1200" dirty="0">
                          <a:effectLst/>
                        </a:rPr>
                        <a:t>(Adam, LR:  0.001, Batch: 5, Epoch: 100)</a:t>
                      </a:r>
                      <a:endParaRPr lang="en-GB" sz="11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2258425434"/>
                  </a:ext>
                </a:extLst>
              </a:tr>
              <a:tr h="663011">
                <a:tc>
                  <a:txBody>
                    <a:bodyPr/>
                    <a:lstStyle/>
                    <a:p>
                      <a:pPr algn="just">
                        <a:lnSpc>
                          <a:spcPct val="150000"/>
                        </a:lnSpc>
                        <a:spcAft>
                          <a:spcPts val="800"/>
                        </a:spcAft>
                      </a:pPr>
                      <a:r>
                        <a:rPr lang="en-US" sz="1200">
                          <a:effectLst/>
                        </a:rPr>
                        <a:t>XG-Boost</a:t>
                      </a:r>
                      <a:endParaRPr lang="en-GB" sz="1100">
                        <a:effectLst/>
                        <a:latin typeface="Calibri" panose="020F0502020204030204" pitchFamily="34" charset="0"/>
                        <a:ea typeface="Calibri" panose="020F0502020204030204" pitchFamily="34" charset="0"/>
                      </a:endParaRPr>
                    </a:p>
                  </a:txBody>
                  <a:tcPr marL="68580" marR="68580" marT="0" marB="0"/>
                </a:tc>
                <a:tc>
                  <a:txBody>
                    <a:bodyPr/>
                    <a:lstStyle/>
                    <a:p>
                      <a:pPr algn="just">
                        <a:lnSpc>
                          <a:spcPct val="150000"/>
                        </a:lnSpc>
                        <a:spcAft>
                          <a:spcPts val="800"/>
                        </a:spcAft>
                      </a:pPr>
                      <a:r>
                        <a:rPr lang="en-US" sz="1200">
                          <a:effectLst/>
                        </a:rPr>
                        <a:t>86%</a:t>
                      </a:r>
                      <a:endParaRPr lang="en-GB" sz="1100">
                        <a:effectLst/>
                        <a:latin typeface="Calibri" panose="020F0502020204030204" pitchFamily="34" charset="0"/>
                        <a:ea typeface="Calibri" panose="020F0502020204030204" pitchFamily="34" charset="0"/>
                      </a:endParaRPr>
                    </a:p>
                  </a:txBody>
                  <a:tcPr marL="68580" marR="68580" marT="0" marB="0"/>
                </a:tc>
                <a:tc>
                  <a:txBody>
                    <a:bodyPr/>
                    <a:lstStyle/>
                    <a:p>
                      <a:pPr algn="just">
                        <a:lnSpc>
                          <a:spcPct val="150000"/>
                        </a:lnSpc>
                        <a:spcAft>
                          <a:spcPts val="800"/>
                        </a:spcAft>
                      </a:pPr>
                      <a:r>
                        <a:rPr lang="en-US" sz="1200">
                          <a:effectLst/>
                        </a:rPr>
                        <a:t>(LR: 0.01, Depth: 8)</a:t>
                      </a:r>
                      <a:endParaRPr lang="en-GB"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4192783657"/>
                  </a:ext>
                </a:extLst>
              </a:tr>
              <a:tr h="663011">
                <a:tc>
                  <a:txBody>
                    <a:bodyPr/>
                    <a:lstStyle/>
                    <a:p>
                      <a:pPr algn="just">
                        <a:lnSpc>
                          <a:spcPct val="150000"/>
                        </a:lnSpc>
                        <a:spcAft>
                          <a:spcPts val="800"/>
                        </a:spcAft>
                      </a:pPr>
                      <a:r>
                        <a:rPr lang="en-US" sz="1200">
                          <a:effectLst/>
                        </a:rPr>
                        <a:t>Random Forest</a:t>
                      </a:r>
                      <a:endParaRPr lang="en-GB" sz="1100">
                        <a:effectLst/>
                        <a:latin typeface="Calibri" panose="020F0502020204030204" pitchFamily="34" charset="0"/>
                        <a:ea typeface="Calibri" panose="020F0502020204030204" pitchFamily="34" charset="0"/>
                      </a:endParaRPr>
                    </a:p>
                  </a:txBody>
                  <a:tcPr marL="68580" marR="68580" marT="0" marB="0"/>
                </a:tc>
                <a:tc>
                  <a:txBody>
                    <a:bodyPr/>
                    <a:lstStyle/>
                    <a:p>
                      <a:pPr algn="just">
                        <a:lnSpc>
                          <a:spcPct val="150000"/>
                        </a:lnSpc>
                        <a:spcAft>
                          <a:spcPts val="800"/>
                        </a:spcAft>
                      </a:pPr>
                      <a:r>
                        <a:rPr lang="en-US" sz="1200">
                          <a:effectLst/>
                        </a:rPr>
                        <a:t>0.92=92%</a:t>
                      </a:r>
                      <a:endParaRPr lang="en-GB" sz="1100">
                        <a:effectLst/>
                        <a:latin typeface="Calibri" panose="020F0502020204030204" pitchFamily="34" charset="0"/>
                        <a:ea typeface="Calibri" panose="020F0502020204030204" pitchFamily="34" charset="0"/>
                      </a:endParaRPr>
                    </a:p>
                  </a:txBody>
                  <a:tcPr marL="68580" marR="68580" marT="0" marB="0"/>
                </a:tc>
                <a:tc>
                  <a:txBody>
                    <a:bodyPr/>
                    <a:lstStyle/>
                    <a:p>
                      <a:pPr algn="just">
                        <a:lnSpc>
                          <a:spcPct val="150000"/>
                        </a:lnSpc>
                        <a:spcAft>
                          <a:spcPts val="800"/>
                        </a:spcAft>
                      </a:pPr>
                      <a:r>
                        <a:rPr lang="en-US" sz="1200" dirty="0">
                          <a:effectLst/>
                        </a:rPr>
                        <a:t>(Depth: 11)</a:t>
                      </a:r>
                      <a:endParaRPr lang="en-GB" sz="11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2709552163"/>
                  </a:ext>
                </a:extLst>
              </a:tr>
            </a:tbl>
          </a:graphicData>
        </a:graphic>
      </p:graphicFrame>
      <p:sp>
        <p:nvSpPr>
          <p:cNvPr id="5" name="Rectangle 1">
            <a:extLst>
              <a:ext uri="{FF2B5EF4-FFF2-40B4-BE49-F238E27FC236}">
                <a16:creationId xmlns:a16="http://schemas.microsoft.com/office/drawing/2014/main" id="{F78573AB-E69B-64C1-9E56-1E03DE3390C7}"/>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Tree>
    <p:extLst>
      <p:ext uri="{BB962C8B-B14F-4D97-AF65-F5344CB8AC3E}">
        <p14:creationId xmlns:p14="http://schemas.microsoft.com/office/powerpoint/2010/main" val="17043594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1792</TotalTime>
  <Words>776</Words>
  <Application>Microsoft Macintosh PowerPoint</Application>
  <PresentationFormat>Widescreen</PresentationFormat>
  <Paragraphs>144</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Calibri Light</vt:lpstr>
      <vt:lpstr>Office Theme</vt:lpstr>
      <vt:lpstr>Comparison of Machine Learning Models to Predict Heart Diseases  </vt:lpstr>
      <vt:lpstr>Heart Diseases</vt:lpstr>
      <vt:lpstr>Problem Statement</vt:lpstr>
      <vt:lpstr>Proposed solutions</vt:lpstr>
      <vt:lpstr>Aims and Objectives</vt:lpstr>
      <vt:lpstr>Models used </vt:lpstr>
      <vt:lpstr>Dataset </vt:lpstr>
      <vt:lpstr>Data Set Features</vt:lpstr>
      <vt:lpstr>Missing/Null values in the dataset</vt:lpstr>
      <vt:lpstr>Correlation between variables</vt:lpstr>
      <vt:lpstr>Correlation </vt:lpstr>
      <vt:lpstr>Neural Network</vt:lpstr>
      <vt:lpstr>PowerPoint Presentation</vt:lpstr>
      <vt:lpstr>Accuracies</vt:lpstr>
      <vt:lpstr>PowerPoint Presentation</vt:lpstr>
      <vt:lpstr>XGBoost</vt:lpstr>
      <vt:lpstr>PowerPoint Presentation</vt:lpstr>
      <vt:lpstr>Random Forest </vt:lpstr>
      <vt:lpstr>Results of all models compared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Comparison of Machine Learning Models to Predict Heart Diseases  </dc:title>
  <dc:creator>Naeem, Rahim</dc:creator>
  <cp:lastModifiedBy>Muhammad Awais Raza (Student)</cp:lastModifiedBy>
  <cp:revision>27</cp:revision>
  <dcterms:created xsi:type="dcterms:W3CDTF">2022-08-24T21:02:39Z</dcterms:created>
  <dcterms:modified xsi:type="dcterms:W3CDTF">2026-09-19T17:41:00Z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618d1e0-f5d7-4da7-8ddd-3b83021a2c85_Enabled">
    <vt:lpwstr>true</vt:lpwstr>
  </property>
  <property fmtid="{D5CDD505-2E9C-101B-9397-08002B2CF9AE}" pid="3" name="MSIP_Label_a618d1e0-f5d7-4da7-8ddd-3b83021a2c85_SetDate">
    <vt:lpwstr>2026-09-19T17:40:58Z</vt:lpwstr>
  </property>
  <property fmtid="{D5CDD505-2E9C-101B-9397-08002B2CF9AE}" pid="4" name="MSIP_Label_a618d1e0-f5d7-4da7-8ddd-3b83021a2c85_Method">
    <vt:lpwstr>Standard</vt:lpwstr>
  </property>
  <property fmtid="{D5CDD505-2E9C-101B-9397-08002B2CF9AE}" pid="5" name="MSIP_Label_a618d1e0-f5d7-4da7-8ddd-3b83021a2c85_Name">
    <vt:lpwstr>Private</vt:lpwstr>
  </property>
  <property fmtid="{D5CDD505-2E9C-101B-9397-08002B2CF9AE}" pid="6" name="MSIP_Label_a618d1e0-f5d7-4da7-8ddd-3b83021a2c85_SiteId">
    <vt:lpwstr>ae323139-093a-4d2a-81a6-5d334bcd9019</vt:lpwstr>
  </property>
  <property fmtid="{D5CDD505-2E9C-101B-9397-08002B2CF9AE}" pid="7" name="MSIP_Label_a618d1e0-f5d7-4da7-8ddd-3b83021a2c85_ActionId">
    <vt:lpwstr>4596ad96-f5c0-46ce-a4f4-77f0f1a0355f</vt:lpwstr>
  </property>
  <property fmtid="{D5CDD505-2E9C-101B-9397-08002B2CF9AE}" pid="8" name="MSIP_Label_a618d1e0-f5d7-4da7-8ddd-3b83021a2c85_ContentBits">
    <vt:lpwstr>0</vt:lpwstr>
  </property>
  <property fmtid="{D5CDD505-2E9C-101B-9397-08002B2CF9AE}" pid="9" name="MSIP_Label_a618d1e0-f5d7-4da7-8ddd-3b83021a2c85_Tag">
    <vt:lpwstr>50, 3, 0, 1</vt:lpwstr>
  </property>
</Properties>
</file>